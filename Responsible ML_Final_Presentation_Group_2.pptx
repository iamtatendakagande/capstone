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E50B99-0EE5-4D77-ACAF-0EF031F8B03B}">
  <a:tblStyle styleId="{7AE50B99-0EE5-4D77-ACAF-0EF031F8B03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dbe971301e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g3dbe971301e_0_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g3dbe971301e_0_1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3dd94ae34f3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0" name="Google Shape;50;g3dd94ae34f3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g3dd94ae34f3_0_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d94ae34f3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dd94ae34f3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000">
                <a:solidFill>
                  <a:srgbClr val="1C2B4A"/>
                </a:solidFill>
              </a:rPr>
              <a:t>Now I’ll discuss Question 2, which focuses on known failure modes in our HMDA mortgage approval model.</a:t>
            </a:r>
            <a:endParaRPr b="1" sz="1000">
              <a:solidFill>
                <a:srgbClr val="1C2B4A"/>
              </a:solidFill>
            </a:endParaRPr>
          </a:p>
          <a:p>
            <a:pPr indent="0" lvl="0" marL="0" rtl="0" algn="l">
              <a:lnSpc>
                <a:spcPct val="115000"/>
              </a:lnSpc>
              <a:spcBef>
                <a:spcPts val="1200"/>
              </a:spcBef>
              <a:spcAft>
                <a:spcPts val="0"/>
              </a:spcAft>
              <a:buClr>
                <a:schemeClr val="dk1"/>
              </a:buClr>
              <a:buSzPts val="1100"/>
              <a:buFont typeface="Arial"/>
              <a:buNone/>
            </a:pPr>
            <a:r>
              <a:rPr b="1" lang="en-US" sz="1000">
                <a:solidFill>
                  <a:srgbClr val="1C2B4A"/>
                </a:solidFill>
              </a:rPr>
              <a:t>Our goal was to identify where the model breaks down, why it fails, and which groups are harmed when these failures occur.</a:t>
            </a:r>
            <a:endParaRPr b="1" sz="1000">
              <a:solidFill>
                <a:srgbClr val="1C2B4A"/>
              </a:solidFill>
            </a:endParaRPr>
          </a:p>
          <a:p>
            <a:pPr indent="0" lvl="0" marL="0" rtl="0" algn="l">
              <a:lnSpc>
                <a:spcPct val="115000"/>
              </a:lnSpc>
              <a:spcBef>
                <a:spcPts val="1200"/>
              </a:spcBef>
              <a:spcAft>
                <a:spcPts val="0"/>
              </a:spcAft>
              <a:buClr>
                <a:schemeClr val="dk1"/>
              </a:buClr>
              <a:buSzPts val="1100"/>
              <a:buFont typeface="Arial"/>
              <a:buNone/>
            </a:pPr>
            <a:r>
              <a:rPr b="1" lang="en-US" sz="1000">
                <a:solidFill>
                  <a:srgbClr val="1C2B4A"/>
                </a:solidFill>
              </a:rPr>
              <a:t>To analyze this, we used four main techniques:</a:t>
            </a:r>
            <a:endParaRPr b="1" sz="1000">
              <a:solidFill>
                <a:srgbClr val="1C2B4A"/>
              </a:solidFill>
            </a:endParaRPr>
          </a:p>
          <a:p>
            <a:pPr indent="-292100" lvl="0" marL="457200" rtl="0" algn="l">
              <a:lnSpc>
                <a:spcPct val="115000"/>
              </a:lnSpc>
              <a:spcBef>
                <a:spcPts val="1200"/>
              </a:spcBef>
              <a:spcAft>
                <a:spcPts val="0"/>
              </a:spcAft>
              <a:buClr>
                <a:schemeClr val="dk1"/>
              </a:buClr>
              <a:buSzPts val="1000"/>
              <a:buFont typeface="Calibri"/>
              <a:buChar char="●"/>
            </a:pPr>
            <a:r>
              <a:rPr b="1" lang="en-US" sz="1000">
                <a:solidFill>
                  <a:srgbClr val="1C2B4A"/>
                </a:solidFill>
              </a:rPr>
              <a:t>SHAP for global and local feature importance,</a:t>
            </a:r>
            <a:endParaRPr b="1" sz="1000">
              <a:solidFill>
                <a:srgbClr val="1C2B4A"/>
              </a:solidFill>
            </a:endParaRPr>
          </a:p>
          <a:p>
            <a:pPr indent="-292100" lvl="0" marL="457200" rtl="0" algn="l">
              <a:lnSpc>
                <a:spcPct val="115000"/>
              </a:lnSpc>
              <a:spcBef>
                <a:spcPts val="0"/>
              </a:spcBef>
              <a:spcAft>
                <a:spcPts val="0"/>
              </a:spcAft>
              <a:buClr>
                <a:schemeClr val="dk1"/>
              </a:buClr>
              <a:buSzPts val="1000"/>
              <a:buFont typeface="Calibri"/>
              <a:buChar char="●"/>
            </a:pPr>
            <a:r>
              <a:rPr b="1" lang="en-US" sz="1000">
                <a:solidFill>
                  <a:srgbClr val="1C2B4A"/>
                </a:solidFill>
              </a:rPr>
              <a:t>waterfall explanations for individual decisions,</a:t>
            </a:r>
            <a:endParaRPr b="1" sz="1000">
              <a:solidFill>
                <a:srgbClr val="1C2B4A"/>
              </a:solidFill>
            </a:endParaRPr>
          </a:p>
          <a:p>
            <a:pPr indent="-292100" lvl="0" marL="457200" rtl="0" algn="l">
              <a:lnSpc>
                <a:spcPct val="115000"/>
              </a:lnSpc>
              <a:spcBef>
                <a:spcPts val="0"/>
              </a:spcBef>
              <a:spcAft>
                <a:spcPts val="0"/>
              </a:spcAft>
              <a:buClr>
                <a:schemeClr val="dk1"/>
              </a:buClr>
              <a:buSzPts val="1000"/>
              <a:buFont typeface="Calibri"/>
              <a:buChar char="●"/>
            </a:pPr>
            <a:r>
              <a:rPr b="1" lang="en-US" sz="1000">
                <a:solidFill>
                  <a:srgbClr val="1C2B4A"/>
                </a:solidFill>
              </a:rPr>
              <a:t>DiCE counterfactual analysis,</a:t>
            </a:r>
            <a:endParaRPr b="1" sz="1000">
              <a:solidFill>
                <a:srgbClr val="1C2B4A"/>
              </a:solidFill>
            </a:endParaRPr>
          </a:p>
          <a:p>
            <a:pPr indent="-292100" lvl="0" marL="457200" rtl="0" algn="l">
              <a:lnSpc>
                <a:spcPct val="115000"/>
              </a:lnSpc>
              <a:spcBef>
                <a:spcPts val="0"/>
              </a:spcBef>
              <a:spcAft>
                <a:spcPts val="0"/>
              </a:spcAft>
              <a:buClr>
                <a:schemeClr val="dk1"/>
              </a:buClr>
              <a:buSzPts val="1000"/>
              <a:buFont typeface="Calibri"/>
              <a:buChar char="●"/>
            </a:pPr>
            <a:r>
              <a:rPr b="1" lang="en-US" sz="1000">
                <a:solidFill>
                  <a:srgbClr val="1C2B4A"/>
                </a:solidFill>
              </a:rPr>
              <a:t>and PSI with stress testing for feature drift.</a:t>
            </a:r>
            <a:endParaRPr b="1" sz="1000">
              <a:solidFill>
                <a:srgbClr val="1C2B4A"/>
              </a:solidFill>
            </a:endParaRPr>
          </a:p>
          <a:p>
            <a:pPr indent="0" lvl="0" marL="0" rtl="0" algn="l">
              <a:lnSpc>
                <a:spcPct val="115000"/>
              </a:lnSpc>
              <a:spcBef>
                <a:spcPts val="1200"/>
              </a:spcBef>
              <a:spcAft>
                <a:spcPts val="0"/>
              </a:spcAft>
              <a:buClr>
                <a:schemeClr val="dk1"/>
              </a:buClr>
              <a:buSzPts val="1100"/>
              <a:buFont typeface="Arial"/>
              <a:buNone/>
            </a:pPr>
            <a:r>
              <a:rPr b="1" lang="en-US" sz="1000">
                <a:solidFill>
                  <a:srgbClr val="1C2B4A"/>
                </a:solidFill>
              </a:rPr>
              <a:t>From this analysis, we identified four major failure modes:</a:t>
            </a:r>
            <a:br>
              <a:rPr b="1" lang="en-US" sz="1000">
                <a:solidFill>
                  <a:srgbClr val="1C2B4A"/>
                </a:solidFill>
              </a:rPr>
            </a:br>
            <a:r>
              <a:rPr b="1" lang="en-US" sz="1000">
                <a:solidFill>
                  <a:srgbClr val="1C2B4A"/>
                </a:solidFill>
              </a:rPr>
              <a:t>proxy bias, risk override, recourse failure, and feature drift.</a:t>
            </a:r>
            <a:endParaRPr b="1" sz="1000">
              <a:solidFill>
                <a:srgbClr val="1C2B4A"/>
              </a:solidFill>
            </a:endParaRPr>
          </a:p>
          <a:p>
            <a:pPr indent="0" lvl="0" marL="0" rtl="0" algn="l">
              <a:spcBef>
                <a:spcPts val="1200"/>
              </a:spcBef>
              <a:spcAft>
                <a:spcPts val="0"/>
              </a:spcAft>
              <a:buClr>
                <a:schemeClr val="lt1"/>
              </a:buClr>
              <a:buSzPts val="1800"/>
              <a:buFont typeface="Calibri"/>
              <a:buNone/>
            </a:pPr>
            <a:r>
              <a:t/>
            </a:r>
            <a:endParaRPr b="1" sz="2600">
              <a:solidFill>
                <a:srgbClr val="1C2B4A"/>
              </a:solidFill>
            </a:endParaRPr>
          </a:p>
        </p:txBody>
      </p:sp>
      <p:sp>
        <p:nvSpPr>
          <p:cNvPr id="60" name="Google Shape;60;g3dd94ae34f3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be971301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dbe971301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Our first failure mode is something we're calling proxy discrimination, and it's the one with the most serious legal implications.</a:t>
            </a:r>
            <a:endParaRPr/>
          </a:p>
          <a:p>
            <a:pPr indent="0" lvl="0" marL="0" rtl="0" algn="l">
              <a:lnSpc>
                <a:spcPct val="115000"/>
              </a:lnSpc>
              <a:spcBef>
                <a:spcPts val="1200"/>
              </a:spcBef>
              <a:spcAft>
                <a:spcPts val="0"/>
              </a:spcAft>
              <a:buClr>
                <a:schemeClr val="dk1"/>
              </a:buClr>
              <a:buSzPts val="1100"/>
              <a:buFont typeface="Arial"/>
              <a:buNone/>
            </a:pPr>
            <a:r>
              <a:rPr lang="en-US"/>
              <a:t>Here's the issue. Our model uses the median income of the applicant's neighborhood as one of its inputs. That sounds reasonable on the surface -- neighborhood income seems like a legitimate financial signal. But when we dug into the data, we found something troubling.</a:t>
            </a:r>
            <a:endParaRPr/>
          </a:p>
          <a:p>
            <a:pPr indent="0" lvl="0" marL="0" rtl="0" algn="l">
              <a:lnSpc>
                <a:spcPct val="115000"/>
              </a:lnSpc>
              <a:spcBef>
                <a:spcPts val="1200"/>
              </a:spcBef>
              <a:spcAft>
                <a:spcPts val="0"/>
              </a:spcAft>
              <a:buSzPts val="1100"/>
              <a:buNone/>
            </a:pPr>
            <a:r>
              <a:rPr lang="en-US"/>
              <a:t>We used a method called SHAP, which essentially asks: for this specific applicant, what factors pushed the model toward approving or denying them? And what we found is that the same neighborhood income feature was pushing African-American applicants toward denial while pushing Caucasian applicants toward approval. This is due to something called residential segregation. For most of the 20th century, Black Americans were systematically blocked from building wealth through homeownership. Banks refused to give mortgages in Black neighborhoods, a practice called redlining. The federal government then backed loans for white families moving to the suburbs while explicitly excluding Black families. Entire generations were locked out of the primary way most American families accumulate wealth.</a:t>
            </a:r>
            <a:endParaRPr/>
          </a:p>
          <a:p>
            <a:pPr indent="0" lvl="0" marL="0" rtl="0" algn="l">
              <a:lnSpc>
                <a:spcPct val="115000"/>
              </a:lnSpc>
              <a:spcBef>
                <a:spcPts val="1200"/>
              </a:spcBef>
              <a:spcAft>
                <a:spcPts val="0"/>
              </a:spcAft>
              <a:buClr>
                <a:schemeClr val="dk1"/>
              </a:buClr>
              <a:buSzPts val="1100"/>
              <a:buFont typeface="Arial"/>
              <a:buNone/>
            </a:pPr>
            <a:r>
              <a:rPr lang="en-US"/>
              <a:t>The result is that today, neighborhood income and neighborhood demographics are deeply correlated not by coincidence, but by policy. Our model never looks at race directly. However, it looks at zip codes. But due to that correlation we mentioned earlier, zip codes carry a lot more implications, so when the model penalizes someone for living in a lower-income neighborhood, it is -- without knowing it -- penalizing them for the consequences of discrimination their parents and grandparents faced. That's what we mean by proxy discrimination. The bias doesn't need to be intentional to cause real harm, and under fair lending law, that distinction doesn't matter.</a:t>
            </a:r>
            <a:endParaRPr/>
          </a:p>
          <a:p>
            <a:pPr indent="0" lvl="0" marL="0" rtl="0" algn="l">
              <a:lnSpc>
                <a:spcPct val="115000"/>
              </a:lnSpc>
              <a:spcBef>
                <a:spcPts val="1200"/>
              </a:spcBef>
              <a:spcAft>
                <a:spcPts val="0"/>
              </a:spcAft>
              <a:buClr>
                <a:schemeClr val="dk1"/>
              </a:buClr>
              <a:buSzPts val="1100"/>
              <a:buFont typeface="Arial"/>
              <a:buNone/>
            </a:pPr>
            <a:r>
              <a:rPr lang="en-US"/>
              <a:t>We flagged this as high severity.</a:t>
            </a:r>
            <a:endParaRPr/>
          </a:p>
          <a:p>
            <a:pPr indent="0" lvl="0" marL="0" rtl="0" algn="l">
              <a:lnSpc>
                <a:spcPct val="115000"/>
              </a:lnSpc>
              <a:spcBef>
                <a:spcPts val="1200"/>
              </a:spcBef>
              <a:spcAft>
                <a:spcPts val="0"/>
              </a:spcAft>
              <a:buClr>
                <a:schemeClr val="dk1"/>
              </a:buClr>
              <a:buSzPts val="1100"/>
              <a:buFont typeface="Arial"/>
              <a:buNone/>
            </a:pPr>
            <a:r>
              <a:rPr lang="en-US"/>
              <a:t>—-------------</a:t>
            </a:r>
            <a:endParaRPr/>
          </a:p>
          <a:p>
            <a:pPr indent="0" lvl="0" marL="0" rtl="0" algn="l">
              <a:lnSpc>
                <a:spcPct val="115000"/>
              </a:lnSpc>
              <a:spcBef>
                <a:spcPts val="1200"/>
              </a:spcBef>
              <a:spcAft>
                <a:spcPts val="0"/>
              </a:spcAft>
              <a:buClr>
                <a:schemeClr val="dk1"/>
              </a:buClr>
              <a:buSzPts val="1100"/>
              <a:buFont typeface="Arial"/>
              <a:buNone/>
            </a:pPr>
            <a:r>
              <a:rPr lang="en-US"/>
              <a:t>This first failure mode is proxy discrimination through neighborhood income.</a:t>
            </a:r>
            <a:endParaRPr/>
          </a:p>
          <a:p>
            <a:pPr indent="0" lvl="0" marL="0" rtl="0" algn="l">
              <a:lnSpc>
                <a:spcPct val="115000"/>
              </a:lnSpc>
              <a:spcBef>
                <a:spcPts val="1200"/>
              </a:spcBef>
              <a:spcAft>
                <a:spcPts val="0"/>
              </a:spcAft>
              <a:buClr>
                <a:schemeClr val="dk1"/>
              </a:buClr>
              <a:buSzPts val="1100"/>
              <a:buFont typeface="Arial"/>
              <a:buNone/>
            </a:pPr>
            <a:r>
              <a:rPr lang="en-US"/>
              <a:t>The model heavily relies on features like FFIEC median family income, relative income, and loan purpose. SHAP analysis showed these were among the most influential features in the model.</a:t>
            </a:r>
            <a:endParaRPr/>
          </a:p>
          <a:p>
            <a:pPr indent="0" lvl="0" marL="0" rtl="0" algn="l">
              <a:lnSpc>
                <a:spcPct val="115000"/>
              </a:lnSpc>
              <a:spcBef>
                <a:spcPts val="1200"/>
              </a:spcBef>
              <a:spcAft>
                <a:spcPts val="0"/>
              </a:spcAft>
              <a:buClr>
                <a:schemeClr val="dk1"/>
              </a:buClr>
              <a:buSzPts val="1100"/>
              <a:buFont typeface="Arial"/>
              <a:buNone/>
            </a:pPr>
            <a:r>
              <a:rPr lang="en-US"/>
              <a:t>The issue is that FFIEC median family income represents the income level of the applicant’s census tract, not the individual applicant directly. Because residential segregation and historical redlining patterns still exist, the model may indirectly learn racial and socioeconomic patterns even though race itself is not included.</a:t>
            </a:r>
            <a:endParaRPr/>
          </a:p>
          <a:p>
            <a:pPr indent="0" lvl="0" marL="0" rtl="0" algn="l">
              <a:lnSpc>
                <a:spcPct val="115000"/>
              </a:lnSpc>
              <a:spcBef>
                <a:spcPts val="1200"/>
              </a:spcBef>
              <a:spcAft>
                <a:spcPts val="0"/>
              </a:spcAft>
              <a:buClr>
                <a:schemeClr val="dk1"/>
              </a:buClr>
              <a:buSzPts val="1100"/>
              <a:buFont typeface="Arial"/>
              <a:buNone/>
            </a:pPr>
            <a:r>
              <a:rPr lang="en-US"/>
              <a:t>As a result, applicants from historically disadvantaged neighborhoods may be penalized simply because of where they live rather than their true financial risk.</a:t>
            </a:r>
            <a:endParaRPr/>
          </a:p>
          <a:p>
            <a:pPr indent="0" lvl="0" marL="0" rtl="0" algn="l">
              <a:lnSpc>
                <a:spcPct val="115000"/>
              </a:lnSpc>
              <a:spcBef>
                <a:spcPts val="1200"/>
              </a:spcBef>
              <a:spcAft>
                <a:spcPts val="0"/>
              </a:spcAft>
              <a:buClr>
                <a:schemeClr val="dk1"/>
              </a:buClr>
              <a:buSzPts val="1100"/>
              <a:buFont typeface="Arial"/>
              <a:buNone/>
            </a:pPr>
            <a:r>
              <a:rPr lang="en-US"/>
              <a:t>This especially harms African-American applicants, who are disproportionately represented in lower-income census tracts.</a:t>
            </a:r>
            <a:endParaRPr/>
          </a:p>
          <a:p>
            <a:pPr indent="0" lvl="0" marL="0" rtl="0" algn="l">
              <a:lnSpc>
                <a:spcPct val="115000"/>
              </a:lnSpc>
              <a:spcBef>
                <a:spcPts val="1200"/>
              </a:spcBef>
              <a:spcAft>
                <a:spcPts val="0"/>
              </a:spcAft>
              <a:buClr>
                <a:schemeClr val="dk1"/>
              </a:buClr>
              <a:buSzPts val="1100"/>
              <a:buFont typeface="Arial"/>
              <a:buNone/>
            </a:pPr>
            <a:r>
              <a:rPr lang="en-US"/>
              <a:t>We classified this as a high-severity fairness risk and a potential ECOA compliance concern</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89" name="Google Shape;89;g3dbe971301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dbe971301e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dbe971301e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Our second failure mode is a little more technical, but the plain English version is this: the model can be talked out of a red flag.</a:t>
            </a:r>
            <a:endParaRPr/>
          </a:p>
          <a:p>
            <a:pPr indent="0" lvl="0" marL="0" rtl="0" algn="l">
              <a:lnSpc>
                <a:spcPct val="115000"/>
              </a:lnSpc>
              <a:spcBef>
                <a:spcPts val="1200"/>
              </a:spcBef>
              <a:spcAft>
                <a:spcPts val="0"/>
              </a:spcAft>
              <a:buClr>
                <a:schemeClr val="dk1"/>
              </a:buClr>
              <a:buSzPts val="1100"/>
              <a:buFont typeface="Arial"/>
              <a:buNone/>
            </a:pPr>
            <a:r>
              <a:rPr lang="en-US"/>
              <a:t>Debt-to-income ratio is one of the most basic measures of whether someone can afford a loan. If your monthly debt payments eat up most of your income, that's a serious warning sign. Our model knows this. It correctly penalizes high DTI.</a:t>
            </a:r>
            <a:endParaRPr/>
          </a:p>
          <a:p>
            <a:pPr indent="0" lvl="0" marL="0" rtl="0" algn="l">
              <a:lnSpc>
                <a:spcPct val="115000"/>
              </a:lnSpc>
              <a:spcBef>
                <a:spcPts val="1200"/>
              </a:spcBef>
              <a:spcAft>
                <a:spcPts val="0"/>
              </a:spcAft>
              <a:buClr>
                <a:schemeClr val="dk1"/>
              </a:buClr>
              <a:buSzPts val="1100"/>
              <a:buFont typeface="Arial"/>
              <a:buNone/>
            </a:pPr>
            <a:r>
              <a:rPr lang="en-US"/>
              <a:t>But we found cases where another feature, loan purpose, was strong enough to completely cancel that penalty out. So you could have an applicant the model itself has flagged as extreme financial risk, and they still get approved because of why they want the loan.</a:t>
            </a:r>
            <a:endParaRPr/>
          </a:p>
          <a:p>
            <a:pPr indent="0" lvl="0" marL="0" rtl="0" algn="l">
              <a:lnSpc>
                <a:spcPct val="115000"/>
              </a:lnSpc>
              <a:spcBef>
                <a:spcPts val="1200"/>
              </a:spcBef>
              <a:spcAft>
                <a:spcPts val="0"/>
              </a:spcAft>
              <a:buClr>
                <a:schemeClr val="dk1"/>
              </a:buClr>
              <a:buSzPts val="1100"/>
              <a:buFont typeface="Arial"/>
              <a:buNone/>
            </a:pPr>
            <a:r>
              <a:rPr lang="en-US"/>
              <a:t>That's a problem. There's no floor, no hard limit that says 'regardless of everything else, extreme DTI means denial.' Every feature is tradeable against every other feature, which means the model's safety signals aren't actually safe.</a:t>
            </a:r>
            <a:endParaRPr/>
          </a:p>
          <a:p>
            <a:pPr indent="0" lvl="0" marL="0" rtl="0" algn="l">
              <a:lnSpc>
                <a:spcPct val="115000"/>
              </a:lnSpc>
              <a:spcBef>
                <a:spcPts val="1200"/>
              </a:spcBef>
              <a:spcAft>
                <a:spcPts val="0"/>
              </a:spcAft>
              <a:buClr>
                <a:schemeClr val="dk1"/>
              </a:buClr>
              <a:buSzPts val="1100"/>
              <a:buFont typeface="Arial"/>
              <a:buNone/>
            </a:pPr>
            <a:r>
              <a:rPr lang="en-US"/>
              <a:t>And just to flag briefly, that neighborhood income feature from failure mode one shows up here too, which tells us this isn't an isolated issue. These patterns are connected.</a:t>
            </a:r>
            <a:endParaRPr/>
          </a:p>
          <a:p>
            <a:pPr indent="0" lvl="0" marL="0" rtl="0" algn="l">
              <a:lnSpc>
                <a:spcPct val="115000"/>
              </a:lnSpc>
              <a:spcBef>
                <a:spcPts val="1200"/>
              </a:spcBef>
              <a:spcAft>
                <a:spcPts val="0"/>
              </a:spcAft>
              <a:buSzPts val="1100"/>
              <a:buNone/>
            </a:pPr>
            <a:r>
              <a:rPr lang="en-US"/>
              <a:t>The bottom line for this one is that the institution could be approving genuinely high-risk applicants, and when those loans go bad, there's no clear explanation for why they were approved in the first place. That's a legal and financial liability.</a:t>
            </a:r>
            <a:endParaRPr/>
          </a:p>
          <a:p>
            <a:pPr indent="0" lvl="0" marL="0" rtl="0" algn="l">
              <a:lnSpc>
                <a:spcPct val="115000"/>
              </a:lnSpc>
              <a:spcBef>
                <a:spcPts val="1200"/>
              </a:spcBef>
              <a:spcAft>
                <a:spcPts val="0"/>
              </a:spcAft>
              <a:buSzPts val="1100"/>
              <a:buNone/>
            </a:pPr>
            <a:r>
              <a:rPr lang="en-US"/>
              <a:t>—---------------</a:t>
            </a:r>
            <a:endParaRPr/>
          </a:p>
          <a:p>
            <a:pPr indent="0" lvl="0" marL="0" rtl="0" algn="l">
              <a:lnSpc>
                <a:spcPct val="115000"/>
              </a:lnSpc>
              <a:spcBef>
                <a:spcPts val="1200"/>
              </a:spcBef>
              <a:spcAft>
                <a:spcPts val="0"/>
              </a:spcAft>
              <a:buClr>
                <a:schemeClr val="dk1"/>
              </a:buClr>
              <a:buSzPts val="1100"/>
              <a:buFont typeface="Arial"/>
              <a:buNone/>
            </a:pPr>
            <a:r>
              <a:rPr lang="en-US"/>
              <a:t>This second failure mode shows that non-critical features can override fundamental financial risk signals.</a:t>
            </a:r>
            <a:endParaRPr/>
          </a:p>
          <a:p>
            <a:pPr indent="0" lvl="0" marL="0" rtl="0" algn="l">
              <a:lnSpc>
                <a:spcPct val="115000"/>
              </a:lnSpc>
              <a:spcBef>
                <a:spcPts val="1200"/>
              </a:spcBef>
              <a:spcAft>
                <a:spcPts val="0"/>
              </a:spcAft>
              <a:buClr>
                <a:schemeClr val="dk1"/>
              </a:buClr>
              <a:buSzPts val="1100"/>
              <a:buFont typeface="Arial"/>
              <a:buNone/>
            </a:pPr>
            <a:r>
              <a:rPr lang="en-US"/>
              <a:t>In the SHAP waterfall explanation, we found a high-risk applicant with extreme debt-to-income risk still received an approval prediction.</a:t>
            </a:r>
            <a:endParaRPr/>
          </a:p>
          <a:p>
            <a:pPr indent="0" lvl="0" marL="0" rtl="0" algn="l">
              <a:lnSpc>
                <a:spcPct val="115000"/>
              </a:lnSpc>
              <a:spcBef>
                <a:spcPts val="1200"/>
              </a:spcBef>
              <a:spcAft>
                <a:spcPts val="0"/>
              </a:spcAft>
              <a:buClr>
                <a:schemeClr val="dk1"/>
              </a:buClr>
              <a:buSzPts val="1100"/>
              <a:buFont typeface="Arial"/>
              <a:buNone/>
            </a:pPr>
            <a:r>
              <a:rPr lang="en-US"/>
              <a:t>The waterfall plot shows that loan purpose contributed a strong positive SHAP value of plus 0.84, while extreme DTI risk only contributed minus 0.72.</a:t>
            </a:r>
            <a:endParaRPr/>
          </a:p>
          <a:p>
            <a:pPr indent="0" lvl="0" marL="0" rtl="0" algn="l">
              <a:lnSpc>
                <a:spcPct val="115000"/>
              </a:lnSpc>
              <a:spcBef>
                <a:spcPts val="1200"/>
              </a:spcBef>
              <a:spcAft>
                <a:spcPts val="0"/>
              </a:spcAft>
              <a:buClr>
                <a:schemeClr val="dk1"/>
              </a:buClr>
              <a:buSzPts val="1100"/>
              <a:buFont typeface="Arial"/>
              <a:buNone/>
            </a:pPr>
            <a:r>
              <a:rPr lang="en-US"/>
              <a:t>Because the positive contribution was larger, the final prediction became approved.</a:t>
            </a:r>
            <a:endParaRPr/>
          </a:p>
          <a:p>
            <a:pPr indent="0" lvl="0" marL="0" rtl="0" algn="l">
              <a:lnSpc>
                <a:spcPct val="115000"/>
              </a:lnSpc>
              <a:spcBef>
                <a:spcPts val="1200"/>
              </a:spcBef>
              <a:spcAft>
                <a:spcPts val="0"/>
              </a:spcAft>
              <a:buClr>
                <a:schemeClr val="dk1"/>
              </a:buClr>
              <a:buSzPts val="1100"/>
              <a:buFont typeface="Arial"/>
              <a:buNone/>
            </a:pPr>
            <a:r>
              <a:rPr lang="en-US"/>
              <a:t>This reveals that the model treats features as independently tradeable rather than enforcing hard financial constraints. In other words, loan purpose can effectively cancel out dangerous financial risk.</a:t>
            </a:r>
            <a:endParaRPr/>
          </a:p>
          <a:p>
            <a:pPr indent="0" lvl="0" marL="0" rtl="0" algn="l">
              <a:lnSpc>
                <a:spcPct val="115000"/>
              </a:lnSpc>
              <a:spcBef>
                <a:spcPts val="1200"/>
              </a:spcBef>
              <a:spcAft>
                <a:spcPts val="0"/>
              </a:spcAft>
              <a:buClr>
                <a:schemeClr val="dk1"/>
              </a:buClr>
              <a:buSzPts val="1100"/>
              <a:buFont typeface="Arial"/>
              <a:buNone/>
            </a:pPr>
            <a:r>
              <a:rPr lang="en-US"/>
              <a:t>This creates inconsistent approvals and can especially harm minority applicants because similar financial risk profiles may receive different outcomes depending on feature interactions.</a:t>
            </a:r>
            <a:endParaRPr/>
          </a:p>
          <a:p>
            <a:pPr indent="0" lvl="0" marL="0" rtl="0" algn="l">
              <a:lnSpc>
                <a:spcPct val="115000"/>
              </a:lnSpc>
              <a:spcBef>
                <a:spcPts val="1200"/>
              </a:spcBef>
              <a:spcAft>
                <a:spcPts val="0"/>
              </a:spcAft>
              <a:buClr>
                <a:schemeClr val="dk1"/>
              </a:buClr>
              <a:buSzPts val="1100"/>
              <a:buFont typeface="Arial"/>
              <a:buNone/>
            </a:pPr>
            <a:r>
              <a:rPr lang="en-US"/>
              <a:t>We considered this a high-severity reliability and fairness issue.</a:t>
            </a:r>
            <a:endParaRPr/>
          </a:p>
          <a:p>
            <a:pPr indent="0" lvl="0" marL="0" rtl="0" algn="l">
              <a:lnSpc>
                <a:spcPct val="115000"/>
              </a:lnSpc>
              <a:spcBef>
                <a:spcPts val="1200"/>
              </a:spcBef>
              <a:spcAft>
                <a:spcPts val="1200"/>
              </a:spcAft>
              <a:buSzPts val="1100"/>
              <a:buNone/>
            </a:pPr>
            <a:r>
              <a:t/>
            </a:r>
            <a:endParaRPr/>
          </a:p>
        </p:txBody>
      </p:sp>
      <p:sp>
        <p:nvSpPr>
          <p:cNvPr id="126" name="Google Shape;126;g3dbe971301e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third failure mode focuses on counterfactual explanations using DiCE.</a:t>
            </a:r>
            <a:endParaRPr/>
          </a:p>
          <a:p>
            <a:pPr indent="0" lvl="0" marL="0" rtl="0" algn="l">
              <a:lnSpc>
                <a:spcPct val="115000"/>
              </a:lnSpc>
              <a:spcBef>
                <a:spcPts val="1200"/>
              </a:spcBef>
              <a:spcAft>
                <a:spcPts val="0"/>
              </a:spcAft>
              <a:buClr>
                <a:schemeClr val="dk1"/>
              </a:buClr>
              <a:buSzPts val="1100"/>
              <a:buFont typeface="Arial"/>
              <a:buNone/>
            </a:pPr>
            <a:r>
              <a:rPr lang="en-US"/>
              <a:t>We tested whether rejected applicants could realistically improve their outcomes. However, the model generated recommendations that were mathematically valid but unrealistic in practice.</a:t>
            </a:r>
            <a:endParaRPr/>
          </a:p>
          <a:p>
            <a:pPr indent="0" lvl="0" marL="0" rtl="0" algn="l">
              <a:lnSpc>
                <a:spcPct val="115000"/>
              </a:lnSpc>
              <a:spcBef>
                <a:spcPts val="1200"/>
              </a:spcBef>
              <a:spcAft>
                <a:spcPts val="0"/>
              </a:spcAft>
              <a:buClr>
                <a:schemeClr val="dk1"/>
              </a:buClr>
              <a:buSzPts val="1100"/>
              <a:buFont typeface="Arial"/>
              <a:buNone/>
            </a:pPr>
            <a:r>
              <a:rPr lang="en-US"/>
              <a:t>For example, one counterfactual required increasing the applicant’s credit score from 620 to over 1,000 and increasing relative income from 0.24 to 14.3.</a:t>
            </a:r>
            <a:endParaRPr/>
          </a:p>
          <a:p>
            <a:pPr indent="0" lvl="0" marL="0" rtl="0" algn="l">
              <a:lnSpc>
                <a:spcPct val="115000"/>
              </a:lnSpc>
              <a:spcBef>
                <a:spcPts val="1200"/>
              </a:spcBef>
              <a:spcAft>
                <a:spcPts val="0"/>
              </a:spcAft>
              <a:buSzPts val="1100"/>
              <a:buNone/>
            </a:pPr>
            <a:r>
              <a:rPr lang="en-US"/>
              <a:t>These values are not feasible in the real world the maximum for credit score is 850.</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lang="en-US"/>
              <a:t>This happens because the model assumes all features are freely adjustable and independent, while ignoring causal and human constraints.</a:t>
            </a:r>
            <a:endParaRPr/>
          </a:p>
          <a:p>
            <a:pPr indent="0" lvl="0" marL="0" rtl="0" algn="l">
              <a:lnSpc>
                <a:spcPct val="115000"/>
              </a:lnSpc>
              <a:spcBef>
                <a:spcPts val="1200"/>
              </a:spcBef>
              <a:spcAft>
                <a:spcPts val="0"/>
              </a:spcAft>
              <a:buClr>
                <a:schemeClr val="dk1"/>
              </a:buClr>
              <a:buSzPts val="1100"/>
              <a:buFont typeface="Arial"/>
              <a:buNone/>
            </a:pPr>
            <a:r>
              <a:rPr lang="en-US"/>
              <a:t>As a result, rejected applicants receive guidance they cannot realistically follow, meaning the model fails to provide meaningful recourse.</a:t>
            </a:r>
            <a:endParaRPr/>
          </a:p>
          <a:p>
            <a:pPr indent="0" lvl="0" marL="0" rtl="0" algn="l">
              <a:lnSpc>
                <a:spcPct val="115000"/>
              </a:lnSpc>
              <a:spcBef>
                <a:spcPts val="1200"/>
              </a:spcBef>
              <a:spcAft>
                <a:spcPts val="0"/>
              </a:spcAft>
              <a:buClr>
                <a:schemeClr val="dk1"/>
              </a:buClr>
              <a:buSzPts val="1100"/>
              <a:buFont typeface="Arial"/>
              <a:buNone/>
            </a:pPr>
            <a:r>
              <a:rPr lang="en-US"/>
              <a:t>This issue disproportionately affects disadvantaged applicants and was classified as medium-to-high severity.</a:t>
            </a:r>
            <a:endParaRPr/>
          </a:p>
          <a:p>
            <a:pPr indent="0" lvl="0" marL="0" rtl="0" algn="l">
              <a:spcBef>
                <a:spcPts val="1200"/>
              </a:spcBef>
              <a:spcAft>
                <a:spcPts val="0"/>
              </a:spcAft>
              <a:buNone/>
            </a:pPr>
            <a:r>
              <a:t/>
            </a:r>
            <a:endParaRPr/>
          </a:p>
        </p:txBody>
      </p:sp>
      <p:sp>
        <p:nvSpPr>
          <p:cNvPr id="177" name="Google Shape;17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This final failure mode examines feature drift using PSI, KS testing, and stress testing.</a:t>
            </a:r>
            <a:endParaRPr/>
          </a:p>
          <a:p>
            <a:pPr indent="0" lvl="0" marL="0" rtl="0" algn="l">
              <a:lnSpc>
                <a:spcPct val="115000"/>
              </a:lnSpc>
              <a:spcBef>
                <a:spcPts val="1200"/>
              </a:spcBef>
              <a:spcAft>
                <a:spcPts val="0"/>
              </a:spcAft>
              <a:buClr>
                <a:schemeClr val="dk1"/>
              </a:buClr>
              <a:buSzPts val="1100"/>
              <a:buFont typeface="Arial"/>
              <a:buNone/>
            </a:pPr>
            <a:r>
              <a:rPr lang="en-US"/>
              <a:t>At the global level, PSI was approximately zero and the KS test was not statistically significant, which initially suggests the model is stable over time.</a:t>
            </a:r>
            <a:endParaRPr/>
          </a:p>
          <a:p>
            <a:pPr indent="0" lvl="0" marL="0" rtl="0" algn="l">
              <a:lnSpc>
                <a:spcPct val="115000"/>
              </a:lnSpc>
              <a:spcBef>
                <a:spcPts val="1200"/>
              </a:spcBef>
              <a:spcAft>
                <a:spcPts val="0"/>
              </a:spcAft>
              <a:buClr>
                <a:schemeClr val="dk1"/>
              </a:buClr>
              <a:buSzPts val="1100"/>
              <a:buFont typeface="Arial"/>
              <a:buNone/>
            </a:pPr>
            <a:r>
              <a:rPr lang="en-US"/>
              <a:t>However, when we simulated a 15 percent income shock, model accuracy dropped by around 1.3 percent.</a:t>
            </a:r>
            <a:endParaRPr/>
          </a:p>
          <a:p>
            <a:pPr indent="0" lvl="0" marL="0" rtl="0" algn="l">
              <a:lnSpc>
                <a:spcPct val="115000"/>
              </a:lnSpc>
              <a:spcBef>
                <a:spcPts val="1200"/>
              </a:spcBef>
              <a:spcAft>
                <a:spcPts val="0"/>
              </a:spcAft>
              <a:buClr>
                <a:schemeClr val="dk1"/>
              </a:buClr>
              <a:buSzPts val="1100"/>
              <a:buFont typeface="Arial"/>
              <a:buNone/>
            </a:pPr>
            <a:r>
              <a:rPr lang="en-US"/>
              <a:t>This shows that even when global drift metrics appear stable, subgroup-level risks may still exist.</a:t>
            </a:r>
            <a:endParaRPr/>
          </a:p>
          <a:p>
            <a:pPr indent="0" lvl="0" marL="0" rtl="0" algn="l">
              <a:lnSpc>
                <a:spcPct val="115000"/>
              </a:lnSpc>
              <a:spcBef>
                <a:spcPts val="1200"/>
              </a:spcBef>
              <a:spcAft>
                <a:spcPts val="0"/>
              </a:spcAft>
              <a:buClr>
                <a:schemeClr val="dk1"/>
              </a:buClr>
              <a:buSzPts val="1100"/>
              <a:buFont typeface="Arial"/>
              <a:buNone/>
            </a:pPr>
            <a:r>
              <a:rPr lang="en-US"/>
              <a:t>Borderline applicants and minority groups are especially vulnerable because small changes in income distributions can push them across the decision boundary.</a:t>
            </a:r>
            <a:endParaRPr/>
          </a:p>
          <a:p>
            <a:pPr indent="0" lvl="0" marL="0" rtl="0" algn="l">
              <a:lnSpc>
                <a:spcPct val="115000"/>
              </a:lnSpc>
              <a:spcBef>
                <a:spcPts val="1200"/>
              </a:spcBef>
              <a:spcAft>
                <a:spcPts val="0"/>
              </a:spcAft>
              <a:buClr>
                <a:schemeClr val="dk1"/>
              </a:buClr>
              <a:buSzPts val="1100"/>
              <a:buFont typeface="Arial"/>
              <a:buNone/>
            </a:pPr>
            <a:r>
              <a:rPr lang="en-US"/>
              <a:t>The key insight is that global stability metrics may hide local fairness risks, especially during economic changes or shocks.</a:t>
            </a:r>
            <a:endParaRPr/>
          </a:p>
          <a:p>
            <a:pPr indent="0" lvl="0" marL="0" rtl="0" algn="l">
              <a:lnSpc>
                <a:spcPct val="115000"/>
              </a:lnSpc>
              <a:spcBef>
                <a:spcPts val="1200"/>
              </a:spcBef>
              <a:spcAft>
                <a:spcPts val="0"/>
              </a:spcAft>
              <a:buClr>
                <a:schemeClr val="dk1"/>
              </a:buClr>
              <a:buSzPts val="1100"/>
              <a:buFont typeface="Arial"/>
              <a:buNone/>
            </a:pPr>
            <a:r>
              <a:rPr lang="en-US"/>
              <a:t>We classified this as medium-to-high severity.</a:t>
            </a:r>
            <a:endParaRPr/>
          </a:p>
          <a:p>
            <a:pPr indent="0" lvl="0" marL="0" rtl="0" algn="l">
              <a:spcBef>
                <a:spcPts val="1200"/>
              </a:spcBef>
              <a:spcAft>
                <a:spcPts val="0"/>
              </a:spcAft>
              <a:buNone/>
            </a:pPr>
            <a:r>
              <a:t/>
            </a:r>
            <a:endParaRPr/>
          </a:p>
        </p:txBody>
      </p:sp>
      <p:sp>
        <p:nvSpPr>
          <p:cNvPr id="209" name="Google Shape;20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To summarize, we identified four major failure modes in the HMDA mortgage approval model.</a:t>
            </a:r>
            <a:endParaRPr/>
          </a:p>
          <a:p>
            <a:pPr indent="0" lvl="0" marL="0" rtl="0" algn="l">
              <a:lnSpc>
                <a:spcPct val="115000"/>
              </a:lnSpc>
              <a:spcBef>
                <a:spcPts val="1200"/>
              </a:spcBef>
              <a:spcAft>
                <a:spcPts val="0"/>
              </a:spcAft>
              <a:buClr>
                <a:schemeClr val="dk1"/>
              </a:buClr>
              <a:buSzPts val="1100"/>
              <a:buFont typeface="Arial"/>
              <a:buNone/>
            </a:pPr>
            <a:r>
              <a:rPr lang="en-US"/>
              <a:t>First, proxy bias occurs because geographic and socioeconomic variables act as indirect racial proxies.</a:t>
            </a:r>
            <a:endParaRPr/>
          </a:p>
          <a:p>
            <a:pPr indent="0" lvl="0" marL="0" rtl="0" algn="l">
              <a:lnSpc>
                <a:spcPct val="115000"/>
              </a:lnSpc>
              <a:spcBef>
                <a:spcPts val="1200"/>
              </a:spcBef>
              <a:spcAft>
                <a:spcPts val="0"/>
              </a:spcAft>
              <a:buClr>
                <a:schemeClr val="dk1"/>
              </a:buClr>
              <a:buSzPts val="1100"/>
              <a:buFont typeface="Arial"/>
              <a:buNone/>
            </a:pPr>
            <a:r>
              <a:rPr lang="en-US"/>
              <a:t>Second, risk override shows that loan purpose can outweigh extreme financial risk, producing inconsistent approvals.</a:t>
            </a:r>
            <a:endParaRPr/>
          </a:p>
          <a:p>
            <a:pPr indent="0" lvl="0" marL="0" rtl="0" algn="l">
              <a:lnSpc>
                <a:spcPct val="115000"/>
              </a:lnSpc>
              <a:spcBef>
                <a:spcPts val="1200"/>
              </a:spcBef>
              <a:spcAft>
                <a:spcPts val="0"/>
              </a:spcAft>
              <a:buClr>
                <a:schemeClr val="dk1"/>
              </a:buClr>
              <a:buSzPts val="1100"/>
              <a:buFont typeface="Arial"/>
              <a:buNone/>
            </a:pPr>
            <a:r>
              <a:rPr lang="en-US"/>
              <a:t>Third, the counterfactual analysis revealed that the model provides unrealistic recommendations that applicants cannot practically follow.</a:t>
            </a:r>
            <a:endParaRPr/>
          </a:p>
          <a:p>
            <a:pPr indent="0" lvl="0" marL="0" rtl="0" algn="l">
              <a:lnSpc>
                <a:spcPct val="115000"/>
              </a:lnSpc>
              <a:spcBef>
                <a:spcPts val="1200"/>
              </a:spcBef>
              <a:spcAft>
                <a:spcPts val="0"/>
              </a:spcAft>
              <a:buClr>
                <a:schemeClr val="dk1"/>
              </a:buClr>
              <a:buSzPts val="1100"/>
              <a:buFont typeface="Arial"/>
              <a:buNone/>
            </a:pPr>
            <a:r>
              <a:rPr lang="en-US"/>
              <a:t>Finally, feature drift analysis showed that even small economic shifts can disproportionately affect borderline and minority applicants, despite stable global metrics.</a:t>
            </a:r>
            <a:endParaRPr/>
          </a:p>
          <a:p>
            <a:pPr indent="0" lvl="0" marL="0" rtl="0" algn="l">
              <a:lnSpc>
                <a:spcPct val="115000"/>
              </a:lnSpc>
              <a:spcBef>
                <a:spcPts val="1200"/>
              </a:spcBef>
              <a:spcAft>
                <a:spcPts val="0"/>
              </a:spcAft>
              <a:buClr>
                <a:schemeClr val="dk1"/>
              </a:buClr>
              <a:buSzPts val="1100"/>
              <a:buFont typeface="Arial"/>
              <a:buNone/>
            </a:pPr>
            <a:r>
              <a:rPr lang="en-US"/>
              <a:t>Overall, the model performs well statistically, but important risks remain in fairness, consistency, robustness, and real-world usability.</a:t>
            </a:r>
            <a:endParaRPr/>
          </a:p>
          <a:p>
            <a:pPr indent="0" lvl="0" marL="0" rtl="0" algn="l">
              <a:spcBef>
                <a:spcPts val="1200"/>
              </a:spcBef>
              <a:spcAft>
                <a:spcPts val="0"/>
              </a:spcAft>
              <a:buNone/>
            </a:pPr>
            <a:r>
              <a:t/>
            </a:r>
            <a:endParaRPr/>
          </a:p>
        </p:txBody>
      </p:sp>
      <p:sp>
        <p:nvSpPr>
          <p:cNvPr id="261" name="Google Shape;26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bd88e3920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dbd88e3920_0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3dbd88e3920_0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d94ae34f3_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g3dd94ae34f3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6" name="Google Shape;286;g3dd94ae34f3_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dd94ae34f3_1_6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g3dd94ae34f3_1_6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46" name="Google Shape;346;g3dd94ae34f3_1_6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dd94ae34f3_1_1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g3dd94ae34f3_1_1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09" name="Google Shape;409;g3dd94ae34f3_1_13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d94ae34f3_1_1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g3dd94ae34f3_1_16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34" name="Google Shape;434;g3dd94ae34f3_1_16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dd94ae34f3_1_20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g3dd94ae34f3_1_20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81" name="Google Shape;481;g3dd94ae34f3_1_20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dd94ae34f3_1_2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5" name="Google Shape;545;g3dd94ae34f3_1_2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46" name="Google Shape;546;g3dd94ae34f3_1_2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dd94ae34f3_1_3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4" name="Google Shape;624;g3dd94ae34f3_1_3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25" name="Google Shape;625;g3dd94ae34f3_1_35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dd94ae34f3_1_39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1" name="Google Shape;661;g3dd94ae34f3_1_3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62" name="Google Shape;662;g3dd94ae34f3_1_39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dbd88e3920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dbd88e3920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5" name="Google Shape;745;g3dbd88e3920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5" name="Shape 15"/>
        <p:cNvGrpSpPr/>
        <p:nvPr/>
      </p:nvGrpSpPr>
      <p:grpSpPr>
        <a:xfrm>
          <a:off x="0" y="0"/>
          <a:ext cx="0" cy="0"/>
          <a:chOff x="0" y="0"/>
          <a:chExt cx="0" cy="0"/>
        </a:xfrm>
      </p:grpSpPr>
      <p:sp>
        <p:nvSpPr>
          <p:cNvPr id="16" name="Google Shape;16;p3"/>
          <p:cNvSpPr/>
          <p:nvPr/>
        </p:nvSpPr>
        <p:spPr>
          <a:xfrm>
            <a:off x="-1097280" y="-1097280"/>
            <a:ext cx="4114800" cy="4114800"/>
          </a:xfrm>
          <a:prstGeom prst="ellipse">
            <a:avLst/>
          </a:prstGeom>
          <a:solidFill>
            <a:srgbClr val="1C2B4A">
              <a:alpha val="30199"/>
            </a:srgbClr>
          </a:solidFill>
          <a:ln cap="flat" cmpd="sng" w="12700">
            <a:solidFill>
              <a:srgbClr val="1C2B4A">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6858000" y="2926080"/>
            <a:ext cx="3657600" cy="3657600"/>
          </a:xfrm>
          <a:prstGeom prst="ellipse">
            <a:avLst/>
          </a:prstGeom>
          <a:solidFill>
            <a:srgbClr val="1C2B4A">
              <a:alpha val="30199"/>
            </a:srgbClr>
          </a:solidFill>
          <a:ln cap="flat" cmpd="sng" w="12700">
            <a:solidFill>
              <a:srgbClr val="1C2B4A">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0" y="0"/>
            <a:ext cx="201300" cy="51435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02920" y="2907792"/>
            <a:ext cx="5943600" cy="41100"/>
          </a:xfrm>
          <a:prstGeom prst="rect">
            <a:avLst/>
          </a:prstGeom>
          <a:solidFill>
            <a:srgbClr val="C49A22"/>
          </a:solidFill>
          <a:ln cap="flat" cmpd="sng" w="12700">
            <a:solidFill>
              <a:srgbClr val="C49A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502920" y="347472"/>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2"/>
              </a:buClr>
              <a:buSzPts val="1000"/>
              <a:buFont typeface="Calibri"/>
              <a:buNone/>
            </a:pPr>
            <a:r>
              <a:rPr b="0" i="0" lang="en-US" sz="1000" u="none" cap="none" strike="noStrike">
                <a:solidFill>
                  <a:srgbClr val="6B7A92"/>
                </a:solidFill>
                <a:latin typeface="Calibri"/>
                <a:ea typeface="Calibri"/>
                <a:cs typeface="Calibri"/>
                <a:sym typeface="Calibri"/>
              </a:rPr>
              <a:t>DNSC 6330  ·  Responsible Machine Learning  ·  George Washington University</a:t>
            </a:r>
            <a:endParaRPr b="0" i="0" sz="1000" u="none" cap="none" strike="noStrike">
              <a:solidFill>
                <a:schemeClr val="dk1"/>
              </a:solidFill>
              <a:latin typeface="Calibri"/>
              <a:ea typeface="Calibri"/>
              <a:cs typeface="Calibri"/>
              <a:sym typeface="Calibri"/>
            </a:endParaRPr>
          </a:p>
        </p:txBody>
      </p:sp>
      <p:sp>
        <p:nvSpPr>
          <p:cNvPr id="21" name="Google Shape;21;p3"/>
          <p:cNvSpPr/>
          <p:nvPr/>
        </p:nvSpPr>
        <p:spPr>
          <a:xfrm>
            <a:off x="502925" y="941950"/>
            <a:ext cx="5178900" cy="141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Georgia"/>
              <a:buNone/>
            </a:pPr>
            <a:r>
              <a:rPr b="1" lang="en-US" sz="8100">
                <a:solidFill>
                  <a:srgbClr val="FFFFFF"/>
                </a:solidFill>
                <a:latin typeface="Georgia"/>
                <a:ea typeface="Georgia"/>
                <a:cs typeface="Georgia"/>
                <a:sym typeface="Georgia"/>
              </a:rPr>
              <a:t>Group 2</a:t>
            </a:r>
            <a:endParaRPr b="0" i="0" sz="8100" u="none" cap="none" strike="noStrike">
              <a:solidFill>
                <a:schemeClr val="dk1"/>
              </a:solidFill>
              <a:latin typeface="Calibri"/>
              <a:ea typeface="Calibri"/>
              <a:cs typeface="Calibri"/>
              <a:sym typeface="Calibri"/>
            </a:endParaRPr>
          </a:p>
        </p:txBody>
      </p:sp>
      <p:sp>
        <p:nvSpPr>
          <p:cNvPr id="22" name="Google Shape;22;p3"/>
          <p:cNvSpPr/>
          <p:nvPr/>
        </p:nvSpPr>
        <p:spPr>
          <a:xfrm>
            <a:off x="502920" y="2359152"/>
            <a:ext cx="7315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9A22"/>
              </a:buClr>
              <a:buSzPts val="1600"/>
              <a:buFont typeface="Calibri"/>
              <a:buNone/>
            </a:pPr>
            <a:r>
              <a:rPr b="0" i="1" lang="en-US" sz="1600" u="none" cap="none" strike="noStrike">
                <a:solidFill>
                  <a:srgbClr val="C49A22"/>
                </a:solidFill>
                <a:latin typeface="Calibri"/>
                <a:ea typeface="Calibri"/>
                <a:cs typeface="Calibri"/>
                <a:sym typeface="Calibri"/>
              </a:rPr>
              <a:t>A Responsible AI Audit  ·  2024 HMDA Mortgage Data</a:t>
            </a:r>
            <a:endParaRPr b="0" i="0" sz="1600" u="none" cap="none" strike="noStrike">
              <a:solidFill>
                <a:schemeClr val="dk1"/>
              </a:solidFill>
              <a:latin typeface="Calibri"/>
              <a:ea typeface="Calibri"/>
              <a:cs typeface="Calibri"/>
              <a:sym typeface="Calibri"/>
            </a:endParaRPr>
          </a:p>
        </p:txBody>
      </p:sp>
      <p:sp>
        <p:nvSpPr>
          <p:cNvPr id="23" name="Google Shape;23;p3"/>
          <p:cNvSpPr/>
          <p:nvPr/>
        </p:nvSpPr>
        <p:spPr>
          <a:xfrm>
            <a:off x="502920" y="3090672"/>
            <a:ext cx="2743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9A22"/>
              </a:buClr>
              <a:buSzPts val="900"/>
              <a:buFont typeface="Calibri"/>
              <a:buNone/>
            </a:pPr>
            <a:r>
              <a:rPr b="1" i="0" lang="en-US" sz="900" u="none" cap="none" strike="noStrike">
                <a:solidFill>
                  <a:srgbClr val="C49A22"/>
                </a:solidFill>
                <a:latin typeface="Calibri"/>
                <a:ea typeface="Calibri"/>
                <a:cs typeface="Calibri"/>
                <a:sym typeface="Calibri"/>
              </a:rPr>
              <a:t>PRESENTED BY</a:t>
            </a:r>
            <a:endParaRPr b="0" i="0" sz="900" u="none" cap="none" strike="noStrike">
              <a:solidFill>
                <a:schemeClr val="dk1"/>
              </a:solidFill>
              <a:latin typeface="Calibri"/>
              <a:ea typeface="Calibri"/>
              <a:cs typeface="Calibri"/>
              <a:sym typeface="Calibri"/>
            </a:endParaRPr>
          </a:p>
        </p:txBody>
      </p:sp>
      <p:sp>
        <p:nvSpPr>
          <p:cNvPr id="24" name="Google Shape;24;p3"/>
          <p:cNvSpPr/>
          <p:nvPr/>
        </p:nvSpPr>
        <p:spPr>
          <a:xfrm>
            <a:off x="502920" y="3429000"/>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Natchapa Aunkay (Gift)</a:t>
            </a:r>
            <a:endParaRPr b="0" i="0" sz="1300" u="none" cap="none" strike="noStrike">
              <a:solidFill>
                <a:schemeClr val="dk1"/>
              </a:solidFill>
              <a:latin typeface="Calibri"/>
              <a:ea typeface="Calibri"/>
              <a:cs typeface="Calibri"/>
              <a:sym typeface="Calibri"/>
            </a:endParaRPr>
          </a:p>
        </p:txBody>
      </p:sp>
      <p:sp>
        <p:nvSpPr>
          <p:cNvPr id="25" name="Google Shape;25;p3"/>
          <p:cNvSpPr/>
          <p:nvPr/>
        </p:nvSpPr>
        <p:spPr>
          <a:xfrm>
            <a:off x="502920" y="3730752"/>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Hazel Mugadza</a:t>
            </a:r>
            <a:endParaRPr b="0" i="0" sz="1300" u="none" cap="none" strike="noStrike">
              <a:solidFill>
                <a:schemeClr val="dk1"/>
              </a:solidFill>
              <a:latin typeface="Calibri"/>
              <a:ea typeface="Calibri"/>
              <a:cs typeface="Calibri"/>
              <a:sym typeface="Calibri"/>
            </a:endParaRPr>
          </a:p>
        </p:txBody>
      </p:sp>
      <p:sp>
        <p:nvSpPr>
          <p:cNvPr id="26" name="Google Shape;26;p3"/>
          <p:cNvSpPr/>
          <p:nvPr/>
        </p:nvSpPr>
        <p:spPr>
          <a:xfrm>
            <a:off x="502920" y="4032504"/>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Shreyas Kuradagi</a:t>
            </a:r>
            <a:endParaRPr b="0" i="0" sz="1300" u="none" cap="none" strike="noStrike">
              <a:solidFill>
                <a:schemeClr val="dk1"/>
              </a:solidFill>
              <a:latin typeface="Calibri"/>
              <a:ea typeface="Calibri"/>
              <a:cs typeface="Calibri"/>
              <a:sym typeface="Calibri"/>
            </a:endParaRPr>
          </a:p>
        </p:txBody>
      </p:sp>
      <p:sp>
        <p:nvSpPr>
          <p:cNvPr id="27" name="Google Shape;27;p3"/>
          <p:cNvSpPr/>
          <p:nvPr/>
        </p:nvSpPr>
        <p:spPr>
          <a:xfrm>
            <a:off x="3429000" y="3429000"/>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Tatenda Kagande</a:t>
            </a:r>
            <a:endParaRPr b="0" i="0" sz="1300" u="none" cap="none" strike="noStrike">
              <a:solidFill>
                <a:schemeClr val="dk1"/>
              </a:solidFill>
              <a:latin typeface="Calibri"/>
              <a:ea typeface="Calibri"/>
              <a:cs typeface="Calibri"/>
              <a:sym typeface="Calibri"/>
            </a:endParaRPr>
          </a:p>
        </p:txBody>
      </p:sp>
      <p:sp>
        <p:nvSpPr>
          <p:cNvPr id="28" name="Google Shape;28;p3"/>
          <p:cNvSpPr/>
          <p:nvPr/>
        </p:nvSpPr>
        <p:spPr>
          <a:xfrm>
            <a:off x="3429000" y="3730752"/>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Oliastic Ngoshi</a:t>
            </a:r>
            <a:endParaRPr b="0" i="0" sz="1300" u="none" cap="none" strike="noStrike">
              <a:solidFill>
                <a:schemeClr val="dk1"/>
              </a:solidFill>
              <a:latin typeface="Calibri"/>
              <a:ea typeface="Calibri"/>
              <a:cs typeface="Calibri"/>
              <a:sym typeface="Calibri"/>
            </a:endParaRPr>
          </a:p>
        </p:txBody>
      </p:sp>
      <p:sp>
        <p:nvSpPr>
          <p:cNvPr id="29" name="Google Shape;29;p3"/>
          <p:cNvSpPr/>
          <p:nvPr/>
        </p:nvSpPr>
        <p:spPr>
          <a:xfrm>
            <a:off x="3429000" y="4032504"/>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Steven Chu</a:t>
            </a:r>
            <a:endParaRPr b="0" i="0" sz="1300" u="none" cap="none" strike="noStrike">
              <a:solidFill>
                <a:schemeClr val="dk1"/>
              </a:solidFill>
              <a:latin typeface="Calibri"/>
              <a:ea typeface="Calibri"/>
              <a:cs typeface="Calibri"/>
              <a:sym typeface="Calibri"/>
            </a:endParaRPr>
          </a:p>
        </p:txBody>
      </p:sp>
      <p:sp>
        <p:nvSpPr>
          <p:cNvPr id="30" name="Google Shape;30;p3"/>
          <p:cNvSpPr/>
          <p:nvPr/>
        </p:nvSpPr>
        <p:spPr>
          <a:xfrm>
            <a:off x="0" y="4960620"/>
            <a:ext cx="9144000" cy="183000"/>
          </a:xfrm>
          <a:prstGeom prst="rect">
            <a:avLst/>
          </a:prstGeom>
          <a:solidFill>
            <a:srgbClr val="C0392B">
              <a:alpha val="40000"/>
            </a:srgbClr>
          </a:solidFill>
          <a:ln cap="flat" cmpd="sng" w="12700">
            <a:solidFill>
              <a:srgbClr val="C0392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5" name="Shape 35"/>
        <p:cNvGrpSpPr/>
        <p:nvPr/>
      </p:nvGrpSpPr>
      <p:grpSpPr>
        <a:xfrm>
          <a:off x="0" y="0"/>
          <a:ext cx="0" cy="0"/>
          <a:chOff x="0" y="0"/>
          <a:chExt cx="0" cy="0"/>
        </a:xfrm>
      </p:grpSpPr>
      <p:sp>
        <p:nvSpPr>
          <p:cNvPr id="36" name="Google Shape;36;p4"/>
          <p:cNvSpPr/>
          <p:nvPr/>
        </p:nvSpPr>
        <p:spPr>
          <a:xfrm>
            <a:off x="0" y="0"/>
            <a:ext cx="164592" cy="51435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299907" y="379289"/>
            <a:ext cx="83211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Georgia"/>
                <a:ea typeface="Georgia"/>
                <a:cs typeface="Georgia"/>
                <a:sym typeface="Georgia"/>
              </a:rPr>
              <a:t>Q</a:t>
            </a:r>
            <a:r>
              <a:rPr b="1" lang="en-US" sz="3800">
                <a:solidFill>
                  <a:srgbClr val="FFFFFF"/>
                </a:solidFill>
                <a:latin typeface="Georgia"/>
                <a:ea typeface="Georgia"/>
                <a:cs typeface="Georgia"/>
                <a:sym typeface="Georgia"/>
              </a:rPr>
              <a:t>1</a:t>
            </a:r>
            <a:r>
              <a:rPr b="1" i="0" lang="en-US" sz="3800" u="none" cap="none" strike="noStrike">
                <a:solidFill>
                  <a:srgbClr val="FFFFFF"/>
                </a:solidFill>
                <a:latin typeface="Georgia"/>
                <a:ea typeface="Georgia"/>
                <a:cs typeface="Georgia"/>
                <a:sym typeface="Georgia"/>
              </a:rPr>
              <a:t>: </a:t>
            </a:r>
            <a:r>
              <a:rPr b="1" lang="en-US" sz="3800">
                <a:solidFill>
                  <a:srgbClr val="FFFFFF"/>
                </a:solidFill>
                <a:latin typeface="Georgia"/>
                <a:ea typeface="Georgia"/>
                <a:cs typeface="Georgia"/>
                <a:sym typeface="Georgia"/>
              </a:rPr>
              <a:t>Optimization Objective </a:t>
            </a:r>
            <a:endParaRPr i="0" sz="3800" u="none" cap="none" strike="noStrike">
              <a:solidFill>
                <a:schemeClr val="dk1"/>
              </a:solidFill>
              <a:latin typeface="Georgia"/>
              <a:ea typeface="Georgia"/>
              <a:cs typeface="Georgia"/>
              <a:sym typeface="Georgia"/>
            </a:endParaRPr>
          </a:p>
        </p:txBody>
      </p:sp>
      <p:sp>
        <p:nvSpPr>
          <p:cNvPr id="38" name="Google Shape;38;p4"/>
          <p:cNvSpPr/>
          <p:nvPr/>
        </p:nvSpPr>
        <p:spPr>
          <a:xfrm>
            <a:off x="299907" y="1211372"/>
            <a:ext cx="83211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700"/>
              <a:buFont typeface="Calibri"/>
              <a:buNone/>
            </a:pPr>
            <a:r>
              <a:rPr i="1" lang="en-US" sz="1700">
                <a:solidFill>
                  <a:srgbClr val="F0C878"/>
                </a:solidFill>
                <a:latin typeface="Calibri"/>
                <a:ea typeface="Calibri"/>
                <a:cs typeface="Calibri"/>
                <a:sym typeface="Calibri"/>
              </a:rPr>
              <a:t>Optimization Objective: ROC-AUC with Threshold = 0.7 </a:t>
            </a:r>
            <a:endParaRPr i="0" sz="1700" u="none" cap="none" strike="noStrike">
              <a:solidFill>
                <a:schemeClr val="dk1"/>
              </a:solidFill>
              <a:latin typeface="Calibri"/>
              <a:ea typeface="Calibri"/>
              <a:cs typeface="Calibri"/>
              <a:sym typeface="Calibri"/>
            </a:endParaRPr>
          </a:p>
        </p:txBody>
      </p:sp>
      <p:sp>
        <p:nvSpPr>
          <p:cNvPr id="39" name="Google Shape;39;p4"/>
          <p:cNvSpPr/>
          <p:nvPr/>
        </p:nvSpPr>
        <p:spPr>
          <a:xfrm>
            <a:off x="299907" y="1723436"/>
            <a:ext cx="8321100" cy="273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0" name="Google Shape;40;p4"/>
          <p:cNvSpPr/>
          <p:nvPr/>
        </p:nvSpPr>
        <p:spPr>
          <a:xfrm>
            <a:off x="422632" y="1622859"/>
            <a:ext cx="4364400" cy="23001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lt1"/>
                </a:solidFill>
                <a:latin typeface="Calibri"/>
                <a:ea typeface="Calibri"/>
                <a:cs typeface="Calibri"/>
                <a:sym typeface="Calibri"/>
              </a:rPr>
              <a:t>Objective</a:t>
            </a:r>
            <a:endParaRPr b="1" sz="1100">
              <a:solidFill>
                <a:schemeClr val="lt1"/>
              </a:solidFill>
              <a:latin typeface="Calibri"/>
              <a:ea typeface="Calibri"/>
              <a:cs typeface="Calibri"/>
              <a:sym typeface="Calibri"/>
            </a:endParaRPr>
          </a:p>
          <a:p>
            <a:pPr indent="-298450" lvl="0" marL="457200" rtl="0" algn="l">
              <a:lnSpc>
                <a:spcPct val="115000"/>
              </a:lnSpc>
              <a:spcBef>
                <a:spcPts val="1200"/>
              </a:spcBef>
              <a:spcAft>
                <a:spcPts val="0"/>
              </a:spcAft>
              <a:buClr>
                <a:schemeClr val="lt1"/>
              </a:buClr>
              <a:buSzPts val="1100"/>
              <a:buChar char="●"/>
            </a:pPr>
            <a:r>
              <a:rPr lang="en-US" sz="1100">
                <a:solidFill>
                  <a:schemeClr val="lt1"/>
                </a:solidFill>
                <a:latin typeface="Calibri"/>
                <a:ea typeface="Calibri"/>
                <a:cs typeface="Calibri"/>
                <a:sym typeface="Calibri"/>
              </a:rPr>
              <a:t>Maximize </a:t>
            </a:r>
            <a:r>
              <a:rPr b="1" lang="en-US" sz="1100">
                <a:solidFill>
                  <a:schemeClr val="lt1"/>
                </a:solidFill>
                <a:latin typeface="Calibri"/>
                <a:ea typeface="Calibri"/>
                <a:cs typeface="Calibri"/>
                <a:sym typeface="Calibri"/>
              </a:rPr>
              <a:t>ROC-AUC</a:t>
            </a:r>
            <a:r>
              <a:rPr lang="en-US" sz="1100">
                <a:solidFill>
                  <a:schemeClr val="lt1"/>
                </a:solidFill>
                <a:latin typeface="Calibri"/>
                <a:ea typeface="Calibri"/>
                <a:cs typeface="Calibri"/>
                <a:sym typeface="Calibri"/>
              </a:rPr>
              <a:t> to ensure strong </a:t>
            </a:r>
            <a:r>
              <a:rPr b="1" lang="en-US" sz="1100">
                <a:solidFill>
                  <a:schemeClr val="lt1"/>
                </a:solidFill>
                <a:latin typeface="Calibri"/>
                <a:ea typeface="Calibri"/>
                <a:cs typeface="Calibri"/>
                <a:sym typeface="Calibri"/>
              </a:rPr>
              <a:t>ranking performance</a:t>
            </a:r>
            <a:r>
              <a:rPr lang="en-US" sz="1100">
                <a:solidFill>
                  <a:schemeClr val="lt1"/>
                </a:solidFill>
                <a:latin typeface="Calibri"/>
                <a:ea typeface="Calibri"/>
                <a:cs typeface="Calibri"/>
                <a:sym typeface="Calibri"/>
              </a:rPr>
              <a:t> between approved (1) and denied (0) mortgage applications</a:t>
            </a:r>
            <a:endParaRPr sz="1100">
              <a:solidFill>
                <a:schemeClr val="lt1"/>
              </a:solidFill>
              <a:latin typeface="Calibri"/>
              <a:ea typeface="Calibri"/>
              <a:cs typeface="Calibri"/>
              <a:sym typeface="Calibri"/>
            </a:endParaRPr>
          </a:p>
          <a:p>
            <a:pPr indent="-298450" lvl="0" marL="457200" rtl="0" algn="l">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Use </a:t>
            </a:r>
            <a:r>
              <a:rPr b="1" lang="en-US" sz="1100">
                <a:solidFill>
                  <a:schemeClr val="lt1"/>
                </a:solidFill>
                <a:latin typeface="Calibri"/>
                <a:ea typeface="Calibri"/>
                <a:cs typeface="Calibri"/>
                <a:sym typeface="Calibri"/>
              </a:rPr>
              <a:t>decision threshold = 0.7</a:t>
            </a:r>
            <a:r>
              <a:rPr lang="en-US" sz="1100">
                <a:solidFill>
                  <a:schemeClr val="lt1"/>
                </a:solidFill>
                <a:latin typeface="Calibri"/>
                <a:ea typeface="Calibri"/>
                <a:cs typeface="Calibri"/>
                <a:sym typeface="Calibri"/>
              </a:rPr>
              <a:t> for final classification</a:t>
            </a:r>
            <a:endParaRPr sz="1100">
              <a:solidFill>
                <a:schemeClr val="lt1"/>
              </a:solidFill>
              <a:latin typeface="Calibri"/>
              <a:ea typeface="Calibri"/>
              <a:cs typeface="Calibri"/>
              <a:sym typeface="Calibri"/>
            </a:endParaRPr>
          </a:p>
          <a:p>
            <a:pPr indent="0" lvl="0" marL="0" marR="0" rtl="0" algn="l">
              <a:spcBef>
                <a:spcPts val="1200"/>
              </a:spcBef>
              <a:spcAft>
                <a:spcPts val="0"/>
              </a:spcAft>
              <a:buClr>
                <a:srgbClr val="FFFFFF"/>
              </a:buClr>
              <a:buSzPts val="1200"/>
              <a:buFont typeface="Calibri"/>
              <a:buNone/>
            </a:pPr>
            <a:r>
              <a:t/>
            </a:r>
            <a:endParaRPr sz="1200">
              <a:solidFill>
                <a:schemeClr val="dk1"/>
              </a:solidFill>
              <a:latin typeface="Calibri"/>
              <a:ea typeface="Calibri"/>
              <a:cs typeface="Calibri"/>
              <a:sym typeface="Calibri"/>
            </a:endParaRPr>
          </a:p>
        </p:txBody>
      </p:sp>
      <p:sp>
        <p:nvSpPr>
          <p:cNvPr id="41" name="Google Shape;41;p4"/>
          <p:cNvSpPr/>
          <p:nvPr/>
        </p:nvSpPr>
        <p:spPr>
          <a:xfrm>
            <a:off x="2512755" y="2034332"/>
            <a:ext cx="17832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600"/>
              <a:buFont typeface="Calibri"/>
              <a:buNone/>
            </a:pPr>
            <a:r>
              <a:t/>
            </a:r>
            <a:endParaRPr i="0" sz="1600" u="none" cap="none" strike="noStrike">
              <a:solidFill>
                <a:schemeClr val="dk1"/>
              </a:solidFill>
              <a:latin typeface="Calibri"/>
              <a:ea typeface="Calibri"/>
              <a:cs typeface="Calibri"/>
              <a:sym typeface="Calibri"/>
            </a:endParaRPr>
          </a:p>
        </p:txBody>
      </p:sp>
      <p:sp>
        <p:nvSpPr>
          <p:cNvPr id="42" name="Google Shape;42;p4"/>
          <p:cNvSpPr/>
          <p:nvPr/>
        </p:nvSpPr>
        <p:spPr>
          <a:xfrm>
            <a:off x="2512755" y="2381804"/>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t/>
            </a:r>
            <a:endParaRPr i="0" sz="1200" u="none" cap="none" strike="noStrike">
              <a:solidFill>
                <a:schemeClr val="dk1"/>
              </a:solidFill>
              <a:latin typeface="Calibri"/>
              <a:ea typeface="Calibri"/>
              <a:cs typeface="Calibri"/>
              <a:sym typeface="Calibri"/>
            </a:endParaRPr>
          </a:p>
        </p:txBody>
      </p:sp>
      <p:sp>
        <p:nvSpPr>
          <p:cNvPr id="43" name="Google Shape;43;p4"/>
          <p:cNvSpPr/>
          <p:nvPr/>
        </p:nvSpPr>
        <p:spPr>
          <a:xfrm>
            <a:off x="4634163" y="2034332"/>
            <a:ext cx="17832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44" name="Google Shape;44;p4"/>
          <p:cNvSpPr/>
          <p:nvPr/>
        </p:nvSpPr>
        <p:spPr>
          <a:xfrm>
            <a:off x="4634163" y="2381804"/>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45" name="Google Shape;45;p4"/>
          <p:cNvSpPr/>
          <p:nvPr/>
        </p:nvSpPr>
        <p:spPr>
          <a:xfrm>
            <a:off x="6755571" y="2381804"/>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t/>
            </a:r>
            <a:endParaRPr b="0" i="0" sz="1200" u="none" cap="none" strike="noStrike">
              <a:solidFill>
                <a:schemeClr val="dk1"/>
              </a:solidFill>
              <a:latin typeface="Calibri"/>
              <a:ea typeface="Calibri"/>
              <a:cs typeface="Calibri"/>
              <a:sym typeface="Calibri"/>
            </a:endParaRPr>
          </a:p>
        </p:txBody>
      </p:sp>
      <p:pic>
        <p:nvPicPr>
          <p:cNvPr id="46" name="Google Shape;46;p4"/>
          <p:cNvPicPr preferRelativeResize="0"/>
          <p:nvPr/>
        </p:nvPicPr>
        <p:blipFill rotWithShape="1">
          <a:blip r:embed="rId3">
            <a:alphaModFix/>
          </a:blip>
          <a:srcRect b="0" l="-53956" r="-3351" t="13375"/>
          <a:stretch/>
        </p:blipFill>
        <p:spPr>
          <a:xfrm>
            <a:off x="4158900" y="1931428"/>
            <a:ext cx="4462100" cy="2885681"/>
          </a:xfrm>
          <a:prstGeom prst="rect">
            <a:avLst/>
          </a:prstGeom>
          <a:noFill/>
          <a:ln>
            <a:noFill/>
          </a:ln>
        </p:spPr>
      </p:pic>
      <p:sp>
        <p:nvSpPr>
          <p:cNvPr id="47" name="Google Shape;47;p4"/>
          <p:cNvSpPr txBox="1"/>
          <p:nvPr/>
        </p:nvSpPr>
        <p:spPr>
          <a:xfrm>
            <a:off x="419977" y="3287159"/>
            <a:ext cx="4679700" cy="109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chemeClr val="lt1"/>
                </a:solidFill>
                <a:latin typeface="Calibri"/>
                <a:ea typeface="Calibri"/>
                <a:cs typeface="Calibri"/>
                <a:sym typeface="Calibri"/>
              </a:rPr>
              <a:t>Key Insight</a:t>
            </a:r>
            <a:endParaRPr b="1" sz="1100">
              <a:solidFill>
                <a:schemeClr val="lt1"/>
              </a:solidFill>
              <a:latin typeface="Calibri"/>
              <a:ea typeface="Calibri"/>
              <a:cs typeface="Calibri"/>
              <a:sym typeface="Calibri"/>
            </a:endParaRPr>
          </a:p>
          <a:p>
            <a:pPr indent="-298450" lvl="0" marL="457200" rtl="0" algn="l">
              <a:lnSpc>
                <a:spcPct val="115000"/>
              </a:lnSpc>
              <a:spcBef>
                <a:spcPts val="1200"/>
              </a:spcBef>
              <a:spcAft>
                <a:spcPts val="0"/>
              </a:spcAft>
              <a:buClr>
                <a:schemeClr val="lt1"/>
              </a:buClr>
              <a:buSzPts val="1100"/>
              <a:buChar char="●"/>
            </a:pPr>
            <a:r>
              <a:rPr lang="en-US" sz="1100">
                <a:solidFill>
                  <a:schemeClr val="lt1"/>
                </a:solidFill>
                <a:latin typeface="Calibri"/>
                <a:ea typeface="Calibri"/>
                <a:cs typeface="Calibri"/>
                <a:sym typeface="Calibri"/>
              </a:rPr>
              <a:t>Significant improvement in </a:t>
            </a:r>
            <a:r>
              <a:rPr b="1" lang="en-US" sz="1100">
                <a:solidFill>
                  <a:schemeClr val="lt1"/>
                </a:solidFill>
                <a:latin typeface="Calibri"/>
                <a:ea typeface="Calibri"/>
                <a:cs typeface="Calibri"/>
                <a:sym typeface="Calibri"/>
              </a:rPr>
              <a:t>ranking ability (AUC)</a:t>
            </a:r>
            <a:endParaRPr b="1" sz="1100">
              <a:solidFill>
                <a:schemeClr val="lt1"/>
              </a:solidFill>
              <a:latin typeface="Calibri"/>
              <a:ea typeface="Calibri"/>
              <a:cs typeface="Calibri"/>
              <a:sym typeface="Calibri"/>
            </a:endParaRPr>
          </a:p>
          <a:p>
            <a:pPr indent="-298450" lvl="0" marL="457200" rtl="0" algn="l">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Smaller gain in </a:t>
            </a:r>
            <a:r>
              <a:rPr b="1" lang="en-US" sz="1100">
                <a:solidFill>
                  <a:schemeClr val="lt1"/>
                </a:solidFill>
                <a:latin typeface="Calibri"/>
                <a:ea typeface="Calibri"/>
                <a:cs typeface="Calibri"/>
                <a:sym typeface="Calibri"/>
              </a:rPr>
              <a:t>threshold-based performance (F1)</a:t>
            </a:r>
            <a:br>
              <a:rPr b="1" lang="en-US" sz="1100">
                <a:solidFill>
                  <a:schemeClr val="lt1"/>
                </a:solidFill>
                <a:latin typeface="Calibri"/>
                <a:ea typeface="Calibri"/>
                <a:cs typeface="Calibri"/>
                <a:sym typeface="Calibri"/>
              </a:rPr>
            </a:br>
            <a:r>
              <a:rPr lang="en-US" sz="1100">
                <a:solidFill>
                  <a:schemeClr val="lt1"/>
                </a:solidFill>
                <a:latin typeface="Calibri"/>
                <a:ea typeface="Calibri"/>
                <a:cs typeface="Calibri"/>
                <a:sym typeface="Calibri"/>
              </a:rPr>
              <a:t> → Indicates </a:t>
            </a:r>
            <a:r>
              <a:rPr b="1" lang="en-US" sz="1100">
                <a:solidFill>
                  <a:schemeClr val="lt1"/>
                </a:solidFill>
                <a:latin typeface="Calibri"/>
                <a:ea typeface="Calibri"/>
                <a:cs typeface="Calibri"/>
                <a:sym typeface="Calibri"/>
              </a:rPr>
              <a:t>non-linear relationships captured by XGBoost</a:t>
            </a:r>
            <a:endParaRPr b="1" sz="1100">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3355"/>
        </a:solidFill>
      </p:bgPr>
    </p:bg>
    <p:spTree>
      <p:nvGrpSpPr>
        <p:cNvPr id="52" name="Shape 52"/>
        <p:cNvGrpSpPr/>
        <p:nvPr/>
      </p:nvGrpSpPr>
      <p:grpSpPr>
        <a:xfrm>
          <a:off x="0" y="0"/>
          <a:ext cx="0" cy="0"/>
          <a:chOff x="0" y="0"/>
          <a:chExt cx="0" cy="0"/>
        </a:xfrm>
      </p:grpSpPr>
      <p:sp>
        <p:nvSpPr>
          <p:cNvPr id="53" name="Google Shape;53;p5"/>
          <p:cNvSpPr txBox="1"/>
          <p:nvPr/>
        </p:nvSpPr>
        <p:spPr>
          <a:xfrm>
            <a:off x="186798" y="66944"/>
            <a:ext cx="78846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u="sng">
                <a:solidFill>
                  <a:schemeClr val="lt1"/>
                </a:solidFill>
                <a:latin typeface="Georgia"/>
                <a:ea typeface="Georgia"/>
                <a:cs typeface="Georgia"/>
                <a:sym typeface="Georgia"/>
              </a:rPr>
              <a:t>Why AUC + Why Threshold = 0.7?</a:t>
            </a:r>
            <a:endParaRPr b="1" sz="2600" u="sng">
              <a:solidFill>
                <a:schemeClr val="lt1"/>
              </a:solidFill>
              <a:latin typeface="Georgia"/>
              <a:ea typeface="Georgia"/>
              <a:cs typeface="Georgia"/>
              <a:sym typeface="Georgia"/>
            </a:endParaRPr>
          </a:p>
        </p:txBody>
      </p:sp>
      <p:sp>
        <p:nvSpPr>
          <p:cNvPr id="54" name="Google Shape;54;p5"/>
          <p:cNvSpPr txBox="1"/>
          <p:nvPr/>
        </p:nvSpPr>
        <p:spPr>
          <a:xfrm>
            <a:off x="186799" y="685626"/>
            <a:ext cx="9005100" cy="169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i="1" lang="en-US" sz="1200" u="sng">
                <a:solidFill>
                  <a:srgbClr val="C49A22"/>
                </a:solidFill>
                <a:latin typeface="Calibri"/>
                <a:ea typeface="Calibri"/>
                <a:cs typeface="Calibri"/>
                <a:sym typeface="Calibri"/>
              </a:rPr>
              <a:t>Why ROC-AUC?</a:t>
            </a:r>
            <a:endParaRPr b="1" i="1" sz="1200" u="sng">
              <a:solidFill>
                <a:srgbClr val="C49A22"/>
              </a:solidFill>
              <a:latin typeface="Calibri"/>
              <a:ea typeface="Calibri"/>
              <a:cs typeface="Calibri"/>
              <a:sym typeface="Calibri"/>
            </a:endParaRPr>
          </a:p>
          <a:p>
            <a:pPr indent="-298450" lvl="0" marL="457200" rtl="0" algn="l">
              <a:lnSpc>
                <a:spcPct val="115000"/>
              </a:lnSpc>
              <a:spcBef>
                <a:spcPts val="1200"/>
              </a:spcBef>
              <a:spcAft>
                <a:spcPts val="0"/>
              </a:spcAft>
              <a:buClr>
                <a:schemeClr val="lt1"/>
              </a:buClr>
              <a:buSzPts val="1100"/>
              <a:buChar char="●"/>
            </a:pPr>
            <a:r>
              <a:rPr lang="en-US" sz="1100">
                <a:solidFill>
                  <a:schemeClr val="lt1"/>
                </a:solidFill>
                <a:latin typeface="Calibri"/>
                <a:ea typeface="Calibri"/>
                <a:cs typeface="Calibri"/>
                <a:sym typeface="Calibri"/>
              </a:rPr>
              <a:t>Measures model performance </a:t>
            </a:r>
            <a:r>
              <a:rPr b="1" lang="en-US" sz="1100">
                <a:solidFill>
                  <a:schemeClr val="lt1"/>
                </a:solidFill>
                <a:latin typeface="Calibri"/>
                <a:ea typeface="Calibri"/>
                <a:cs typeface="Calibri"/>
                <a:sym typeface="Calibri"/>
              </a:rPr>
              <a:t>across all thresholds</a:t>
            </a:r>
            <a:r>
              <a:rPr lang="en-US" sz="1100">
                <a:solidFill>
                  <a:schemeClr val="lt1"/>
                </a:solidFill>
                <a:latin typeface="Calibri"/>
                <a:ea typeface="Calibri"/>
                <a:cs typeface="Calibri"/>
                <a:sym typeface="Calibri"/>
              </a:rPr>
              <a:t>, not just one</a:t>
            </a:r>
            <a:endParaRPr sz="1100">
              <a:solidFill>
                <a:schemeClr val="lt1"/>
              </a:solidFill>
              <a:latin typeface="Calibri"/>
              <a:ea typeface="Calibri"/>
              <a:cs typeface="Calibri"/>
              <a:sym typeface="Calibri"/>
            </a:endParaRPr>
          </a:p>
          <a:p>
            <a:pPr indent="-298450" lvl="0" marL="457200" rtl="0" algn="l">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Captures </a:t>
            </a:r>
            <a:r>
              <a:rPr b="1" lang="en-US" sz="1100">
                <a:solidFill>
                  <a:schemeClr val="lt1"/>
                </a:solidFill>
                <a:latin typeface="Calibri"/>
                <a:ea typeface="Calibri"/>
                <a:cs typeface="Calibri"/>
                <a:sym typeface="Calibri"/>
              </a:rPr>
              <a:t>global ranking quality</a:t>
            </a:r>
            <a:r>
              <a:rPr lang="en-US" sz="1100">
                <a:solidFill>
                  <a:schemeClr val="lt1"/>
                </a:solidFill>
                <a:latin typeface="Calibri"/>
                <a:ea typeface="Calibri"/>
                <a:cs typeface="Calibri"/>
                <a:sym typeface="Calibri"/>
              </a:rPr>
              <a:t>, critical in lending decisions</a:t>
            </a:r>
            <a:endParaRPr sz="1100">
              <a:solidFill>
                <a:schemeClr val="lt1"/>
              </a:solidFill>
              <a:latin typeface="Calibri"/>
              <a:ea typeface="Calibri"/>
              <a:cs typeface="Calibri"/>
              <a:sym typeface="Calibri"/>
            </a:endParaRPr>
          </a:p>
          <a:p>
            <a:pPr indent="-298450" lvl="0" marL="457200" rtl="0" algn="l">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More robust than accuracy under </a:t>
            </a:r>
            <a:r>
              <a:rPr b="1" lang="en-US" sz="1100">
                <a:solidFill>
                  <a:schemeClr val="lt1"/>
                </a:solidFill>
                <a:latin typeface="Calibri"/>
                <a:ea typeface="Calibri"/>
                <a:cs typeface="Calibri"/>
                <a:sym typeface="Calibri"/>
              </a:rPr>
              <a:t>class imbalance</a:t>
            </a:r>
            <a:endParaRPr b="1" sz="1100">
              <a:solidFill>
                <a:schemeClr val="lt1"/>
              </a:solidFill>
              <a:latin typeface="Calibri"/>
              <a:ea typeface="Calibri"/>
              <a:cs typeface="Calibri"/>
              <a:sym typeface="Calibri"/>
            </a:endParaRPr>
          </a:p>
          <a:p>
            <a:pPr indent="-298450" lvl="0" marL="457200" rtl="0" algn="l">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Aligns with regulatory expectations:</a:t>
            </a:r>
            <a:endParaRPr sz="1100">
              <a:solidFill>
                <a:schemeClr val="lt1"/>
              </a:solidFill>
              <a:latin typeface="Calibri"/>
              <a:ea typeface="Calibri"/>
              <a:cs typeface="Calibri"/>
              <a:sym typeface="Calibri"/>
            </a:endParaRPr>
          </a:p>
          <a:p>
            <a:pPr indent="-298450" lvl="1" marL="914400" rtl="0" algn="l">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Evaluates whether the model </a:t>
            </a:r>
            <a:r>
              <a:rPr b="1" lang="en-US" sz="1100">
                <a:solidFill>
                  <a:schemeClr val="lt1"/>
                </a:solidFill>
                <a:latin typeface="Calibri"/>
                <a:ea typeface="Calibri"/>
                <a:cs typeface="Calibri"/>
                <a:sym typeface="Calibri"/>
              </a:rPr>
              <a:t>systematically separates groups</a:t>
            </a:r>
            <a:r>
              <a:rPr lang="en-US" sz="1100">
                <a:solidFill>
                  <a:schemeClr val="lt1"/>
                </a:solidFill>
                <a:latin typeface="Calibri"/>
                <a:ea typeface="Calibri"/>
                <a:cs typeface="Calibri"/>
                <a:sym typeface="Calibri"/>
              </a:rPr>
              <a:t> before thresholding</a:t>
            </a:r>
            <a:endParaRPr sz="1100">
              <a:solidFill>
                <a:schemeClr val="lt1"/>
              </a:solidFill>
              <a:latin typeface="Calibri"/>
              <a:ea typeface="Calibri"/>
              <a:cs typeface="Calibri"/>
              <a:sym typeface="Calibri"/>
            </a:endParaRPr>
          </a:p>
          <a:p>
            <a:pPr indent="-298450" lvl="0" marL="457200" rtl="0" algn="l">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From results: </a:t>
            </a:r>
            <a:r>
              <a:rPr b="1" lang="en-US" sz="1100">
                <a:solidFill>
                  <a:schemeClr val="lt1"/>
                </a:solidFill>
                <a:latin typeface="Calibri"/>
                <a:ea typeface="Calibri"/>
                <a:cs typeface="Calibri"/>
                <a:sym typeface="Calibri"/>
              </a:rPr>
              <a:t>+0.1163 AUC gain</a:t>
            </a:r>
            <a:r>
              <a:rPr lang="en-US" sz="1100">
                <a:solidFill>
                  <a:schemeClr val="lt1"/>
                </a:solidFill>
                <a:latin typeface="Calibri"/>
                <a:ea typeface="Calibri"/>
                <a:cs typeface="Calibri"/>
                <a:sym typeface="Calibri"/>
              </a:rPr>
              <a:t> shows strong improvement in predictive ordering</a:t>
            </a:r>
            <a:endParaRPr sz="1100">
              <a:solidFill>
                <a:schemeClr val="lt1"/>
              </a:solidFill>
              <a:latin typeface="Calibri"/>
              <a:ea typeface="Calibri"/>
              <a:cs typeface="Calibri"/>
              <a:sym typeface="Calibri"/>
            </a:endParaRPr>
          </a:p>
        </p:txBody>
      </p:sp>
      <p:sp>
        <p:nvSpPr>
          <p:cNvPr id="55" name="Google Shape;55;p5"/>
          <p:cNvSpPr txBox="1"/>
          <p:nvPr/>
        </p:nvSpPr>
        <p:spPr>
          <a:xfrm>
            <a:off x="186800" y="2379441"/>
            <a:ext cx="8395200" cy="149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i="1" lang="en-US" sz="1200" u="sng">
                <a:solidFill>
                  <a:srgbClr val="C49A22"/>
                </a:solidFill>
                <a:latin typeface="Calibri"/>
                <a:ea typeface="Calibri"/>
                <a:cs typeface="Calibri"/>
                <a:sym typeface="Calibri"/>
              </a:rPr>
              <a:t>Why Threshold = 0.7?</a:t>
            </a:r>
            <a:endParaRPr b="1" i="1" sz="1200" u="sng">
              <a:solidFill>
                <a:srgbClr val="C49A22"/>
              </a:solidFill>
              <a:latin typeface="Calibri"/>
              <a:ea typeface="Calibri"/>
              <a:cs typeface="Calibri"/>
              <a:sym typeface="Calibri"/>
            </a:endParaRPr>
          </a:p>
          <a:p>
            <a:pPr indent="-298450" lvl="0" marL="457200" rtl="0" algn="l">
              <a:lnSpc>
                <a:spcPct val="115000"/>
              </a:lnSpc>
              <a:spcBef>
                <a:spcPts val="1200"/>
              </a:spcBef>
              <a:spcAft>
                <a:spcPts val="0"/>
              </a:spcAft>
              <a:buClr>
                <a:schemeClr val="lt1"/>
              </a:buClr>
              <a:buSzPts val="1100"/>
              <a:buChar char="●"/>
            </a:pPr>
            <a:r>
              <a:rPr lang="en-US" sz="1100">
                <a:solidFill>
                  <a:schemeClr val="lt1"/>
                </a:solidFill>
                <a:latin typeface="Calibri"/>
                <a:ea typeface="Calibri"/>
                <a:cs typeface="Calibri"/>
                <a:sym typeface="Calibri"/>
              </a:rPr>
              <a:t>Conservative cutoff → reduces </a:t>
            </a:r>
            <a:r>
              <a:rPr b="1" lang="en-US" sz="1100">
                <a:solidFill>
                  <a:schemeClr val="lt1"/>
                </a:solidFill>
                <a:latin typeface="Calibri"/>
                <a:ea typeface="Calibri"/>
                <a:cs typeface="Calibri"/>
                <a:sym typeface="Calibri"/>
              </a:rPr>
              <a:t>false approvals (risk exposure)</a:t>
            </a:r>
            <a:endParaRPr b="1" sz="1100">
              <a:solidFill>
                <a:schemeClr val="lt1"/>
              </a:solidFill>
              <a:latin typeface="Calibri"/>
              <a:ea typeface="Calibri"/>
              <a:cs typeface="Calibri"/>
              <a:sym typeface="Calibri"/>
            </a:endParaRPr>
          </a:p>
          <a:p>
            <a:pPr indent="-298450" lvl="0" marL="457200" rtl="0" algn="l">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Aligns with </a:t>
            </a:r>
            <a:r>
              <a:rPr b="1" lang="en-US" sz="1100">
                <a:solidFill>
                  <a:schemeClr val="lt1"/>
                </a:solidFill>
                <a:latin typeface="Calibri"/>
                <a:ea typeface="Calibri"/>
                <a:cs typeface="Calibri"/>
                <a:sym typeface="Calibri"/>
              </a:rPr>
              <a:t>risk-sensitive lending policy</a:t>
            </a:r>
            <a:endParaRPr b="1" sz="1100">
              <a:solidFill>
                <a:schemeClr val="lt1"/>
              </a:solidFill>
              <a:latin typeface="Calibri"/>
              <a:ea typeface="Calibri"/>
              <a:cs typeface="Calibri"/>
              <a:sym typeface="Calibri"/>
            </a:endParaRPr>
          </a:p>
          <a:p>
            <a:pPr indent="-298450" lvl="0" marL="457200" rtl="0" algn="l">
              <a:lnSpc>
                <a:spcPct val="115000"/>
              </a:lnSpc>
              <a:spcBef>
                <a:spcPts val="0"/>
              </a:spcBef>
              <a:spcAft>
                <a:spcPts val="0"/>
              </a:spcAft>
              <a:buClr>
                <a:schemeClr val="lt1"/>
              </a:buClr>
              <a:buSzPts val="1100"/>
              <a:buChar char="●"/>
            </a:pPr>
            <a:r>
              <a:rPr lang="en-US" sz="1100">
                <a:solidFill>
                  <a:schemeClr val="lt1"/>
                </a:solidFill>
                <a:latin typeface="Calibri"/>
                <a:ea typeface="Calibri"/>
                <a:cs typeface="Calibri"/>
                <a:sym typeface="Calibri"/>
              </a:rPr>
              <a:t>Moves decision boundary to favor </a:t>
            </a:r>
            <a:r>
              <a:rPr b="1" lang="en-US" sz="1100">
                <a:solidFill>
                  <a:schemeClr val="lt1"/>
                </a:solidFill>
                <a:latin typeface="Calibri"/>
                <a:ea typeface="Calibri"/>
                <a:cs typeface="Calibri"/>
                <a:sym typeface="Calibri"/>
              </a:rPr>
              <a:t>precision over recall</a:t>
            </a:r>
            <a:endParaRPr b="1" sz="1100">
              <a:solidFill>
                <a:schemeClr val="lt1"/>
              </a:solidFill>
              <a:latin typeface="Calibri"/>
              <a:ea typeface="Calibri"/>
              <a:cs typeface="Calibri"/>
              <a:sym typeface="Calibri"/>
            </a:endParaRPr>
          </a:p>
          <a:p>
            <a:pPr indent="-298450" lvl="0" marL="457200" rtl="0" algn="l">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Reflects business need:</a:t>
            </a:r>
            <a:endParaRPr sz="1100">
              <a:solidFill>
                <a:schemeClr val="lt1"/>
              </a:solidFill>
              <a:latin typeface="Calibri"/>
              <a:ea typeface="Calibri"/>
              <a:cs typeface="Calibri"/>
              <a:sym typeface="Calibri"/>
            </a:endParaRPr>
          </a:p>
          <a:p>
            <a:pPr indent="-298450" lvl="1" marL="914400" rtl="0" algn="l">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Cost of approving a bad loan &gt; denying a good loan</a:t>
            </a:r>
            <a:endParaRPr sz="1100">
              <a:solidFill>
                <a:schemeClr val="lt1"/>
              </a:solidFill>
              <a:latin typeface="Calibri"/>
              <a:ea typeface="Calibri"/>
              <a:cs typeface="Calibri"/>
              <a:sym typeface="Calibri"/>
            </a:endParaRPr>
          </a:p>
        </p:txBody>
      </p:sp>
      <p:sp>
        <p:nvSpPr>
          <p:cNvPr id="56" name="Google Shape;56;p5"/>
          <p:cNvSpPr txBox="1"/>
          <p:nvPr/>
        </p:nvSpPr>
        <p:spPr>
          <a:xfrm>
            <a:off x="186800" y="3747081"/>
            <a:ext cx="7759500" cy="110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i="1" lang="en-US" sz="1200" u="sng">
                <a:solidFill>
                  <a:srgbClr val="C49A22"/>
                </a:solidFill>
                <a:latin typeface="Calibri"/>
                <a:ea typeface="Calibri"/>
                <a:cs typeface="Calibri"/>
                <a:sym typeface="Calibri"/>
              </a:rPr>
              <a:t>Trade-off </a:t>
            </a:r>
            <a:endParaRPr b="1" i="1" sz="1200" u="sng">
              <a:solidFill>
                <a:srgbClr val="C49A22"/>
              </a:solidFill>
              <a:latin typeface="Calibri"/>
              <a:ea typeface="Calibri"/>
              <a:cs typeface="Calibri"/>
              <a:sym typeface="Calibri"/>
            </a:endParaRPr>
          </a:p>
          <a:p>
            <a:pPr indent="-298450" lvl="0" marL="457200" rtl="0" algn="l">
              <a:lnSpc>
                <a:spcPct val="115000"/>
              </a:lnSpc>
              <a:spcBef>
                <a:spcPts val="120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Higher threshold →</a:t>
            </a:r>
            <a:endParaRPr sz="1100">
              <a:solidFill>
                <a:schemeClr val="lt1"/>
              </a:solidFill>
              <a:latin typeface="Calibri"/>
              <a:ea typeface="Calibri"/>
              <a:cs typeface="Calibri"/>
              <a:sym typeface="Calibri"/>
            </a:endParaRPr>
          </a:p>
          <a:p>
            <a:pPr indent="-298450" lvl="1" marL="914400" rtl="0" algn="l">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 False positives (good for lender risk)</a:t>
            </a:r>
            <a:endParaRPr sz="1100">
              <a:solidFill>
                <a:schemeClr val="lt1"/>
              </a:solidFill>
              <a:latin typeface="Calibri"/>
              <a:ea typeface="Calibri"/>
              <a:cs typeface="Calibri"/>
              <a:sym typeface="Calibri"/>
            </a:endParaRPr>
          </a:p>
          <a:p>
            <a:pPr indent="-298450" lvl="1" marL="914400" rtl="0" algn="l">
              <a:lnSpc>
                <a:spcPct val="115000"/>
              </a:lnSpc>
              <a:spcBef>
                <a:spcPts val="0"/>
              </a:spcBef>
              <a:spcAft>
                <a:spcPts val="0"/>
              </a:spcAft>
              <a:buClr>
                <a:schemeClr val="lt1"/>
              </a:buClr>
              <a:buSzPts val="1100"/>
              <a:buFont typeface="Calibri"/>
              <a:buChar char="○"/>
            </a:pPr>
            <a:r>
              <a:rPr lang="en-US" sz="1100">
                <a:solidFill>
                  <a:schemeClr val="lt1"/>
                </a:solidFill>
                <a:latin typeface="Calibri"/>
                <a:ea typeface="Calibri"/>
                <a:cs typeface="Calibri"/>
                <a:sym typeface="Calibri"/>
              </a:rPr>
              <a:t>↑ False negatives (potential fairness concern)</a:t>
            </a:r>
            <a:endParaRPr sz="11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61" name="Shape 61"/>
        <p:cNvGrpSpPr/>
        <p:nvPr/>
      </p:nvGrpSpPr>
      <p:grpSpPr>
        <a:xfrm>
          <a:off x="0" y="0"/>
          <a:ext cx="0" cy="0"/>
          <a:chOff x="0" y="0"/>
          <a:chExt cx="0" cy="0"/>
        </a:xfrm>
      </p:grpSpPr>
      <p:sp>
        <p:nvSpPr>
          <p:cNvPr id="62" name="Google Shape;62;p6"/>
          <p:cNvSpPr/>
          <p:nvPr/>
        </p:nvSpPr>
        <p:spPr>
          <a:xfrm>
            <a:off x="0" y="0"/>
            <a:ext cx="164700" cy="51435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411480" y="640080"/>
            <a:ext cx="83211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Georgia"/>
                <a:ea typeface="Georgia"/>
                <a:cs typeface="Georgia"/>
                <a:sym typeface="Georgia"/>
              </a:rPr>
              <a:t>Q2: Known Failure Modes</a:t>
            </a:r>
            <a:endParaRPr i="0" sz="3800" u="none" cap="none" strike="noStrike">
              <a:solidFill>
                <a:schemeClr val="dk1"/>
              </a:solidFill>
              <a:latin typeface="Georgia"/>
              <a:ea typeface="Georgia"/>
              <a:cs typeface="Georgia"/>
              <a:sym typeface="Georgia"/>
            </a:endParaRPr>
          </a:p>
        </p:txBody>
      </p:sp>
      <p:sp>
        <p:nvSpPr>
          <p:cNvPr id="64" name="Google Shape;64;p6"/>
          <p:cNvSpPr/>
          <p:nvPr/>
        </p:nvSpPr>
        <p:spPr>
          <a:xfrm>
            <a:off x="411480" y="1389888"/>
            <a:ext cx="83211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700"/>
              <a:buFont typeface="Calibri"/>
              <a:buNone/>
            </a:pPr>
            <a:r>
              <a:rPr b="0" i="1" lang="en-US" sz="1700" u="none" cap="none" strike="noStrike">
                <a:solidFill>
                  <a:srgbClr val="F0C878"/>
                </a:solidFill>
                <a:latin typeface="Calibri"/>
                <a:ea typeface="Calibri"/>
                <a:cs typeface="Calibri"/>
                <a:sym typeface="Calibri"/>
              </a:rPr>
              <a:t>Where does the model break down — and who is harmed when it does?</a:t>
            </a:r>
            <a:endParaRPr b="0" i="0" sz="1700" u="none" cap="none" strike="noStrike">
              <a:solidFill>
                <a:schemeClr val="dk1"/>
              </a:solidFill>
              <a:latin typeface="Calibri"/>
              <a:ea typeface="Calibri"/>
              <a:cs typeface="Calibri"/>
              <a:sym typeface="Calibri"/>
            </a:endParaRPr>
          </a:p>
        </p:txBody>
      </p:sp>
      <p:sp>
        <p:nvSpPr>
          <p:cNvPr id="65" name="Google Shape;65;p6"/>
          <p:cNvSpPr/>
          <p:nvPr/>
        </p:nvSpPr>
        <p:spPr>
          <a:xfrm>
            <a:off x="411480" y="1901952"/>
            <a:ext cx="8321100" cy="273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411480" y="2148840"/>
            <a:ext cx="1965900" cy="1234500"/>
          </a:xfrm>
          <a:prstGeom prst="rect">
            <a:avLst/>
          </a:prstGeom>
          <a:solidFill>
            <a:srgbClr val="223355"/>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502920" y="2212848"/>
            <a:ext cx="17832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600"/>
              <a:buFont typeface="Calibri"/>
              <a:buNone/>
            </a:pPr>
            <a:r>
              <a:rPr b="1" i="0" lang="en-US" sz="1600" u="none" cap="none" strike="noStrike">
                <a:solidFill>
                  <a:srgbClr val="F0C878"/>
                </a:solidFill>
                <a:latin typeface="Calibri"/>
                <a:ea typeface="Calibri"/>
                <a:cs typeface="Calibri"/>
                <a:sym typeface="Calibri"/>
              </a:rPr>
              <a:t>◈  SHAP</a:t>
            </a:r>
            <a:endParaRPr b="0" i="0" sz="1600" u="none" cap="none" strike="noStrike">
              <a:solidFill>
                <a:schemeClr val="dk1"/>
              </a:solidFill>
              <a:latin typeface="Calibri"/>
              <a:ea typeface="Calibri"/>
              <a:cs typeface="Calibri"/>
              <a:sym typeface="Calibri"/>
            </a:endParaRPr>
          </a:p>
        </p:txBody>
      </p:sp>
      <p:sp>
        <p:nvSpPr>
          <p:cNvPr id="68" name="Google Shape;68;p6"/>
          <p:cNvSpPr/>
          <p:nvPr/>
        </p:nvSpPr>
        <p:spPr>
          <a:xfrm>
            <a:off x="502920" y="2560320"/>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Global &amp; Local Importance</a:t>
            </a:r>
            <a:endParaRPr b="0" i="0" sz="1200" u="none" cap="none" strike="noStrike">
              <a:solidFill>
                <a:schemeClr val="dk1"/>
              </a:solidFill>
              <a:latin typeface="Calibri"/>
              <a:ea typeface="Calibri"/>
              <a:cs typeface="Calibri"/>
              <a:sym typeface="Calibri"/>
            </a:endParaRPr>
          </a:p>
        </p:txBody>
      </p:sp>
      <p:sp>
        <p:nvSpPr>
          <p:cNvPr id="69" name="Google Shape;69;p6"/>
          <p:cNvSpPr/>
          <p:nvPr/>
        </p:nvSpPr>
        <p:spPr>
          <a:xfrm>
            <a:off x="2532888" y="2148840"/>
            <a:ext cx="1965900" cy="1234500"/>
          </a:xfrm>
          <a:prstGeom prst="rect">
            <a:avLst/>
          </a:prstGeom>
          <a:solidFill>
            <a:srgbClr val="223355"/>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6"/>
          <p:cNvSpPr/>
          <p:nvPr/>
        </p:nvSpPr>
        <p:spPr>
          <a:xfrm>
            <a:off x="2624328" y="2212848"/>
            <a:ext cx="17832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600"/>
              <a:buFont typeface="Calibri"/>
              <a:buNone/>
            </a:pPr>
            <a:r>
              <a:rPr b="1" i="0" lang="en-US" sz="1600" u="none" cap="none" strike="noStrike">
                <a:solidFill>
                  <a:srgbClr val="F0C878"/>
                </a:solidFill>
                <a:latin typeface="Calibri"/>
                <a:ea typeface="Calibri"/>
                <a:cs typeface="Calibri"/>
                <a:sym typeface="Calibri"/>
              </a:rPr>
              <a:t>◉  </a:t>
            </a:r>
            <a:r>
              <a:rPr b="1" lang="en-US" sz="1600">
                <a:solidFill>
                  <a:srgbClr val="F0C878"/>
                </a:solidFill>
                <a:latin typeface="Calibri"/>
                <a:ea typeface="Calibri"/>
                <a:cs typeface="Calibri"/>
                <a:sym typeface="Calibri"/>
              </a:rPr>
              <a:t>SHAP</a:t>
            </a:r>
            <a:endParaRPr b="0" i="0" sz="1600" u="none" cap="none" strike="noStrike">
              <a:solidFill>
                <a:schemeClr val="dk1"/>
              </a:solidFill>
              <a:latin typeface="Calibri"/>
              <a:ea typeface="Calibri"/>
              <a:cs typeface="Calibri"/>
              <a:sym typeface="Calibri"/>
            </a:endParaRPr>
          </a:p>
        </p:txBody>
      </p:sp>
      <p:sp>
        <p:nvSpPr>
          <p:cNvPr id="71" name="Google Shape;71;p6"/>
          <p:cNvSpPr/>
          <p:nvPr/>
        </p:nvSpPr>
        <p:spPr>
          <a:xfrm>
            <a:off x="2624328" y="2560320"/>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Waterfall Explanations</a:t>
            </a:r>
            <a:endParaRPr b="0" i="0" sz="1200" u="none" cap="none" strike="noStrike">
              <a:solidFill>
                <a:schemeClr val="dk1"/>
              </a:solidFill>
              <a:latin typeface="Calibri"/>
              <a:ea typeface="Calibri"/>
              <a:cs typeface="Calibri"/>
              <a:sym typeface="Calibri"/>
            </a:endParaRPr>
          </a:p>
        </p:txBody>
      </p:sp>
      <p:sp>
        <p:nvSpPr>
          <p:cNvPr id="72" name="Google Shape;72;p6"/>
          <p:cNvSpPr/>
          <p:nvPr/>
        </p:nvSpPr>
        <p:spPr>
          <a:xfrm>
            <a:off x="4654296" y="2148840"/>
            <a:ext cx="1965900" cy="1234500"/>
          </a:xfrm>
          <a:prstGeom prst="rect">
            <a:avLst/>
          </a:prstGeom>
          <a:solidFill>
            <a:srgbClr val="223355"/>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a:off x="4745736" y="2212848"/>
            <a:ext cx="17832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600"/>
              <a:buFont typeface="Calibri"/>
              <a:buNone/>
            </a:pPr>
            <a:r>
              <a:rPr b="1" i="0" lang="en-US" sz="1600" u="none" cap="none" strike="noStrike">
                <a:solidFill>
                  <a:srgbClr val="F0C878"/>
                </a:solidFill>
                <a:latin typeface="Calibri"/>
                <a:ea typeface="Calibri"/>
                <a:cs typeface="Calibri"/>
                <a:sym typeface="Calibri"/>
              </a:rPr>
              <a:t>◆  DiCE</a:t>
            </a:r>
            <a:endParaRPr b="0" i="0" sz="1600" u="none" cap="none" strike="noStrike">
              <a:solidFill>
                <a:schemeClr val="dk1"/>
              </a:solidFill>
              <a:latin typeface="Calibri"/>
              <a:ea typeface="Calibri"/>
              <a:cs typeface="Calibri"/>
              <a:sym typeface="Calibri"/>
            </a:endParaRPr>
          </a:p>
        </p:txBody>
      </p:sp>
      <p:sp>
        <p:nvSpPr>
          <p:cNvPr id="74" name="Google Shape;74;p6"/>
          <p:cNvSpPr/>
          <p:nvPr/>
        </p:nvSpPr>
        <p:spPr>
          <a:xfrm>
            <a:off x="4745736" y="2560320"/>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Counterfactual Analysis</a:t>
            </a:r>
            <a:endParaRPr b="0" i="0" sz="1200" u="none" cap="none" strike="noStrike">
              <a:solidFill>
                <a:schemeClr val="dk1"/>
              </a:solidFill>
              <a:latin typeface="Calibri"/>
              <a:ea typeface="Calibri"/>
              <a:cs typeface="Calibri"/>
              <a:sym typeface="Calibri"/>
            </a:endParaRPr>
          </a:p>
        </p:txBody>
      </p:sp>
      <p:sp>
        <p:nvSpPr>
          <p:cNvPr id="75" name="Google Shape;75;p6"/>
          <p:cNvSpPr/>
          <p:nvPr/>
        </p:nvSpPr>
        <p:spPr>
          <a:xfrm>
            <a:off x="6775704" y="2148840"/>
            <a:ext cx="1965900" cy="1234500"/>
          </a:xfrm>
          <a:prstGeom prst="rect">
            <a:avLst/>
          </a:prstGeom>
          <a:solidFill>
            <a:srgbClr val="223355"/>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a:off x="6867144" y="2212848"/>
            <a:ext cx="17832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600"/>
              <a:buFont typeface="Calibri"/>
              <a:buNone/>
            </a:pPr>
            <a:r>
              <a:rPr b="1" i="0" lang="en-US" sz="1600" u="none" cap="none" strike="noStrike">
                <a:solidFill>
                  <a:srgbClr val="F0C878"/>
                </a:solidFill>
                <a:latin typeface="Calibri"/>
                <a:ea typeface="Calibri"/>
                <a:cs typeface="Calibri"/>
                <a:sym typeface="Calibri"/>
              </a:rPr>
              <a:t>◇  PSI</a:t>
            </a:r>
            <a:endParaRPr b="0" i="0" sz="1600" u="none" cap="none" strike="noStrike">
              <a:solidFill>
                <a:schemeClr val="dk1"/>
              </a:solidFill>
              <a:latin typeface="Calibri"/>
              <a:ea typeface="Calibri"/>
              <a:cs typeface="Calibri"/>
              <a:sym typeface="Calibri"/>
            </a:endParaRPr>
          </a:p>
        </p:txBody>
      </p:sp>
      <p:sp>
        <p:nvSpPr>
          <p:cNvPr id="77" name="Google Shape;77;p6"/>
          <p:cNvSpPr/>
          <p:nvPr/>
        </p:nvSpPr>
        <p:spPr>
          <a:xfrm>
            <a:off x="6867144" y="2560320"/>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Feature Drift Testing</a:t>
            </a:r>
            <a:endParaRPr b="0" i="0" sz="1200" u="none" cap="none" strike="noStrike">
              <a:solidFill>
                <a:schemeClr val="dk1"/>
              </a:solidFill>
              <a:latin typeface="Calibri"/>
              <a:ea typeface="Calibri"/>
              <a:cs typeface="Calibri"/>
              <a:sym typeface="Calibri"/>
            </a:endParaRPr>
          </a:p>
        </p:txBody>
      </p:sp>
      <p:sp>
        <p:nvSpPr>
          <p:cNvPr id="78" name="Google Shape;78;p6"/>
          <p:cNvSpPr/>
          <p:nvPr/>
        </p:nvSpPr>
        <p:spPr>
          <a:xfrm>
            <a:off x="365760" y="3593592"/>
            <a:ext cx="164700" cy="2559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612648" y="3566160"/>
            <a:ext cx="3840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Failure Mode 1  →  Proxy Bias</a:t>
            </a:r>
            <a:endParaRPr b="0" i="0" sz="1300" u="none" cap="none" strike="noStrike">
              <a:solidFill>
                <a:schemeClr val="dk1"/>
              </a:solidFill>
              <a:latin typeface="Calibri"/>
              <a:ea typeface="Calibri"/>
              <a:cs typeface="Calibri"/>
              <a:sym typeface="Calibri"/>
            </a:endParaRPr>
          </a:p>
        </p:txBody>
      </p:sp>
      <p:sp>
        <p:nvSpPr>
          <p:cNvPr id="80" name="Google Shape;80;p6"/>
          <p:cNvSpPr/>
          <p:nvPr/>
        </p:nvSpPr>
        <p:spPr>
          <a:xfrm>
            <a:off x="4572000" y="3593592"/>
            <a:ext cx="164700" cy="2559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a:off x="4818888" y="3566160"/>
            <a:ext cx="3840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Failure Mode 2  →  Risk Override</a:t>
            </a:r>
            <a:endParaRPr b="0" i="0" sz="1300" u="none" cap="none" strike="noStrike">
              <a:solidFill>
                <a:schemeClr val="dk1"/>
              </a:solidFill>
              <a:latin typeface="Calibri"/>
              <a:ea typeface="Calibri"/>
              <a:cs typeface="Calibri"/>
              <a:sym typeface="Calibri"/>
            </a:endParaRPr>
          </a:p>
        </p:txBody>
      </p:sp>
      <p:sp>
        <p:nvSpPr>
          <p:cNvPr id="82" name="Google Shape;82;p6"/>
          <p:cNvSpPr/>
          <p:nvPr/>
        </p:nvSpPr>
        <p:spPr>
          <a:xfrm>
            <a:off x="365760" y="4050792"/>
            <a:ext cx="164700" cy="2559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p:cNvSpPr/>
          <p:nvPr/>
        </p:nvSpPr>
        <p:spPr>
          <a:xfrm>
            <a:off x="612648" y="4023360"/>
            <a:ext cx="3840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Failure Mode 3  →  Recourse Failure</a:t>
            </a:r>
            <a:endParaRPr b="0" i="0" sz="1300" u="none" cap="none" strike="noStrike">
              <a:solidFill>
                <a:schemeClr val="dk1"/>
              </a:solidFill>
              <a:latin typeface="Calibri"/>
              <a:ea typeface="Calibri"/>
              <a:cs typeface="Calibri"/>
              <a:sym typeface="Calibri"/>
            </a:endParaRPr>
          </a:p>
        </p:txBody>
      </p:sp>
      <p:sp>
        <p:nvSpPr>
          <p:cNvPr id="84" name="Google Shape;84;p6"/>
          <p:cNvSpPr/>
          <p:nvPr/>
        </p:nvSpPr>
        <p:spPr>
          <a:xfrm>
            <a:off x="4572000" y="4050792"/>
            <a:ext cx="164700" cy="2559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4818888" y="4023360"/>
            <a:ext cx="3840600" cy="32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Failure Mode 4  →  Feature Drift</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90" name="Shape 90"/>
        <p:cNvGrpSpPr/>
        <p:nvPr/>
      </p:nvGrpSpPr>
      <p:grpSpPr>
        <a:xfrm>
          <a:off x="0" y="0"/>
          <a:ext cx="0" cy="0"/>
          <a:chOff x="0" y="0"/>
          <a:chExt cx="0" cy="0"/>
        </a:xfrm>
      </p:grpSpPr>
      <p:sp>
        <p:nvSpPr>
          <p:cNvPr id="91" name="Google Shape;91;p7"/>
          <p:cNvSpPr/>
          <p:nvPr/>
        </p:nvSpPr>
        <p:spPr>
          <a:xfrm>
            <a:off x="0" y="0"/>
            <a:ext cx="164700" cy="51435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320040" y="320040"/>
            <a:ext cx="1005900" cy="3657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320040" y="320040"/>
            <a:ext cx="10059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MODE 01</a:t>
            </a:r>
            <a:endParaRPr b="0" i="0" sz="1000" u="none" cap="none" strike="noStrike">
              <a:solidFill>
                <a:schemeClr val="dk1"/>
              </a:solidFill>
              <a:latin typeface="Calibri"/>
              <a:ea typeface="Calibri"/>
              <a:cs typeface="Calibri"/>
              <a:sym typeface="Calibri"/>
            </a:endParaRPr>
          </a:p>
        </p:txBody>
      </p:sp>
      <p:sp>
        <p:nvSpPr>
          <p:cNvPr id="94" name="Google Shape;94;p7"/>
          <p:cNvSpPr/>
          <p:nvPr/>
        </p:nvSpPr>
        <p:spPr>
          <a:xfrm>
            <a:off x="320040" y="777240"/>
            <a:ext cx="53034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4A"/>
              </a:buClr>
              <a:buSzPts val="2400"/>
              <a:buFont typeface="Georgia"/>
              <a:buNone/>
            </a:pPr>
            <a:r>
              <a:rPr b="1" i="0" lang="en-US" sz="2400" u="none" cap="none" strike="noStrike">
                <a:solidFill>
                  <a:srgbClr val="1C2B4A"/>
                </a:solidFill>
                <a:latin typeface="Georgia"/>
                <a:ea typeface="Georgia"/>
                <a:cs typeface="Georgia"/>
                <a:sym typeface="Georgia"/>
              </a:rPr>
              <a:t>Proxy Discrimination via Neighborhood Income</a:t>
            </a:r>
            <a:endParaRPr b="0" i="0" sz="2400" u="none" cap="none" strike="noStrike">
              <a:solidFill>
                <a:schemeClr val="dk1"/>
              </a:solidFill>
              <a:latin typeface="Calibri"/>
              <a:ea typeface="Calibri"/>
              <a:cs typeface="Calibri"/>
              <a:sym typeface="Calibri"/>
            </a:endParaRPr>
          </a:p>
        </p:txBody>
      </p:sp>
      <p:sp>
        <p:nvSpPr>
          <p:cNvPr id="95" name="Google Shape;95;p7"/>
          <p:cNvSpPr/>
          <p:nvPr/>
        </p:nvSpPr>
        <p:spPr>
          <a:xfrm>
            <a:off x="320040" y="1600200"/>
            <a:ext cx="5303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WHAT HAPPENS</a:t>
            </a:r>
            <a:endParaRPr b="0" i="0" sz="1000" u="none" cap="none" strike="noStrike">
              <a:solidFill>
                <a:schemeClr val="dk1"/>
              </a:solidFill>
              <a:latin typeface="Calibri"/>
              <a:ea typeface="Calibri"/>
              <a:cs typeface="Calibri"/>
              <a:sym typeface="Calibri"/>
            </a:endParaRPr>
          </a:p>
        </p:txBody>
      </p:sp>
      <p:sp>
        <p:nvSpPr>
          <p:cNvPr id="96" name="Google Shape;96;p7"/>
          <p:cNvSpPr/>
          <p:nvPr/>
        </p:nvSpPr>
        <p:spPr>
          <a:xfrm>
            <a:off x="320040" y="1920240"/>
            <a:ext cx="5212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300"/>
              <a:buFont typeface="Calibri"/>
              <a:buNone/>
            </a:pPr>
            <a:r>
              <a:rPr b="0" i="0" lang="en-US" sz="1300" u="none" cap="none" strike="noStrike">
                <a:solidFill>
                  <a:srgbClr val="2C2C2C"/>
                </a:solidFill>
                <a:latin typeface="Calibri"/>
                <a:ea typeface="Calibri"/>
                <a:cs typeface="Calibri"/>
                <a:sym typeface="Calibri"/>
              </a:rPr>
              <a:t>The model uses ffiec_msa_md_median_family_income</a:t>
            </a:r>
            <a:r>
              <a:rPr lang="en-US" sz="1300">
                <a:solidFill>
                  <a:srgbClr val="2C2C2C"/>
                </a:solidFill>
                <a:latin typeface="Calibri"/>
                <a:ea typeface="Calibri"/>
                <a:cs typeface="Calibri"/>
                <a:sym typeface="Calibri"/>
              </a:rPr>
              <a:t>, which is </a:t>
            </a:r>
            <a:r>
              <a:rPr b="0" i="0" lang="en-US" sz="1300" u="none" cap="none" strike="noStrike">
                <a:solidFill>
                  <a:srgbClr val="2C2C2C"/>
                </a:solidFill>
                <a:latin typeface="Calibri"/>
                <a:ea typeface="Calibri"/>
                <a:cs typeface="Calibri"/>
                <a:sym typeface="Calibri"/>
              </a:rPr>
              <a:t>the median income of the applicant's census tract</a:t>
            </a:r>
            <a:r>
              <a:rPr lang="en-US" sz="1300">
                <a:solidFill>
                  <a:srgbClr val="2C2C2C"/>
                </a:solidFill>
                <a:latin typeface="Calibri"/>
                <a:ea typeface="Calibri"/>
                <a:cs typeface="Calibri"/>
                <a:sym typeface="Calibri"/>
              </a:rPr>
              <a:t>, </a:t>
            </a:r>
            <a:r>
              <a:rPr b="0" i="0" lang="en-US" sz="1300" u="none" cap="none" strike="noStrike">
                <a:solidFill>
                  <a:srgbClr val="2C2C2C"/>
                </a:solidFill>
                <a:latin typeface="Calibri"/>
                <a:ea typeface="Calibri"/>
                <a:cs typeface="Calibri"/>
                <a:sym typeface="Calibri"/>
              </a:rPr>
              <a:t>as an input feature. Because of residential segregation, this penalizes applicants for where they live </a:t>
            </a:r>
            <a:r>
              <a:rPr lang="en-US" sz="1300">
                <a:solidFill>
                  <a:srgbClr val="2C2C2C"/>
                </a:solidFill>
                <a:latin typeface="Calibri"/>
                <a:ea typeface="Calibri"/>
                <a:cs typeface="Calibri"/>
                <a:sym typeface="Calibri"/>
              </a:rPr>
              <a:t>rather than</a:t>
            </a:r>
            <a:r>
              <a:rPr b="0" i="0" lang="en-US" sz="1300" u="none" cap="none" strike="noStrike">
                <a:solidFill>
                  <a:srgbClr val="2C2C2C"/>
                </a:solidFill>
                <a:latin typeface="Calibri"/>
                <a:ea typeface="Calibri"/>
                <a:cs typeface="Calibri"/>
                <a:sym typeface="Calibri"/>
              </a:rPr>
              <a:t> their personal financial profile.</a:t>
            </a:r>
            <a:endParaRPr b="0" i="0" sz="1300" u="none" cap="none" strike="noStrike">
              <a:solidFill>
                <a:schemeClr val="dk1"/>
              </a:solidFill>
              <a:latin typeface="Calibri"/>
              <a:ea typeface="Calibri"/>
              <a:cs typeface="Calibri"/>
              <a:sym typeface="Calibri"/>
            </a:endParaRPr>
          </a:p>
        </p:txBody>
      </p:sp>
      <p:sp>
        <p:nvSpPr>
          <p:cNvPr id="97" name="Google Shape;97;p7"/>
          <p:cNvSpPr/>
          <p:nvPr/>
        </p:nvSpPr>
        <p:spPr>
          <a:xfrm>
            <a:off x="320040" y="2834640"/>
            <a:ext cx="5303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WHO IS HARMED</a:t>
            </a:r>
            <a:endParaRPr b="0" i="0" sz="1000" u="none" cap="none" strike="noStrike">
              <a:solidFill>
                <a:schemeClr val="dk1"/>
              </a:solidFill>
              <a:latin typeface="Calibri"/>
              <a:ea typeface="Calibri"/>
              <a:cs typeface="Calibri"/>
              <a:sym typeface="Calibri"/>
            </a:endParaRPr>
          </a:p>
        </p:txBody>
      </p:sp>
      <p:sp>
        <p:nvSpPr>
          <p:cNvPr id="98" name="Google Shape;98;p7"/>
          <p:cNvSpPr/>
          <p:nvPr/>
        </p:nvSpPr>
        <p:spPr>
          <a:xfrm>
            <a:off x="320040" y="3154680"/>
            <a:ext cx="5212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300"/>
              <a:buFont typeface="Calibri"/>
              <a:buNone/>
            </a:pPr>
            <a:r>
              <a:rPr b="0" i="0" lang="en-US" sz="1300" u="none" cap="none" strike="noStrike">
                <a:solidFill>
                  <a:srgbClr val="2C2C2C"/>
                </a:solidFill>
                <a:latin typeface="Calibri"/>
                <a:ea typeface="Calibri"/>
                <a:cs typeface="Calibri"/>
                <a:sym typeface="Calibri"/>
              </a:rPr>
              <a:t>African-American applicants, who are disproportionately and systemically located in lower-income census tracts due to historical redlining. Race never enters the model </a:t>
            </a:r>
            <a:r>
              <a:rPr lang="en-US" sz="1300">
                <a:solidFill>
                  <a:srgbClr val="2C2C2C"/>
                </a:solidFill>
                <a:latin typeface="Calibri"/>
                <a:ea typeface="Calibri"/>
                <a:cs typeface="Calibri"/>
                <a:sym typeface="Calibri"/>
              </a:rPr>
              <a:t>explicitly but </a:t>
            </a:r>
            <a:r>
              <a:rPr b="0" i="0" lang="en-US" sz="1300" u="none" cap="none" strike="noStrike">
                <a:solidFill>
                  <a:srgbClr val="2C2C2C"/>
                </a:solidFill>
                <a:latin typeface="Calibri"/>
                <a:ea typeface="Calibri"/>
                <a:cs typeface="Calibri"/>
                <a:sym typeface="Calibri"/>
              </a:rPr>
              <a:t>it enters through the zip code.</a:t>
            </a:r>
            <a:endParaRPr b="0" i="0" sz="1300" u="none" cap="none" strike="noStrike">
              <a:solidFill>
                <a:schemeClr val="dk1"/>
              </a:solidFill>
              <a:latin typeface="Calibri"/>
              <a:ea typeface="Calibri"/>
              <a:cs typeface="Calibri"/>
              <a:sym typeface="Calibri"/>
            </a:endParaRPr>
          </a:p>
        </p:txBody>
      </p:sp>
      <p:sp>
        <p:nvSpPr>
          <p:cNvPr id="99" name="Google Shape;99;p7"/>
          <p:cNvSpPr/>
          <p:nvPr/>
        </p:nvSpPr>
        <p:spPr>
          <a:xfrm>
            <a:off x="320040" y="3977640"/>
            <a:ext cx="1371600" cy="2925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p:nvPr/>
        </p:nvSpPr>
        <p:spPr>
          <a:xfrm>
            <a:off x="320040" y="3977640"/>
            <a:ext cx="13716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SEVERITY: HIGH</a:t>
            </a:r>
            <a:endParaRPr b="0" i="0" sz="1000" u="none" cap="none" strike="noStrike">
              <a:solidFill>
                <a:schemeClr val="dk1"/>
              </a:solidFill>
              <a:latin typeface="Calibri"/>
              <a:ea typeface="Calibri"/>
              <a:cs typeface="Calibri"/>
              <a:sym typeface="Calibri"/>
            </a:endParaRPr>
          </a:p>
        </p:txBody>
      </p:sp>
      <p:sp>
        <p:nvSpPr>
          <p:cNvPr id="101" name="Google Shape;101;p7"/>
          <p:cNvSpPr/>
          <p:nvPr/>
        </p:nvSpPr>
        <p:spPr>
          <a:xfrm>
            <a:off x="1783080" y="3977640"/>
            <a:ext cx="32004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6A8"/>
              </a:buClr>
              <a:buSzPts val="1100"/>
              <a:buFont typeface="Calibri"/>
              <a:buNone/>
            </a:pPr>
            <a:r>
              <a:rPr b="0" i="0" lang="en-US" sz="1100" u="none" cap="none" strike="noStrike">
                <a:solidFill>
                  <a:srgbClr val="8A96A8"/>
                </a:solidFill>
                <a:latin typeface="Calibri"/>
                <a:ea typeface="Calibri"/>
                <a:cs typeface="Calibri"/>
                <a:sym typeface="Calibri"/>
              </a:rPr>
              <a:t>Potential ECOA violation</a:t>
            </a:r>
            <a:endParaRPr b="0" i="0" sz="1100" u="none" cap="none" strike="noStrike">
              <a:solidFill>
                <a:schemeClr val="dk1"/>
              </a:solidFill>
              <a:latin typeface="Calibri"/>
              <a:ea typeface="Calibri"/>
              <a:cs typeface="Calibri"/>
              <a:sym typeface="Calibri"/>
            </a:endParaRPr>
          </a:p>
        </p:txBody>
      </p:sp>
      <p:pic>
        <p:nvPicPr>
          <p:cNvPr id="102" name="Google Shape;102;p7" title="Screenshot 2569-05-04 at 01.29.25.png"/>
          <p:cNvPicPr preferRelativeResize="0"/>
          <p:nvPr/>
        </p:nvPicPr>
        <p:blipFill rotWithShape="1">
          <a:blip r:embed="rId3">
            <a:alphaModFix/>
          </a:blip>
          <a:srcRect b="0" l="2788" r="19777" t="0"/>
          <a:stretch/>
        </p:blipFill>
        <p:spPr>
          <a:xfrm>
            <a:off x="5778801" y="2847494"/>
            <a:ext cx="2958375" cy="2073407"/>
          </a:xfrm>
          <a:prstGeom prst="rect">
            <a:avLst/>
          </a:prstGeom>
          <a:noFill/>
          <a:ln>
            <a:noFill/>
          </a:ln>
        </p:spPr>
      </p:pic>
      <p:sp>
        <p:nvSpPr>
          <p:cNvPr id="103" name="Google Shape;103;p7"/>
          <p:cNvSpPr/>
          <p:nvPr/>
        </p:nvSpPr>
        <p:spPr>
          <a:xfrm>
            <a:off x="5778800" y="320054"/>
            <a:ext cx="2958300" cy="2473200"/>
          </a:xfrm>
          <a:prstGeom prst="rect">
            <a:avLst/>
          </a:prstGeom>
          <a:solidFill>
            <a:srgbClr val="FFFFFF"/>
          </a:solidFill>
          <a:ln cap="flat" cmpd="sng" w="9200">
            <a:solidFill>
              <a:srgbClr val="D8DDE8"/>
            </a:solidFill>
            <a:prstDash val="solid"/>
            <a:round/>
            <a:headEnd len="sm" w="sm" type="none"/>
            <a:tailEnd len="sm" w="sm" type="none"/>
          </a:ln>
        </p:spPr>
        <p:txBody>
          <a:bodyPr anchorCtr="0" anchor="ctr" bIns="66100" lIns="66100" spcFirstLastPara="1" rIns="66100" wrap="square" tIns="66100">
            <a:noAutofit/>
          </a:bodyPr>
          <a:lstStyle/>
          <a:p>
            <a:pPr indent="0" lvl="0" marL="0" rtl="0" algn="l">
              <a:spcBef>
                <a:spcPts val="0"/>
              </a:spcBef>
              <a:spcAft>
                <a:spcPts val="0"/>
              </a:spcAft>
              <a:buNone/>
            </a:pPr>
            <a:r>
              <a:t/>
            </a:r>
            <a:endParaRPr/>
          </a:p>
        </p:txBody>
      </p:sp>
      <p:sp>
        <p:nvSpPr>
          <p:cNvPr id="104" name="Google Shape;104;p7"/>
          <p:cNvSpPr/>
          <p:nvPr/>
        </p:nvSpPr>
        <p:spPr>
          <a:xfrm>
            <a:off x="5778806" y="320050"/>
            <a:ext cx="2958300" cy="277500"/>
          </a:xfrm>
          <a:prstGeom prst="rect">
            <a:avLst/>
          </a:prstGeom>
          <a:solidFill>
            <a:srgbClr val="1B2A4A"/>
          </a:solidFill>
          <a:ln cap="flat" cmpd="sng" w="9200">
            <a:solidFill>
              <a:srgbClr val="1B2A4A"/>
            </a:solidFill>
            <a:prstDash val="solid"/>
            <a:round/>
            <a:headEnd len="sm" w="sm" type="none"/>
            <a:tailEnd len="sm" w="sm" type="none"/>
          </a:ln>
        </p:spPr>
        <p:txBody>
          <a:bodyPr anchorCtr="0" anchor="ctr" bIns="66100" lIns="66100" spcFirstLastPara="1" rIns="66100" wrap="square" tIns="66100">
            <a:noAutofit/>
          </a:bodyPr>
          <a:lstStyle/>
          <a:p>
            <a:pPr indent="0" lvl="0" marL="0" rtl="0" algn="l">
              <a:spcBef>
                <a:spcPts val="0"/>
              </a:spcBef>
              <a:spcAft>
                <a:spcPts val="0"/>
              </a:spcAft>
              <a:buNone/>
            </a:pPr>
            <a:r>
              <a:t/>
            </a:r>
            <a:endParaRPr/>
          </a:p>
        </p:txBody>
      </p:sp>
      <p:sp>
        <p:nvSpPr>
          <p:cNvPr id="105" name="Google Shape;105;p7"/>
          <p:cNvSpPr/>
          <p:nvPr/>
        </p:nvSpPr>
        <p:spPr>
          <a:xfrm>
            <a:off x="5846812" y="335469"/>
            <a:ext cx="2822100" cy="24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68"/>
              <a:buFont typeface="Calibri"/>
              <a:buNone/>
            </a:pPr>
            <a:r>
              <a:rPr b="1" i="0" lang="en-US" sz="868" u="none" cap="none" strike="noStrike">
                <a:solidFill>
                  <a:srgbClr val="FFFFFF"/>
                </a:solidFill>
                <a:latin typeface="Calibri"/>
                <a:ea typeface="Calibri"/>
                <a:cs typeface="Calibri"/>
                <a:sym typeface="Calibri"/>
              </a:rPr>
              <a:t>Evidence from Our SHAP Analysis</a:t>
            </a:r>
            <a:endParaRPr b="0" i="0" sz="868" u="none" cap="none" strike="noStrike">
              <a:solidFill>
                <a:schemeClr val="dk1"/>
              </a:solidFill>
              <a:latin typeface="Calibri"/>
              <a:ea typeface="Calibri"/>
              <a:cs typeface="Calibri"/>
              <a:sym typeface="Calibri"/>
            </a:endParaRPr>
          </a:p>
        </p:txBody>
      </p:sp>
      <p:sp>
        <p:nvSpPr>
          <p:cNvPr id="106" name="Google Shape;106;p7"/>
          <p:cNvSpPr/>
          <p:nvPr/>
        </p:nvSpPr>
        <p:spPr>
          <a:xfrm>
            <a:off x="5846812" y="666966"/>
            <a:ext cx="2788200" cy="192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B0"/>
              </a:buClr>
              <a:buSzPts val="723"/>
              <a:buFont typeface="Calibri"/>
              <a:buNone/>
            </a:pPr>
            <a:r>
              <a:rPr b="0" i="1" lang="en-US" sz="723" u="none" cap="none" strike="noStrike">
                <a:solidFill>
                  <a:srgbClr val="8A9BB0"/>
                </a:solidFill>
                <a:latin typeface="Calibri"/>
                <a:ea typeface="Calibri"/>
                <a:cs typeface="Calibri"/>
                <a:sym typeface="Calibri"/>
              </a:rPr>
              <a:t>Top Features by Mean |SHAP| Value</a:t>
            </a:r>
            <a:endParaRPr b="0" i="0" sz="723" u="none" cap="none" strike="noStrike">
              <a:solidFill>
                <a:schemeClr val="dk1"/>
              </a:solidFill>
              <a:latin typeface="Calibri"/>
              <a:ea typeface="Calibri"/>
              <a:cs typeface="Calibri"/>
              <a:sym typeface="Calibri"/>
            </a:endParaRPr>
          </a:p>
        </p:txBody>
      </p:sp>
      <p:sp>
        <p:nvSpPr>
          <p:cNvPr id="107" name="Google Shape;107;p7"/>
          <p:cNvSpPr/>
          <p:nvPr/>
        </p:nvSpPr>
        <p:spPr>
          <a:xfrm>
            <a:off x="5846812" y="913662"/>
            <a:ext cx="2788200" cy="17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687"/>
              <a:buFont typeface="Calibri"/>
              <a:buNone/>
            </a:pPr>
            <a:r>
              <a:rPr b="1" i="0" lang="en-US" sz="687" u="none" cap="none" strike="noStrike">
                <a:solidFill>
                  <a:srgbClr val="C0392B"/>
                </a:solidFill>
                <a:latin typeface="Calibri"/>
                <a:ea typeface="Calibri"/>
                <a:cs typeface="Calibri"/>
                <a:sym typeface="Calibri"/>
              </a:rPr>
              <a:t>ffiec_msa_md_median_family_income</a:t>
            </a:r>
            <a:endParaRPr b="0" i="0" sz="687" u="none" cap="none" strike="noStrike">
              <a:solidFill>
                <a:schemeClr val="dk1"/>
              </a:solidFill>
              <a:latin typeface="Calibri"/>
              <a:ea typeface="Calibri"/>
              <a:cs typeface="Calibri"/>
              <a:sym typeface="Calibri"/>
            </a:endParaRPr>
          </a:p>
        </p:txBody>
      </p:sp>
      <p:sp>
        <p:nvSpPr>
          <p:cNvPr id="108" name="Google Shape;108;p7"/>
          <p:cNvSpPr/>
          <p:nvPr/>
        </p:nvSpPr>
        <p:spPr>
          <a:xfrm>
            <a:off x="5846812" y="1083266"/>
            <a:ext cx="1877100" cy="138900"/>
          </a:xfrm>
          <a:prstGeom prst="rect">
            <a:avLst/>
          </a:prstGeom>
          <a:solidFill>
            <a:srgbClr val="C0392B"/>
          </a:solidFill>
          <a:ln cap="flat" cmpd="sng" w="9200">
            <a:solidFill>
              <a:srgbClr val="C0392B"/>
            </a:solidFill>
            <a:prstDash val="solid"/>
            <a:round/>
            <a:headEnd len="sm" w="sm" type="none"/>
            <a:tailEnd len="sm" w="sm" type="none"/>
          </a:ln>
        </p:spPr>
        <p:txBody>
          <a:bodyPr anchorCtr="0" anchor="ctr" bIns="66100" lIns="66100" spcFirstLastPara="1" rIns="66100" wrap="square" tIns="66100">
            <a:noAutofit/>
          </a:bodyPr>
          <a:lstStyle/>
          <a:p>
            <a:pPr indent="0" lvl="0" marL="0" rtl="0" algn="l">
              <a:spcBef>
                <a:spcPts val="0"/>
              </a:spcBef>
              <a:spcAft>
                <a:spcPts val="0"/>
              </a:spcAft>
              <a:buNone/>
            </a:pPr>
            <a:r>
              <a:t/>
            </a:r>
            <a:endParaRPr/>
          </a:p>
        </p:txBody>
      </p:sp>
      <p:sp>
        <p:nvSpPr>
          <p:cNvPr id="109" name="Google Shape;109;p7"/>
          <p:cNvSpPr/>
          <p:nvPr/>
        </p:nvSpPr>
        <p:spPr>
          <a:xfrm>
            <a:off x="7744265" y="1056196"/>
            <a:ext cx="272100" cy="1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651"/>
              <a:buFont typeface="Calibri"/>
              <a:buNone/>
            </a:pPr>
            <a:r>
              <a:rPr b="0" i="0" lang="en-US" sz="651" u="none" cap="none" strike="noStrike">
                <a:solidFill>
                  <a:srgbClr val="1A1A2E"/>
                </a:solidFill>
                <a:latin typeface="Calibri"/>
                <a:ea typeface="Calibri"/>
                <a:cs typeface="Calibri"/>
                <a:sym typeface="Calibri"/>
              </a:rPr>
              <a:t>0.92</a:t>
            </a:r>
            <a:endParaRPr b="0" i="0" sz="651" u="none" cap="none" strike="noStrike">
              <a:solidFill>
                <a:schemeClr val="dk1"/>
              </a:solidFill>
              <a:latin typeface="Calibri"/>
              <a:ea typeface="Calibri"/>
              <a:cs typeface="Calibri"/>
              <a:sym typeface="Calibri"/>
            </a:endParaRPr>
          </a:p>
        </p:txBody>
      </p:sp>
      <p:sp>
        <p:nvSpPr>
          <p:cNvPr id="110" name="Google Shape;110;p7"/>
          <p:cNvSpPr/>
          <p:nvPr/>
        </p:nvSpPr>
        <p:spPr>
          <a:xfrm>
            <a:off x="5846812" y="1283707"/>
            <a:ext cx="2788200" cy="17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687"/>
              <a:buFont typeface="Calibri"/>
              <a:buNone/>
            </a:pPr>
            <a:r>
              <a:rPr b="1" i="0" lang="en-US" sz="687" u="none" cap="none" strike="noStrike">
                <a:solidFill>
                  <a:srgbClr val="C0392B"/>
                </a:solidFill>
                <a:latin typeface="Calibri"/>
                <a:ea typeface="Calibri"/>
                <a:cs typeface="Calibri"/>
                <a:sym typeface="Calibri"/>
              </a:rPr>
              <a:t>relative_income</a:t>
            </a:r>
            <a:endParaRPr b="0" i="0" sz="687" u="none" cap="none" strike="noStrike">
              <a:solidFill>
                <a:schemeClr val="dk1"/>
              </a:solidFill>
              <a:latin typeface="Calibri"/>
              <a:ea typeface="Calibri"/>
              <a:cs typeface="Calibri"/>
              <a:sym typeface="Calibri"/>
            </a:endParaRPr>
          </a:p>
        </p:txBody>
      </p:sp>
      <p:sp>
        <p:nvSpPr>
          <p:cNvPr id="111" name="Google Shape;111;p7"/>
          <p:cNvSpPr/>
          <p:nvPr/>
        </p:nvSpPr>
        <p:spPr>
          <a:xfrm>
            <a:off x="5846812" y="1453310"/>
            <a:ext cx="1591200" cy="138900"/>
          </a:xfrm>
          <a:prstGeom prst="rect">
            <a:avLst/>
          </a:prstGeom>
          <a:solidFill>
            <a:srgbClr val="C0392B"/>
          </a:solidFill>
          <a:ln cap="flat" cmpd="sng" w="9200">
            <a:solidFill>
              <a:srgbClr val="C0392B"/>
            </a:solidFill>
            <a:prstDash val="solid"/>
            <a:round/>
            <a:headEnd len="sm" w="sm" type="none"/>
            <a:tailEnd len="sm" w="sm" type="none"/>
          </a:ln>
        </p:spPr>
        <p:txBody>
          <a:bodyPr anchorCtr="0" anchor="ctr" bIns="66100" lIns="66100" spcFirstLastPara="1" rIns="66100" wrap="square" tIns="66100">
            <a:noAutofit/>
          </a:bodyPr>
          <a:lstStyle/>
          <a:p>
            <a:pPr indent="0" lvl="0" marL="0" rtl="0" algn="l">
              <a:spcBef>
                <a:spcPts val="0"/>
              </a:spcBef>
              <a:spcAft>
                <a:spcPts val="0"/>
              </a:spcAft>
              <a:buNone/>
            </a:pPr>
            <a:r>
              <a:t/>
            </a:r>
            <a:endParaRPr/>
          </a:p>
        </p:txBody>
      </p:sp>
      <p:sp>
        <p:nvSpPr>
          <p:cNvPr id="112" name="Google Shape;112;p7"/>
          <p:cNvSpPr/>
          <p:nvPr/>
        </p:nvSpPr>
        <p:spPr>
          <a:xfrm>
            <a:off x="7472166" y="1453310"/>
            <a:ext cx="272100" cy="1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651"/>
              <a:buFont typeface="Calibri"/>
              <a:buNone/>
            </a:pPr>
            <a:r>
              <a:rPr b="0" i="0" lang="en-US" sz="651" u="none" cap="none" strike="noStrike">
                <a:solidFill>
                  <a:srgbClr val="1A1A2E"/>
                </a:solidFill>
                <a:latin typeface="Calibri"/>
                <a:ea typeface="Calibri"/>
                <a:cs typeface="Calibri"/>
                <a:sym typeface="Calibri"/>
              </a:rPr>
              <a:t>0.78</a:t>
            </a:r>
            <a:endParaRPr b="0" i="0" sz="651" u="none" cap="none" strike="noStrike">
              <a:solidFill>
                <a:schemeClr val="dk1"/>
              </a:solidFill>
              <a:latin typeface="Calibri"/>
              <a:ea typeface="Calibri"/>
              <a:cs typeface="Calibri"/>
              <a:sym typeface="Calibri"/>
            </a:endParaRPr>
          </a:p>
        </p:txBody>
      </p:sp>
      <p:sp>
        <p:nvSpPr>
          <p:cNvPr id="113" name="Google Shape;113;p7"/>
          <p:cNvSpPr/>
          <p:nvPr/>
        </p:nvSpPr>
        <p:spPr>
          <a:xfrm>
            <a:off x="5846812" y="1653751"/>
            <a:ext cx="2788200" cy="17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687"/>
              <a:buFont typeface="Calibri"/>
              <a:buNone/>
            </a:pPr>
            <a:r>
              <a:rPr b="1" i="0" lang="en-US" sz="687" u="none" cap="none" strike="noStrike">
                <a:solidFill>
                  <a:srgbClr val="C0392B"/>
                </a:solidFill>
                <a:latin typeface="Calibri"/>
                <a:ea typeface="Calibri"/>
                <a:cs typeface="Calibri"/>
                <a:sym typeface="Calibri"/>
              </a:rPr>
              <a:t>loan_purpose</a:t>
            </a:r>
            <a:endParaRPr b="0" i="0" sz="687" u="none" cap="none" strike="noStrike">
              <a:solidFill>
                <a:schemeClr val="dk1"/>
              </a:solidFill>
              <a:latin typeface="Calibri"/>
              <a:ea typeface="Calibri"/>
              <a:cs typeface="Calibri"/>
              <a:sym typeface="Calibri"/>
            </a:endParaRPr>
          </a:p>
        </p:txBody>
      </p:sp>
      <p:sp>
        <p:nvSpPr>
          <p:cNvPr id="114" name="Google Shape;114;p7"/>
          <p:cNvSpPr/>
          <p:nvPr/>
        </p:nvSpPr>
        <p:spPr>
          <a:xfrm>
            <a:off x="5849386" y="1564335"/>
            <a:ext cx="1448700" cy="138900"/>
          </a:xfrm>
          <a:prstGeom prst="rect">
            <a:avLst/>
          </a:prstGeom>
          <a:solidFill>
            <a:srgbClr val="C0392B"/>
          </a:solidFill>
          <a:ln cap="flat" cmpd="sng" w="9200">
            <a:solidFill>
              <a:srgbClr val="C0392B"/>
            </a:solidFill>
            <a:prstDash val="solid"/>
            <a:round/>
            <a:headEnd len="sm" w="sm" type="none"/>
            <a:tailEnd len="sm" w="sm" type="none"/>
          </a:ln>
        </p:spPr>
        <p:txBody>
          <a:bodyPr anchorCtr="0" anchor="ctr" bIns="66100" lIns="66100" spcFirstLastPara="1" rIns="66100" wrap="square" tIns="66100">
            <a:noAutofit/>
          </a:bodyPr>
          <a:lstStyle/>
          <a:p>
            <a:pPr indent="0" lvl="0" marL="0" rtl="0" algn="l">
              <a:spcBef>
                <a:spcPts val="0"/>
              </a:spcBef>
              <a:spcAft>
                <a:spcPts val="0"/>
              </a:spcAft>
              <a:buNone/>
            </a:pPr>
            <a:r>
              <a:t/>
            </a:r>
            <a:endParaRPr/>
          </a:p>
        </p:txBody>
      </p:sp>
      <p:sp>
        <p:nvSpPr>
          <p:cNvPr id="115" name="Google Shape;115;p7"/>
          <p:cNvSpPr/>
          <p:nvPr/>
        </p:nvSpPr>
        <p:spPr>
          <a:xfrm>
            <a:off x="7346374" y="1586007"/>
            <a:ext cx="272100" cy="1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651"/>
              <a:buFont typeface="Calibri"/>
              <a:buNone/>
            </a:pPr>
            <a:r>
              <a:rPr b="0" i="0" lang="en-US" sz="651" u="none" cap="none" strike="noStrike">
                <a:solidFill>
                  <a:srgbClr val="1A1A2E"/>
                </a:solidFill>
                <a:latin typeface="Calibri"/>
                <a:ea typeface="Calibri"/>
                <a:cs typeface="Calibri"/>
                <a:sym typeface="Calibri"/>
              </a:rPr>
              <a:t>0.71</a:t>
            </a:r>
            <a:endParaRPr b="0" i="0" sz="651" u="none" cap="none" strike="noStrike">
              <a:solidFill>
                <a:schemeClr val="dk1"/>
              </a:solidFill>
              <a:latin typeface="Calibri"/>
              <a:ea typeface="Calibri"/>
              <a:cs typeface="Calibri"/>
              <a:sym typeface="Calibri"/>
            </a:endParaRPr>
          </a:p>
        </p:txBody>
      </p:sp>
      <p:sp>
        <p:nvSpPr>
          <p:cNvPr id="116" name="Google Shape;116;p7"/>
          <p:cNvSpPr/>
          <p:nvPr/>
        </p:nvSpPr>
        <p:spPr>
          <a:xfrm>
            <a:off x="5863834" y="1764775"/>
            <a:ext cx="2788200" cy="17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687"/>
              <a:buFont typeface="Calibri"/>
              <a:buNone/>
            </a:pPr>
            <a:r>
              <a:rPr b="0" i="0" lang="en-US" sz="687" u="none" cap="none" strike="noStrike">
                <a:solidFill>
                  <a:srgbClr val="1A1A2E"/>
                </a:solidFill>
                <a:latin typeface="Calibri"/>
                <a:ea typeface="Calibri"/>
                <a:cs typeface="Calibri"/>
                <a:sym typeface="Calibri"/>
              </a:rPr>
              <a:t>debt_to_income_ratio</a:t>
            </a:r>
            <a:endParaRPr b="0" i="0" sz="687" u="none" cap="none" strike="noStrike">
              <a:solidFill>
                <a:schemeClr val="dk1"/>
              </a:solidFill>
              <a:latin typeface="Calibri"/>
              <a:ea typeface="Calibri"/>
              <a:cs typeface="Calibri"/>
              <a:sym typeface="Calibri"/>
            </a:endParaRPr>
          </a:p>
        </p:txBody>
      </p:sp>
      <p:sp>
        <p:nvSpPr>
          <p:cNvPr id="117" name="Google Shape;117;p7"/>
          <p:cNvSpPr/>
          <p:nvPr/>
        </p:nvSpPr>
        <p:spPr>
          <a:xfrm>
            <a:off x="5863834" y="1934379"/>
            <a:ext cx="897300" cy="138900"/>
          </a:xfrm>
          <a:prstGeom prst="rect">
            <a:avLst/>
          </a:prstGeom>
          <a:solidFill>
            <a:srgbClr val="7B9EC8"/>
          </a:solidFill>
          <a:ln cap="flat" cmpd="sng" w="9200">
            <a:solidFill>
              <a:srgbClr val="7B9EC8"/>
            </a:solidFill>
            <a:prstDash val="solid"/>
            <a:round/>
            <a:headEnd len="sm" w="sm" type="none"/>
            <a:tailEnd len="sm" w="sm" type="none"/>
          </a:ln>
        </p:spPr>
        <p:txBody>
          <a:bodyPr anchorCtr="0" anchor="ctr" bIns="66100" lIns="66100" spcFirstLastPara="1" rIns="66100" wrap="square" tIns="66100">
            <a:noAutofit/>
          </a:bodyPr>
          <a:lstStyle/>
          <a:p>
            <a:pPr indent="0" lvl="0" marL="0" rtl="0" algn="l">
              <a:spcBef>
                <a:spcPts val="0"/>
              </a:spcBef>
              <a:spcAft>
                <a:spcPts val="0"/>
              </a:spcAft>
              <a:buNone/>
            </a:pPr>
            <a:r>
              <a:t/>
            </a:r>
            <a:endParaRPr/>
          </a:p>
        </p:txBody>
      </p:sp>
      <p:sp>
        <p:nvSpPr>
          <p:cNvPr id="118" name="Google Shape;118;p7"/>
          <p:cNvSpPr/>
          <p:nvPr/>
        </p:nvSpPr>
        <p:spPr>
          <a:xfrm>
            <a:off x="6795522" y="1934379"/>
            <a:ext cx="272100" cy="1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651"/>
              <a:buFont typeface="Calibri"/>
              <a:buNone/>
            </a:pPr>
            <a:r>
              <a:rPr b="0" i="0" lang="en-US" sz="651" u="none" cap="none" strike="noStrike">
                <a:solidFill>
                  <a:srgbClr val="1A1A2E"/>
                </a:solidFill>
                <a:latin typeface="Calibri"/>
                <a:ea typeface="Calibri"/>
                <a:cs typeface="Calibri"/>
                <a:sym typeface="Calibri"/>
              </a:rPr>
              <a:t>0.44</a:t>
            </a:r>
            <a:endParaRPr b="0" i="0" sz="651" u="none" cap="none" strike="noStrike">
              <a:solidFill>
                <a:schemeClr val="dk1"/>
              </a:solidFill>
              <a:latin typeface="Calibri"/>
              <a:ea typeface="Calibri"/>
              <a:cs typeface="Calibri"/>
              <a:sym typeface="Calibri"/>
            </a:endParaRPr>
          </a:p>
        </p:txBody>
      </p:sp>
      <p:sp>
        <p:nvSpPr>
          <p:cNvPr id="119" name="Google Shape;119;p7"/>
          <p:cNvSpPr/>
          <p:nvPr/>
        </p:nvSpPr>
        <p:spPr>
          <a:xfrm>
            <a:off x="5863834" y="2134819"/>
            <a:ext cx="2788200" cy="17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687"/>
              <a:buFont typeface="Calibri"/>
              <a:buNone/>
            </a:pPr>
            <a:r>
              <a:rPr b="0" i="0" lang="en-US" sz="687" u="none" cap="none" strike="noStrike">
                <a:solidFill>
                  <a:srgbClr val="1A1A2E"/>
                </a:solidFill>
                <a:latin typeface="Calibri"/>
                <a:ea typeface="Calibri"/>
                <a:cs typeface="Calibri"/>
                <a:sym typeface="Calibri"/>
              </a:rPr>
              <a:t>loan_amount</a:t>
            </a:r>
            <a:endParaRPr b="0" i="0" sz="687" u="none" cap="none" strike="noStrike">
              <a:solidFill>
                <a:schemeClr val="dk1"/>
              </a:solidFill>
              <a:latin typeface="Calibri"/>
              <a:ea typeface="Calibri"/>
              <a:cs typeface="Calibri"/>
              <a:sym typeface="Calibri"/>
            </a:endParaRPr>
          </a:p>
        </p:txBody>
      </p:sp>
      <p:sp>
        <p:nvSpPr>
          <p:cNvPr id="120" name="Google Shape;120;p7"/>
          <p:cNvSpPr/>
          <p:nvPr/>
        </p:nvSpPr>
        <p:spPr>
          <a:xfrm>
            <a:off x="5863834" y="2304423"/>
            <a:ext cx="632100" cy="138900"/>
          </a:xfrm>
          <a:prstGeom prst="rect">
            <a:avLst/>
          </a:prstGeom>
          <a:solidFill>
            <a:srgbClr val="7B9EC8"/>
          </a:solidFill>
          <a:ln cap="flat" cmpd="sng" w="9200">
            <a:solidFill>
              <a:srgbClr val="7B9EC8"/>
            </a:solidFill>
            <a:prstDash val="solid"/>
            <a:round/>
            <a:headEnd len="sm" w="sm" type="none"/>
            <a:tailEnd len="sm" w="sm" type="none"/>
          </a:ln>
        </p:spPr>
        <p:txBody>
          <a:bodyPr anchorCtr="0" anchor="ctr" bIns="66100" lIns="66100" spcFirstLastPara="1" rIns="66100" wrap="square" tIns="66100">
            <a:noAutofit/>
          </a:bodyPr>
          <a:lstStyle/>
          <a:p>
            <a:pPr indent="0" lvl="0" marL="0" rtl="0" algn="l">
              <a:spcBef>
                <a:spcPts val="0"/>
              </a:spcBef>
              <a:spcAft>
                <a:spcPts val="0"/>
              </a:spcAft>
              <a:buNone/>
            </a:pPr>
            <a:r>
              <a:t/>
            </a:r>
            <a:endParaRPr/>
          </a:p>
        </p:txBody>
      </p:sp>
      <p:sp>
        <p:nvSpPr>
          <p:cNvPr id="121" name="Google Shape;121;p7"/>
          <p:cNvSpPr/>
          <p:nvPr/>
        </p:nvSpPr>
        <p:spPr>
          <a:xfrm>
            <a:off x="6530297" y="2304423"/>
            <a:ext cx="272100" cy="1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651"/>
              <a:buFont typeface="Calibri"/>
              <a:buNone/>
            </a:pPr>
            <a:r>
              <a:rPr b="0" i="0" lang="en-US" sz="651" u="none" cap="none" strike="noStrike">
                <a:solidFill>
                  <a:srgbClr val="1A1A2E"/>
                </a:solidFill>
                <a:latin typeface="Calibri"/>
                <a:ea typeface="Calibri"/>
                <a:cs typeface="Calibri"/>
                <a:sym typeface="Calibri"/>
              </a:rPr>
              <a:t>0.31</a:t>
            </a:r>
            <a:endParaRPr b="0" i="0" sz="651" u="none" cap="none" strike="noStrike">
              <a:solidFill>
                <a:schemeClr val="dk1"/>
              </a:solidFill>
              <a:latin typeface="Calibri"/>
              <a:ea typeface="Calibri"/>
              <a:cs typeface="Calibri"/>
              <a:sym typeface="Calibri"/>
            </a:endParaRPr>
          </a:p>
        </p:txBody>
      </p:sp>
      <p:sp>
        <p:nvSpPr>
          <p:cNvPr id="122" name="Google Shape;122;p7"/>
          <p:cNvSpPr/>
          <p:nvPr/>
        </p:nvSpPr>
        <p:spPr>
          <a:xfrm>
            <a:off x="5863834" y="2504864"/>
            <a:ext cx="2788200" cy="21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651"/>
              <a:buFont typeface="Calibri"/>
              <a:buNone/>
            </a:pPr>
            <a:r>
              <a:rPr b="0" i="1" lang="en-US" sz="651" u="none" cap="none" strike="noStrike">
                <a:solidFill>
                  <a:srgbClr val="C0392B"/>
                </a:solidFill>
                <a:latin typeface="Calibri"/>
                <a:ea typeface="Calibri"/>
                <a:cs typeface="Calibri"/>
                <a:sym typeface="Calibri"/>
              </a:rPr>
              <a:t>▲ Proxy features flagged in red — SHAP shows these drive predictions across most applicants</a:t>
            </a:r>
            <a:endParaRPr b="0" i="0" sz="651"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4F4"/>
        </a:solidFill>
      </p:bgPr>
    </p:bg>
    <p:spTree>
      <p:nvGrpSpPr>
        <p:cNvPr id="127" name="Shape 127"/>
        <p:cNvGrpSpPr/>
        <p:nvPr/>
      </p:nvGrpSpPr>
      <p:grpSpPr>
        <a:xfrm>
          <a:off x="0" y="0"/>
          <a:ext cx="0" cy="0"/>
          <a:chOff x="0" y="0"/>
          <a:chExt cx="0" cy="0"/>
        </a:xfrm>
      </p:grpSpPr>
      <p:sp>
        <p:nvSpPr>
          <p:cNvPr id="128" name="Google Shape;128;p8"/>
          <p:cNvSpPr/>
          <p:nvPr/>
        </p:nvSpPr>
        <p:spPr>
          <a:xfrm>
            <a:off x="0" y="0"/>
            <a:ext cx="164700" cy="51435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p:nvPr/>
        </p:nvSpPr>
        <p:spPr>
          <a:xfrm>
            <a:off x="320040" y="256032"/>
            <a:ext cx="1005900" cy="3474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p:nvPr/>
        </p:nvSpPr>
        <p:spPr>
          <a:xfrm>
            <a:off x="320040" y="256032"/>
            <a:ext cx="10059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MODE 02</a:t>
            </a:r>
            <a:endParaRPr b="0" i="0" sz="1000" u="none" cap="none" strike="noStrike">
              <a:solidFill>
                <a:schemeClr val="dk1"/>
              </a:solidFill>
              <a:latin typeface="Calibri"/>
              <a:ea typeface="Calibri"/>
              <a:cs typeface="Calibri"/>
              <a:sym typeface="Calibri"/>
            </a:endParaRPr>
          </a:p>
        </p:txBody>
      </p:sp>
      <p:sp>
        <p:nvSpPr>
          <p:cNvPr id="131" name="Google Shape;131;p8"/>
          <p:cNvSpPr/>
          <p:nvPr/>
        </p:nvSpPr>
        <p:spPr>
          <a:xfrm>
            <a:off x="320040" y="685800"/>
            <a:ext cx="53949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4A"/>
              </a:buClr>
              <a:buSzPts val="2600"/>
              <a:buFont typeface="Georgia"/>
              <a:buNone/>
            </a:pPr>
            <a:r>
              <a:rPr b="1" i="0" lang="en-US" sz="2600" u="none" cap="none" strike="noStrike">
                <a:solidFill>
                  <a:srgbClr val="1C2B4A"/>
                </a:solidFill>
                <a:latin typeface="Georgia"/>
                <a:ea typeface="Georgia"/>
                <a:cs typeface="Georgia"/>
                <a:sym typeface="Georgia"/>
              </a:rPr>
              <a:t>Risk Override  ·  DTI Bypass</a:t>
            </a:r>
            <a:endParaRPr b="0" i="0" sz="2600" u="none" cap="none" strike="noStrike">
              <a:solidFill>
                <a:schemeClr val="dk1"/>
              </a:solidFill>
              <a:latin typeface="Calibri"/>
              <a:ea typeface="Calibri"/>
              <a:cs typeface="Calibri"/>
              <a:sym typeface="Calibri"/>
            </a:endParaRPr>
          </a:p>
        </p:txBody>
      </p:sp>
      <p:sp>
        <p:nvSpPr>
          <p:cNvPr id="132" name="Google Shape;132;p8"/>
          <p:cNvSpPr/>
          <p:nvPr/>
        </p:nvSpPr>
        <p:spPr>
          <a:xfrm>
            <a:off x="320040" y="1371600"/>
            <a:ext cx="1691700" cy="292500"/>
          </a:xfrm>
          <a:prstGeom prst="rect">
            <a:avLst/>
          </a:prstGeom>
          <a:solidFill>
            <a:srgbClr val="C49A22"/>
          </a:solidFill>
          <a:ln cap="flat" cmpd="sng" w="12700">
            <a:solidFill>
              <a:srgbClr val="C49A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320040" y="1371600"/>
            <a:ext cx="16917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SHAP  ·  Local (Waterfall)</a:t>
            </a:r>
            <a:endParaRPr b="0" i="0" sz="1000" u="none" cap="none" strike="noStrike">
              <a:solidFill>
                <a:schemeClr val="dk1"/>
              </a:solidFill>
              <a:latin typeface="Calibri"/>
              <a:ea typeface="Calibri"/>
              <a:cs typeface="Calibri"/>
              <a:sym typeface="Calibri"/>
            </a:endParaRPr>
          </a:p>
        </p:txBody>
      </p:sp>
      <p:sp>
        <p:nvSpPr>
          <p:cNvPr id="134" name="Google Shape;134;p8"/>
          <p:cNvSpPr/>
          <p:nvPr/>
        </p:nvSpPr>
        <p:spPr>
          <a:xfrm>
            <a:off x="320040" y="1801368"/>
            <a:ext cx="5257800" cy="914400"/>
          </a:xfrm>
          <a:prstGeom prst="rect">
            <a:avLst/>
          </a:prstGeom>
          <a:solidFill>
            <a:srgbClr val="FFFFFF"/>
          </a:solidFill>
          <a:ln cap="flat" cmpd="sng" w="9525">
            <a:solidFill>
              <a:srgbClr val="E0E0E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320040" y="1801368"/>
            <a:ext cx="63900" cy="9144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484632" y="1874520"/>
            <a:ext cx="4937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WHAT FAILS</a:t>
            </a:r>
            <a:endParaRPr b="0" i="0" sz="1000" u="none" cap="none" strike="noStrike">
              <a:solidFill>
                <a:schemeClr val="dk1"/>
              </a:solidFill>
              <a:latin typeface="Calibri"/>
              <a:ea typeface="Calibri"/>
              <a:cs typeface="Calibri"/>
              <a:sym typeface="Calibri"/>
            </a:endParaRPr>
          </a:p>
        </p:txBody>
      </p:sp>
      <p:sp>
        <p:nvSpPr>
          <p:cNvPr id="137" name="Google Shape;137;p8"/>
          <p:cNvSpPr/>
          <p:nvPr/>
        </p:nvSpPr>
        <p:spPr>
          <a:xfrm>
            <a:off x="484632" y="2130552"/>
            <a:ext cx="4937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300"/>
              <a:buFont typeface="Calibri"/>
              <a:buNone/>
            </a:pPr>
            <a:r>
              <a:rPr b="0" i="0" lang="en-US" sz="1300" u="none" cap="none" strike="noStrike">
                <a:solidFill>
                  <a:srgbClr val="2C2C2C"/>
                </a:solidFill>
                <a:latin typeface="Calibri"/>
                <a:ea typeface="Calibri"/>
                <a:cs typeface="Calibri"/>
                <a:sym typeface="Calibri"/>
              </a:rPr>
              <a:t>Non-critical features override fundamental financial risk signals. A high-risk applicant with extreme DTI can still be approved.</a:t>
            </a:r>
            <a:endParaRPr b="0" i="0" sz="1300" u="none" cap="none" strike="noStrike">
              <a:solidFill>
                <a:schemeClr val="dk1"/>
              </a:solidFill>
              <a:latin typeface="Calibri"/>
              <a:ea typeface="Calibri"/>
              <a:cs typeface="Calibri"/>
              <a:sym typeface="Calibri"/>
            </a:endParaRPr>
          </a:p>
        </p:txBody>
      </p:sp>
      <p:sp>
        <p:nvSpPr>
          <p:cNvPr id="138" name="Google Shape;138;p8"/>
          <p:cNvSpPr/>
          <p:nvPr/>
        </p:nvSpPr>
        <p:spPr>
          <a:xfrm>
            <a:off x="320040" y="2816352"/>
            <a:ext cx="5257800" cy="868800"/>
          </a:xfrm>
          <a:prstGeom prst="rect">
            <a:avLst/>
          </a:prstGeom>
          <a:solidFill>
            <a:srgbClr val="FFFFFF"/>
          </a:solidFill>
          <a:ln cap="flat" cmpd="sng" w="9525">
            <a:solidFill>
              <a:srgbClr val="E0E0E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320040" y="2816352"/>
            <a:ext cx="63900" cy="868800"/>
          </a:xfrm>
          <a:prstGeom prst="rect">
            <a:avLst/>
          </a:prstGeom>
          <a:solidFill>
            <a:srgbClr val="1C2B4A"/>
          </a:solidFill>
          <a:ln cap="flat" cmpd="sng" w="12700">
            <a:solidFill>
              <a:srgbClr val="1C2B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484632" y="2889504"/>
            <a:ext cx="4937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B4A"/>
              </a:buClr>
              <a:buSzPts val="1000"/>
              <a:buFont typeface="Calibri"/>
              <a:buNone/>
            </a:pPr>
            <a:r>
              <a:rPr b="1" i="0" lang="en-US" sz="1000" u="none" cap="none" strike="noStrike">
                <a:solidFill>
                  <a:srgbClr val="1C2B4A"/>
                </a:solidFill>
                <a:latin typeface="Calibri"/>
                <a:ea typeface="Calibri"/>
                <a:cs typeface="Calibri"/>
                <a:sym typeface="Calibri"/>
              </a:rPr>
              <a:t>WHY IT FAILS</a:t>
            </a:r>
            <a:endParaRPr b="0" i="0" sz="1000" u="none" cap="none" strike="noStrike">
              <a:solidFill>
                <a:schemeClr val="dk1"/>
              </a:solidFill>
              <a:latin typeface="Calibri"/>
              <a:ea typeface="Calibri"/>
              <a:cs typeface="Calibri"/>
              <a:sym typeface="Calibri"/>
            </a:endParaRPr>
          </a:p>
        </p:txBody>
      </p:sp>
      <p:sp>
        <p:nvSpPr>
          <p:cNvPr id="141" name="Google Shape;141;p8"/>
          <p:cNvSpPr/>
          <p:nvPr/>
        </p:nvSpPr>
        <p:spPr>
          <a:xfrm>
            <a:off x="484632" y="3136392"/>
            <a:ext cx="49377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300"/>
              <a:buFont typeface="Calibri"/>
              <a:buNone/>
            </a:pPr>
            <a:r>
              <a:rPr b="0" i="0" lang="en-US" sz="1300" u="none" cap="none" strike="noStrike">
                <a:solidFill>
                  <a:srgbClr val="2C2C2C"/>
                </a:solidFill>
                <a:latin typeface="Calibri"/>
                <a:ea typeface="Calibri"/>
                <a:cs typeface="Calibri"/>
                <a:sym typeface="Calibri"/>
              </a:rPr>
              <a:t>No hard constraints on financial risk signals. The model treats all features as independently tradeable — loan purpose can cancel out a dangerous DTI.</a:t>
            </a:r>
            <a:endParaRPr b="0" i="0" sz="1300" u="none" cap="none" strike="noStrike">
              <a:solidFill>
                <a:schemeClr val="dk1"/>
              </a:solidFill>
              <a:latin typeface="Calibri"/>
              <a:ea typeface="Calibri"/>
              <a:cs typeface="Calibri"/>
              <a:sym typeface="Calibri"/>
            </a:endParaRPr>
          </a:p>
        </p:txBody>
      </p:sp>
      <p:sp>
        <p:nvSpPr>
          <p:cNvPr id="142" name="Google Shape;142;p8"/>
          <p:cNvSpPr/>
          <p:nvPr/>
        </p:nvSpPr>
        <p:spPr>
          <a:xfrm>
            <a:off x="320040" y="3785616"/>
            <a:ext cx="5257800" cy="822900"/>
          </a:xfrm>
          <a:prstGeom prst="rect">
            <a:avLst/>
          </a:prstGeom>
          <a:solidFill>
            <a:srgbClr val="FFFFFF"/>
          </a:solidFill>
          <a:ln cap="flat" cmpd="sng" w="9525">
            <a:solidFill>
              <a:srgbClr val="E0E0E0"/>
            </a:solidFill>
            <a:prstDash val="solid"/>
            <a:round/>
            <a:headEnd len="sm" w="sm" type="none"/>
            <a:tailEnd len="sm" w="sm" type="none"/>
          </a:ln>
          <a:effectLst>
            <a:outerShdw blurRad="50800" rotWithShape="0" algn="bl" dir="8100000" dist="127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
          <p:cNvSpPr/>
          <p:nvPr/>
        </p:nvSpPr>
        <p:spPr>
          <a:xfrm>
            <a:off x="320040" y="3785616"/>
            <a:ext cx="63900" cy="822900"/>
          </a:xfrm>
          <a:prstGeom prst="rect">
            <a:avLst/>
          </a:prstGeom>
          <a:solidFill>
            <a:srgbClr val="C49A22"/>
          </a:solidFill>
          <a:ln cap="flat" cmpd="sng" w="12700">
            <a:solidFill>
              <a:srgbClr val="C49A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484632" y="3858768"/>
            <a:ext cx="49377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9A22"/>
              </a:buClr>
              <a:buSzPts val="1000"/>
              <a:buFont typeface="Calibri"/>
              <a:buNone/>
            </a:pPr>
            <a:r>
              <a:rPr b="1" i="0" lang="en-US" sz="1000" u="none" cap="none" strike="noStrike">
                <a:solidFill>
                  <a:srgbClr val="C49A22"/>
                </a:solidFill>
                <a:latin typeface="Calibri"/>
                <a:ea typeface="Calibri"/>
                <a:cs typeface="Calibri"/>
                <a:sym typeface="Calibri"/>
              </a:rPr>
              <a:t>WHO IS HARMED</a:t>
            </a:r>
            <a:endParaRPr b="0" i="0" sz="1000" u="none" cap="none" strike="noStrike">
              <a:solidFill>
                <a:schemeClr val="dk1"/>
              </a:solidFill>
              <a:latin typeface="Calibri"/>
              <a:ea typeface="Calibri"/>
              <a:cs typeface="Calibri"/>
              <a:sym typeface="Calibri"/>
            </a:endParaRPr>
          </a:p>
        </p:txBody>
      </p:sp>
      <p:sp>
        <p:nvSpPr>
          <p:cNvPr id="145" name="Google Shape;145;p8"/>
          <p:cNvSpPr/>
          <p:nvPr/>
        </p:nvSpPr>
        <p:spPr>
          <a:xfrm>
            <a:off x="484632" y="4105656"/>
            <a:ext cx="4937700" cy="42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2C2C"/>
              </a:buClr>
              <a:buSzPts val="1300"/>
              <a:buFont typeface="Calibri"/>
              <a:buNone/>
            </a:pPr>
            <a:r>
              <a:rPr b="0" i="0" lang="en-US" sz="1300" u="none" cap="none" strike="noStrike">
                <a:solidFill>
                  <a:srgbClr val="2C2C2C"/>
                </a:solidFill>
                <a:latin typeface="Calibri"/>
                <a:ea typeface="Calibri"/>
                <a:cs typeface="Calibri"/>
                <a:sym typeface="Calibri"/>
              </a:rPr>
              <a:t>Minority applicants receive inconsistent approvals; the fair lending system produces unreliable, legally indefensible decisions.</a:t>
            </a:r>
            <a:endParaRPr b="0" i="0" sz="1300" u="none" cap="none" strike="noStrike">
              <a:solidFill>
                <a:schemeClr val="dk1"/>
              </a:solidFill>
              <a:latin typeface="Calibri"/>
              <a:ea typeface="Calibri"/>
              <a:cs typeface="Calibri"/>
              <a:sym typeface="Calibri"/>
            </a:endParaRPr>
          </a:p>
        </p:txBody>
      </p:sp>
      <p:sp>
        <p:nvSpPr>
          <p:cNvPr id="146" name="Google Shape;146;p8"/>
          <p:cNvSpPr/>
          <p:nvPr/>
        </p:nvSpPr>
        <p:spPr>
          <a:xfrm>
            <a:off x="5806440" y="594360"/>
            <a:ext cx="3154800" cy="4343400"/>
          </a:xfrm>
          <a:prstGeom prst="rect">
            <a:avLst/>
          </a:prstGeom>
          <a:solidFill>
            <a:srgbClr val="1C2B4A"/>
          </a:solidFill>
          <a:ln cap="flat" cmpd="sng" w="12700">
            <a:solidFill>
              <a:srgbClr val="1C2B4A"/>
            </a:solidFill>
            <a:prstDash val="solid"/>
            <a:round/>
            <a:headEnd len="sm" w="sm" type="none"/>
            <a:tailEnd len="sm" w="sm" type="none"/>
          </a:ln>
          <a:effectLst>
            <a:outerShdw blurRad="1016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5943600" y="713232"/>
            <a:ext cx="2834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9A22"/>
              </a:buClr>
              <a:buSzPts val="900"/>
              <a:buFont typeface="Calibri"/>
              <a:buNone/>
            </a:pPr>
            <a:r>
              <a:rPr b="1" i="0" lang="en-US" sz="900" u="none" cap="none" strike="noStrike">
                <a:solidFill>
                  <a:srgbClr val="C49A22"/>
                </a:solidFill>
                <a:latin typeface="Calibri"/>
                <a:ea typeface="Calibri"/>
                <a:cs typeface="Calibri"/>
                <a:sym typeface="Calibri"/>
              </a:rPr>
              <a:t>SHAP WATERFALL  ·  CAUCASIAN APPLICANT</a:t>
            </a:r>
            <a:endParaRPr b="0" i="0" sz="900" u="none" cap="none" strike="noStrike">
              <a:solidFill>
                <a:schemeClr val="dk1"/>
              </a:solidFill>
              <a:latin typeface="Calibri"/>
              <a:ea typeface="Calibri"/>
              <a:cs typeface="Calibri"/>
              <a:sym typeface="Calibri"/>
            </a:endParaRPr>
          </a:p>
        </p:txBody>
      </p:sp>
      <p:sp>
        <p:nvSpPr>
          <p:cNvPr id="148" name="Google Shape;148;p8"/>
          <p:cNvSpPr/>
          <p:nvPr/>
        </p:nvSpPr>
        <p:spPr>
          <a:xfrm>
            <a:off x="5943600" y="987552"/>
            <a:ext cx="2880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000"/>
              <a:buFont typeface="Calibri"/>
              <a:buNone/>
            </a:pPr>
            <a:r>
              <a:rPr b="0" i="1" lang="en-US" sz="1000" u="none" cap="none" strike="noStrike">
                <a:solidFill>
                  <a:srgbClr val="D0D6E0"/>
                </a:solidFill>
                <a:latin typeface="Calibri"/>
                <a:ea typeface="Calibri"/>
                <a:cs typeface="Calibri"/>
                <a:sym typeface="Calibri"/>
              </a:rPr>
              <a:t>High-risk case approved via feature trade-off</a:t>
            </a:r>
            <a:endParaRPr b="0" i="0" sz="1000" u="none" cap="none" strike="noStrike">
              <a:solidFill>
                <a:schemeClr val="dk1"/>
              </a:solidFill>
              <a:latin typeface="Calibri"/>
              <a:ea typeface="Calibri"/>
              <a:cs typeface="Calibri"/>
              <a:sym typeface="Calibri"/>
            </a:endParaRPr>
          </a:p>
        </p:txBody>
      </p:sp>
      <p:sp>
        <p:nvSpPr>
          <p:cNvPr id="149" name="Google Shape;149;p8"/>
          <p:cNvSpPr/>
          <p:nvPr/>
        </p:nvSpPr>
        <p:spPr>
          <a:xfrm>
            <a:off x="5943600" y="1298448"/>
            <a:ext cx="2011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6A8"/>
              </a:buClr>
              <a:buSzPts val="1000"/>
              <a:buFont typeface="Calibri"/>
              <a:buNone/>
            </a:pPr>
            <a:r>
              <a:rPr b="0" i="0" lang="en-US" sz="1000" u="none" cap="none" strike="noStrike">
                <a:solidFill>
                  <a:srgbClr val="8A96A8"/>
                </a:solidFill>
                <a:latin typeface="Calibri"/>
                <a:ea typeface="Calibri"/>
                <a:cs typeface="Calibri"/>
                <a:sym typeface="Calibri"/>
              </a:rPr>
              <a:t>Base value  E[f(x)]</a:t>
            </a:r>
            <a:endParaRPr b="0" i="0" sz="1000" u="none" cap="none" strike="noStrike">
              <a:solidFill>
                <a:schemeClr val="dk1"/>
              </a:solidFill>
              <a:latin typeface="Calibri"/>
              <a:ea typeface="Calibri"/>
              <a:cs typeface="Calibri"/>
              <a:sym typeface="Calibri"/>
            </a:endParaRPr>
          </a:p>
        </p:txBody>
      </p:sp>
      <p:sp>
        <p:nvSpPr>
          <p:cNvPr id="150" name="Google Shape;150;p8"/>
          <p:cNvSpPr/>
          <p:nvPr/>
        </p:nvSpPr>
        <p:spPr>
          <a:xfrm>
            <a:off x="8229600" y="1298448"/>
            <a:ext cx="594300" cy="237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6A8"/>
              </a:buClr>
              <a:buSzPts val="1000"/>
              <a:buFont typeface="Calibri"/>
              <a:buNone/>
            </a:pPr>
            <a:r>
              <a:rPr b="0" i="0" lang="en-US" sz="1000" u="none" cap="none" strike="noStrike">
                <a:solidFill>
                  <a:srgbClr val="8A96A8"/>
                </a:solidFill>
                <a:latin typeface="Calibri"/>
                <a:ea typeface="Calibri"/>
                <a:cs typeface="Calibri"/>
                <a:sym typeface="Calibri"/>
              </a:rPr>
              <a:t>−0.001</a:t>
            </a:r>
            <a:endParaRPr b="0" i="0" sz="1000" u="none" cap="none" strike="noStrike">
              <a:solidFill>
                <a:schemeClr val="dk1"/>
              </a:solidFill>
              <a:latin typeface="Calibri"/>
              <a:ea typeface="Calibri"/>
              <a:cs typeface="Calibri"/>
              <a:sym typeface="Calibri"/>
            </a:endParaRPr>
          </a:p>
        </p:txBody>
      </p:sp>
      <p:sp>
        <p:nvSpPr>
          <p:cNvPr id="151" name="Google Shape;151;p8"/>
          <p:cNvSpPr/>
          <p:nvPr/>
        </p:nvSpPr>
        <p:spPr>
          <a:xfrm>
            <a:off x="5943600" y="1664208"/>
            <a:ext cx="233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000"/>
              <a:buFont typeface="Calibri"/>
              <a:buNone/>
            </a:pPr>
            <a:r>
              <a:rPr b="0" i="0" lang="en-US" sz="1000" u="none" cap="none" strike="noStrike">
                <a:solidFill>
                  <a:srgbClr val="D0D6E0"/>
                </a:solidFill>
                <a:latin typeface="Calibri"/>
                <a:ea typeface="Calibri"/>
                <a:cs typeface="Calibri"/>
                <a:sym typeface="Calibri"/>
              </a:rPr>
              <a:t>loan_purpose</a:t>
            </a:r>
            <a:endParaRPr b="0" i="0" sz="1000" u="none" cap="none" strike="noStrike">
              <a:solidFill>
                <a:schemeClr val="dk1"/>
              </a:solidFill>
              <a:latin typeface="Calibri"/>
              <a:ea typeface="Calibri"/>
              <a:cs typeface="Calibri"/>
              <a:sym typeface="Calibri"/>
            </a:endParaRPr>
          </a:p>
        </p:txBody>
      </p:sp>
      <p:sp>
        <p:nvSpPr>
          <p:cNvPr id="152" name="Google Shape;152;p8"/>
          <p:cNvSpPr/>
          <p:nvPr/>
        </p:nvSpPr>
        <p:spPr>
          <a:xfrm>
            <a:off x="7602451" y="1664200"/>
            <a:ext cx="871500" cy="237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8229600" y="1664208"/>
            <a:ext cx="594300" cy="237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+0.84</a:t>
            </a:r>
            <a:endParaRPr b="0" i="0" sz="1000" u="none" cap="none" strike="noStrike">
              <a:solidFill>
                <a:schemeClr val="dk1"/>
              </a:solidFill>
              <a:latin typeface="Calibri"/>
              <a:ea typeface="Calibri"/>
              <a:cs typeface="Calibri"/>
              <a:sym typeface="Calibri"/>
            </a:endParaRPr>
          </a:p>
        </p:txBody>
      </p:sp>
      <p:sp>
        <p:nvSpPr>
          <p:cNvPr id="154" name="Google Shape;154;p8"/>
          <p:cNvSpPr/>
          <p:nvPr/>
        </p:nvSpPr>
        <p:spPr>
          <a:xfrm>
            <a:off x="5943600" y="2011680"/>
            <a:ext cx="233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000"/>
              <a:buFont typeface="Calibri"/>
              <a:buNone/>
            </a:pPr>
            <a:r>
              <a:rPr b="0" i="0" lang="en-US" sz="1000" u="none" cap="none" strike="noStrike">
                <a:solidFill>
                  <a:srgbClr val="D0D6E0"/>
                </a:solidFill>
                <a:latin typeface="Calibri"/>
                <a:ea typeface="Calibri"/>
                <a:cs typeface="Calibri"/>
                <a:sym typeface="Calibri"/>
              </a:rPr>
              <a:t>dti_extreme_risk</a:t>
            </a:r>
            <a:endParaRPr b="0" i="0" sz="1000" u="none" cap="none" strike="noStrike">
              <a:solidFill>
                <a:schemeClr val="dk1"/>
              </a:solidFill>
              <a:latin typeface="Calibri"/>
              <a:ea typeface="Calibri"/>
              <a:cs typeface="Calibri"/>
              <a:sym typeface="Calibri"/>
            </a:endParaRPr>
          </a:p>
        </p:txBody>
      </p:sp>
      <p:sp>
        <p:nvSpPr>
          <p:cNvPr id="155" name="Google Shape;155;p8"/>
          <p:cNvSpPr/>
          <p:nvPr/>
        </p:nvSpPr>
        <p:spPr>
          <a:xfrm>
            <a:off x="6855600" y="2011675"/>
            <a:ext cx="746400" cy="237600"/>
          </a:xfrm>
          <a:prstGeom prst="rect">
            <a:avLst/>
          </a:prstGeom>
          <a:solidFill>
            <a:srgbClr val="2E86AB"/>
          </a:solidFill>
          <a:ln cap="flat" cmpd="sng" w="12700">
            <a:solidFill>
              <a:srgbClr val="2E86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8229600" y="2011680"/>
            <a:ext cx="594300" cy="237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86AB"/>
              </a:buClr>
              <a:buSzPts val="1000"/>
              <a:buFont typeface="Calibri"/>
              <a:buNone/>
            </a:pPr>
            <a:r>
              <a:rPr b="1" i="0" lang="en-US" sz="1000" u="none" cap="none" strike="noStrike">
                <a:solidFill>
                  <a:srgbClr val="2E86AB"/>
                </a:solidFill>
                <a:latin typeface="Calibri"/>
                <a:ea typeface="Calibri"/>
                <a:cs typeface="Calibri"/>
                <a:sym typeface="Calibri"/>
              </a:rPr>
              <a:t>−0.72</a:t>
            </a:r>
            <a:endParaRPr b="0" i="0" sz="1000" u="none" cap="none" strike="noStrike">
              <a:solidFill>
                <a:schemeClr val="dk1"/>
              </a:solidFill>
              <a:latin typeface="Calibri"/>
              <a:ea typeface="Calibri"/>
              <a:cs typeface="Calibri"/>
              <a:sym typeface="Calibri"/>
            </a:endParaRPr>
          </a:p>
        </p:txBody>
      </p:sp>
      <p:sp>
        <p:nvSpPr>
          <p:cNvPr id="157" name="Google Shape;157;p8"/>
          <p:cNvSpPr/>
          <p:nvPr/>
        </p:nvSpPr>
        <p:spPr>
          <a:xfrm>
            <a:off x="5943600" y="2359152"/>
            <a:ext cx="233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000"/>
              <a:buFont typeface="Calibri"/>
              <a:buNone/>
            </a:pPr>
            <a:r>
              <a:rPr b="0" i="0" lang="en-US" sz="1000" u="none" cap="none" strike="noStrike">
                <a:solidFill>
                  <a:srgbClr val="D0D6E0"/>
                </a:solidFill>
                <a:latin typeface="Calibri"/>
                <a:ea typeface="Calibri"/>
                <a:cs typeface="Calibri"/>
                <a:sym typeface="Calibri"/>
              </a:rPr>
              <a:t>ffiec_msa_income</a:t>
            </a:r>
            <a:endParaRPr b="0" i="0" sz="1000" u="none" cap="none" strike="noStrike">
              <a:solidFill>
                <a:schemeClr val="dk1"/>
              </a:solidFill>
              <a:latin typeface="Calibri"/>
              <a:ea typeface="Calibri"/>
              <a:cs typeface="Calibri"/>
              <a:sym typeface="Calibri"/>
            </a:endParaRPr>
          </a:p>
        </p:txBody>
      </p:sp>
      <p:sp>
        <p:nvSpPr>
          <p:cNvPr id="158" name="Google Shape;158;p8"/>
          <p:cNvSpPr/>
          <p:nvPr/>
        </p:nvSpPr>
        <p:spPr>
          <a:xfrm>
            <a:off x="7239398" y="2359150"/>
            <a:ext cx="363000" cy="237600"/>
          </a:xfrm>
          <a:prstGeom prst="rect">
            <a:avLst/>
          </a:prstGeom>
          <a:solidFill>
            <a:srgbClr val="2E86AB"/>
          </a:solidFill>
          <a:ln cap="flat" cmpd="sng" w="12700">
            <a:solidFill>
              <a:srgbClr val="2E86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8229600" y="2359152"/>
            <a:ext cx="594300" cy="237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86AB"/>
              </a:buClr>
              <a:buSzPts val="1000"/>
              <a:buFont typeface="Calibri"/>
              <a:buNone/>
            </a:pPr>
            <a:r>
              <a:rPr b="1" i="0" lang="en-US" sz="1000" u="none" cap="none" strike="noStrike">
                <a:solidFill>
                  <a:srgbClr val="2E86AB"/>
                </a:solidFill>
                <a:latin typeface="Calibri"/>
                <a:ea typeface="Calibri"/>
                <a:cs typeface="Calibri"/>
                <a:sym typeface="Calibri"/>
              </a:rPr>
              <a:t>−0.35</a:t>
            </a:r>
            <a:endParaRPr b="0" i="0" sz="1000" u="none" cap="none" strike="noStrike">
              <a:solidFill>
                <a:schemeClr val="dk1"/>
              </a:solidFill>
              <a:latin typeface="Calibri"/>
              <a:ea typeface="Calibri"/>
              <a:cs typeface="Calibri"/>
              <a:sym typeface="Calibri"/>
            </a:endParaRPr>
          </a:p>
        </p:txBody>
      </p:sp>
      <p:sp>
        <p:nvSpPr>
          <p:cNvPr id="160" name="Google Shape;160;p8"/>
          <p:cNvSpPr/>
          <p:nvPr/>
        </p:nvSpPr>
        <p:spPr>
          <a:xfrm>
            <a:off x="5943600" y="2706624"/>
            <a:ext cx="233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000"/>
              <a:buFont typeface="Calibri"/>
              <a:buNone/>
            </a:pPr>
            <a:r>
              <a:rPr b="0" i="0" lang="en-US" sz="1000" u="none" cap="none" strike="noStrike">
                <a:solidFill>
                  <a:srgbClr val="D0D6E0"/>
                </a:solidFill>
                <a:latin typeface="Calibri"/>
                <a:ea typeface="Calibri"/>
                <a:cs typeface="Calibri"/>
                <a:sym typeface="Calibri"/>
              </a:rPr>
              <a:t>loan_type</a:t>
            </a:r>
            <a:endParaRPr b="0" i="0" sz="1000" u="none" cap="none" strike="noStrike">
              <a:solidFill>
                <a:schemeClr val="dk1"/>
              </a:solidFill>
              <a:latin typeface="Calibri"/>
              <a:ea typeface="Calibri"/>
              <a:cs typeface="Calibri"/>
              <a:sym typeface="Calibri"/>
            </a:endParaRPr>
          </a:p>
        </p:txBody>
      </p:sp>
      <p:sp>
        <p:nvSpPr>
          <p:cNvPr id="161" name="Google Shape;161;p8"/>
          <p:cNvSpPr/>
          <p:nvPr/>
        </p:nvSpPr>
        <p:spPr>
          <a:xfrm>
            <a:off x="7602451" y="2706625"/>
            <a:ext cx="331800" cy="237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8229600" y="2706624"/>
            <a:ext cx="594300" cy="237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+0.32</a:t>
            </a:r>
            <a:endParaRPr b="0" i="0" sz="1000" u="none" cap="none" strike="noStrike">
              <a:solidFill>
                <a:schemeClr val="dk1"/>
              </a:solidFill>
              <a:latin typeface="Calibri"/>
              <a:ea typeface="Calibri"/>
              <a:cs typeface="Calibri"/>
              <a:sym typeface="Calibri"/>
            </a:endParaRPr>
          </a:p>
        </p:txBody>
      </p:sp>
      <p:sp>
        <p:nvSpPr>
          <p:cNvPr id="163" name="Google Shape;163;p8"/>
          <p:cNvSpPr/>
          <p:nvPr/>
        </p:nvSpPr>
        <p:spPr>
          <a:xfrm>
            <a:off x="5943600" y="3054096"/>
            <a:ext cx="233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000"/>
              <a:buFont typeface="Calibri"/>
              <a:buNone/>
            </a:pPr>
            <a:r>
              <a:rPr b="0" i="0" lang="en-US" sz="1000" u="none" cap="none" strike="noStrike">
                <a:solidFill>
                  <a:srgbClr val="D0D6E0"/>
                </a:solidFill>
                <a:latin typeface="Calibri"/>
                <a:ea typeface="Calibri"/>
                <a:cs typeface="Calibri"/>
                <a:sym typeface="Calibri"/>
              </a:rPr>
              <a:t>relative_income</a:t>
            </a:r>
            <a:endParaRPr b="0" i="0" sz="1000" u="none" cap="none" strike="noStrike">
              <a:solidFill>
                <a:schemeClr val="dk1"/>
              </a:solidFill>
              <a:latin typeface="Calibri"/>
              <a:ea typeface="Calibri"/>
              <a:cs typeface="Calibri"/>
              <a:sym typeface="Calibri"/>
            </a:endParaRPr>
          </a:p>
        </p:txBody>
      </p:sp>
      <p:sp>
        <p:nvSpPr>
          <p:cNvPr id="164" name="Google Shape;164;p8"/>
          <p:cNvSpPr/>
          <p:nvPr/>
        </p:nvSpPr>
        <p:spPr>
          <a:xfrm>
            <a:off x="7602451" y="3054100"/>
            <a:ext cx="197400" cy="237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8229600" y="3054096"/>
            <a:ext cx="594300" cy="237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+0.19</a:t>
            </a:r>
            <a:endParaRPr b="0" i="0" sz="1000" u="none" cap="none" strike="noStrike">
              <a:solidFill>
                <a:schemeClr val="dk1"/>
              </a:solidFill>
              <a:latin typeface="Calibri"/>
              <a:ea typeface="Calibri"/>
              <a:cs typeface="Calibri"/>
              <a:sym typeface="Calibri"/>
            </a:endParaRPr>
          </a:p>
        </p:txBody>
      </p:sp>
      <p:sp>
        <p:nvSpPr>
          <p:cNvPr id="166" name="Google Shape;166;p8"/>
          <p:cNvSpPr/>
          <p:nvPr/>
        </p:nvSpPr>
        <p:spPr>
          <a:xfrm>
            <a:off x="5943600" y="3401568"/>
            <a:ext cx="233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000"/>
              <a:buFont typeface="Calibri"/>
              <a:buNone/>
            </a:pPr>
            <a:r>
              <a:rPr b="0" i="0" lang="en-US" sz="1000" u="none" cap="none" strike="noStrike">
                <a:solidFill>
                  <a:srgbClr val="D0D6E0"/>
                </a:solidFill>
                <a:latin typeface="Calibri"/>
                <a:ea typeface="Calibri"/>
                <a:cs typeface="Calibri"/>
                <a:sym typeface="Calibri"/>
              </a:rPr>
              <a:t>applicant_credit_score</a:t>
            </a:r>
            <a:endParaRPr b="0" i="0" sz="1000" u="none" cap="none" strike="noStrike">
              <a:solidFill>
                <a:schemeClr val="dk1"/>
              </a:solidFill>
              <a:latin typeface="Calibri"/>
              <a:ea typeface="Calibri"/>
              <a:cs typeface="Calibri"/>
              <a:sym typeface="Calibri"/>
            </a:endParaRPr>
          </a:p>
        </p:txBody>
      </p:sp>
      <p:sp>
        <p:nvSpPr>
          <p:cNvPr id="167" name="Google Shape;167;p8"/>
          <p:cNvSpPr/>
          <p:nvPr/>
        </p:nvSpPr>
        <p:spPr>
          <a:xfrm>
            <a:off x="7602451" y="3401575"/>
            <a:ext cx="135000" cy="237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8229600" y="3401568"/>
            <a:ext cx="594300" cy="237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+0.13</a:t>
            </a:r>
            <a:endParaRPr b="0" i="0" sz="1000" u="none" cap="none" strike="noStrike">
              <a:solidFill>
                <a:schemeClr val="dk1"/>
              </a:solidFill>
              <a:latin typeface="Calibri"/>
              <a:ea typeface="Calibri"/>
              <a:cs typeface="Calibri"/>
              <a:sym typeface="Calibri"/>
            </a:endParaRPr>
          </a:p>
        </p:txBody>
      </p:sp>
      <p:sp>
        <p:nvSpPr>
          <p:cNvPr id="169" name="Google Shape;169;p8"/>
          <p:cNvSpPr/>
          <p:nvPr/>
        </p:nvSpPr>
        <p:spPr>
          <a:xfrm>
            <a:off x="5943600" y="3749040"/>
            <a:ext cx="28347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f(x) = 0.417  →  APPROVED</a:t>
            </a:r>
            <a:endParaRPr b="0" i="0" sz="1100" u="none" cap="none" strike="noStrike">
              <a:solidFill>
                <a:schemeClr val="dk1"/>
              </a:solidFill>
              <a:latin typeface="Calibri"/>
              <a:ea typeface="Calibri"/>
              <a:cs typeface="Calibri"/>
              <a:sym typeface="Calibri"/>
            </a:endParaRPr>
          </a:p>
        </p:txBody>
      </p:sp>
      <p:sp>
        <p:nvSpPr>
          <p:cNvPr id="170" name="Google Shape;170;p8"/>
          <p:cNvSpPr/>
          <p:nvPr/>
        </p:nvSpPr>
        <p:spPr>
          <a:xfrm>
            <a:off x="5943600" y="4069080"/>
            <a:ext cx="2834700" cy="530400"/>
          </a:xfrm>
          <a:prstGeom prst="rect">
            <a:avLst/>
          </a:prstGeom>
          <a:solidFill>
            <a:srgbClr val="C49A22">
              <a:alpha val="20000"/>
            </a:srgbClr>
          </a:solidFill>
          <a:ln cap="flat" cmpd="sng" w="12700">
            <a:solidFill>
              <a:srgbClr val="C49A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5989320" y="4096512"/>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9A22"/>
              </a:buClr>
              <a:buSzPts val="1000"/>
              <a:buFont typeface="Calibri"/>
              <a:buNone/>
            </a:pPr>
            <a:r>
              <a:rPr b="1" i="0" lang="en-US" sz="1000" u="none" cap="none" strike="noStrike">
                <a:solidFill>
                  <a:srgbClr val="C49A22"/>
                </a:solidFill>
                <a:latin typeface="Calibri"/>
                <a:ea typeface="Calibri"/>
                <a:cs typeface="Calibri"/>
                <a:sym typeface="Calibri"/>
              </a:rPr>
              <a:t>⚠ </a:t>
            </a:r>
            <a:r>
              <a:rPr b="0" i="0" lang="en-US" sz="1000" u="none" cap="none" strike="noStrike">
                <a:solidFill>
                  <a:srgbClr val="FFFFFF"/>
                </a:solidFill>
                <a:latin typeface="Calibri"/>
                <a:ea typeface="Calibri"/>
                <a:cs typeface="Calibri"/>
                <a:sym typeface="Calibri"/>
              </a:rPr>
              <a:t>loan_purpose (+0.84) overrides extreme DTI risk (−0.72) → net </a:t>
            </a:r>
            <a:r>
              <a:rPr b="1" i="0" lang="en-US" sz="1000" u="none" cap="none" strike="noStrike">
                <a:solidFill>
                  <a:srgbClr val="C49A22"/>
                </a:solidFill>
                <a:latin typeface="Calibri"/>
                <a:ea typeface="Calibri"/>
                <a:cs typeface="Calibri"/>
                <a:sym typeface="Calibri"/>
              </a:rPr>
              <a:t>APPROVED</a:t>
            </a:r>
            <a:endParaRPr b="0" i="0" sz="1000" u="none" cap="none" strike="noStrike">
              <a:solidFill>
                <a:schemeClr val="dk1"/>
              </a:solidFill>
              <a:latin typeface="Calibri"/>
              <a:ea typeface="Calibri"/>
              <a:cs typeface="Calibri"/>
              <a:sym typeface="Calibri"/>
            </a:endParaRPr>
          </a:p>
        </p:txBody>
      </p:sp>
      <p:sp>
        <p:nvSpPr>
          <p:cNvPr id="172" name="Google Shape;172;p8"/>
          <p:cNvSpPr/>
          <p:nvPr/>
        </p:nvSpPr>
        <p:spPr>
          <a:xfrm>
            <a:off x="7726680" y="201168"/>
            <a:ext cx="1234500" cy="3201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7726680" y="201168"/>
            <a:ext cx="12345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SEVERITY: HIGH</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178" name="Shape 178"/>
        <p:cNvGrpSpPr/>
        <p:nvPr/>
      </p:nvGrpSpPr>
      <p:grpSpPr>
        <a:xfrm>
          <a:off x="0" y="0"/>
          <a:ext cx="0" cy="0"/>
          <a:chOff x="0" y="0"/>
          <a:chExt cx="0" cy="0"/>
        </a:xfrm>
      </p:grpSpPr>
      <p:sp>
        <p:nvSpPr>
          <p:cNvPr id="179" name="Google Shape;179;p9"/>
          <p:cNvSpPr/>
          <p:nvPr/>
        </p:nvSpPr>
        <p:spPr>
          <a:xfrm>
            <a:off x="0" y="0"/>
            <a:ext cx="9144000" cy="8229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0" y="822960"/>
            <a:ext cx="9144000" cy="549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320040" y="91440"/>
            <a:ext cx="7132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i="0" lang="en-US" sz="2000" u="none" cap="none" strike="noStrike">
                <a:solidFill>
                  <a:srgbClr val="FFFFFF"/>
                </a:solidFill>
                <a:latin typeface="Georgia"/>
                <a:ea typeface="Georgia"/>
                <a:cs typeface="Georgia"/>
                <a:sym typeface="Georgia"/>
              </a:rPr>
              <a:t>Recourse Failure (Counterfactuals)</a:t>
            </a:r>
            <a:endParaRPr i="0" sz="2000" u="none" cap="none" strike="noStrike">
              <a:solidFill>
                <a:schemeClr val="dk1"/>
              </a:solidFill>
              <a:latin typeface="Georgia"/>
              <a:ea typeface="Georgia"/>
              <a:cs typeface="Georgia"/>
              <a:sym typeface="Georgia"/>
            </a:endParaRPr>
          </a:p>
        </p:txBody>
      </p:sp>
      <p:sp>
        <p:nvSpPr>
          <p:cNvPr id="182" name="Google Shape;182;p9"/>
          <p:cNvSpPr/>
          <p:nvPr/>
        </p:nvSpPr>
        <p:spPr>
          <a:xfrm>
            <a:off x="320040" y="1005840"/>
            <a:ext cx="1280100" cy="2559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320040" y="1005840"/>
            <a:ext cx="12801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DiCE · Counterfactual</a:t>
            </a:r>
            <a:endParaRPr b="0" i="0" sz="1000" u="none" cap="none" strike="noStrike">
              <a:solidFill>
                <a:schemeClr val="dk1"/>
              </a:solidFill>
              <a:latin typeface="Calibri"/>
              <a:ea typeface="Calibri"/>
              <a:cs typeface="Calibri"/>
              <a:sym typeface="Calibri"/>
            </a:endParaRPr>
          </a:p>
        </p:txBody>
      </p:sp>
      <p:sp>
        <p:nvSpPr>
          <p:cNvPr id="184" name="Google Shape;184;p9"/>
          <p:cNvSpPr/>
          <p:nvPr/>
        </p:nvSpPr>
        <p:spPr>
          <a:xfrm>
            <a:off x="320040" y="1417320"/>
            <a:ext cx="109728" cy="86868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429768" y="1417320"/>
            <a:ext cx="4206240" cy="868680"/>
          </a:xfrm>
          <a:prstGeom prst="rect">
            <a:avLst/>
          </a:prstGeom>
          <a:solidFill>
            <a:srgbClr val="FFFFFF"/>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521208" y="1472184"/>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WHAT FAILS</a:t>
            </a:r>
            <a:endParaRPr b="0" i="0" sz="1000" u="none" cap="none" strike="noStrike">
              <a:solidFill>
                <a:schemeClr val="dk1"/>
              </a:solidFill>
              <a:latin typeface="Calibri"/>
              <a:ea typeface="Calibri"/>
              <a:cs typeface="Calibri"/>
              <a:sym typeface="Calibri"/>
            </a:endParaRPr>
          </a:p>
        </p:txBody>
      </p:sp>
      <p:sp>
        <p:nvSpPr>
          <p:cNvPr id="187" name="Google Shape;187;p9"/>
          <p:cNvSpPr/>
          <p:nvPr/>
        </p:nvSpPr>
        <p:spPr>
          <a:xfrm>
            <a:off x="521208" y="1673352"/>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The model generates counterfactual recourse suggestions that are mathematically valid but completely unrealistic for real applicants to act on.</a:t>
            </a:r>
            <a:endParaRPr b="0" i="0" sz="1100" u="none" cap="none" strike="noStrike">
              <a:solidFill>
                <a:schemeClr val="dk1"/>
              </a:solidFill>
              <a:latin typeface="Calibri"/>
              <a:ea typeface="Calibri"/>
              <a:cs typeface="Calibri"/>
              <a:sym typeface="Calibri"/>
            </a:endParaRPr>
          </a:p>
        </p:txBody>
      </p:sp>
      <p:sp>
        <p:nvSpPr>
          <p:cNvPr id="188" name="Google Shape;188;p9"/>
          <p:cNvSpPr/>
          <p:nvPr/>
        </p:nvSpPr>
        <p:spPr>
          <a:xfrm>
            <a:off x="329153" y="2365968"/>
            <a:ext cx="109800" cy="8688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438881" y="2365968"/>
            <a:ext cx="4206300" cy="868800"/>
          </a:xfrm>
          <a:prstGeom prst="rect">
            <a:avLst/>
          </a:prstGeom>
          <a:solidFill>
            <a:srgbClr val="FFFFFF"/>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530321" y="2420832"/>
            <a:ext cx="3931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WHY IT FAILS</a:t>
            </a:r>
            <a:endParaRPr b="0" i="0" sz="1000" u="none" cap="none" strike="noStrike">
              <a:solidFill>
                <a:schemeClr val="dk1"/>
              </a:solidFill>
              <a:latin typeface="Calibri"/>
              <a:ea typeface="Calibri"/>
              <a:cs typeface="Calibri"/>
              <a:sym typeface="Calibri"/>
            </a:endParaRPr>
          </a:p>
        </p:txBody>
      </p:sp>
      <p:sp>
        <p:nvSpPr>
          <p:cNvPr id="191" name="Google Shape;191;p9"/>
          <p:cNvSpPr/>
          <p:nvPr/>
        </p:nvSpPr>
        <p:spPr>
          <a:xfrm>
            <a:off x="530321" y="2622000"/>
            <a:ext cx="39318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No real-world constraints enforced. Assumes all features are independent and freely adjustable — ignores causal structure and human limits.</a:t>
            </a:r>
            <a:endParaRPr b="0" i="0" sz="1100" u="none" cap="none" strike="noStrike">
              <a:solidFill>
                <a:schemeClr val="dk1"/>
              </a:solidFill>
              <a:latin typeface="Calibri"/>
              <a:ea typeface="Calibri"/>
              <a:cs typeface="Calibri"/>
              <a:sym typeface="Calibri"/>
            </a:endParaRPr>
          </a:p>
        </p:txBody>
      </p:sp>
      <p:sp>
        <p:nvSpPr>
          <p:cNvPr id="192" name="Google Shape;192;p9"/>
          <p:cNvSpPr/>
          <p:nvPr/>
        </p:nvSpPr>
        <p:spPr>
          <a:xfrm>
            <a:off x="329153" y="3287104"/>
            <a:ext cx="109800" cy="8688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438881" y="3287104"/>
            <a:ext cx="4206300" cy="868800"/>
          </a:xfrm>
          <a:prstGeom prst="rect">
            <a:avLst/>
          </a:prstGeom>
          <a:solidFill>
            <a:srgbClr val="FFFFFF"/>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530321" y="3341968"/>
            <a:ext cx="39318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7010"/>
              </a:buClr>
              <a:buSzPts val="1000"/>
              <a:buFont typeface="Calibri"/>
              <a:buNone/>
            </a:pPr>
            <a:r>
              <a:rPr b="1" i="0" lang="en-US" sz="1000" u="none" cap="none" strike="noStrike">
                <a:solidFill>
                  <a:srgbClr val="A07010"/>
                </a:solidFill>
                <a:latin typeface="Calibri"/>
                <a:ea typeface="Calibri"/>
                <a:cs typeface="Calibri"/>
                <a:sym typeface="Calibri"/>
              </a:rPr>
              <a:t>WHO IS HARMED</a:t>
            </a:r>
            <a:endParaRPr b="0" i="0" sz="1000" u="none" cap="none" strike="noStrike">
              <a:solidFill>
                <a:schemeClr val="dk1"/>
              </a:solidFill>
              <a:latin typeface="Calibri"/>
              <a:ea typeface="Calibri"/>
              <a:cs typeface="Calibri"/>
              <a:sym typeface="Calibri"/>
            </a:endParaRPr>
          </a:p>
        </p:txBody>
      </p:sp>
      <p:sp>
        <p:nvSpPr>
          <p:cNvPr id="195" name="Google Shape;195;p9"/>
          <p:cNvSpPr/>
          <p:nvPr/>
        </p:nvSpPr>
        <p:spPr>
          <a:xfrm>
            <a:off x="530321" y="3543136"/>
            <a:ext cx="39318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Rejected applicants — especially disadvantaged groups — receive guidance they cannot follow, denying them meaningful recourse.</a:t>
            </a:r>
            <a:endParaRPr b="0" i="0" sz="1100" u="none" cap="none" strike="noStrike">
              <a:solidFill>
                <a:schemeClr val="dk1"/>
              </a:solidFill>
              <a:latin typeface="Calibri"/>
              <a:ea typeface="Calibri"/>
              <a:cs typeface="Calibri"/>
              <a:sym typeface="Calibri"/>
            </a:endParaRPr>
          </a:p>
        </p:txBody>
      </p:sp>
      <p:sp>
        <p:nvSpPr>
          <p:cNvPr id="196" name="Google Shape;196;p9"/>
          <p:cNvSpPr/>
          <p:nvPr/>
        </p:nvSpPr>
        <p:spPr>
          <a:xfrm>
            <a:off x="4846320" y="1417320"/>
            <a:ext cx="3977640" cy="3200400"/>
          </a:xfrm>
          <a:prstGeom prst="rect">
            <a:avLst/>
          </a:prstGeom>
          <a:solidFill>
            <a:srgbClr val="FFFFFF"/>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4846320" y="1417320"/>
            <a:ext cx="3977640" cy="329184"/>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4937760" y="1435608"/>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DiCE Counterfactual Output · Example Case</a:t>
            </a:r>
            <a:endParaRPr b="0" i="0" sz="1150" u="none" cap="none" strike="noStrike">
              <a:solidFill>
                <a:schemeClr val="dk1"/>
              </a:solidFill>
              <a:latin typeface="Calibri"/>
              <a:ea typeface="Calibri"/>
              <a:cs typeface="Calibri"/>
              <a:sym typeface="Calibri"/>
            </a:endParaRPr>
          </a:p>
        </p:txBody>
      </p:sp>
      <p:graphicFrame>
        <p:nvGraphicFramePr>
          <p:cNvPr id="199" name="Google Shape;199;p9"/>
          <p:cNvGraphicFramePr/>
          <p:nvPr/>
        </p:nvGraphicFramePr>
        <p:xfrm>
          <a:off x="4892040" y="1828800"/>
          <a:ext cx="3000000" cy="3000000"/>
        </p:xfrm>
        <a:graphic>
          <a:graphicData uri="http://schemas.openxmlformats.org/drawingml/2006/table">
            <a:tbl>
              <a:tblPr>
                <a:noFill/>
                <a:tableStyleId>{7AE50B99-0EE5-4D77-ACAF-0EF031F8B03B}</a:tableStyleId>
              </a:tblPr>
              <a:tblGrid>
                <a:gridCol w="1371600"/>
                <a:gridCol w="777250"/>
                <a:gridCol w="914400"/>
                <a:gridCol w="777250"/>
              </a:tblGrid>
              <a:tr h="347475">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Feature</a:t>
                      </a:r>
                      <a:endParaRPr sz="105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344870"/>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Original</a:t>
                      </a:r>
                      <a:endParaRPr sz="105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344870"/>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Suggested</a:t>
                      </a:r>
                      <a:endParaRPr sz="105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344870"/>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Feasible?</a:t>
                      </a:r>
                      <a:endParaRPr sz="105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344870"/>
                    </a:solidFill>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credit_score</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620</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c>
                  <a:txBody>
                    <a:bodyPr/>
                    <a:lstStyle/>
                    <a:p>
                      <a:pPr indent="0" lvl="0" marL="0" marR="0" rtl="0" algn="l">
                        <a:spcBef>
                          <a:spcPts val="0"/>
                        </a:spcBef>
                        <a:spcAft>
                          <a:spcPts val="0"/>
                        </a:spcAft>
                        <a:buClr>
                          <a:srgbClr val="C0392B"/>
                        </a:buClr>
                        <a:buSzPts val="1000"/>
                        <a:buFont typeface="Calibri"/>
                        <a:buNone/>
                      </a:pPr>
                      <a:r>
                        <a:rPr b="1" lang="en-US" sz="1000" u="none" cap="none" strike="noStrike">
                          <a:solidFill>
                            <a:srgbClr val="C0392B"/>
                          </a:solidFill>
                          <a:latin typeface="Calibri"/>
                          <a:ea typeface="Calibri"/>
                          <a:cs typeface="Calibri"/>
                          <a:sym typeface="Calibri"/>
                        </a:rPr>
                        <a:t>1,028</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c>
                  <a:txBody>
                    <a:bodyPr/>
                    <a:lstStyle/>
                    <a:p>
                      <a:pPr indent="0" lvl="0" marL="0" marR="0" rtl="0" algn="l">
                        <a:spcBef>
                          <a:spcPts val="0"/>
                        </a:spcBef>
                        <a:spcAft>
                          <a:spcPts val="0"/>
                        </a:spcAft>
                        <a:buClr>
                          <a:srgbClr val="C0392B"/>
                        </a:buClr>
                        <a:buSzPts val="1000"/>
                        <a:buFont typeface="Calibri"/>
                        <a:buNone/>
                      </a:pPr>
                      <a:r>
                        <a:rPr b="1" lang="en-US" sz="1000" u="none" cap="none" strike="noStrike">
                          <a:solidFill>
                            <a:srgbClr val="C0392B"/>
                          </a:solidFill>
                          <a:latin typeface="Calibri"/>
                          <a:ea typeface="Calibri"/>
                          <a:cs typeface="Calibri"/>
                          <a:sym typeface="Calibri"/>
                        </a:rPr>
                        <a:t>✗  No</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relative_income</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0.24</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c>
                  <a:txBody>
                    <a:bodyPr/>
                    <a:lstStyle/>
                    <a:p>
                      <a:pPr indent="0" lvl="0" marL="0" marR="0" rtl="0" algn="l">
                        <a:spcBef>
                          <a:spcPts val="0"/>
                        </a:spcBef>
                        <a:spcAft>
                          <a:spcPts val="0"/>
                        </a:spcAft>
                        <a:buClr>
                          <a:srgbClr val="C0392B"/>
                        </a:buClr>
                        <a:buSzPts val="1000"/>
                        <a:buFont typeface="Calibri"/>
                        <a:buNone/>
                      </a:pPr>
                      <a:r>
                        <a:rPr b="1" lang="en-US" sz="1000" u="none" cap="none" strike="noStrike">
                          <a:solidFill>
                            <a:srgbClr val="C0392B"/>
                          </a:solidFill>
                          <a:latin typeface="Calibri"/>
                          <a:ea typeface="Calibri"/>
                          <a:cs typeface="Calibri"/>
                          <a:sym typeface="Calibri"/>
                        </a:rPr>
                        <a:t>14.3</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c>
                  <a:txBody>
                    <a:bodyPr/>
                    <a:lstStyle/>
                    <a:p>
                      <a:pPr indent="0" lvl="0" marL="0" marR="0" rtl="0" algn="l">
                        <a:spcBef>
                          <a:spcPts val="0"/>
                        </a:spcBef>
                        <a:spcAft>
                          <a:spcPts val="0"/>
                        </a:spcAft>
                        <a:buClr>
                          <a:srgbClr val="C0392B"/>
                        </a:buClr>
                        <a:buSzPts val="1000"/>
                        <a:buFont typeface="Calibri"/>
                        <a:buNone/>
                      </a:pPr>
                      <a:r>
                        <a:rPr b="1" lang="en-US" sz="1000" u="none" cap="none" strike="noStrike">
                          <a:solidFill>
                            <a:srgbClr val="C0392B"/>
                          </a:solidFill>
                          <a:latin typeface="Calibri"/>
                          <a:ea typeface="Calibri"/>
                          <a:cs typeface="Calibri"/>
                          <a:sym typeface="Calibri"/>
                        </a:rPr>
                        <a:t>✗  No</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r>
              <a:tr h="347475">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loan_purpose</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refinance</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c>
                  <a:txBody>
                    <a:bodyPr/>
                    <a:lstStyle/>
                    <a:p>
                      <a:pPr indent="0" lvl="0" marL="0" marR="0" rtl="0" algn="l">
                        <a:spcBef>
                          <a:spcPts val="0"/>
                        </a:spcBef>
                        <a:spcAft>
                          <a:spcPts val="0"/>
                        </a:spcAft>
                        <a:buClr>
                          <a:srgbClr val="D35400"/>
                        </a:buClr>
                        <a:buSzPts val="1000"/>
                        <a:buFont typeface="Calibri"/>
                        <a:buNone/>
                      </a:pPr>
                      <a:r>
                        <a:rPr b="1" lang="en-US" sz="1000" u="none" cap="none" strike="noStrike">
                          <a:solidFill>
                            <a:srgbClr val="D35400"/>
                          </a:solidFill>
                          <a:latin typeface="Calibri"/>
                          <a:ea typeface="Calibri"/>
                          <a:cs typeface="Calibri"/>
                          <a:sym typeface="Calibri"/>
                        </a:rPr>
                        <a:t>home_improv.</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c>
                  <a:txBody>
                    <a:bodyPr/>
                    <a:lstStyle/>
                    <a:p>
                      <a:pPr indent="0" lvl="0" marL="0" marR="0" rtl="0" algn="l">
                        <a:spcBef>
                          <a:spcPts val="0"/>
                        </a:spcBef>
                        <a:spcAft>
                          <a:spcPts val="0"/>
                        </a:spcAft>
                        <a:buClr>
                          <a:srgbClr val="D35400"/>
                        </a:buClr>
                        <a:buSzPts val="1000"/>
                        <a:buFont typeface="Calibri"/>
                        <a:buNone/>
                      </a:pPr>
                      <a:r>
                        <a:rPr lang="en-US" sz="1000" u="none" cap="none" strike="noStrike">
                          <a:solidFill>
                            <a:srgbClr val="D35400"/>
                          </a:solidFill>
                          <a:latin typeface="Calibri"/>
                          <a:ea typeface="Calibri"/>
                          <a:cs typeface="Calibri"/>
                          <a:sym typeface="Calibri"/>
                        </a:rPr>
                        <a:t>~  Maybe</a:t>
                      </a:r>
                      <a:endParaRPr sz="1000" u="none" cap="none" strike="noStrike">
                        <a:latin typeface="Calibri"/>
                        <a:ea typeface="Calibri"/>
                        <a:cs typeface="Calibri"/>
                        <a:sym typeface="Calibri"/>
                      </a:endParaRPr>
                    </a:p>
                  </a:txBody>
                  <a:tcPr marT="45725" marB="45725" marR="91450" marL="91450">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tcPr>
                </a:tc>
              </a:tr>
            </a:tbl>
          </a:graphicData>
        </a:graphic>
      </p:graphicFrame>
      <p:sp>
        <p:nvSpPr>
          <p:cNvPr id="200" name="Google Shape;200;p9"/>
          <p:cNvSpPr/>
          <p:nvPr/>
        </p:nvSpPr>
        <p:spPr>
          <a:xfrm>
            <a:off x="4892040" y="3703320"/>
            <a:ext cx="3840480" cy="658368"/>
          </a:xfrm>
          <a:prstGeom prst="rect">
            <a:avLst/>
          </a:prstGeom>
          <a:solidFill>
            <a:srgbClr val="FEF3CD"/>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4983480" y="3730752"/>
            <a:ext cx="3657600" cy="60350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4F00"/>
              </a:buClr>
              <a:buSzPts val="1000"/>
              <a:buFont typeface="Calibri"/>
              <a:buNone/>
            </a:pPr>
            <a:r>
              <a:rPr b="1" i="0" lang="en-US" sz="1000" u="none" cap="none" strike="noStrike">
                <a:solidFill>
                  <a:srgbClr val="7A4F00"/>
                </a:solidFill>
                <a:latin typeface="Calibri"/>
                <a:ea typeface="Calibri"/>
                <a:cs typeface="Calibri"/>
                <a:sym typeface="Calibri"/>
              </a:rPr>
              <a:t>Key Insight: </a:t>
            </a:r>
            <a:r>
              <a:rPr b="0" i="0" lang="en-US" sz="1000" u="none" cap="none" strike="noStrike">
                <a:solidFill>
                  <a:srgbClr val="7A4F00"/>
                </a:solidFill>
                <a:latin typeface="Calibri"/>
                <a:ea typeface="Calibri"/>
                <a:cs typeface="Calibri"/>
                <a:sym typeface="Calibri"/>
              </a:rPr>
              <a:t>DiCE found no feasible counterfactuals. Every valid flip required changes beyond human reach — exposing that the model provides no real recourse to rejected applicants.</a:t>
            </a:r>
            <a:endParaRPr b="0" i="0" sz="1000" u="none" cap="none" strike="noStrike">
              <a:solidFill>
                <a:schemeClr val="dk1"/>
              </a:solidFill>
              <a:latin typeface="Calibri"/>
              <a:ea typeface="Calibri"/>
              <a:cs typeface="Calibri"/>
              <a:sym typeface="Calibri"/>
            </a:endParaRPr>
          </a:p>
        </p:txBody>
      </p:sp>
      <p:sp>
        <p:nvSpPr>
          <p:cNvPr id="202" name="Google Shape;202;p9"/>
          <p:cNvSpPr/>
          <p:nvPr/>
        </p:nvSpPr>
        <p:spPr>
          <a:xfrm>
            <a:off x="7726680" y="201168"/>
            <a:ext cx="1234500" cy="3201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7726680" y="201168"/>
            <a:ext cx="12345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SEVERITY: HIGH</a:t>
            </a:r>
            <a:endParaRPr b="0" i="0" sz="900" u="none" cap="none" strike="noStrike">
              <a:solidFill>
                <a:schemeClr val="dk1"/>
              </a:solidFill>
              <a:latin typeface="Calibri"/>
              <a:ea typeface="Calibri"/>
              <a:cs typeface="Calibri"/>
              <a:sym typeface="Calibri"/>
            </a:endParaRPr>
          </a:p>
        </p:txBody>
      </p:sp>
      <p:sp>
        <p:nvSpPr>
          <p:cNvPr id="204" name="Google Shape;204;p9"/>
          <p:cNvSpPr/>
          <p:nvPr/>
        </p:nvSpPr>
        <p:spPr>
          <a:xfrm>
            <a:off x="6446350" y="196532"/>
            <a:ext cx="1005900" cy="3201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6446350" y="196526"/>
            <a:ext cx="1005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MODE 0</a:t>
            </a:r>
            <a:r>
              <a:rPr b="1" lang="en-US" sz="1000">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210" name="Shape 210"/>
        <p:cNvGrpSpPr/>
        <p:nvPr/>
      </p:nvGrpSpPr>
      <p:grpSpPr>
        <a:xfrm>
          <a:off x="0" y="0"/>
          <a:ext cx="0" cy="0"/>
          <a:chOff x="0" y="0"/>
          <a:chExt cx="0" cy="0"/>
        </a:xfrm>
      </p:grpSpPr>
      <p:sp>
        <p:nvSpPr>
          <p:cNvPr id="211" name="Google Shape;211;p10"/>
          <p:cNvSpPr/>
          <p:nvPr/>
        </p:nvSpPr>
        <p:spPr>
          <a:xfrm>
            <a:off x="0" y="0"/>
            <a:ext cx="9144000" cy="8229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0"/>
          <p:cNvSpPr/>
          <p:nvPr/>
        </p:nvSpPr>
        <p:spPr>
          <a:xfrm>
            <a:off x="0" y="822960"/>
            <a:ext cx="9144000" cy="54864"/>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320047" y="91450"/>
            <a:ext cx="51471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i="0" lang="en-US" sz="2100" u="none" cap="none" strike="noStrike">
                <a:solidFill>
                  <a:srgbClr val="FFFFFF"/>
                </a:solidFill>
                <a:latin typeface="Georgia"/>
                <a:ea typeface="Georgia"/>
                <a:cs typeface="Georgia"/>
                <a:sym typeface="Georgia"/>
              </a:rPr>
              <a:t>Feature Drift (relative_income)</a:t>
            </a:r>
            <a:endParaRPr i="0" sz="2100" u="none" cap="none" strike="noStrike">
              <a:solidFill>
                <a:schemeClr val="dk1"/>
              </a:solidFill>
              <a:latin typeface="Georgia"/>
              <a:ea typeface="Georgia"/>
              <a:cs typeface="Georgia"/>
              <a:sym typeface="Georgia"/>
            </a:endParaRPr>
          </a:p>
        </p:txBody>
      </p:sp>
      <p:sp>
        <p:nvSpPr>
          <p:cNvPr id="214" name="Google Shape;214;p10"/>
          <p:cNvSpPr/>
          <p:nvPr/>
        </p:nvSpPr>
        <p:spPr>
          <a:xfrm>
            <a:off x="320040" y="1005840"/>
            <a:ext cx="2011680" cy="256032"/>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a:off x="320040" y="1005840"/>
            <a:ext cx="20116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PSI  +  KS Test  +  Stress Testing</a:t>
            </a:r>
            <a:endParaRPr b="0" i="0" sz="1000" u="none" cap="none" strike="noStrike">
              <a:solidFill>
                <a:schemeClr val="dk1"/>
              </a:solidFill>
              <a:latin typeface="Calibri"/>
              <a:ea typeface="Calibri"/>
              <a:cs typeface="Calibri"/>
              <a:sym typeface="Calibri"/>
            </a:endParaRPr>
          </a:p>
        </p:txBody>
      </p:sp>
      <p:sp>
        <p:nvSpPr>
          <p:cNvPr id="216" name="Google Shape;216;p10"/>
          <p:cNvSpPr/>
          <p:nvPr/>
        </p:nvSpPr>
        <p:spPr>
          <a:xfrm>
            <a:off x="320040" y="1417320"/>
            <a:ext cx="109728" cy="86868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429768" y="1417320"/>
            <a:ext cx="4206240" cy="868680"/>
          </a:xfrm>
          <a:prstGeom prst="rect">
            <a:avLst/>
          </a:prstGeom>
          <a:solidFill>
            <a:srgbClr val="FFFFFF"/>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
          <p:cNvSpPr/>
          <p:nvPr/>
        </p:nvSpPr>
        <p:spPr>
          <a:xfrm>
            <a:off x="521208" y="1472184"/>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00"/>
              <a:buFont typeface="Calibri"/>
              <a:buNone/>
            </a:pPr>
            <a:r>
              <a:rPr b="1" i="0" lang="en-US" sz="1000" u="none" cap="none" strike="noStrike">
                <a:solidFill>
                  <a:srgbClr val="C0392B"/>
                </a:solidFill>
                <a:latin typeface="Calibri"/>
                <a:ea typeface="Calibri"/>
                <a:cs typeface="Calibri"/>
                <a:sym typeface="Calibri"/>
              </a:rPr>
              <a:t>WHAT FAILS</a:t>
            </a:r>
            <a:endParaRPr b="0" i="0" sz="1000" u="none" cap="none" strike="noStrike">
              <a:solidFill>
                <a:schemeClr val="dk1"/>
              </a:solidFill>
              <a:latin typeface="Calibri"/>
              <a:ea typeface="Calibri"/>
              <a:cs typeface="Calibri"/>
              <a:sym typeface="Calibri"/>
            </a:endParaRPr>
          </a:p>
        </p:txBody>
      </p:sp>
      <p:sp>
        <p:nvSpPr>
          <p:cNvPr id="219" name="Google Shape;219;p10"/>
          <p:cNvSpPr/>
          <p:nvPr/>
        </p:nvSpPr>
        <p:spPr>
          <a:xfrm>
            <a:off x="521208" y="1673352"/>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The model assumes input distributions stay stable, but economic shocks can shift key features post-2024. Subgroup drift may not appear in global metrics.</a:t>
            </a:r>
            <a:endParaRPr b="0" i="0" sz="1100" u="none" cap="none" strike="noStrike">
              <a:solidFill>
                <a:schemeClr val="dk1"/>
              </a:solidFill>
              <a:latin typeface="Calibri"/>
              <a:ea typeface="Calibri"/>
              <a:cs typeface="Calibri"/>
              <a:sym typeface="Calibri"/>
            </a:endParaRPr>
          </a:p>
        </p:txBody>
      </p:sp>
      <p:sp>
        <p:nvSpPr>
          <p:cNvPr id="220" name="Google Shape;220;p10"/>
          <p:cNvSpPr/>
          <p:nvPr/>
        </p:nvSpPr>
        <p:spPr>
          <a:xfrm>
            <a:off x="320040" y="2487168"/>
            <a:ext cx="109728" cy="86868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429768" y="2487168"/>
            <a:ext cx="4206240" cy="868680"/>
          </a:xfrm>
          <a:prstGeom prst="rect">
            <a:avLst/>
          </a:prstGeom>
          <a:solidFill>
            <a:srgbClr val="FFFFFF"/>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521208" y="2542032"/>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00"/>
              <a:buFont typeface="Calibri"/>
              <a:buNone/>
            </a:pPr>
            <a:r>
              <a:rPr b="1" i="0" lang="en-US" sz="1000" u="none" cap="none" strike="noStrike">
                <a:solidFill>
                  <a:srgbClr val="1B2A4A"/>
                </a:solidFill>
                <a:latin typeface="Calibri"/>
                <a:ea typeface="Calibri"/>
                <a:cs typeface="Calibri"/>
                <a:sym typeface="Calibri"/>
              </a:rPr>
              <a:t>WHY IT FAILS</a:t>
            </a:r>
            <a:endParaRPr b="0" i="0" sz="1000" u="none" cap="none" strike="noStrike">
              <a:solidFill>
                <a:schemeClr val="dk1"/>
              </a:solidFill>
              <a:latin typeface="Calibri"/>
              <a:ea typeface="Calibri"/>
              <a:cs typeface="Calibri"/>
              <a:sym typeface="Calibri"/>
            </a:endParaRPr>
          </a:p>
        </p:txBody>
      </p:sp>
      <p:sp>
        <p:nvSpPr>
          <p:cNvPr id="223" name="Google Shape;223;p10"/>
          <p:cNvSpPr/>
          <p:nvPr/>
        </p:nvSpPr>
        <p:spPr>
          <a:xfrm>
            <a:off x="521208" y="2743200"/>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 Global PSI ≈ 0.00 → masks subgroup-level drift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 KS test p = 0.139 → no global difference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 But 15% income shock → accuracy drops ~1.3%</a:t>
            </a:r>
            <a:endParaRPr b="0" i="0" sz="1100" u="none" cap="none" strike="noStrike">
              <a:solidFill>
                <a:schemeClr val="dk1"/>
              </a:solidFill>
              <a:latin typeface="Calibri"/>
              <a:ea typeface="Calibri"/>
              <a:cs typeface="Calibri"/>
              <a:sym typeface="Calibri"/>
            </a:endParaRPr>
          </a:p>
        </p:txBody>
      </p:sp>
      <p:sp>
        <p:nvSpPr>
          <p:cNvPr id="224" name="Google Shape;224;p10"/>
          <p:cNvSpPr/>
          <p:nvPr/>
        </p:nvSpPr>
        <p:spPr>
          <a:xfrm>
            <a:off x="320040" y="3557016"/>
            <a:ext cx="109728" cy="86868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p:nvPr/>
        </p:nvSpPr>
        <p:spPr>
          <a:xfrm>
            <a:off x="429768" y="3557016"/>
            <a:ext cx="4206240" cy="868680"/>
          </a:xfrm>
          <a:prstGeom prst="rect">
            <a:avLst/>
          </a:prstGeom>
          <a:solidFill>
            <a:srgbClr val="FFFFFF"/>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p:nvPr/>
        </p:nvSpPr>
        <p:spPr>
          <a:xfrm>
            <a:off x="521208" y="3611880"/>
            <a:ext cx="3931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7010"/>
              </a:buClr>
              <a:buSzPts val="1000"/>
              <a:buFont typeface="Calibri"/>
              <a:buNone/>
            </a:pPr>
            <a:r>
              <a:rPr b="1" i="0" lang="en-US" sz="1000" u="none" cap="none" strike="noStrike">
                <a:solidFill>
                  <a:srgbClr val="A07010"/>
                </a:solidFill>
                <a:latin typeface="Calibri"/>
                <a:ea typeface="Calibri"/>
                <a:cs typeface="Calibri"/>
                <a:sym typeface="Calibri"/>
              </a:rPr>
              <a:t>WHO IS HARMED</a:t>
            </a:r>
            <a:endParaRPr b="0" i="0" sz="1000" u="none" cap="none" strike="noStrike">
              <a:solidFill>
                <a:schemeClr val="dk1"/>
              </a:solidFill>
              <a:latin typeface="Calibri"/>
              <a:ea typeface="Calibri"/>
              <a:cs typeface="Calibri"/>
              <a:sym typeface="Calibri"/>
            </a:endParaRPr>
          </a:p>
        </p:txBody>
      </p:sp>
      <p:sp>
        <p:nvSpPr>
          <p:cNvPr id="227" name="Google Shape;227;p10"/>
          <p:cNvSpPr/>
          <p:nvPr/>
        </p:nvSpPr>
        <p:spPr>
          <a:xfrm>
            <a:off x="521208" y="3813048"/>
            <a:ext cx="3931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2E"/>
              </a:buClr>
              <a:buSzPts val="1100"/>
              <a:buFont typeface="Calibri"/>
              <a:buNone/>
            </a:pPr>
            <a:r>
              <a:rPr b="0" i="0" lang="en-US" sz="1100" u="none" cap="none" strike="noStrike">
                <a:solidFill>
                  <a:srgbClr val="1A1A2E"/>
                </a:solidFill>
                <a:latin typeface="Calibri"/>
                <a:ea typeface="Calibri"/>
                <a:cs typeface="Calibri"/>
                <a:sym typeface="Calibri"/>
              </a:rPr>
              <a:t>Borderline applicants near the decision threshold and minority groups — more sensitive to income distribution shifts — face disproportionate impact.</a:t>
            </a:r>
            <a:endParaRPr b="0" i="0" sz="1100" u="none" cap="none" strike="noStrike">
              <a:solidFill>
                <a:schemeClr val="dk1"/>
              </a:solidFill>
              <a:latin typeface="Calibri"/>
              <a:ea typeface="Calibri"/>
              <a:cs typeface="Calibri"/>
              <a:sym typeface="Calibri"/>
            </a:endParaRPr>
          </a:p>
        </p:txBody>
      </p:sp>
      <p:sp>
        <p:nvSpPr>
          <p:cNvPr id="228" name="Google Shape;228;p10"/>
          <p:cNvSpPr/>
          <p:nvPr/>
        </p:nvSpPr>
        <p:spPr>
          <a:xfrm>
            <a:off x="4846320" y="1417320"/>
            <a:ext cx="3977640" cy="3200400"/>
          </a:xfrm>
          <a:prstGeom prst="rect">
            <a:avLst/>
          </a:prstGeom>
          <a:solidFill>
            <a:srgbClr val="FFFFFF"/>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4846320" y="1417320"/>
            <a:ext cx="3977640" cy="329184"/>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4937760" y="1435608"/>
            <a:ext cx="3794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Drift Testing Results</a:t>
            </a:r>
            <a:endParaRPr b="0" i="0" sz="1200" u="none" cap="none" strike="noStrike">
              <a:solidFill>
                <a:schemeClr val="dk1"/>
              </a:solidFill>
              <a:latin typeface="Calibri"/>
              <a:ea typeface="Calibri"/>
              <a:cs typeface="Calibri"/>
              <a:sym typeface="Calibri"/>
            </a:endParaRPr>
          </a:p>
        </p:txBody>
      </p:sp>
      <p:sp>
        <p:nvSpPr>
          <p:cNvPr id="231" name="Google Shape;231;p10"/>
          <p:cNvSpPr/>
          <p:nvPr/>
        </p:nvSpPr>
        <p:spPr>
          <a:xfrm>
            <a:off x="4937760" y="1920240"/>
            <a:ext cx="1783080" cy="841248"/>
          </a:xfrm>
          <a:prstGeom prst="rect">
            <a:avLst/>
          </a:prstGeom>
          <a:solidFill>
            <a:srgbClr val="F8FAFE"/>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
          <p:cNvSpPr/>
          <p:nvPr/>
        </p:nvSpPr>
        <p:spPr>
          <a:xfrm>
            <a:off x="4937760" y="1920240"/>
            <a:ext cx="1783080" cy="64008"/>
          </a:xfrm>
          <a:prstGeom prst="rect">
            <a:avLst/>
          </a:prstGeom>
          <a:solidFill>
            <a:srgbClr val="2ECC71"/>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5010912" y="2011680"/>
            <a:ext cx="1645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B0"/>
              </a:buClr>
              <a:buSzPts val="950"/>
              <a:buFont typeface="Calibri"/>
              <a:buNone/>
            </a:pPr>
            <a:r>
              <a:rPr b="0" i="0" lang="en-US" sz="950" u="none" cap="none" strike="noStrike">
                <a:solidFill>
                  <a:srgbClr val="8A9BB0"/>
                </a:solidFill>
                <a:latin typeface="Calibri"/>
                <a:ea typeface="Calibri"/>
                <a:cs typeface="Calibri"/>
                <a:sym typeface="Calibri"/>
              </a:rPr>
              <a:t>PSI (global)</a:t>
            </a:r>
            <a:endParaRPr b="0" i="0" sz="950" u="none" cap="none" strike="noStrike">
              <a:solidFill>
                <a:schemeClr val="dk1"/>
              </a:solidFill>
              <a:latin typeface="Calibri"/>
              <a:ea typeface="Calibri"/>
              <a:cs typeface="Calibri"/>
              <a:sym typeface="Calibri"/>
            </a:endParaRPr>
          </a:p>
        </p:txBody>
      </p:sp>
      <p:sp>
        <p:nvSpPr>
          <p:cNvPr id="234" name="Google Shape;234;p10"/>
          <p:cNvSpPr/>
          <p:nvPr/>
        </p:nvSpPr>
        <p:spPr>
          <a:xfrm>
            <a:off x="5010912" y="221284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600"/>
              <a:buFont typeface="Calibri"/>
              <a:buNone/>
            </a:pPr>
            <a:r>
              <a:rPr b="1" i="0" lang="en-US" sz="1600" u="none" cap="none" strike="noStrike">
                <a:solidFill>
                  <a:srgbClr val="1A5276"/>
                </a:solidFill>
                <a:latin typeface="Calibri"/>
                <a:ea typeface="Calibri"/>
                <a:cs typeface="Calibri"/>
                <a:sym typeface="Calibri"/>
              </a:rPr>
              <a:t>≈ 0.0000</a:t>
            </a:r>
            <a:endParaRPr b="0" i="0" sz="1600" u="none" cap="none" strike="noStrike">
              <a:solidFill>
                <a:schemeClr val="dk1"/>
              </a:solidFill>
              <a:latin typeface="Calibri"/>
              <a:ea typeface="Calibri"/>
              <a:cs typeface="Calibri"/>
              <a:sym typeface="Calibri"/>
            </a:endParaRPr>
          </a:p>
        </p:txBody>
      </p:sp>
      <p:sp>
        <p:nvSpPr>
          <p:cNvPr id="235" name="Google Shape;235;p10"/>
          <p:cNvSpPr/>
          <p:nvPr/>
        </p:nvSpPr>
        <p:spPr>
          <a:xfrm>
            <a:off x="5010912" y="2487168"/>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B0"/>
              </a:buClr>
              <a:buSzPts val="900"/>
              <a:buFont typeface="Calibri"/>
              <a:buNone/>
            </a:pPr>
            <a:r>
              <a:rPr b="0" i="1" lang="en-US" sz="900" u="none" cap="none" strike="noStrike">
                <a:solidFill>
                  <a:srgbClr val="8A9BB0"/>
                </a:solidFill>
                <a:latin typeface="Calibri"/>
                <a:ea typeface="Calibri"/>
                <a:cs typeface="Calibri"/>
                <a:sym typeface="Calibri"/>
              </a:rPr>
              <a:t>No global drift</a:t>
            </a:r>
            <a:endParaRPr b="0" i="0" sz="900" u="none" cap="none" strike="noStrike">
              <a:solidFill>
                <a:schemeClr val="dk1"/>
              </a:solidFill>
              <a:latin typeface="Calibri"/>
              <a:ea typeface="Calibri"/>
              <a:cs typeface="Calibri"/>
              <a:sym typeface="Calibri"/>
            </a:endParaRPr>
          </a:p>
        </p:txBody>
      </p:sp>
      <p:sp>
        <p:nvSpPr>
          <p:cNvPr id="236" name="Google Shape;236;p10"/>
          <p:cNvSpPr/>
          <p:nvPr/>
        </p:nvSpPr>
        <p:spPr>
          <a:xfrm>
            <a:off x="6858000" y="1920240"/>
            <a:ext cx="1783080" cy="841248"/>
          </a:xfrm>
          <a:prstGeom prst="rect">
            <a:avLst/>
          </a:prstGeom>
          <a:solidFill>
            <a:srgbClr val="F8FAFE"/>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6858000" y="1920240"/>
            <a:ext cx="1783080" cy="64008"/>
          </a:xfrm>
          <a:prstGeom prst="rect">
            <a:avLst/>
          </a:prstGeom>
          <a:solidFill>
            <a:srgbClr val="2ECC71"/>
          </a:solidFill>
          <a:ln cap="flat" cmpd="sng" w="12700">
            <a:solidFill>
              <a:srgbClr val="2ECC7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6931152" y="2011680"/>
            <a:ext cx="1645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B0"/>
              </a:buClr>
              <a:buSzPts val="950"/>
              <a:buFont typeface="Calibri"/>
              <a:buNone/>
            </a:pPr>
            <a:r>
              <a:rPr b="0" i="0" lang="en-US" sz="950" u="none" cap="none" strike="noStrike">
                <a:solidFill>
                  <a:srgbClr val="8A9BB0"/>
                </a:solidFill>
                <a:latin typeface="Calibri"/>
                <a:ea typeface="Calibri"/>
                <a:cs typeface="Calibri"/>
                <a:sym typeface="Calibri"/>
              </a:rPr>
              <a:t>KS Test p-value</a:t>
            </a:r>
            <a:endParaRPr b="0" i="0" sz="950" u="none" cap="none" strike="noStrike">
              <a:solidFill>
                <a:schemeClr val="dk1"/>
              </a:solidFill>
              <a:latin typeface="Calibri"/>
              <a:ea typeface="Calibri"/>
              <a:cs typeface="Calibri"/>
              <a:sym typeface="Calibri"/>
            </a:endParaRPr>
          </a:p>
        </p:txBody>
      </p:sp>
      <p:sp>
        <p:nvSpPr>
          <p:cNvPr id="239" name="Google Shape;239;p10"/>
          <p:cNvSpPr/>
          <p:nvPr/>
        </p:nvSpPr>
        <p:spPr>
          <a:xfrm>
            <a:off x="6931152" y="221284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276"/>
              </a:buClr>
              <a:buSzPts val="1600"/>
              <a:buFont typeface="Calibri"/>
              <a:buNone/>
            </a:pPr>
            <a:r>
              <a:rPr b="1" i="0" lang="en-US" sz="1600" u="none" cap="none" strike="noStrike">
                <a:solidFill>
                  <a:srgbClr val="1A5276"/>
                </a:solidFill>
                <a:latin typeface="Calibri"/>
                <a:ea typeface="Calibri"/>
                <a:cs typeface="Calibri"/>
                <a:sym typeface="Calibri"/>
              </a:rPr>
              <a:t>0.139</a:t>
            </a:r>
            <a:endParaRPr b="0" i="0" sz="1600" u="none" cap="none" strike="noStrike">
              <a:solidFill>
                <a:schemeClr val="dk1"/>
              </a:solidFill>
              <a:latin typeface="Calibri"/>
              <a:ea typeface="Calibri"/>
              <a:cs typeface="Calibri"/>
              <a:sym typeface="Calibri"/>
            </a:endParaRPr>
          </a:p>
        </p:txBody>
      </p:sp>
      <p:sp>
        <p:nvSpPr>
          <p:cNvPr id="240" name="Google Shape;240;p10"/>
          <p:cNvSpPr/>
          <p:nvPr/>
        </p:nvSpPr>
        <p:spPr>
          <a:xfrm>
            <a:off x="6931152" y="2487168"/>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B0"/>
              </a:buClr>
              <a:buSzPts val="900"/>
              <a:buFont typeface="Calibri"/>
              <a:buNone/>
            </a:pPr>
            <a:r>
              <a:rPr b="0" i="1" lang="en-US" sz="900" u="none" cap="none" strike="noStrike">
                <a:solidFill>
                  <a:srgbClr val="8A9BB0"/>
                </a:solidFill>
                <a:latin typeface="Calibri"/>
                <a:ea typeface="Calibri"/>
                <a:cs typeface="Calibri"/>
                <a:sym typeface="Calibri"/>
              </a:rPr>
              <a:t>Not significant</a:t>
            </a:r>
            <a:endParaRPr b="0" i="0" sz="900" u="none" cap="none" strike="noStrike">
              <a:solidFill>
                <a:schemeClr val="dk1"/>
              </a:solidFill>
              <a:latin typeface="Calibri"/>
              <a:ea typeface="Calibri"/>
              <a:cs typeface="Calibri"/>
              <a:sym typeface="Calibri"/>
            </a:endParaRPr>
          </a:p>
        </p:txBody>
      </p:sp>
      <p:sp>
        <p:nvSpPr>
          <p:cNvPr id="241" name="Google Shape;241;p10"/>
          <p:cNvSpPr/>
          <p:nvPr/>
        </p:nvSpPr>
        <p:spPr>
          <a:xfrm>
            <a:off x="4937760" y="2926080"/>
            <a:ext cx="1783080" cy="841248"/>
          </a:xfrm>
          <a:prstGeom prst="rect">
            <a:avLst/>
          </a:prstGeom>
          <a:solidFill>
            <a:srgbClr val="F8FAFE"/>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4937760" y="2926080"/>
            <a:ext cx="1783080" cy="64008"/>
          </a:xfrm>
          <a:prstGeom prst="rect">
            <a:avLst/>
          </a:prstGeom>
          <a:solidFill>
            <a:srgbClr val="D35400"/>
          </a:solidFill>
          <a:ln cap="flat" cmpd="sng" w="12700">
            <a:solidFill>
              <a:srgbClr val="D35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
          <p:cNvSpPr/>
          <p:nvPr/>
        </p:nvSpPr>
        <p:spPr>
          <a:xfrm>
            <a:off x="5010912" y="3017520"/>
            <a:ext cx="1645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B0"/>
              </a:buClr>
              <a:buSzPts val="950"/>
              <a:buFont typeface="Calibri"/>
              <a:buNone/>
            </a:pPr>
            <a:r>
              <a:rPr b="0" i="0" lang="en-US" sz="950" u="none" cap="none" strike="noStrike">
                <a:solidFill>
                  <a:srgbClr val="8A9BB0"/>
                </a:solidFill>
                <a:latin typeface="Calibri"/>
                <a:ea typeface="Calibri"/>
                <a:cs typeface="Calibri"/>
                <a:sym typeface="Calibri"/>
              </a:rPr>
              <a:t>Stress Test (−15% income)</a:t>
            </a:r>
            <a:endParaRPr b="0" i="0" sz="950" u="none" cap="none" strike="noStrike">
              <a:solidFill>
                <a:schemeClr val="dk1"/>
              </a:solidFill>
              <a:latin typeface="Calibri"/>
              <a:ea typeface="Calibri"/>
              <a:cs typeface="Calibri"/>
              <a:sym typeface="Calibri"/>
            </a:endParaRPr>
          </a:p>
        </p:txBody>
      </p:sp>
      <p:sp>
        <p:nvSpPr>
          <p:cNvPr id="244" name="Google Shape;244;p10"/>
          <p:cNvSpPr/>
          <p:nvPr/>
        </p:nvSpPr>
        <p:spPr>
          <a:xfrm>
            <a:off x="5010912" y="321868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5400"/>
              </a:buClr>
              <a:buSzPts val="1600"/>
              <a:buFont typeface="Calibri"/>
              <a:buNone/>
            </a:pPr>
            <a:r>
              <a:rPr b="1" i="0" lang="en-US" sz="1600" u="none" cap="none" strike="noStrike">
                <a:solidFill>
                  <a:srgbClr val="D35400"/>
                </a:solidFill>
                <a:latin typeface="Calibri"/>
                <a:ea typeface="Calibri"/>
                <a:cs typeface="Calibri"/>
                <a:sym typeface="Calibri"/>
              </a:rPr>
              <a:t>−1.3%</a:t>
            </a:r>
            <a:endParaRPr b="0" i="0" sz="1600" u="none" cap="none" strike="noStrike">
              <a:solidFill>
                <a:schemeClr val="dk1"/>
              </a:solidFill>
              <a:latin typeface="Calibri"/>
              <a:ea typeface="Calibri"/>
              <a:cs typeface="Calibri"/>
              <a:sym typeface="Calibri"/>
            </a:endParaRPr>
          </a:p>
        </p:txBody>
      </p:sp>
      <p:sp>
        <p:nvSpPr>
          <p:cNvPr id="245" name="Google Shape;245;p10"/>
          <p:cNvSpPr/>
          <p:nvPr/>
        </p:nvSpPr>
        <p:spPr>
          <a:xfrm>
            <a:off x="5010912" y="3493008"/>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B0"/>
              </a:buClr>
              <a:buSzPts val="900"/>
              <a:buFont typeface="Calibri"/>
              <a:buNone/>
            </a:pPr>
            <a:r>
              <a:rPr b="0" i="1" lang="en-US" sz="900" u="none" cap="none" strike="noStrike">
                <a:solidFill>
                  <a:srgbClr val="8A9BB0"/>
                </a:solidFill>
                <a:latin typeface="Calibri"/>
                <a:ea typeface="Calibri"/>
                <a:cs typeface="Calibri"/>
                <a:sym typeface="Calibri"/>
              </a:rPr>
              <a:t>Accuracy drop</a:t>
            </a:r>
            <a:endParaRPr b="0" i="0" sz="900" u="none" cap="none" strike="noStrike">
              <a:solidFill>
                <a:schemeClr val="dk1"/>
              </a:solidFill>
              <a:latin typeface="Calibri"/>
              <a:ea typeface="Calibri"/>
              <a:cs typeface="Calibri"/>
              <a:sym typeface="Calibri"/>
            </a:endParaRPr>
          </a:p>
        </p:txBody>
      </p:sp>
      <p:sp>
        <p:nvSpPr>
          <p:cNvPr id="246" name="Google Shape;246;p10"/>
          <p:cNvSpPr/>
          <p:nvPr/>
        </p:nvSpPr>
        <p:spPr>
          <a:xfrm>
            <a:off x="6858000" y="2926080"/>
            <a:ext cx="1783080" cy="841248"/>
          </a:xfrm>
          <a:prstGeom prst="rect">
            <a:avLst/>
          </a:prstGeom>
          <a:solidFill>
            <a:srgbClr val="F8FAFE"/>
          </a:solidFill>
          <a:ln cap="flat" cmpd="sng" w="12700">
            <a:solidFill>
              <a:srgbClr val="D8DD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
          <p:cNvSpPr/>
          <p:nvPr/>
        </p:nvSpPr>
        <p:spPr>
          <a:xfrm>
            <a:off x="6858000" y="2926080"/>
            <a:ext cx="1783080" cy="64008"/>
          </a:xfrm>
          <a:prstGeom prst="rect">
            <a:avLst/>
          </a:prstGeom>
          <a:solidFill>
            <a:srgbClr val="D35400"/>
          </a:solidFill>
          <a:ln cap="flat" cmpd="sng" w="12700">
            <a:solidFill>
              <a:srgbClr val="D35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0"/>
          <p:cNvSpPr/>
          <p:nvPr/>
        </p:nvSpPr>
        <p:spPr>
          <a:xfrm>
            <a:off x="6931152" y="3017520"/>
            <a:ext cx="16459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B0"/>
              </a:buClr>
              <a:buSzPts val="950"/>
              <a:buFont typeface="Calibri"/>
              <a:buNone/>
            </a:pPr>
            <a:r>
              <a:rPr b="0" i="0" lang="en-US" sz="950" u="none" cap="none" strike="noStrike">
                <a:solidFill>
                  <a:srgbClr val="8A9BB0"/>
                </a:solidFill>
                <a:latin typeface="Calibri"/>
                <a:ea typeface="Calibri"/>
                <a:cs typeface="Calibri"/>
                <a:sym typeface="Calibri"/>
              </a:rPr>
              <a:t>Subgroup Risk</a:t>
            </a:r>
            <a:endParaRPr b="0" i="0" sz="950" u="none" cap="none" strike="noStrike">
              <a:solidFill>
                <a:schemeClr val="dk1"/>
              </a:solidFill>
              <a:latin typeface="Calibri"/>
              <a:ea typeface="Calibri"/>
              <a:cs typeface="Calibri"/>
              <a:sym typeface="Calibri"/>
            </a:endParaRPr>
          </a:p>
        </p:txBody>
      </p:sp>
      <p:sp>
        <p:nvSpPr>
          <p:cNvPr id="249" name="Google Shape;249;p10"/>
          <p:cNvSpPr/>
          <p:nvPr/>
        </p:nvSpPr>
        <p:spPr>
          <a:xfrm>
            <a:off x="6931152" y="3218688"/>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35400"/>
              </a:buClr>
              <a:buSzPts val="1600"/>
              <a:buFont typeface="Calibri"/>
              <a:buNone/>
            </a:pPr>
            <a:r>
              <a:rPr b="1" i="0" lang="en-US" sz="1600" u="none" cap="none" strike="noStrike">
                <a:solidFill>
                  <a:srgbClr val="D35400"/>
                </a:solidFill>
                <a:latin typeface="Calibri"/>
                <a:ea typeface="Calibri"/>
                <a:cs typeface="Calibri"/>
                <a:sym typeface="Calibri"/>
              </a:rPr>
              <a:t>Hidden</a:t>
            </a:r>
            <a:endParaRPr b="0" i="0" sz="1600" u="none" cap="none" strike="noStrike">
              <a:solidFill>
                <a:schemeClr val="dk1"/>
              </a:solidFill>
              <a:latin typeface="Calibri"/>
              <a:ea typeface="Calibri"/>
              <a:cs typeface="Calibri"/>
              <a:sym typeface="Calibri"/>
            </a:endParaRPr>
          </a:p>
        </p:txBody>
      </p:sp>
      <p:sp>
        <p:nvSpPr>
          <p:cNvPr id="250" name="Google Shape;250;p10"/>
          <p:cNvSpPr/>
          <p:nvPr/>
        </p:nvSpPr>
        <p:spPr>
          <a:xfrm>
            <a:off x="6931152" y="3493008"/>
            <a:ext cx="16459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BB0"/>
              </a:buClr>
              <a:buSzPts val="900"/>
              <a:buFont typeface="Calibri"/>
              <a:buNone/>
            </a:pPr>
            <a:r>
              <a:rPr b="0" i="1" lang="en-US" sz="900" u="none" cap="none" strike="noStrike">
                <a:solidFill>
                  <a:srgbClr val="8A9BB0"/>
                </a:solidFill>
                <a:latin typeface="Calibri"/>
                <a:ea typeface="Calibri"/>
                <a:cs typeface="Calibri"/>
                <a:sym typeface="Calibri"/>
              </a:rPr>
              <a:t>Global masks local</a:t>
            </a:r>
            <a:endParaRPr b="0" i="0" sz="900" u="none" cap="none" strike="noStrike">
              <a:solidFill>
                <a:schemeClr val="dk1"/>
              </a:solidFill>
              <a:latin typeface="Calibri"/>
              <a:ea typeface="Calibri"/>
              <a:cs typeface="Calibri"/>
              <a:sym typeface="Calibri"/>
            </a:endParaRPr>
          </a:p>
        </p:txBody>
      </p:sp>
      <p:sp>
        <p:nvSpPr>
          <p:cNvPr id="251" name="Google Shape;251;p10"/>
          <p:cNvSpPr/>
          <p:nvPr/>
        </p:nvSpPr>
        <p:spPr>
          <a:xfrm>
            <a:off x="4937760" y="4023360"/>
            <a:ext cx="3749040" cy="457200"/>
          </a:xfrm>
          <a:prstGeom prst="rect">
            <a:avLst/>
          </a:prstGeom>
          <a:solidFill>
            <a:srgbClr val="FEF3CD"/>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
          <p:cNvSpPr/>
          <p:nvPr/>
        </p:nvSpPr>
        <p:spPr>
          <a:xfrm>
            <a:off x="5029200" y="4041648"/>
            <a:ext cx="3566160" cy="42062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4F00"/>
              </a:buClr>
              <a:buSzPts val="1000"/>
              <a:buFont typeface="Calibri"/>
              <a:buNone/>
            </a:pPr>
            <a:r>
              <a:rPr b="1" i="0" lang="en-US" sz="1000" u="none" cap="none" strike="noStrike">
                <a:solidFill>
                  <a:srgbClr val="7A4F00"/>
                </a:solidFill>
                <a:latin typeface="Calibri"/>
                <a:ea typeface="Calibri"/>
                <a:cs typeface="Calibri"/>
                <a:sym typeface="Calibri"/>
              </a:rPr>
              <a:t>Key Insight: </a:t>
            </a:r>
            <a:r>
              <a:rPr b="0" i="0" lang="en-US" sz="1000" u="none" cap="none" strike="noStrike">
                <a:solidFill>
                  <a:srgbClr val="7A4F00"/>
                </a:solidFill>
                <a:latin typeface="Calibri"/>
                <a:ea typeface="Calibri"/>
                <a:cs typeface="Calibri"/>
                <a:sym typeface="Calibri"/>
              </a:rPr>
              <a:t>Global stability metrics can hide subgroup drift. Even small income distribution shifts disproportionately impact borderline and minority applicants.</a:t>
            </a:r>
            <a:endParaRPr b="0" i="0" sz="1000" u="none" cap="none" strike="noStrike">
              <a:solidFill>
                <a:schemeClr val="dk1"/>
              </a:solidFill>
              <a:latin typeface="Calibri"/>
              <a:ea typeface="Calibri"/>
              <a:cs typeface="Calibri"/>
              <a:sym typeface="Calibri"/>
            </a:endParaRPr>
          </a:p>
        </p:txBody>
      </p:sp>
      <p:pic>
        <p:nvPicPr>
          <p:cNvPr id="253" name="Google Shape;253;p10" title="Screenshot 2569-05-04 at 02.44.30.png"/>
          <p:cNvPicPr preferRelativeResize="0"/>
          <p:nvPr/>
        </p:nvPicPr>
        <p:blipFill>
          <a:blip r:embed="rId3">
            <a:alphaModFix/>
          </a:blip>
          <a:stretch>
            <a:fillRect/>
          </a:stretch>
        </p:blipFill>
        <p:spPr>
          <a:xfrm>
            <a:off x="492825" y="4462275"/>
            <a:ext cx="3749049" cy="614596"/>
          </a:xfrm>
          <a:prstGeom prst="rect">
            <a:avLst/>
          </a:prstGeom>
          <a:noFill/>
          <a:ln>
            <a:noFill/>
          </a:ln>
        </p:spPr>
      </p:pic>
      <p:sp>
        <p:nvSpPr>
          <p:cNvPr id="254" name="Google Shape;254;p10"/>
          <p:cNvSpPr/>
          <p:nvPr/>
        </p:nvSpPr>
        <p:spPr>
          <a:xfrm>
            <a:off x="7726680" y="201168"/>
            <a:ext cx="1234500" cy="3201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
          <p:cNvSpPr/>
          <p:nvPr/>
        </p:nvSpPr>
        <p:spPr>
          <a:xfrm>
            <a:off x="7726680" y="201168"/>
            <a:ext cx="12345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SEVERITY: MED - HIGH</a:t>
            </a:r>
            <a:endParaRPr b="0" i="0" sz="900" u="none" cap="none" strike="noStrike">
              <a:solidFill>
                <a:schemeClr val="dk1"/>
              </a:solidFill>
              <a:latin typeface="Calibri"/>
              <a:ea typeface="Calibri"/>
              <a:cs typeface="Calibri"/>
              <a:sym typeface="Calibri"/>
            </a:endParaRPr>
          </a:p>
        </p:txBody>
      </p:sp>
      <p:sp>
        <p:nvSpPr>
          <p:cNvPr id="256" name="Google Shape;256;p10"/>
          <p:cNvSpPr/>
          <p:nvPr/>
        </p:nvSpPr>
        <p:spPr>
          <a:xfrm>
            <a:off x="6563188" y="201182"/>
            <a:ext cx="1005900" cy="3201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a:off x="6563200" y="201176"/>
            <a:ext cx="10059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MODE 0</a:t>
            </a:r>
            <a:r>
              <a:rPr b="1" lang="en-US" sz="1000">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9"/>
        </a:solidFill>
      </p:bgPr>
    </p:bg>
    <p:spTree>
      <p:nvGrpSpPr>
        <p:cNvPr id="262" name="Shape 262"/>
        <p:cNvGrpSpPr/>
        <p:nvPr/>
      </p:nvGrpSpPr>
      <p:grpSpPr>
        <a:xfrm>
          <a:off x="0" y="0"/>
          <a:ext cx="0" cy="0"/>
          <a:chOff x="0" y="0"/>
          <a:chExt cx="0" cy="0"/>
        </a:xfrm>
      </p:grpSpPr>
      <p:sp>
        <p:nvSpPr>
          <p:cNvPr id="263" name="Google Shape;263;p11"/>
          <p:cNvSpPr/>
          <p:nvPr/>
        </p:nvSpPr>
        <p:spPr>
          <a:xfrm>
            <a:off x="0" y="0"/>
            <a:ext cx="9144000" cy="82296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a:off x="0" y="822960"/>
            <a:ext cx="9144000" cy="54864"/>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a:off x="320040" y="9144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Georgia"/>
                <a:ea typeface="Georgia"/>
                <a:cs typeface="Georgia"/>
                <a:sym typeface="Georgia"/>
              </a:rPr>
              <a:t>Q2 Summary  ·  Failure Mode Table</a:t>
            </a:r>
            <a:endParaRPr i="0" sz="2600" u="none" cap="none" strike="noStrike">
              <a:solidFill>
                <a:schemeClr val="dk1"/>
              </a:solidFill>
              <a:latin typeface="Georgia"/>
              <a:ea typeface="Georgia"/>
              <a:cs typeface="Georgia"/>
              <a:sym typeface="Georgia"/>
            </a:endParaRPr>
          </a:p>
        </p:txBody>
      </p:sp>
      <p:graphicFrame>
        <p:nvGraphicFramePr>
          <p:cNvPr id="266" name="Google Shape;266;p11"/>
          <p:cNvGraphicFramePr/>
          <p:nvPr/>
        </p:nvGraphicFramePr>
        <p:xfrm>
          <a:off x="320040" y="1024128"/>
          <a:ext cx="3000000" cy="3000000"/>
        </p:xfrm>
        <a:graphic>
          <a:graphicData uri="http://schemas.openxmlformats.org/drawingml/2006/table">
            <a:tbl>
              <a:tblPr>
                <a:noFill/>
                <a:tableStyleId>{7AE50B99-0EE5-4D77-ACAF-0EF031F8B03B}</a:tableStyleId>
              </a:tblPr>
              <a:tblGrid>
                <a:gridCol w="1508750"/>
                <a:gridCol w="2331725"/>
                <a:gridCol w="1691650"/>
                <a:gridCol w="1463050"/>
                <a:gridCol w="914400"/>
              </a:tblGrid>
              <a:tr h="402325">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Failure Type</a:t>
                      </a:r>
                      <a:endParaRPr sz="11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Trigger Condition</a:t>
                      </a:r>
                      <a:endParaRPr sz="11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Harmed Group</a:t>
                      </a:r>
                      <a:endParaRPr sz="11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Method</a:t>
                      </a:r>
                      <a:endParaRPr sz="11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Severity</a:t>
                      </a:r>
                      <a:endParaRPr sz="11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1B2A4A"/>
                    </a:solidFill>
                  </a:tcPr>
                </a:tc>
              </a:tr>
              <a:tr h="749800">
                <a:tc>
                  <a:txBody>
                    <a:bodyPr/>
                    <a:lstStyle/>
                    <a:p>
                      <a:pPr indent="0" lvl="0" marL="0" marR="0" rtl="0" algn="l">
                        <a:spcBef>
                          <a:spcPts val="0"/>
                        </a:spcBef>
                        <a:spcAft>
                          <a:spcPts val="0"/>
                        </a:spcAft>
                        <a:buClr>
                          <a:srgbClr val="000000"/>
                        </a:buClr>
                        <a:buSzPts val="1050"/>
                        <a:buFont typeface="Calibri"/>
                        <a:buNone/>
                      </a:pPr>
                      <a:r>
                        <a:rPr b="1" lang="en-US" sz="1050" u="none" cap="none" strike="noStrike">
                          <a:solidFill>
                            <a:srgbClr val="000000"/>
                          </a:solidFill>
                          <a:latin typeface="Calibri"/>
                          <a:ea typeface="Calibri"/>
                          <a:cs typeface="Calibri"/>
                          <a:sym typeface="Calibri"/>
                        </a:rPr>
                        <a:t>Proxy Bias</a:t>
                      </a:r>
                      <a:endParaRPr sz="105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Model uses FFIEC income &amp; loan_purpose as racial proxies</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African-American applicants</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5276"/>
                        </a:buClr>
                        <a:buSzPts val="1000"/>
                        <a:buFont typeface="Calibri"/>
                        <a:buNone/>
                      </a:pPr>
                      <a:r>
                        <a:rPr lang="en-US" sz="1000" u="none" cap="none" strike="noStrike">
                          <a:solidFill>
                            <a:srgbClr val="1A5276"/>
                          </a:solidFill>
                          <a:latin typeface="Calibri"/>
                          <a:ea typeface="Calibri"/>
                          <a:cs typeface="Calibri"/>
                          <a:sym typeface="Calibri"/>
                        </a:rPr>
                        <a:t>SHAP (global)</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HIGH</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C0392B"/>
                    </a:solidFill>
                  </a:tcPr>
                </a:tc>
              </a:tr>
              <a:tr h="749800">
                <a:tc>
                  <a:txBody>
                    <a:bodyPr/>
                    <a:lstStyle/>
                    <a:p>
                      <a:pPr indent="0" lvl="0" marL="0" marR="0" rtl="0" algn="l">
                        <a:spcBef>
                          <a:spcPts val="0"/>
                        </a:spcBef>
                        <a:spcAft>
                          <a:spcPts val="0"/>
                        </a:spcAft>
                        <a:buClr>
                          <a:srgbClr val="000000"/>
                        </a:buClr>
                        <a:buSzPts val="1050"/>
                        <a:buFont typeface="Calibri"/>
                        <a:buNone/>
                      </a:pPr>
                      <a:r>
                        <a:rPr b="1" lang="en-US" sz="1050" u="none" cap="none" strike="noStrike">
                          <a:solidFill>
                            <a:srgbClr val="000000"/>
                          </a:solidFill>
                          <a:latin typeface="Calibri"/>
                          <a:ea typeface="Calibri"/>
                          <a:cs typeface="Calibri"/>
                          <a:sym typeface="Calibri"/>
                        </a:rPr>
                        <a:t>Risk Override</a:t>
                      </a:r>
                      <a:endParaRPr sz="105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Loan purpose SHAP value overrides extreme DTI risk signal</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Minority applicants</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5276"/>
                        </a:buClr>
                        <a:buSzPts val="1000"/>
                        <a:buFont typeface="Calibri"/>
                        <a:buNone/>
                      </a:pPr>
                      <a:r>
                        <a:rPr lang="en-US" sz="1000" u="none" cap="none" strike="noStrike">
                          <a:solidFill>
                            <a:srgbClr val="1A5276"/>
                          </a:solidFill>
                          <a:latin typeface="Calibri"/>
                          <a:ea typeface="Calibri"/>
                          <a:cs typeface="Calibri"/>
                          <a:sym typeface="Calibri"/>
                        </a:rPr>
                        <a:t>SHAP (waterfall)</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HIGH</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C0392B"/>
                    </a:solidFill>
                  </a:tcPr>
                </a:tc>
              </a:tr>
              <a:tr h="749800">
                <a:tc>
                  <a:txBody>
                    <a:bodyPr/>
                    <a:lstStyle/>
                    <a:p>
                      <a:pPr indent="0" lvl="0" marL="0" marR="0" rtl="0" algn="l">
                        <a:spcBef>
                          <a:spcPts val="0"/>
                        </a:spcBef>
                        <a:spcAft>
                          <a:spcPts val="0"/>
                        </a:spcAft>
                        <a:buClr>
                          <a:srgbClr val="000000"/>
                        </a:buClr>
                        <a:buSzPts val="1050"/>
                        <a:buFont typeface="Calibri"/>
                        <a:buNone/>
                      </a:pPr>
                      <a:r>
                        <a:rPr b="1" lang="en-US" sz="1050" u="none" cap="none" strike="noStrike">
                          <a:solidFill>
                            <a:srgbClr val="000000"/>
                          </a:solidFill>
                          <a:latin typeface="Calibri"/>
                          <a:ea typeface="Calibri"/>
                          <a:cs typeface="Calibri"/>
                          <a:sym typeface="Calibri"/>
                        </a:rPr>
                        <a:t>Recourse Failure</a:t>
                      </a:r>
                      <a:endParaRPr sz="105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DiCE counterfactuals require unrealistic changes (score &gt;1000, income 40–60×)</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Rejected applicants</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5276"/>
                        </a:buClr>
                        <a:buSzPts val="1000"/>
                        <a:buFont typeface="Calibri"/>
                        <a:buNone/>
                      </a:pPr>
                      <a:r>
                        <a:rPr lang="en-US" sz="1000" u="none" cap="none" strike="noStrike">
                          <a:solidFill>
                            <a:srgbClr val="1A5276"/>
                          </a:solidFill>
                          <a:latin typeface="Calibri"/>
                          <a:ea typeface="Calibri"/>
                          <a:cs typeface="Calibri"/>
                          <a:sym typeface="Calibri"/>
                        </a:rPr>
                        <a:t>DiCE</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MED–HIGH</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D35400"/>
                    </a:solidFill>
                  </a:tcPr>
                </a:tc>
              </a:tr>
              <a:tr h="749800">
                <a:tc>
                  <a:txBody>
                    <a:bodyPr/>
                    <a:lstStyle/>
                    <a:p>
                      <a:pPr indent="0" lvl="0" marL="0" marR="0" rtl="0" algn="l">
                        <a:spcBef>
                          <a:spcPts val="0"/>
                        </a:spcBef>
                        <a:spcAft>
                          <a:spcPts val="0"/>
                        </a:spcAft>
                        <a:buClr>
                          <a:srgbClr val="000000"/>
                        </a:buClr>
                        <a:buSzPts val="1050"/>
                        <a:buFont typeface="Calibri"/>
                        <a:buNone/>
                      </a:pPr>
                      <a:r>
                        <a:rPr b="1" lang="en-US" sz="1050" u="none" cap="none" strike="noStrike">
                          <a:solidFill>
                            <a:srgbClr val="000000"/>
                          </a:solidFill>
                          <a:latin typeface="Calibri"/>
                          <a:ea typeface="Calibri"/>
                          <a:cs typeface="Calibri"/>
                          <a:sym typeface="Calibri"/>
                        </a:rPr>
                        <a:t>Feature Drift</a:t>
                      </a:r>
                      <a:endParaRPr sz="105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15% income shift post-2024 drops accuracy &amp; hits borderline cases</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Calibri"/>
                        <a:buNone/>
                      </a:pPr>
                      <a:r>
                        <a:rPr lang="en-US" sz="1000" u="none" cap="none" strike="noStrike">
                          <a:solidFill>
                            <a:srgbClr val="000000"/>
                          </a:solidFill>
                          <a:latin typeface="Calibri"/>
                          <a:ea typeface="Calibri"/>
                          <a:cs typeface="Calibri"/>
                          <a:sym typeface="Calibri"/>
                        </a:rPr>
                        <a:t>Borderline / minority applicants</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5276"/>
                        </a:buClr>
                        <a:buSzPts val="1000"/>
                        <a:buFont typeface="Calibri"/>
                        <a:buNone/>
                      </a:pPr>
                      <a:r>
                        <a:rPr lang="en-US" sz="1000" u="none" cap="none" strike="noStrike">
                          <a:solidFill>
                            <a:srgbClr val="1A5276"/>
                          </a:solidFill>
                          <a:latin typeface="Calibri"/>
                          <a:ea typeface="Calibri"/>
                          <a:cs typeface="Calibri"/>
                          <a:sym typeface="Calibri"/>
                        </a:rPr>
                        <a:t>PSI + KS + Stress</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MED–HIGH</a:t>
                      </a:r>
                      <a:endParaRPr sz="1000" u="none" cap="none" strike="noStrike">
                        <a:latin typeface="Calibri"/>
                        <a:ea typeface="Calibri"/>
                        <a:cs typeface="Calibri"/>
                        <a:sym typeface="Calibri"/>
                      </a:endParaRPr>
                    </a:p>
                  </a:txBody>
                  <a:tcPr marT="45725" marB="45725" marR="91450" marL="91450" anchor="ctr">
                    <a:lnL cap="flat" cmpd="sng" w="9525">
                      <a:solidFill>
                        <a:srgbClr val="D8DDE8"/>
                      </a:solidFill>
                      <a:prstDash val="solid"/>
                      <a:round/>
                      <a:headEnd len="sm" w="sm" type="none"/>
                      <a:tailEnd len="sm" w="sm" type="none"/>
                    </a:lnL>
                    <a:lnR cap="flat" cmpd="sng" w="9525">
                      <a:solidFill>
                        <a:srgbClr val="D8DDE8"/>
                      </a:solidFill>
                      <a:prstDash val="solid"/>
                      <a:round/>
                      <a:headEnd len="sm" w="sm" type="none"/>
                      <a:tailEnd len="sm" w="sm" type="none"/>
                    </a:lnR>
                    <a:lnT cap="flat" cmpd="sng" w="9525">
                      <a:solidFill>
                        <a:srgbClr val="D8DDE8"/>
                      </a:solidFill>
                      <a:prstDash val="solid"/>
                      <a:round/>
                      <a:headEnd len="sm" w="sm" type="none"/>
                      <a:tailEnd len="sm" w="sm" type="none"/>
                    </a:lnT>
                    <a:lnB cap="flat" cmpd="sng" w="9525">
                      <a:solidFill>
                        <a:srgbClr val="D8DDE8"/>
                      </a:solidFill>
                      <a:prstDash val="solid"/>
                      <a:round/>
                      <a:headEnd len="sm" w="sm" type="none"/>
                      <a:tailEnd len="sm" w="sm" type="none"/>
                    </a:lnB>
                    <a:solidFill>
                      <a:srgbClr val="D35400"/>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71" name="Shape 271"/>
        <p:cNvGrpSpPr/>
        <p:nvPr/>
      </p:nvGrpSpPr>
      <p:grpSpPr>
        <a:xfrm>
          <a:off x="0" y="0"/>
          <a:ext cx="0" cy="0"/>
          <a:chOff x="0" y="0"/>
          <a:chExt cx="0" cy="0"/>
        </a:xfrm>
      </p:grpSpPr>
      <p:sp>
        <p:nvSpPr>
          <p:cNvPr id="272" name="Google Shape;272;p12"/>
          <p:cNvSpPr/>
          <p:nvPr/>
        </p:nvSpPr>
        <p:spPr>
          <a:xfrm>
            <a:off x="0" y="0"/>
            <a:ext cx="164700" cy="51435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411480" y="640080"/>
            <a:ext cx="8321100" cy="731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2400"/>
              <a:buFont typeface="Calibri"/>
              <a:buNone/>
            </a:pPr>
            <a:r>
              <a:rPr b="1" lang="en-US" sz="3600">
                <a:solidFill>
                  <a:schemeClr val="lt1"/>
                </a:solidFill>
                <a:latin typeface="Georgia"/>
                <a:ea typeface="Georgia"/>
                <a:cs typeface="Georgia"/>
                <a:sym typeface="Georgia"/>
              </a:rPr>
              <a:t>Q3: Subgroup Error Measurement</a:t>
            </a:r>
            <a:endParaRPr i="0" sz="4800" u="none" cap="none" strike="noStrike">
              <a:solidFill>
                <a:schemeClr val="dk1"/>
              </a:solidFill>
              <a:latin typeface="Georgia"/>
              <a:ea typeface="Georgia"/>
              <a:cs typeface="Georgia"/>
              <a:sym typeface="Georgia"/>
            </a:endParaRPr>
          </a:p>
        </p:txBody>
      </p:sp>
      <p:sp>
        <p:nvSpPr>
          <p:cNvPr id="274" name="Google Shape;274;p12"/>
          <p:cNvSpPr/>
          <p:nvPr/>
        </p:nvSpPr>
        <p:spPr>
          <a:xfrm>
            <a:off x="411480" y="1389888"/>
            <a:ext cx="83211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700"/>
              <a:buFont typeface="Calibri"/>
              <a:buNone/>
            </a:pPr>
            <a:r>
              <a:rPr i="1" lang="en-US" sz="1700">
                <a:solidFill>
                  <a:srgbClr val="F0C878"/>
                </a:solidFill>
                <a:latin typeface="Calibri"/>
                <a:ea typeface="Calibri"/>
                <a:cs typeface="Calibri"/>
                <a:sym typeface="Calibri"/>
              </a:rPr>
              <a:t>How Subgroup Errors Were Measured</a:t>
            </a:r>
            <a:r>
              <a:rPr b="0" i="1" lang="en-US" sz="1700" u="none" cap="none" strike="noStrike">
                <a:solidFill>
                  <a:srgbClr val="F0C878"/>
                </a:solidFill>
                <a:latin typeface="Calibri"/>
                <a:ea typeface="Calibri"/>
                <a:cs typeface="Calibri"/>
                <a:sym typeface="Calibri"/>
              </a:rPr>
              <a:t>?</a:t>
            </a:r>
            <a:r>
              <a:rPr i="1" lang="en-US" sz="1700">
                <a:solidFill>
                  <a:srgbClr val="F0C878"/>
                </a:solidFill>
                <a:latin typeface="Calibri"/>
                <a:ea typeface="Calibri"/>
                <a:cs typeface="Calibri"/>
                <a:sym typeface="Calibri"/>
              </a:rPr>
              <a:t> </a:t>
            </a:r>
            <a:r>
              <a:rPr i="1" lang="en-US" sz="1700">
                <a:solidFill>
                  <a:srgbClr val="F0C878"/>
                </a:solidFill>
                <a:latin typeface="Calibri"/>
                <a:ea typeface="Calibri"/>
                <a:cs typeface="Calibri"/>
                <a:sym typeface="Calibri"/>
              </a:rPr>
              <a:t>How Errors Were Measured Across Subgroups?</a:t>
            </a:r>
            <a:endParaRPr i="1" sz="1700">
              <a:solidFill>
                <a:srgbClr val="F0C878"/>
              </a:solidFill>
              <a:latin typeface="Calibri"/>
              <a:ea typeface="Calibri"/>
              <a:cs typeface="Calibri"/>
              <a:sym typeface="Calibri"/>
            </a:endParaRPr>
          </a:p>
        </p:txBody>
      </p:sp>
      <p:sp>
        <p:nvSpPr>
          <p:cNvPr id="275" name="Google Shape;275;p12"/>
          <p:cNvSpPr/>
          <p:nvPr/>
        </p:nvSpPr>
        <p:spPr>
          <a:xfrm>
            <a:off x="411480" y="1901952"/>
            <a:ext cx="8321100" cy="27300"/>
          </a:xfrm>
          <a:prstGeom prst="rect">
            <a:avLst/>
          </a:prstGeom>
          <a:solidFill>
            <a:srgbClr val="C8962E"/>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2"/>
          <p:cNvSpPr/>
          <p:nvPr/>
        </p:nvSpPr>
        <p:spPr>
          <a:xfrm>
            <a:off x="502920" y="2560320"/>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77" name="Google Shape;277;p12"/>
          <p:cNvSpPr/>
          <p:nvPr/>
        </p:nvSpPr>
        <p:spPr>
          <a:xfrm>
            <a:off x="1786763" y="2459715"/>
            <a:ext cx="1965900" cy="1234500"/>
          </a:xfrm>
          <a:prstGeom prst="rect">
            <a:avLst/>
          </a:prstGeom>
          <a:solidFill>
            <a:srgbClr val="223355"/>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1878113" y="2553937"/>
            <a:ext cx="1783200" cy="45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600"/>
              <a:buFont typeface="Calibri"/>
              <a:buNone/>
            </a:pPr>
            <a:r>
              <a:rPr b="1" i="0" lang="en-US" sz="1600" u="none" cap="none" strike="noStrike">
                <a:solidFill>
                  <a:srgbClr val="F0C878"/>
                </a:solidFill>
                <a:latin typeface="Calibri"/>
                <a:ea typeface="Calibri"/>
                <a:cs typeface="Calibri"/>
                <a:sym typeface="Calibri"/>
              </a:rPr>
              <a:t>◉  </a:t>
            </a:r>
            <a:r>
              <a:rPr b="1" lang="en-US" sz="1600">
                <a:solidFill>
                  <a:srgbClr val="F0C878"/>
                </a:solidFill>
                <a:latin typeface="Calibri"/>
                <a:ea typeface="Calibri"/>
                <a:cs typeface="Calibri"/>
                <a:sym typeface="Calibri"/>
              </a:rPr>
              <a:t>Metrics  computed</a:t>
            </a:r>
            <a:endParaRPr b="0" i="0" sz="1600" u="none" cap="none" strike="noStrike">
              <a:solidFill>
                <a:schemeClr val="dk1"/>
              </a:solidFill>
              <a:latin typeface="Calibri"/>
              <a:ea typeface="Calibri"/>
              <a:cs typeface="Calibri"/>
              <a:sym typeface="Calibri"/>
            </a:endParaRPr>
          </a:p>
        </p:txBody>
      </p:sp>
      <p:sp>
        <p:nvSpPr>
          <p:cNvPr id="279" name="Google Shape;279;p12"/>
          <p:cNvSpPr/>
          <p:nvPr/>
        </p:nvSpPr>
        <p:spPr>
          <a:xfrm>
            <a:off x="1878115" y="3012820"/>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AIR, ME and SMD</a:t>
            </a:r>
            <a:endParaRPr b="0" i="0" sz="1200" u="none" cap="none" strike="noStrike">
              <a:solidFill>
                <a:schemeClr val="dk1"/>
              </a:solidFill>
              <a:latin typeface="Calibri"/>
              <a:ea typeface="Calibri"/>
              <a:cs typeface="Calibri"/>
              <a:sym typeface="Calibri"/>
            </a:endParaRPr>
          </a:p>
        </p:txBody>
      </p:sp>
      <p:sp>
        <p:nvSpPr>
          <p:cNvPr id="280" name="Google Shape;280;p12"/>
          <p:cNvSpPr/>
          <p:nvPr/>
        </p:nvSpPr>
        <p:spPr>
          <a:xfrm>
            <a:off x="4980971" y="2459715"/>
            <a:ext cx="1965900" cy="1234500"/>
          </a:xfrm>
          <a:prstGeom prst="rect">
            <a:avLst/>
          </a:prstGeom>
          <a:solidFill>
            <a:srgbClr val="223355"/>
          </a:solidFill>
          <a:ln cap="flat" cmpd="sng" w="12700">
            <a:solidFill>
              <a:srgbClr val="C896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5072400" y="2523725"/>
            <a:ext cx="1783200" cy="489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0C878"/>
              </a:buClr>
              <a:buSzPts val="1600"/>
              <a:buFont typeface="Calibri"/>
              <a:buNone/>
            </a:pPr>
            <a:r>
              <a:rPr b="1" i="0" lang="en-US" sz="1600" u="none" cap="none" strike="noStrike">
                <a:solidFill>
                  <a:srgbClr val="F0C878"/>
                </a:solidFill>
                <a:latin typeface="Calibri"/>
                <a:ea typeface="Calibri"/>
                <a:cs typeface="Calibri"/>
                <a:sym typeface="Calibri"/>
              </a:rPr>
              <a:t>◆  </a:t>
            </a:r>
            <a:r>
              <a:rPr b="1" lang="en-US" sz="1600">
                <a:solidFill>
                  <a:srgbClr val="F0C878"/>
                </a:solidFill>
                <a:latin typeface="Calibri"/>
                <a:ea typeface="Calibri"/>
                <a:cs typeface="Calibri"/>
                <a:sym typeface="Calibri"/>
              </a:rPr>
              <a:t>Groups examined</a:t>
            </a:r>
            <a:endParaRPr b="0" i="0" sz="1600" u="none" cap="none" strike="noStrike">
              <a:solidFill>
                <a:schemeClr val="dk1"/>
              </a:solidFill>
              <a:latin typeface="Calibri"/>
              <a:ea typeface="Calibri"/>
              <a:cs typeface="Calibri"/>
              <a:sym typeface="Calibri"/>
            </a:endParaRPr>
          </a:p>
        </p:txBody>
      </p:sp>
      <p:sp>
        <p:nvSpPr>
          <p:cNvPr id="282" name="Google Shape;282;p12"/>
          <p:cNvSpPr/>
          <p:nvPr/>
        </p:nvSpPr>
        <p:spPr>
          <a:xfrm>
            <a:off x="5072336" y="3064145"/>
            <a:ext cx="1783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lang="en-US" sz="1200">
                <a:solidFill>
                  <a:srgbClr val="FFFFFF"/>
                </a:solidFill>
                <a:latin typeface="Calibri"/>
                <a:ea typeface="Calibri"/>
                <a:cs typeface="Calibri"/>
                <a:sym typeface="Calibri"/>
              </a:rPr>
              <a:t>Multiple protected attributes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7" name="Shape 287"/>
        <p:cNvGrpSpPr/>
        <p:nvPr/>
      </p:nvGrpSpPr>
      <p:grpSpPr>
        <a:xfrm>
          <a:off x="0" y="0"/>
          <a:ext cx="0" cy="0"/>
          <a:chOff x="0" y="0"/>
          <a:chExt cx="0" cy="0"/>
        </a:xfrm>
      </p:grpSpPr>
      <p:sp>
        <p:nvSpPr>
          <p:cNvPr id="288" name="Google Shape;288;p13"/>
          <p:cNvSpPr/>
          <p:nvPr/>
        </p:nvSpPr>
        <p:spPr>
          <a:xfrm>
            <a:off x="0" y="0"/>
            <a:ext cx="5958300" cy="877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Calibri"/>
              <a:buNone/>
            </a:pPr>
            <a:r>
              <a:rPr b="1" lang="en-US" sz="2000">
                <a:solidFill>
                  <a:srgbClr val="1C2B4A"/>
                </a:solidFill>
                <a:latin typeface="Georgia"/>
                <a:ea typeface="Georgia"/>
                <a:cs typeface="Georgia"/>
                <a:sym typeface="Georgia"/>
              </a:rPr>
              <a:t>Q3: How Subgroup Errors Were</a:t>
            </a:r>
            <a:r>
              <a:rPr b="1" i="0" lang="en-US" sz="2000" u="none" cap="none" strike="noStrike">
                <a:solidFill>
                  <a:srgbClr val="344870"/>
                </a:solidFill>
                <a:latin typeface="Georgia"/>
                <a:ea typeface="Georgia"/>
                <a:cs typeface="Georgia"/>
                <a:sym typeface="Georgia"/>
              </a:rPr>
              <a:t> </a:t>
            </a:r>
            <a:r>
              <a:rPr b="1" lang="en-US" sz="2000">
                <a:solidFill>
                  <a:srgbClr val="1C2B4A"/>
                </a:solidFill>
                <a:latin typeface="Georgia"/>
                <a:ea typeface="Georgia"/>
                <a:cs typeface="Georgia"/>
                <a:sym typeface="Georgia"/>
              </a:rPr>
              <a:t>Measured</a:t>
            </a:r>
            <a:endParaRPr i="0" sz="2000" u="none" cap="none" strike="noStrike">
              <a:solidFill>
                <a:srgbClr val="344870"/>
              </a:solidFill>
              <a:latin typeface="Georgia"/>
              <a:ea typeface="Georgia"/>
              <a:cs typeface="Georgia"/>
              <a:sym typeface="Georgia"/>
            </a:endParaRPr>
          </a:p>
        </p:txBody>
      </p:sp>
      <p:sp>
        <p:nvSpPr>
          <p:cNvPr id="289" name="Google Shape;289;p13"/>
          <p:cNvSpPr/>
          <p:nvPr/>
        </p:nvSpPr>
        <p:spPr>
          <a:xfrm>
            <a:off x="35060" y="749825"/>
            <a:ext cx="10974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800"/>
              <a:buFont typeface="Calibri"/>
              <a:buNone/>
            </a:pPr>
            <a:r>
              <a:t/>
            </a:r>
            <a:endParaRPr b="0" i="0" sz="800" u="none" cap="none" strike="noStrike">
              <a:solidFill>
                <a:schemeClr val="dk1"/>
              </a:solidFill>
              <a:latin typeface="Calibri"/>
              <a:ea typeface="Calibri"/>
              <a:cs typeface="Calibri"/>
              <a:sym typeface="Calibri"/>
            </a:endParaRPr>
          </a:p>
        </p:txBody>
      </p:sp>
      <p:sp>
        <p:nvSpPr>
          <p:cNvPr id="290" name="Google Shape;290;p13"/>
          <p:cNvSpPr/>
          <p:nvPr/>
        </p:nvSpPr>
        <p:spPr>
          <a:xfrm>
            <a:off x="365750" y="877901"/>
            <a:ext cx="4572000" cy="512100"/>
          </a:xfrm>
          <a:prstGeom prst="rect">
            <a:avLst/>
          </a:prstGeom>
          <a:solidFill>
            <a:srgbClr val="1C2E44"/>
          </a:solidFill>
          <a:ln cap="flat" cmpd="sng" w="12700">
            <a:solidFill>
              <a:srgbClr val="1C2E4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3"/>
          <p:cNvSpPr/>
          <p:nvPr/>
        </p:nvSpPr>
        <p:spPr>
          <a:xfrm>
            <a:off x="365750" y="877672"/>
            <a:ext cx="4572000" cy="51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C8E3"/>
              </a:buClr>
              <a:buSzPts val="900"/>
              <a:buFont typeface="Calibri"/>
              <a:buNone/>
            </a:pPr>
            <a:r>
              <a:rPr i="1" lang="en-US" sz="900">
                <a:solidFill>
                  <a:srgbClr val="7EC8E3"/>
                </a:solidFill>
                <a:latin typeface="Calibri"/>
                <a:ea typeface="Calibri"/>
                <a:cs typeface="Calibri"/>
                <a:sym typeface="Calibri"/>
              </a:rPr>
              <a:t>Disparity Metrics were applied to the 2024 HMDA dataset to measure how the model treated each racial group</a:t>
            </a:r>
            <a:endParaRPr sz="900">
              <a:solidFill>
                <a:schemeClr val="dk1"/>
              </a:solidFill>
              <a:latin typeface="Calibri"/>
              <a:ea typeface="Calibri"/>
              <a:cs typeface="Calibri"/>
              <a:sym typeface="Calibri"/>
            </a:endParaRPr>
          </a:p>
        </p:txBody>
      </p:sp>
      <p:sp>
        <p:nvSpPr>
          <p:cNvPr id="292" name="Google Shape;292;p13"/>
          <p:cNvSpPr/>
          <p:nvPr/>
        </p:nvSpPr>
        <p:spPr>
          <a:xfrm>
            <a:off x="365760" y="1517904"/>
            <a:ext cx="2011800" cy="219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3"/>
          <p:cNvSpPr/>
          <p:nvPr/>
        </p:nvSpPr>
        <p:spPr>
          <a:xfrm>
            <a:off x="365760" y="1517904"/>
            <a:ext cx="2011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lang="en-US" sz="750">
                <a:solidFill>
                  <a:srgbClr val="FFFFFF"/>
                </a:solidFill>
                <a:latin typeface="Calibri"/>
                <a:ea typeface="Calibri"/>
                <a:cs typeface="Calibri"/>
                <a:sym typeface="Calibri"/>
              </a:rPr>
              <a:t>① MEASURING THE APPROVAL GAP (AIR)</a:t>
            </a:r>
            <a:endParaRPr sz="750">
              <a:solidFill>
                <a:schemeClr val="dk1"/>
              </a:solidFill>
              <a:latin typeface="Calibri"/>
              <a:ea typeface="Calibri"/>
              <a:cs typeface="Calibri"/>
              <a:sym typeface="Calibri"/>
            </a:endParaRPr>
          </a:p>
        </p:txBody>
      </p:sp>
      <p:sp>
        <p:nvSpPr>
          <p:cNvPr id="294" name="Google Shape;294;p13"/>
          <p:cNvSpPr/>
          <p:nvPr/>
        </p:nvSpPr>
        <p:spPr>
          <a:xfrm>
            <a:off x="365760" y="1792224"/>
            <a:ext cx="5029200" cy="768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EC8E3"/>
              </a:buClr>
              <a:buSzPts val="1050"/>
              <a:buFont typeface="Calibri"/>
              <a:buNone/>
            </a:pPr>
            <a:r>
              <a:rPr b="1" lang="en-US" sz="1050">
                <a:solidFill>
                  <a:srgbClr val="FF0000"/>
                </a:solidFill>
                <a:highlight>
                  <a:schemeClr val="lt1"/>
                </a:highlight>
                <a:latin typeface="Calibri"/>
                <a:ea typeface="Calibri"/>
                <a:cs typeface="Calibri"/>
                <a:sym typeface="Calibri"/>
              </a:rPr>
              <a:t>How: </a:t>
            </a:r>
            <a:r>
              <a:rPr lang="en-US" sz="1050">
                <a:solidFill>
                  <a:schemeClr val="dk1"/>
                </a:solidFill>
                <a:latin typeface="Calibri"/>
                <a:ea typeface="Calibri"/>
                <a:cs typeface="Calibri"/>
                <a:sym typeface="Calibri"/>
              </a:rPr>
              <a:t>Each group's approval rate was divided by the Caucasian approval rate  the reference baseline under EEOC fair lending guidelines.</a:t>
            </a:r>
            <a:br>
              <a:rPr lang="en-US" sz="1050">
                <a:solidFill>
                  <a:schemeClr val="dk1"/>
                </a:solidFill>
                <a:latin typeface="Calibri"/>
                <a:ea typeface="Calibri"/>
                <a:cs typeface="Calibri"/>
                <a:sym typeface="Calibri"/>
              </a:rPr>
            </a:br>
            <a:r>
              <a:rPr b="1" lang="en-US" sz="1050">
                <a:solidFill>
                  <a:srgbClr val="FF0000"/>
                </a:solidFill>
                <a:latin typeface="Calibri"/>
                <a:ea typeface="Calibri"/>
                <a:cs typeface="Calibri"/>
                <a:sym typeface="Calibri"/>
              </a:rPr>
              <a:t>What the model showed: </a:t>
            </a:r>
            <a:r>
              <a:rPr lang="en-US" sz="1050">
                <a:solidFill>
                  <a:schemeClr val="dk1"/>
                </a:solidFill>
                <a:latin typeface="Calibri"/>
                <a:ea typeface="Calibri"/>
                <a:cs typeface="Calibri"/>
                <a:sym typeface="Calibri"/>
              </a:rPr>
              <a:t>The model approved African-American applicants at 0.716 vs. 0.839 for Caucasians, producing an</a:t>
            </a:r>
            <a:r>
              <a:rPr lang="en-US" sz="1050">
                <a:solidFill>
                  <a:srgbClr val="D0D5DD"/>
                </a:solidFill>
                <a:latin typeface="Calibri"/>
                <a:ea typeface="Calibri"/>
                <a:cs typeface="Calibri"/>
                <a:sym typeface="Calibri"/>
              </a:rPr>
              <a:t> </a:t>
            </a:r>
            <a:r>
              <a:rPr b="1" lang="en-US" sz="1050">
                <a:solidFill>
                  <a:srgbClr val="F4A261"/>
                </a:solidFill>
                <a:latin typeface="Calibri"/>
                <a:ea typeface="Calibri"/>
                <a:cs typeface="Calibri"/>
                <a:sym typeface="Calibri"/>
              </a:rPr>
              <a:t>AIR of 0.854</a:t>
            </a:r>
            <a:r>
              <a:rPr lang="en-US" sz="1050">
                <a:solidFill>
                  <a:schemeClr val="dk1"/>
                </a:solidFill>
                <a:latin typeface="Calibri"/>
                <a:ea typeface="Calibri"/>
                <a:cs typeface="Calibri"/>
                <a:sym typeface="Calibri"/>
              </a:rPr>
              <a:t>. The model clears the legal 0.80 threshold  but still applies a 14.6% lower approval rate to this group.</a:t>
            </a:r>
            <a:endParaRPr sz="1050">
              <a:solidFill>
                <a:schemeClr val="dk1"/>
              </a:solidFill>
              <a:latin typeface="Calibri"/>
              <a:ea typeface="Calibri"/>
              <a:cs typeface="Calibri"/>
              <a:sym typeface="Calibri"/>
            </a:endParaRPr>
          </a:p>
        </p:txBody>
      </p:sp>
      <p:sp>
        <p:nvSpPr>
          <p:cNvPr id="295" name="Google Shape;295;p13"/>
          <p:cNvSpPr/>
          <p:nvPr/>
        </p:nvSpPr>
        <p:spPr>
          <a:xfrm>
            <a:off x="365760" y="2651760"/>
            <a:ext cx="2011800" cy="219600"/>
          </a:xfrm>
          <a:prstGeom prst="rect">
            <a:avLst/>
          </a:prstGeom>
          <a:solidFill>
            <a:srgbClr val="8B6914"/>
          </a:solidFill>
          <a:ln cap="flat" cmpd="sng" w="12700">
            <a:solidFill>
              <a:srgbClr val="8B69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3"/>
          <p:cNvSpPr/>
          <p:nvPr/>
        </p:nvSpPr>
        <p:spPr>
          <a:xfrm>
            <a:off x="365760" y="2651760"/>
            <a:ext cx="2011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lang="en-US" sz="750">
                <a:solidFill>
                  <a:srgbClr val="FFFFFF"/>
                </a:solidFill>
                <a:latin typeface="Calibri"/>
                <a:ea typeface="Calibri"/>
                <a:cs typeface="Calibri"/>
                <a:sym typeface="Calibri"/>
              </a:rPr>
              <a:t>② MEASURING THE SCALE OF HARM (ME)</a:t>
            </a:r>
            <a:endParaRPr sz="750">
              <a:solidFill>
                <a:schemeClr val="dk1"/>
              </a:solidFill>
              <a:latin typeface="Calibri"/>
              <a:ea typeface="Calibri"/>
              <a:cs typeface="Calibri"/>
              <a:sym typeface="Calibri"/>
            </a:endParaRPr>
          </a:p>
        </p:txBody>
      </p:sp>
      <p:sp>
        <p:nvSpPr>
          <p:cNvPr id="297" name="Google Shape;297;p13"/>
          <p:cNvSpPr/>
          <p:nvPr/>
        </p:nvSpPr>
        <p:spPr>
          <a:xfrm>
            <a:off x="365760" y="2926080"/>
            <a:ext cx="5029200" cy="768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EC8E3"/>
              </a:buClr>
              <a:buSzPts val="1050"/>
              <a:buFont typeface="Calibri"/>
              <a:buNone/>
            </a:pPr>
            <a:r>
              <a:rPr b="1" lang="en-US" sz="1050">
                <a:solidFill>
                  <a:srgbClr val="FF0000"/>
                </a:solidFill>
                <a:latin typeface="Calibri"/>
                <a:ea typeface="Calibri"/>
                <a:cs typeface="Calibri"/>
                <a:sym typeface="Calibri"/>
              </a:rPr>
              <a:t>How:</a:t>
            </a:r>
            <a:r>
              <a:rPr b="1" lang="en-US" sz="1050">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The Caucasian approval rate was subtracted from each group's rate because AIR as a ratio conceals how many people the model's decisions actually affect</a:t>
            </a:r>
            <a:r>
              <a:rPr lang="en-US" sz="1050">
                <a:solidFill>
                  <a:srgbClr val="D0D5DD"/>
                </a:solidFill>
                <a:latin typeface="Calibri"/>
                <a:ea typeface="Calibri"/>
                <a:cs typeface="Calibri"/>
                <a:sym typeface="Calibri"/>
              </a:rPr>
              <a:t>.</a:t>
            </a:r>
            <a:br>
              <a:rPr lang="en-US" sz="1050">
                <a:solidFill>
                  <a:srgbClr val="D0D5DD"/>
                </a:solidFill>
                <a:latin typeface="Calibri"/>
                <a:ea typeface="Calibri"/>
                <a:cs typeface="Calibri"/>
                <a:sym typeface="Calibri"/>
              </a:rPr>
            </a:br>
            <a:r>
              <a:rPr b="1" lang="en-US" sz="1050">
                <a:solidFill>
                  <a:srgbClr val="FF0000"/>
                </a:solidFill>
                <a:latin typeface="Calibri"/>
                <a:ea typeface="Calibri"/>
                <a:cs typeface="Calibri"/>
                <a:sym typeface="Calibri"/>
              </a:rPr>
              <a:t>What the model showed: </a:t>
            </a:r>
            <a:r>
              <a:rPr lang="en-US" sz="1050">
                <a:solidFill>
                  <a:schemeClr val="dk1"/>
                </a:solidFill>
                <a:latin typeface="Calibri"/>
                <a:ea typeface="Calibri"/>
                <a:cs typeface="Calibri"/>
                <a:sym typeface="Calibri"/>
              </a:rPr>
              <a:t>The model produced an African-American ME o</a:t>
            </a:r>
            <a:r>
              <a:rPr lang="en-US" sz="1050">
                <a:solidFill>
                  <a:srgbClr val="D0D5DD"/>
                </a:solidFill>
                <a:latin typeface="Calibri"/>
                <a:ea typeface="Calibri"/>
                <a:cs typeface="Calibri"/>
                <a:sym typeface="Calibri"/>
              </a:rPr>
              <a:t>f </a:t>
            </a:r>
            <a:r>
              <a:rPr b="1" lang="en-US" sz="1050">
                <a:solidFill>
                  <a:srgbClr val="E07070"/>
                </a:solidFill>
                <a:latin typeface="Calibri"/>
                <a:ea typeface="Calibri"/>
                <a:cs typeface="Calibri"/>
                <a:sym typeface="Calibri"/>
              </a:rPr>
              <a:t>−0.123</a:t>
            </a:r>
            <a:r>
              <a:rPr lang="en-US" sz="1050">
                <a:solidFill>
                  <a:srgbClr val="D0D5DD"/>
                </a:solidFill>
                <a:latin typeface="Calibri"/>
                <a:ea typeface="Calibri"/>
                <a:cs typeface="Calibri"/>
                <a:sym typeface="Calibri"/>
              </a:rPr>
              <a:t>. </a:t>
            </a:r>
            <a:r>
              <a:rPr lang="en-US" sz="1050">
                <a:solidFill>
                  <a:schemeClr val="dk1"/>
                </a:solidFill>
                <a:latin typeface="Calibri"/>
                <a:ea typeface="Calibri"/>
                <a:cs typeface="Calibri"/>
                <a:sym typeface="Calibri"/>
              </a:rPr>
              <a:t>Across 607,746 African-American applicants in this dataset, that gap represents tens of thousands of additional denials.</a:t>
            </a:r>
            <a:endParaRPr sz="1050">
              <a:solidFill>
                <a:schemeClr val="dk1"/>
              </a:solidFill>
              <a:latin typeface="Calibri"/>
              <a:ea typeface="Calibri"/>
              <a:cs typeface="Calibri"/>
              <a:sym typeface="Calibri"/>
            </a:endParaRPr>
          </a:p>
        </p:txBody>
      </p:sp>
      <p:sp>
        <p:nvSpPr>
          <p:cNvPr id="298" name="Google Shape;298;p13"/>
          <p:cNvSpPr/>
          <p:nvPr/>
        </p:nvSpPr>
        <p:spPr>
          <a:xfrm>
            <a:off x="365760" y="3785616"/>
            <a:ext cx="2377500" cy="219600"/>
          </a:xfrm>
          <a:prstGeom prst="rect">
            <a:avLst/>
          </a:prstGeom>
          <a:solidFill>
            <a:srgbClr val="2E6B3E"/>
          </a:solidFill>
          <a:ln cap="flat" cmpd="sng" w="12700">
            <a:solidFill>
              <a:srgbClr val="2E6B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3"/>
          <p:cNvSpPr/>
          <p:nvPr/>
        </p:nvSpPr>
        <p:spPr>
          <a:xfrm>
            <a:off x="365760" y="3785616"/>
            <a:ext cx="23775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lang="en-US" sz="750">
                <a:solidFill>
                  <a:srgbClr val="FFFFFF"/>
                </a:solidFill>
                <a:latin typeface="Calibri"/>
                <a:ea typeface="Calibri"/>
                <a:cs typeface="Calibri"/>
                <a:sym typeface="Calibri"/>
              </a:rPr>
              <a:t>③ TRACING THE ERROR SOURCE (SMD)</a:t>
            </a:r>
            <a:endParaRPr sz="750">
              <a:solidFill>
                <a:schemeClr val="dk1"/>
              </a:solidFill>
              <a:latin typeface="Calibri"/>
              <a:ea typeface="Calibri"/>
              <a:cs typeface="Calibri"/>
              <a:sym typeface="Calibri"/>
            </a:endParaRPr>
          </a:p>
        </p:txBody>
      </p:sp>
      <p:sp>
        <p:nvSpPr>
          <p:cNvPr id="300" name="Google Shape;300;p13"/>
          <p:cNvSpPr/>
          <p:nvPr/>
        </p:nvSpPr>
        <p:spPr>
          <a:xfrm>
            <a:off x="365760" y="4059936"/>
            <a:ext cx="5029200" cy="896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EC8E3"/>
              </a:buClr>
              <a:buSzPts val="1050"/>
              <a:buFont typeface="Calibri"/>
              <a:buNone/>
            </a:pPr>
            <a:r>
              <a:rPr b="1" lang="en-US" sz="1050">
                <a:solidFill>
                  <a:srgbClr val="FF0000"/>
                </a:solidFill>
                <a:latin typeface="Calibri"/>
                <a:ea typeface="Calibri"/>
                <a:cs typeface="Calibri"/>
                <a:sym typeface="Calibri"/>
              </a:rPr>
              <a:t>How: </a:t>
            </a:r>
            <a:r>
              <a:rPr b="1" lang="en-US" sz="1050">
                <a:solidFill>
                  <a:schemeClr val="dk1"/>
                </a:solidFill>
                <a:latin typeface="Calibri"/>
                <a:ea typeface="Calibri"/>
                <a:cs typeface="Calibri"/>
                <a:sym typeface="Calibri"/>
              </a:rPr>
              <a:t>SMD</a:t>
            </a:r>
            <a:r>
              <a:rPr lang="en-US" sz="1050">
                <a:solidFill>
                  <a:schemeClr val="dk1"/>
                </a:solidFill>
                <a:latin typeface="Calibri"/>
                <a:ea typeface="Calibri"/>
                <a:cs typeface="Calibri"/>
                <a:sym typeface="Calibri"/>
              </a:rPr>
              <a:t> (Group Mean − Caucasian Mean) ÷ Pooled SD  was computed for each feature to test whether the model was using it as a racial proxy.</a:t>
            </a:r>
            <a:br>
              <a:rPr lang="en-US" sz="1050">
                <a:solidFill>
                  <a:srgbClr val="D0D5DD"/>
                </a:solidFill>
                <a:latin typeface="Calibri"/>
                <a:ea typeface="Calibri"/>
                <a:cs typeface="Calibri"/>
                <a:sym typeface="Calibri"/>
              </a:rPr>
            </a:br>
            <a:r>
              <a:rPr b="1" lang="en-US" sz="1050">
                <a:solidFill>
                  <a:srgbClr val="FF0000"/>
                </a:solidFill>
                <a:latin typeface="Calibri"/>
                <a:ea typeface="Calibri"/>
                <a:cs typeface="Calibri"/>
                <a:sym typeface="Calibri"/>
              </a:rPr>
              <a:t>What the model showed:</a:t>
            </a:r>
            <a:r>
              <a:rPr b="1" lang="en-US" sz="1050">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The model scored relative_income at SMD 0.001–0.008 across all groups </a:t>
            </a:r>
            <a:r>
              <a:rPr lang="en-US" sz="1050">
                <a:solidFill>
                  <a:srgbClr val="2E6B3E"/>
                </a:solidFill>
                <a:latin typeface="Calibri"/>
                <a:ea typeface="Calibri"/>
                <a:cs typeface="Calibri"/>
                <a:sym typeface="Calibri"/>
              </a:rPr>
              <a:t> </a:t>
            </a:r>
            <a:r>
              <a:rPr lang="en-US" sz="1050">
                <a:solidFill>
                  <a:srgbClr val="6AA84F"/>
                </a:solidFill>
                <a:latin typeface="Calibri"/>
                <a:ea typeface="Calibri"/>
                <a:cs typeface="Calibri"/>
                <a:sym typeface="Calibri"/>
              </a:rPr>
              <a:t>(</a:t>
            </a:r>
            <a:r>
              <a:rPr b="1" lang="en-US" sz="1050">
                <a:solidFill>
                  <a:srgbClr val="6AA84F"/>
                </a:solidFill>
                <a:latin typeface="Calibri"/>
                <a:ea typeface="Calibri"/>
                <a:cs typeface="Calibri"/>
                <a:sym typeface="Calibri"/>
              </a:rPr>
              <a:t>negligible</a:t>
            </a:r>
            <a:r>
              <a:rPr b="1" lang="en-US" sz="1050">
                <a:solidFill>
                  <a:srgbClr val="6AA84F"/>
                </a:solidFill>
                <a:latin typeface="Calibri"/>
                <a:ea typeface="Calibri"/>
                <a:cs typeface="Calibri"/>
                <a:sym typeface="Calibri"/>
              </a:rPr>
              <a:t>)</a:t>
            </a:r>
            <a:r>
              <a:rPr lang="en-US" sz="1050">
                <a:solidFill>
                  <a:srgbClr val="D0D5DD"/>
                </a:solidFill>
                <a:latin typeface="Calibri"/>
                <a:ea typeface="Calibri"/>
                <a:cs typeface="Calibri"/>
                <a:sym typeface="Calibri"/>
              </a:rPr>
              <a:t>. </a:t>
            </a:r>
            <a:r>
              <a:rPr lang="en-US" sz="1050">
                <a:solidFill>
                  <a:schemeClr val="dk1"/>
                </a:solidFill>
                <a:latin typeface="Calibri"/>
                <a:ea typeface="Calibri"/>
                <a:cs typeface="Calibri"/>
                <a:sym typeface="Calibri"/>
              </a:rPr>
              <a:t>This feature is not the source; the model's bias enters through interactions with other variables.</a:t>
            </a:r>
            <a:endParaRPr sz="1050">
              <a:solidFill>
                <a:schemeClr val="dk1"/>
              </a:solidFill>
              <a:latin typeface="Calibri"/>
              <a:ea typeface="Calibri"/>
              <a:cs typeface="Calibri"/>
              <a:sym typeface="Calibri"/>
            </a:endParaRPr>
          </a:p>
        </p:txBody>
      </p:sp>
      <p:sp>
        <p:nvSpPr>
          <p:cNvPr id="301" name="Google Shape;301;p13"/>
          <p:cNvSpPr/>
          <p:nvPr/>
        </p:nvSpPr>
        <p:spPr>
          <a:xfrm>
            <a:off x="5914250" y="0"/>
            <a:ext cx="3272400" cy="5143500"/>
          </a:xfrm>
          <a:prstGeom prst="rect">
            <a:avLst/>
          </a:prstGeom>
          <a:solidFill>
            <a:srgbClr val="162033"/>
          </a:solidFill>
          <a:ln cap="flat" cmpd="sng" w="12700">
            <a:solidFill>
              <a:srgbClr val="16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3"/>
          <p:cNvSpPr/>
          <p:nvPr/>
        </p:nvSpPr>
        <p:spPr>
          <a:xfrm>
            <a:off x="7377285" y="201168"/>
            <a:ext cx="16917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850"/>
              <a:buFont typeface="Calibri"/>
              <a:buNone/>
            </a:pPr>
            <a:r>
              <a:t/>
            </a:r>
            <a:endParaRPr sz="850">
              <a:solidFill>
                <a:schemeClr val="dk1"/>
              </a:solidFill>
              <a:latin typeface="Calibri"/>
              <a:ea typeface="Calibri"/>
              <a:cs typeface="Calibri"/>
              <a:sym typeface="Calibri"/>
            </a:endParaRPr>
          </a:p>
        </p:txBody>
      </p:sp>
      <p:sp>
        <p:nvSpPr>
          <p:cNvPr id="303" name="Google Shape;303;p13"/>
          <p:cNvSpPr/>
          <p:nvPr/>
        </p:nvSpPr>
        <p:spPr>
          <a:xfrm>
            <a:off x="5914245" y="256032"/>
            <a:ext cx="31548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EC8E3"/>
              </a:buClr>
              <a:buSzPts val="800"/>
              <a:buFont typeface="Calibri"/>
              <a:buNone/>
            </a:pPr>
            <a:r>
              <a:rPr b="1" lang="en-US" sz="800">
                <a:solidFill>
                  <a:srgbClr val="7EC8E3"/>
                </a:solidFill>
                <a:latin typeface="Calibri"/>
                <a:ea typeface="Calibri"/>
                <a:cs typeface="Calibri"/>
                <a:sym typeface="Calibri"/>
              </a:rPr>
              <a:t>SUBGROUP ERROR RESULTS · BY RACE</a:t>
            </a:r>
            <a:endParaRPr sz="800">
              <a:solidFill>
                <a:schemeClr val="dk1"/>
              </a:solidFill>
              <a:latin typeface="Calibri"/>
              <a:ea typeface="Calibri"/>
              <a:cs typeface="Calibri"/>
              <a:sym typeface="Calibri"/>
            </a:endParaRPr>
          </a:p>
        </p:txBody>
      </p:sp>
      <p:sp>
        <p:nvSpPr>
          <p:cNvPr id="304" name="Google Shape;304;p13"/>
          <p:cNvSpPr/>
          <p:nvPr/>
        </p:nvSpPr>
        <p:spPr>
          <a:xfrm>
            <a:off x="5914245" y="457200"/>
            <a:ext cx="31548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800"/>
              <a:buFont typeface="Calibri"/>
              <a:buNone/>
            </a:pPr>
            <a:r>
              <a:rPr i="1" lang="en-US" sz="800">
                <a:solidFill>
                  <a:srgbClr val="8899AA"/>
                </a:solidFill>
                <a:latin typeface="Calibri"/>
                <a:ea typeface="Calibri"/>
                <a:cs typeface="Calibri"/>
                <a:sym typeface="Calibri"/>
              </a:rPr>
              <a:t>2024 HMDA Data — Caucasian as reference baseline</a:t>
            </a:r>
            <a:endParaRPr sz="800">
              <a:solidFill>
                <a:schemeClr val="dk1"/>
              </a:solidFill>
              <a:latin typeface="Calibri"/>
              <a:ea typeface="Calibri"/>
              <a:cs typeface="Calibri"/>
              <a:sym typeface="Calibri"/>
            </a:endParaRPr>
          </a:p>
        </p:txBody>
      </p:sp>
      <p:cxnSp>
        <p:nvCxnSpPr>
          <p:cNvPr id="305" name="Google Shape;305;p13"/>
          <p:cNvCxnSpPr/>
          <p:nvPr/>
        </p:nvCxnSpPr>
        <p:spPr>
          <a:xfrm>
            <a:off x="6051405" y="658368"/>
            <a:ext cx="2880300" cy="0"/>
          </a:xfrm>
          <a:prstGeom prst="straightConnector1">
            <a:avLst/>
          </a:prstGeom>
          <a:noFill/>
          <a:ln cap="flat" cmpd="sng" w="12700">
            <a:solidFill>
              <a:srgbClr val="2A3F58"/>
            </a:solidFill>
            <a:prstDash val="solid"/>
            <a:round/>
            <a:headEnd len="sm" w="sm" type="none"/>
            <a:tailEnd len="sm" w="sm" type="none"/>
          </a:ln>
        </p:spPr>
      </p:cxnSp>
      <p:sp>
        <p:nvSpPr>
          <p:cNvPr id="306" name="Google Shape;306;p13"/>
          <p:cNvSpPr/>
          <p:nvPr/>
        </p:nvSpPr>
        <p:spPr>
          <a:xfrm>
            <a:off x="5959965" y="713232"/>
            <a:ext cx="2926200" cy="365700"/>
          </a:xfrm>
          <a:prstGeom prst="rect">
            <a:avLst/>
          </a:prstGeom>
          <a:solidFill>
            <a:srgbClr val="0F1D2E"/>
          </a:solidFill>
          <a:ln cap="flat" cmpd="sng" w="12700">
            <a:solidFill>
              <a:srgbClr val="2A4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13"/>
          <p:cNvSpPr/>
          <p:nvPr/>
        </p:nvSpPr>
        <p:spPr>
          <a:xfrm>
            <a:off x="6005685" y="731520"/>
            <a:ext cx="28347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800"/>
              <a:buFont typeface="Calibri"/>
              <a:buNone/>
            </a:pPr>
            <a:r>
              <a:rPr b="1" lang="en-US" sz="800">
                <a:solidFill>
                  <a:srgbClr val="F4A261"/>
                </a:solidFill>
                <a:latin typeface="Calibri"/>
                <a:ea typeface="Calibri"/>
                <a:cs typeface="Calibri"/>
                <a:sym typeface="Calibri"/>
              </a:rPr>
              <a:t>AIR</a:t>
            </a:r>
            <a:r>
              <a:rPr lang="en-US" sz="800">
                <a:solidFill>
                  <a:srgbClr val="D0D5DD"/>
                </a:solidFill>
                <a:latin typeface="Calibri"/>
                <a:ea typeface="Calibri"/>
                <a:cs typeface="Calibri"/>
                <a:sym typeface="Calibri"/>
              </a:rPr>
              <a:t> = Rate ÷ Ref   </a:t>
            </a:r>
            <a:r>
              <a:rPr b="1" lang="en-US" sz="800">
                <a:solidFill>
                  <a:srgbClr val="E07070"/>
                </a:solidFill>
                <a:latin typeface="Calibri"/>
                <a:ea typeface="Calibri"/>
                <a:cs typeface="Calibri"/>
                <a:sym typeface="Calibri"/>
              </a:rPr>
              <a:t>ME</a:t>
            </a:r>
            <a:r>
              <a:rPr lang="en-US" sz="800">
                <a:solidFill>
                  <a:srgbClr val="D0D5DD"/>
                </a:solidFill>
                <a:latin typeface="Calibri"/>
                <a:ea typeface="Calibri"/>
                <a:cs typeface="Calibri"/>
                <a:sym typeface="Calibri"/>
              </a:rPr>
              <a:t> = Rate − Ref</a:t>
            </a:r>
            <a:br>
              <a:rPr lang="en-US" sz="800">
                <a:solidFill>
                  <a:srgbClr val="D0D5DD"/>
                </a:solidFill>
                <a:latin typeface="Calibri"/>
                <a:ea typeface="Calibri"/>
                <a:cs typeface="Calibri"/>
                <a:sym typeface="Calibri"/>
              </a:rPr>
            </a:br>
            <a:r>
              <a:rPr b="1" lang="en-US" sz="800">
                <a:solidFill>
                  <a:srgbClr val="52B788"/>
                </a:solidFill>
                <a:latin typeface="Calibri"/>
                <a:ea typeface="Calibri"/>
                <a:cs typeface="Calibri"/>
                <a:sym typeface="Calibri"/>
              </a:rPr>
              <a:t>SMD</a:t>
            </a:r>
            <a:r>
              <a:rPr lang="en-US" sz="800">
                <a:solidFill>
                  <a:srgbClr val="D0D5DD"/>
                </a:solidFill>
                <a:latin typeface="Calibri"/>
                <a:ea typeface="Calibri"/>
                <a:cs typeface="Calibri"/>
                <a:sym typeface="Calibri"/>
              </a:rPr>
              <a:t> = (μ_group − μ_ref) ÷ Pooled SD</a:t>
            </a:r>
            <a:endParaRPr sz="800">
              <a:solidFill>
                <a:schemeClr val="dk1"/>
              </a:solidFill>
              <a:latin typeface="Calibri"/>
              <a:ea typeface="Calibri"/>
              <a:cs typeface="Calibri"/>
              <a:sym typeface="Calibri"/>
            </a:endParaRPr>
          </a:p>
        </p:txBody>
      </p:sp>
      <p:sp>
        <p:nvSpPr>
          <p:cNvPr id="308" name="Google Shape;308;p13"/>
          <p:cNvSpPr/>
          <p:nvPr/>
        </p:nvSpPr>
        <p:spPr>
          <a:xfrm>
            <a:off x="5969109" y="1152144"/>
            <a:ext cx="10515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50"/>
              <a:buFont typeface="Calibri"/>
              <a:buNone/>
            </a:pPr>
            <a:r>
              <a:rPr b="1" lang="en-US" sz="750">
                <a:solidFill>
                  <a:srgbClr val="8899AA"/>
                </a:solidFill>
                <a:latin typeface="Calibri"/>
                <a:ea typeface="Calibri"/>
                <a:cs typeface="Calibri"/>
                <a:sym typeface="Calibri"/>
              </a:rPr>
              <a:t>GROUP</a:t>
            </a:r>
            <a:endParaRPr sz="750">
              <a:solidFill>
                <a:schemeClr val="dk1"/>
              </a:solidFill>
              <a:latin typeface="Calibri"/>
              <a:ea typeface="Calibri"/>
              <a:cs typeface="Calibri"/>
              <a:sym typeface="Calibri"/>
            </a:endParaRPr>
          </a:p>
        </p:txBody>
      </p:sp>
      <p:sp>
        <p:nvSpPr>
          <p:cNvPr id="309" name="Google Shape;309;p13"/>
          <p:cNvSpPr/>
          <p:nvPr/>
        </p:nvSpPr>
        <p:spPr>
          <a:xfrm>
            <a:off x="7029813" y="1152144"/>
            <a:ext cx="457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750"/>
              <a:buFont typeface="Calibri"/>
              <a:buNone/>
            </a:pPr>
            <a:r>
              <a:rPr b="1" lang="en-US" sz="750">
                <a:solidFill>
                  <a:srgbClr val="8899AA"/>
                </a:solidFill>
                <a:latin typeface="Calibri"/>
                <a:ea typeface="Calibri"/>
                <a:cs typeface="Calibri"/>
                <a:sym typeface="Calibri"/>
              </a:rPr>
              <a:t>RATE</a:t>
            </a:r>
            <a:endParaRPr sz="750">
              <a:solidFill>
                <a:schemeClr val="dk1"/>
              </a:solidFill>
              <a:latin typeface="Calibri"/>
              <a:ea typeface="Calibri"/>
              <a:cs typeface="Calibri"/>
              <a:sym typeface="Calibri"/>
            </a:endParaRPr>
          </a:p>
        </p:txBody>
      </p:sp>
      <p:sp>
        <p:nvSpPr>
          <p:cNvPr id="310" name="Google Shape;310;p13"/>
          <p:cNvSpPr/>
          <p:nvPr/>
        </p:nvSpPr>
        <p:spPr>
          <a:xfrm>
            <a:off x="7496157" y="1152144"/>
            <a:ext cx="4572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750"/>
              <a:buFont typeface="Calibri"/>
              <a:buNone/>
            </a:pPr>
            <a:r>
              <a:rPr b="1" lang="en-US" sz="750">
                <a:solidFill>
                  <a:srgbClr val="8899AA"/>
                </a:solidFill>
                <a:latin typeface="Calibri"/>
                <a:ea typeface="Calibri"/>
                <a:cs typeface="Calibri"/>
                <a:sym typeface="Calibri"/>
              </a:rPr>
              <a:t>AIR</a:t>
            </a:r>
            <a:endParaRPr sz="750">
              <a:solidFill>
                <a:schemeClr val="dk1"/>
              </a:solidFill>
              <a:latin typeface="Calibri"/>
              <a:ea typeface="Calibri"/>
              <a:cs typeface="Calibri"/>
              <a:sym typeface="Calibri"/>
            </a:endParaRPr>
          </a:p>
        </p:txBody>
      </p:sp>
      <p:sp>
        <p:nvSpPr>
          <p:cNvPr id="311" name="Google Shape;311;p13"/>
          <p:cNvSpPr/>
          <p:nvPr/>
        </p:nvSpPr>
        <p:spPr>
          <a:xfrm>
            <a:off x="7962501" y="1152144"/>
            <a:ext cx="502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750"/>
              <a:buFont typeface="Calibri"/>
              <a:buNone/>
            </a:pPr>
            <a:r>
              <a:rPr b="1" lang="en-US" sz="750">
                <a:solidFill>
                  <a:srgbClr val="8899AA"/>
                </a:solidFill>
                <a:latin typeface="Calibri"/>
                <a:ea typeface="Calibri"/>
                <a:cs typeface="Calibri"/>
                <a:sym typeface="Calibri"/>
              </a:rPr>
              <a:t>ME</a:t>
            </a:r>
            <a:endParaRPr sz="750">
              <a:solidFill>
                <a:schemeClr val="dk1"/>
              </a:solidFill>
              <a:latin typeface="Calibri"/>
              <a:ea typeface="Calibri"/>
              <a:cs typeface="Calibri"/>
              <a:sym typeface="Calibri"/>
            </a:endParaRPr>
          </a:p>
        </p:txBody>
      </p:sp>
      <p:sp>
        <p:nvSpPr>
          <p:cNvPr id="312" name="Google Shape;312;p13"/>
          <p:cNvSpPr/>
          <p:nvPr/>
        </p:nvSpPr>
        <p:spPr>
          <a:xfrm>
            <a:off x="8321040" y="1152144"/>
            <a:ext cx="502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750"/>
              <a:buFont typeface="Calibri"/>
              <a:buNone/>
            </a:pPr>
            <a:r>
              <a:rPr b="1" lang="en-US" sz="750">
                <a:solidFill>
                  <a:srgbClr val="8899AA"/>
                </a:solidFill>
                <a:latin typeface="Calibri"/>
                <a:ea typeface="Calibri"/>
                <a:cs typeface="Calibri"/>
                <a:sym typeface="Calibri"/>
              </a:rPr>
              <a:t>SMD</a:t>
            </a:r>
            <a:endParaRPr sz="750">
              <a:solidFill>
                <a:schemeClr val="dk1"/>
              </a:solidFill>
              <a:latin typeface="Calibri"/>
              <a:ea typeface="Calibri"/>
              <a:cs typeface="Calibri"/>
              <a:sym typeface="Calibri"/>
            </a:endParaRPr>
          </a:p>
        </p:txBody>
      </p:sp>
      <p:sp>
        <p:nvSpPr>
          <p:cNvPr id="313" name="Google Shape;313;p13"/>
          <p:cNvSpPr/>
          <p:nvPr/>
        </p:nvSpPr>
        <p:spPr>
          <a:xfrm>
            <a:off x="5941677" y="1335024"/>
            <a:ext cx="2990100" cy="438900"/>
          </a:xfrm>
          <a:prstGeom prst="rect">
            <a:avLst/>
          </a:prstGeom>
          <a:solidFill>
            <a:srgbClr val="1A2B40"/>
          </a:solidFill>
          <a:ln cap="flat" cmpd="sng" w="12700">
            <a:solidFill>
              <a:srgbClr val="1A2B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3"/>
          <p:cNvSpPr/>
          <p:nvPr/>
        </p:nvSpPr>
        <p:spPr>
          <a:xfrm>
            <a:off x="5969109" y="1426464"/>
            <a:ext cx="10425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African-American</a:t>
            </a:r>
            <a:endParaRPr sz="900">
              <a:solidFill>
                <a:schemeClr val="dk1"/>
              </a:solidFill>
              <a:latin typeface="Calibri"/>
              <a:ea typeface="Calibri"/>
              <a:cs typeface="Calibri"/>
              <a:sym typeface="Calibri"/>
            </a:endParaRPr>
          </a:p>
        </p:txBody>
      </p:sp>
      <p:sp>
        <p:nvSpPr>
          <p:cNvPr id="315" name="Google Shape;315;p13"/>
          <p:cNvSpPr/>
          <p:nvPr/>
        </p:nvSpPr>
        <p:spPr>
          <a:xfrm>
            <a:off x="7029813" y="1426464"/>
            <a:ext cx="45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0.716</a:t>
            </a:r>
            <a:endParaRPr sz="900">
              <a:solidFill>
                <a:schemeClr val="dk1"/>
              </a:solidFill>
              <a:latin typeface="Calibri"/>
              <a:ea typeface="Calibri"/>
              <a:cs typeface="Calibri"/>
              <a:sym typeface="Calibri"/>
            </a:endParaRPr>
          </a:p>
        </p:txBody>
      </p:sp>
      <p:sp>
        <p:nvSpPr>
          <p:cNvPr id="316" name="Google Shape;316;p13"/>
          <p:cNvSpPr/>
          <p:nvPr/>
        </p:nvSpPr>
        <p:spPr>
          <a:xfrm>
            <a:off x="7496157" y="1426464"/>
            <a:ext cx="45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1000"/>
              <a:buFont typeface="Calibri"/>
              <a:buNone/>
            </a:pPr>
            <a:r>
              <a:rPr b="1" lang="en-US" sz="1000">
                <a:solidFill>
                  <a:srgbClr val="F4A261"/>
                </a:solidFill>
                <a:latin typeface="Calibri"/>
                <a:ea typeface="Calibri"/>
                <a:cs typeface="Calibri"/>
                <a:sym typeface="Calibri"/>
              </a:rPr>
              <a:t>0.854</a:t>
            </a:r>
            <a:endParaRPr sz="1000">
              <a:solidFill>
                <a:schemeClr val="dk1"/>
              </a:solidFill>
              <a:latin typeface="Calibri"/>
              <a:ea typeface="Calibri"/>
              <a:cs typeface="Calibri"/>
              <a:sym typeface="Calibri"/>
            </a:endParaRPr>
          </a:p>
        </p:txBody>
      </p:sp>
      <p:sp>
        <p:nvSpPr>
          <p:cNvPr id="317" name="Google Shape;317;p13"/>
          <p:cNvSpPr/>
          <p:nvPr/>
        </p:nvSpPr>
        <p:spPr>
          <a:xfrm>
            <a:off x="7962501" y="1426464"/>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−0.123</a:t>
            </a:r>
            <a:endParaRPr sz="900">
              <a:solidFill>
                <a:schemeClr val="dk1"/>
              </a:solidFill>
              <a:latin typeface="Calibri"/>
              <a:ea typeface="Calibri"/>
              <a:cs typeface="Calibri"/>
              <a:sym typeface="Calibri"/>
            </a:endParaRPr>
          </a:p>
        </p:txBody>
      </p:sp>
      <p:sp>
        <p:nvSpPr>
          <p:cNvPr id="318" name="Google Shape;318;p13"/>
          <p:cNvSpPr/>
          <p:nvPr/>
        </p:nvSpPr>
        <p:spPr>
          <a:xfrm>
            <a:off x="8321040" y="1426464"/>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0.001</a:t>
            </a:r>
            <a:endParaRPr sz="900">
              <a:solidFill>
                <a:schemeClr val="dk1"/>
              </a:solidFill>
              <a:latin typeface="Calibri"/>
              <a:ea typeface="Calibri"/>
              <a:cs typeface="Calibri"/>
              <a:sym typeface="Calibri"/>
            </a:endParaRPr>
          </a:p>
        </p:txBody>
      </p:sp>
      <p:sp>
        <p:nvSpPr>
          <p:cNvPr id="319" name="Google Shape;319;p13"/>
          <p:cNvSpPr/>
          <p:nvPr/>
        </p:nvSpPr>
        <p:spPr>
          <a:xfrm>
            <a:off x="5941677" y="1810512"/>
            <a:ext cx="2990100" cy="438900"/>
          </a:xfrm>
          <a:prstGeom prst="rect">
            <a:avLst/>
          </a:prstGeom>
          <a:solidFill>
            <a:srgbClr val="162033"/>
          </a:solidFill>
          <a:ln cap="flat" cmpd="sng" w="12700">
            <a:solidFill>
              <a:srgbClr val="16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3"/>
          <p:cNvSpPr/>
          <p:nvPr/>
        </p:nvSpPr>
        <p:spPr>
          <a:xfrm>
            <a:off x="5969109" y="1901952"/>
            <a:ext cx="10425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Minority</a:t>
            </a:r>
            <a:endParaRPr sz="900">
              <a:solidFill>
                <a:schemeClr val="dk1"/>
              </a:solidFill>
              <a:latin typeface="Calibri"/>
              <a:ea typeface="Calibri"/>
              <a:cs typeface="Calibri"/>
              <a:sym typeface="Calibri"/>
            </a:endParaRPr>
          </a:p>
        </p:txBody>
      </p:sp>
      <p:sp>
        <p:nvSpPr>
          <p:cNvPr id="321" name="Google Shape;321;p13"/>
          <p:cNvSpPr/>
          <p:nvPr/>
        </p:nvSpPr>
        <p:spPr>
          <a:xfrm>
            <a:off x="7029813" y="1901952"/>
            <a:ext cx="45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0.719</a:t>
            </a:r>
            <a:endParaRPr sz="900">
              <a:solidFill>
                <a:schemeClr val="dk1"/>
              </a:solidFill>
              <a:latin typeface="Calibri"/>
              <a:ea typeface="Calibri"/>
              <a:cs typeface="Calibri"/>
              <a:sym typeface="Calibri"/>
            </a:endParaRPr>
          </a:p>
        </p:txBody>
      </p:sp>
      <p:sp>
        <p:nvSpPr>
          <p:cNvPr id="322" name="Google Shape;322;p13"/>
          <p:cNvSpPr/>
          <p:nvPr/>
        </p:nvSpPr>
        <p:spPr>
          <a:xfrm>
            <a:off x="7496157" y="1901952"/>
            <a:ext cx="45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1000"/>
              <a:buFont typeface="Calibri"/>
              <a:buNone/>
            </a:pPr>
            <a:r>
              <a:rPr b="1" lang="en-US" sz="1000">
                <a:solidFill>
                  <a:srgbClr val="F4A261"/>
                </a:solidFill>
                <a:latin typeface="Calibri"/>
                <a:ea typeface="Calibri"/>
                <a:cs typeface="Calibri"/>
                <a:sym typeface="Calibri"/>
              </a:rPr>
              <a:t>0.856</a:t>
            </a:r>
            <a:endParaRPr sz="1000">
              <a:solidFill>
                <a:schemeClr val="dk1"/>
              </a:solidFill>
              <a:latin typeface="Calibri"/>
              <a:ea typeface="Calibri"/>
              <a:cs typeface="Calibri"/>
              <a:sym typeface="Calibri"/>
            </a:endParaRPr>
          </a:p>
        </p:txBody>
      </p:sp>
      <p:sp>
        <p:nvSpPr>
          <p:cNvPr id="323" name="Google Shape;323;p13"/>
          <p:cNvSpPr/>
          <p:nvPr/>
        </p:nvSpPr>
        <p:spPr>
          <a:xfrm>
            <a:off x="7962501" y="1901952"/>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−0.121</a:t>
            </a:r>
            <a:endParaRPr sz="900">
              <a:solidFill>
                <a:schemeClr val="dk1"/>
              </a:solidFill>
              <a:latin typeface="Calibri"/>
              <a:ea typeface="Calibri"/>
              <a:cs typeface="Calibri"/>
              <a:sym typeface="Calibri"/>
            </a:endParaRPr>
          </a:p>
        </p:txBody>
      </p:sp>
      <p:sp>
        <p:nvSpPr>
          <p:cNvPr id="324" name="Google Shape;324;p13"/>
          <p:cNvSpPr/>
          <p:nvPr/>
        </p:nvSpPr>
        <p:spPr>
          <a:xfrm>
            <a:off x="8321040" y="1901952"/>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0.008</a:t>
            </a:r>
            <a:endParaRPr sz="900">
              <a:solidFill>
                <a:schemeClr val="dk1"/>
              </a:solidFill>
              <a:latin typeface="Calibri"/>
              <a:ea typeface="Calibri"/>
              <a:cs typeface="Calibri"/>
              <a:sym typeface="Calibri"/>
            </a:endParaRPr>
          </a:p>
        </p:txBody>
      </p:sp>
      <p:sp>
        <p:nvSpPr>
          <p:cNvPr id="325" name="Google Shape;325;p13"/>
          <p:cNvSpPr/>
          <p:nvPr/>
        </p:nvSpPr>
        <p:spPr>
          <a:xfrm>
            <a:off x="5941677" y="2286000"/>
            <a:ext cx="2990100" cy="438900"/>
          </a:xfrm>
          <a:prstGeom prst="rect">
            <a:avLst/>
          </a:prstGeom>
          <a:solidFill>
            <a:srgbClr val="1A2B40"/>
          </a:solidFill>
          <a:ln cap="flat" cmpd="sng" w="12700">
            <a:solidFill>
              <a:srgbClr val="1A2B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3"/>
          <p:cNvSpPr/>
          <p:nvPr/>
        </p:nvSpPr>
        <p:spPr>
          <a:xfrm>
            <a:off x="5969109" y="2377440"/>
            <a:ext cx="10425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Caucasian</a:t>
            </a:r>
            <a:endParaRPr sz="900">
              <a:solidFill>
                <a:schemeClr val="dk1"/>
              </a:solidFill>
              <a:latin typeface="Calibri"/>
              <a:ea typeface="Calibri"/>
              <a:cs typeface="Calibri"/>
              <a:sym typeface="Calibri"/>
            </a:endParaRPr>
          </a:p>
        </p:txBody>
      </p:sp>
      <p:sp>
        <p:nvSpPr>
          <p:cNvPr id="327" name="Google Shape;327;p13"/>
          <p:cNvSpPr/>
          <p:nvPr/>
        </p:nvSpPr>
        <p:spPr>
          <a:xfrm>
            <a:off x="7029813" y="2377440"/>
            <a:ext cx="45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0.839</a:t>
            </a:r>
            <a:endParaRPr sz="900">
              <a:solidFill>
                <a:schemeClr val="dk1"/>
              </a:solidFill>
              <a:latin typeface="Calibri"/>
              <a:ea typeface="Calibri"/>
              <a:cs typeface="Calibri"/>
              <a:sym typeface="Calibri"/>
            </a:endParaRPr>
          </a:p>
        </p:txBody>
      </p:sp>
      <p:sp>
        <p:nvSpPr>
          <p:cNvPr id="328" name="Google Shape;328;p13"/>
          <p:cNvSpPr/>
          <p:nvPr/>
        </p:nvSpPr>
        <p:spPr>
          <a:xfrm>
            <a:off x="7496157" y="2377440"/>
            <a:ext cx="45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1000"/>
              <a:buFont typeface="Calibri"/>
              <a:buNone/>
            </a:pPr>
            <a:r>
              <a:rPr b="1" lang="en-US" sz="1000">
                <a:solidFill>
                  <a:srgbClr val="8899AA"/>
                </a:solidFill>
                <a:latin typeface="Calibri"/>
                <a:ea typeface="Calibri"/>
                <a:cs typeface="Calibri"/>
                <a:sym typeface="Calibri"/>
              </a:rPr>
              <a:t>1.000</a:t>
            </a:r>
            <a:endParaRPr sz="1000">
              <a:solidFill>
                <a:schemeClr val="dk1"/>
              </a:solidFill>
              <a:latin typeface="Calibri"/>
              <a:ea typeface="Calibri"/>
              <a:cs typeface="Calibri"/>
              <a:sym typeface="Calibri"/>
            </a:endParaRPr>
          </a:p>
        </p:txBody>
      </p:sp>
      <p:sp>
        <p:nvSpPr>
          <p:cNvPr id="329" name="Google Shape;329;p13"/>
          <p:cNvSpPr/>
          <p:nvPr/>
        </p:nvSpPr>
        <p:spPr>
          <a:xfrm>
            <a:off x="7962501" y="2377440"/>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0.000</a:t>
            </a:r>
            <a:endParaRPr sz="900">
              <a:solidFill>
                <a:schemeClr val="dk1"/>
              </a:solidFill>
              <a:latin typeface="Calibri"/>
              <a:ea typeface="Calibri"/>
              <a:cs typeface="Calibri"/>
              <a:sym typeface="Calibri"/>
            </a:endParaRPr>
          </a:p>
        </p:txBody>
      </p:sp>
      <p:sp>
        <p:nvSpPr>
          <p:cNvPr id="330" name="Google Shape;330;p13"/>
          <p:cNvSpPr/>
          <p:nvPr/>
        </p:nvSpPr>
        <p:spPr>
          <a:xfrm>
            <a:off x="8321040" y="2377440"/>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a:t>
            </a:r>
            <a:endParaRPr sz="900">
              <a:solidFill>
                <a:schemeClr val="dk1"/>
              </a:solidFill>
              <a:latin typeface="Calibri"/>
              <a:ea typeface="Calibri"/>
              <a:cs typeface="Calibri"/>
              <a:sym typeface="Calibri"/>
            </a:endParaRPr>
          </a:p>
        </p:txBody>
      </p:sp>
      <p:sp>
        <p:nvSpPr>
          <p:cNvPr id="331" name="Google Shape;331;p13"/>
          <p:cNvSpPr/>
          <p:nvPr/>
        </p:nvSpPr>
        <p:spPr>
          <a:xfrm>
            <a:off x="5941677" y="2761488"/>
            <a:ext cx="2990100" cy="438900"/>
          </a:xfrm>
          <a:prstGeom prst="rect">
            <a:avLst/>
          </a:prstGeom>
          <a:solidFill>
            <a:srgbClr val="162033"/>
          </a:solidFill>
          <a:ln cap="flat" cmpd="sng" w="12700">
            <a:solidFill>
              <a:srgbClr val="16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3"/>
          <p:cNvSpPr/>
          <p:nvPr/>
        </p:nvSpPr>
        <p:spPr>
          <a:xfrm>
            <a:off x="5969109" y="2852928"/>
            <a:ext cx="10425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Asian</a:t>
            </a:r>
            <a:endParaRPr sz="900">
              <a:solidFill>
                <a:schemeClr val="dk1"/>
              </a:solidFill>
              <a:latin typeface="Calibri"/>
              <a:ea typeface="Calibri"/>
              <a:cs typeface="Calibri"/>
              <a:sym typeface="Calibri"/>
            </a:endParaRPr>
          </a:p>
        </p:txBody>
      </p:sp>
      <p:sp>
        <p:nvSpPr>
          <p:cNvPr id="333" name="Google Shape;333;p13"/>
          <p:cNvSpPr/>
          <p:nvPr/>
        </p:nvSpPr>
        <p:spPr>
          <a:xfrm>
            <a:off x="7029813" y="2852928"/>
            <a:ext cx="45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0.858</a:t>
            </a:r>
            <a:endParaRPr sz="900">
              <a:solidFill>
                <a:schemeClr val="dk1"/>
              </a:solidFill>
              <a:latin typeface="Calibri"/>
              <a:ea typeface="Calibri"/>
              <a:cs typeface="Calibri"/>
              <a:sym typeface="Calibri"/>
            </a:endParaRPr>
          </a:p>
        </p:txBody>
      </p:sp>
      <p:sp>
        <p:nvSpPr>
          <p:cNvPr id="334" name="Google Shape;334;p13"/>
          <p:cNvSpPr/>
          <p:nvPr/>
        </p:nvSpPr>
        <p:spPr>
          <a:xfrm>
            <a:off x="7496157" y="2852928"/>
            <a:ext cx="4572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1000"/>
              <a:buFont typeface="Calibri"/>
              <a:buNone/>
            </a:pPr>
            <a:r>
              <a:rPr b="1" lang="en-US" sz="1000">
                <a:solidFill>
                  <a:srgbClr val="52B788"/>
                </a:solidFill>
                <a:latin typeface="Calibri"/>
                <a:ea typeface="Calibri"/>
                <a:cs typeface="Calibri"/>
                <a:sym typeface="Calibri"/>
              </a:rPr>
              <a:t>1.022</a:t>
            </a:r>
            <a:endParaRPr sz="1000">
              <a:solidFill>
                <a:schemeClr val="dk1"/>
              </a:solidFill>
              <a:latin typeface="Calibri"/>
              <a:ea typeface="Calibri"/>
              <a:cs typeface="Calibri"/>
              <a:sym typeface="Calibri"/>
            </a:endParaRPr>
          </a:p>
        </p:txBody>
      </p:sp>
      <p:sp>
        <p:nvSpPr>
          <p:cNvPr id="335" name="Google Shape;335;p13"/>
          <p:cNvSpPr/>
          <p:nvPr/>
        </p:nvSpPr>
        <p:spPr>
          <a:xfrm>
            <a:off x="7962501" y="2852928"/>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+0.018</a:t>
            </a:r>
            <a:endParaRPr sz="900">
              <a:solidFill>
                <a:schemeClr val="dk1"/>
              </a:solidFill>
              <a:latin typeface="Calibri"/>
              <a:ea typeface="Calibri"/>
              <a:cs typeface="Calibri"/>
              <a:sym typeface="Calibri"/>
            </a:endParaRPr>
          </a:p>
        </p:txBody>
      </p:sp>
      <p:sp>
        <p:nvSpPr>
          <p:cNvPr id="336" name="Google Shape;336;p13"/>
          <p:cNvSpPr/>
          <p:nvPr/>
        </p:nvSpPr>
        <p:spPr>
          <a:xfrm>
            <a:off x="8321040" y="2852928"/>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0.004</a:t>
            </a:r>
            <a:endParaRPr sz="900">
              <a:solidFill>
                <a:schemeClr val="dk1"/>
              </a:solidFill>
              <a:latin typeface="Calibri"/>
              <a:ea typeface="Calibri"/>
              <a:cs typeface="Calibri"/>
              <a:sym typeface="Calibri"/>
            </a:endParaRPr>
          </a:p>
        </p:txBody>
      </p:sp>
      <p:sp>
        <p:nvSpPr>
          <p:cNvPr id="337" name="Google Shape;337;p13"/>
          <p:cNvSpPr/>
          <p:nvPr/>
        </p:nvSpPr>
        <p:spPr>
          <a:xfrm>
            <a:off x="5941677" y="3310128"/>
            <a:ext cx="2990100" cy="694800"/>
          </a:xfrm>
          <a:prstGeom prst="rect">
            <a:avLst/>
          </a:prstGeom>
          <a:solidFill>
            <a:srgbClr val="0F1D2E"/>
          </a:solidFill>
          <a:ln cap="flat" cmpd="sng" w="12700">
            <a:solidFill>
              <a:srgbClr val="2A4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13"/>
          <p:cNvSpPr/>
          <p:nvPr/>
        </p:nvSpPr>
        <p:spPr>
          <a:xfrm>
            <a:off x="6005685" y="3310128"/>
            <a:ext cx="28530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850"/>
              <a:buFont typeface="Calibri"/>
              <a:buNone/>
            </a:pPr>
            <a:r>
              <a:rPr b="1" lang="en-US" sz="850">
                <a:solidFill>
                  <a:srgbClr val="F4A261"/>
                </a:solidFill>
                <a:latin typeface="Calibri"/>
                <a:ea typeface="Calibri"/>
                <a:cs typeface="Calibri"/>
                <a:sym typeface="Calibri"/>
              </a:rPr>
              <a:t>⚡ KEY TAKEAWAY</a:t>
            </a:r>
            <a:endParaRPr sz="850">
              <a:solidFill>
                <a:schemeClr val="dk1"/>
              </a:solidFill>
              <a:latin typeface="Calibri"/>
              <a:ea typeface="Calibri"/>
              <a:cs typeface="Calibri"/>
              <a:sym typeface="Calibri"/>
            </a:endParaRPr>
          </a:p>
        </p:txBody>
      </p:sp>
      <p:sp>
        <p:nvSpPr>
          <p:cNvPr id="339" name="Google Shape;339;p13"/>
          <p:cNvSpPr/>
          <p:nvPr/>
        </p:nvSpPr>
        <p:spPr>
          <a:xfrm>
            <a:off x="6005675" y="3529575"/>
            <a:ext cx="28530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D5DD"/>
              </a:buClr>
              <a:buSzPts val="900"/>
              <a:buFont typeface="Calibri"/>
              <a:buNone/>
            </a:pPr>
            <a:r>
              <a:rPr lang="en-US" sz="900">
                <a:solidFill>
                  <a:srgbClr val="D0D5DD"/>
                </a:solidFill>
                <a:latin typeface="Calibri"/>
                <a:ea typeface="Calibri"/>
                <a:cs typeface="Calibri"/>
                <a:sym typeface="Calibri"/>
              </a:rPr>
              <a:t>AIR revealed the model's approval gap. ME exposed the real-world scale of the model's decisions. SMD confirmed this feature was not the source  the model's bias originates elsewhere.</a:t>
            </a:r>
            <a:endParaRPr sz="900">
              <a:solidFill>
                <a:schemeClr val="dk1"/>
              </a:solidFill>
              <a:latin typeface="Calibri"/>
              <a:ea typeface="Calibri"/>
              <a:cs typeface="Calibri"/>
              <a:sym typeface="Calibri"/>
            </a:endParaRPr>
          </a:p>
        </p:txBody>
      </p:sp>
      <p:sp>
        <p:nvSpPr>
          <p:cNvPr id="340" name="Google Shape;340;p13"/>
          <p:cNvSpPr/>
          <p:nvPr/>
        </p:nvSpPr>
        <p:spPr>
          <a:xfrm>
            <a:off x="5941677" y="4023360"/>
            <a:ext cx="2990100" cy="786300"/>
          </a:xfrm>
          <a:prstGeom prst="rect">
            <a:avLst/>
          </a:prstGeom>
          <a:solidFill>
            <a:srgbClr val="0A1628"/>
          </a:solidFill>
          <a:ln cap="flat" cmpd="sng" w="12700">
            <a:solidFill>
              <a:srgbClr val="2A4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13"/>
          <p:cNvSpPr/>
          <p:nvPr/>
        </p:nvSpPr>
        <p:spPr>
          <a:xfrm>
            <a:off x="6005675" y="4132823"/>
            <a:ext cx="28530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EC8E3"/>
              </a:buClr>
              <a:buSzPts val="750"/>
              <a:buFont typeface="Calibri"/>
              <a:buNone/>
            </a:pPr>
            <a:r>
              <a:rPr b="1" lang="en-US" sz="750">
                <a:solidFill>
                  <a:srgbClr val="7EC8E3"/>
                </a:solidFill>
                <a:latin typeface="Calibri"/>
                <a:ea typeface="Calibri"/>
                <a:cs typeface="Calibri"/>
                <a:sym typeface="Calibri"/>
              </a:rPr>
              <a:t>SMD INTERPRETATION </a:t>
            </a:r>
            <a:endParaRPr sz="750">
              <a:solidFill>
                <a:schemeClr val="dk1"/>
              </a:solidFill>
              <a:latin typeface="Calibri"/>
              <a:ea typeface="Calibri"/>
              <a:cs typeface="Calibri"/>
              <a:sym typeface="Calibri"/>
            </a:endParaRPr>
          </a:p>
        </p:txBody>
      </p:sp>
      <p:sp>
        <p:nvSpPr>
          <p:cNvPr id="342" name="Google Shape;342;p13"/>
          <p:cNvSpPr/>
          <p:nvPr/>
        </p:nvSpPr>
        <p:spPr>
          <a:xfrm>
            <a:off x="6005685" y="4242816"/>
            <a:ext cx="28530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2B788"/>
              </a:buClr>
              <a:buSzPts val="900"/>
              <a:buFont typeface="Calibri"/>
              <a:buNone/>
            </a:pPr>
            <a:r>
              <a:rPr b="1" lang="en-US" sz="900">
                <a:solidFill>
                  <a:srgbClr val="52B788"/>
                </a:solidFill>
                <a:latin typeface="Calibri"/>
                <a:ea typeface="Calibri"/>
                <a:cs typeface="Calibri"/>
                <a:sym typeface="Calibri"/>
              </a:rPr>
              <a:t>&lt; 0.2  No proxy effect  </a:t>
            </a:r>
            <a:r>
              <a:rPr lang="en-US" sz="900">
                <a:solidFill>
                  <a:srgbClr val="F4A261"/>
                </a:solidFill>
                <a:latin typeface="Calibri"/>
                <a:ea typeface="Calibri"/>
                <a:cs typeface="Calibri"/>
                <a:sym typeface="Calibri"/>
              </a:rPr>
              <a:t>0.2–0.5  Mild</a:t>
            </a:r>
            <a:br>
              <a:rPr lang="en-US" sz="900">
                <a:solidFill>
                  <a:srgbClr val="F4A261"/>
                </a:solidFill>
                <a:latin typeface="Calibri"/>
                <a:ea typeface="Calibri"/>
                <a:cs typeface="Calibri"/>
                <a:sym typeface="Calibri"/>
              </a:rPr>
            </a:br>
            <a:r>
              <a:rPr b="1" lang="en-US" sz="900">
                <a:solidFill>
                  <a:srgbClr val="E07070"/>
                </a:solidFill>
                <a:latin typeface="Calibri"/>
                <a:ea typeface="Calibri"/>
                <a:cs typeface="Calibri"/>
                <a:sym typeface="Calibri"/>
              </a:rPr>
              <a:t>0.5–0.8  Moderate  </a:t>
            </a:r>
            <a:r>
              <a:rPr b="1" lang="en-US" sz="900">
                <a:solidFill>
                  <a:srgbClr val="CC3333"/>
                </a:solidFill>
                <a:latin typeface="Calibri"/>
                <a:ea typeface="Calibri"/>
                <a:cs typeface="Calibri"/>
                <a:sym typeface="Calibri"/>
              </a:rPr>
              <a:t>&gt; 0.8  Strong proxy → investigate</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7" name="Shape 347"/>
        <p:cNvGrpSpPr/>
        <p:nvPr/>
      </p:nvGrpSpPr>
      <p:grpSpPr>
        <a:xfrm>
          <a:off x="0" y="0"/>
          <a:ext cx="0" cy="0"/>
          <a:chOff x="0" y="0"/>
          <a:chExt cx="0" cy="0"/>
        </a:xfrm>
      </p:grpSpPr>
      <p:sp>
        <p:nvSpPr>
          <p:cNvPr id="348" name="Google Shape;348;p14"/>
          <p:cNvSpPr/>
          <p:nvPr/>
        </p:nvSpPr>
        <p:spPr>
          <a:xfrm>
            <a:off x="0" y="-125"/>
            <a:ext cx="5760900" cy="1033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Calibri"/>
              <a:buNone/>
            </a:pPr>
            <a:r>
              <a:rPr b="1" lang="en-US" sz="2600">
                <a:solidFill>
                  <a:srgbClr val="1C2B4A"/>
                </a:solidFill>
                <a:latin typeface="Georgia"/>
                <a:ea typeface="Georgia"/>
                <a:cs typeface="Georgia"/>
                <a:sym typeface="Georgia"/>
              </a:rPr>
              <a:t>Q3:How Errors Were Measured Across Subgroups</a:t>
            </a:r>
            <a:endParaRPr sz="2600">
              <a:solidFill>
                <a:srgbClr val="1C2B4A"/>
              </a:solidFill>
              <a:latin typeface="Georgia"/>
              <a:ea typeface="Georgia"/>
              <a:cs typeface="Georgia"/>
              <a:sym typeface="Georgia"/>
            </a:endParaRPr>
          </a:p>
        </p:txBody>
      </p:sp>
      <p:sp>
        <p:nvSpPr>
          <p:cNvPr id="349" name="Google Shape;349;p14"/>
          <p:cNvSpPr/>
          <p:nvPr/>
        </p:nvSpPr>
        <p:spPr>
          <a:xfrm>
            <a:off x="365760" y="1024128"/>
            <a:ext cx="4755000" cy="365700"/>
          </a:xfrm>
          <a:prstGeom prst="rect">
            <a:avLst/>
          </a:prstGeom>
          <a:solidFill>
            <a:srgbClr val="1C2E44"/>
          </a:solidFill>
          <a:ln cap="flat" cmpd="sng" w="12700">
            <a:solidFill>
              <a:srgbClr val="1C2E4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4"/>
          <p:cNvSpPr/>
          <p:nvPr/>
        </p:nvSpPr>
        <p:spPr>
          <a:xfrm>
            <a:off x="365760" y="1024128"/>
            <a:ext cx="47550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C8E3"/>
              </a:buClr>
              <a:buSzPts val="900"/>
              <a:buFont typeface="Calibri"/>
              <a:buNone/>
            </a:pPr>
            <a:r>
              <a:rPr i="1" lang="en-US" sz="900">
                <a:solidFill>
                  <a:srgbClr val="7EC8E3"/>
                </a:solidFill>
                <a:latin typeface="Calibri"/>
                <a:ea typeface="Calibri"/>
                <a:cs typeface="Calibri"/>
                <a:sym typeface="Calibri"/>
              </a:rPr>
              <a:t>The dataset was split by Race × Gender to measure how the model's decisions varied across intersectional groups</a:t>
            </a:r>
            <a:endParaRPr sz="900">
              <a:solidFill>
                <a:schemeClr val="dk1"/>
              </a:solidFill>
              <a:latin typeface="Calibri"/>
              <a:ea typeface="Calibri"/>
              <a:cs typeface="Calibri"/>
              <a:sym typeface="Calibri"/>
            </a:endParaRPr>
          </a:p>
        </p:txBody>
      </p:sp>
      <p:sp>
        <p:nvSpPr>
          <p:cNvPr id="351" name="Google Shape;351;p14"/>
          <p:cNvSpPr/>
          <p:nvPr/>
        </p:nvSpPr>
        <p:spPr>
          <a:xfrm>
            <a:off x="365760" y="1517904"/>
            <a:ext cx="2103000" cy="219600"/>
          </a:xfrm>
          <a:prstGeom prst="rect">
            <a:avLst/>
          </a:prstGeom>
          <a:solidFill>
            <a:srgbClr val="C0392B"/>
          </a:solidFill>
          <a:ln cap="flat" cmpd="sng" w="12700">
            <a:solidFill>
              <a:srgbClr val="C039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4"/>
          <p:cNvSpPr/>
          <p:nvPr/>
        </p:nvSpPr>
        <p:spPr>
          <a:xfrm>
            <a:off x="365760" y="1517904"/>
            <a:ext cx="21030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lang="en-US" sz="750">
                <a:solidFill>
                  <a:srgbClr val="FFFFFF"/>
                </a:solidFill>
                <a:latin typeface="Calibri"/>
                <a:ea typeface="Calibri"/>
                <a:cs typeface="Calibri"/>
                <a:sym typeface="Calibri"/>
              </a:rPr>
              <a:t>① THE DATA WAS SPLIT INTO SUBGROUP CELLS</a:t>
            </a:r>
            <a:endParaRPr sz="750">
              <a:solidFill>
                <a:schemeClr val="dk1"/>
              </a:solidFill>
              <a:latin typeface="Calibri"/>
              <a:ea typeface="Calibri"/>
              <a:cs typeface="Calibri"/>
              <a:sym typeface="Calibri"/>
            </a:endParaRPr>
          </a:p>
        </p:txBody>
      </p:sp>
      <p:sp>
        <p:nvSpPr>
          <p:cNvPr id="353" name="Google Shape;353;p14"/>
          <p:cNvSpPr/>
          <p:nvPr/>
        </p:nvSpPr>
        <p:spPr>
          <a:xfrm>
            <a:off x="365760" y="1792224"/>
            <a:ext cx="50292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EC8E3"/>
              </a:buClr>
              <a:buSzPts val="1050"/>
              <a:buFont typeface="Calibri"/>
              <a:buNone/>
            </a:pPr>
            <a:r>
              <a:rPr b="1" lang="en-US" sz="1050">
                <a:solidFill>
                  <a:srgbClr val="FF0000"/>
                </a:solidFill>
                <a:latin typeface="Calibri"/>
                <a:ea typeface="Calibri"/>
                <a:cs typeface="Calibri"/>
                <a:sym typeface="Calibri"/>
              </a:rPr>
              <a:t>How:</a:t>
            </a:r>
            <a:r>
              <a:rPr b="1" lang="en-US" sz="1050">
                <a:solidFill>
                  <a:schemeClr val="dk1"/>
                </a:solidFill>
                <a:latin typeface="Calibri"/>
                <a:ea typeface="Calibri"/>
                <a:cs typeface="Calibri"/>
                <a:sym typeface="Calibri"/>
              </a:rPr>
              <a:t> </a:t>
            </a:r>
            <a:r>
              <a:rPr lang="en-US" sz="1050">
                <a:solidFill>
                  <a:schemeClr val="dk1"/>
                </a:solidFill>
                <a:latin typeface="Calibri"/>
                <a:ea typeface="Calibri"/>
                <a:cs typeface="Calibri"/>
                <a:sym typeface="Calibri"/>
              </a:rPr>
              <a:t>Every applicant in the dataset was grouped by their Race × Gender combination. Cells with n &lt; 30 were excluded to ensure the model's patterns were statistically reliable.</a:t>
            </a:r>
            <a:br>
              <a:rPr lang="en-US" sz="1050">
                <a:solidFill>
                  <a:srgbClr val="D0D5DD"/>
                </a:solidFill>
                <a:latin typeface="Calibri"/>
                <a:ea typeface="Calibri"/>
                <a:cs typeface="Calibri"/>
                <a:sym typeface="Calibri"/>
              </a:rPr>
            </a:br>
            <a:r>
              <a:rPr b="1" lang="en-US" sz="1050">
                <a:solidFill>
                  <a:srgbClr val="FF0000"/>
                </a:solidFill>
                <a:latin typeface="Calibri"/>
                <a:ea typeface="Calibri"/>
                <a:cs typeface="Calibri"/>
                <a:sym typeface="Calibri"/>
              </a:rPr>
              <a:t>Baseline:</a:t>
            </a:r>
            <a:r>
              <a:rPr b="1" lang="en-US" sz="1050">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Caucasian Male  the industry-standard reference under EEOC fair lending guidelines. The model's AIR and ME for every other cell was measured against this group</a:t>
            </a:r>
            <a:r>
              <a:rPr lang="en-US" sz="1050">
                <a:solidFill>
                  <a:srgbClr val="D0D5DD"/>
                </a:solidFill>
                <a:latin typeface="Calibri"/>
                <a:ea typeface="Calibri"/>
                <a:cs typeface="Calibri"/>
                <a:sym typeface="Calibri"/>
              </a:rPr>
              <a:t>.</a:t>
            </a:r>
            <a:endParaRPr sz="1050">
              <a:solidFill>
                <a:schemeClr val="dk1"/>
              </a:solidFill>
              <a:latin typeface="Calibri"/>
              <a:ea typeface="Calibri"/>
              <a:cs typeface="Calibri"/>
              <a:sym typeface="Calibri"/>
            </a:endParaRPr>
          </a:p>
        </p:txBody>
      </p:sp>
      <p:sp>
        <p:nvSpPr>
          <p:cNvPr id="354" name="Google Shape;354;p14"/>
          <p:cNvSpPr/>
          <p:nvPr/>
        </p:nvSpPr>
        <p:spPr>
          <a:xfrm>
            <a:off x="365760" y="2615184"/>
            <a:ext cx="2103000" cy="219600"/>
          </a:xfrm>
          <a:prstGeom prst="rect">
            <a:avLst/>
          </a:prstGeom>
          <a:solidFill>
            <a:srgbClr val="8B6914"/>
          </a:solidFill>
          <a:ln cap="flat" cmpd="sng" w="12700">
            <a:solidFill>
              <a:srgbClr val="8B69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4"/>
          <p:cNvSpPr/>
          <p:nvPr/>
        </p:nvSpPr>
        <p:spPr>
          <a:xfrm>
            <a:off x="365760" y="2615184"/>
            <a:ext cx="21030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lang="en-US" sz="750">
                <a:solidFill>
                  <a:srgbClr val="FFFFFF"/>
                </a:solidFill>
                <a:latin typeface="Calibri"/>
                <a:ea typeface="Calibri"/>
                <a:cs typeface="Calibri"/>
                <a:sym typeface="Calibri"/>
              </a:rPr>
              <a:t>② AIR &amp; ME RAN ON EACH CELL SEPARATELY</a:t>
            </a:r>
            <a:endParaRPr sz="750">
              <a:solidFill>
                <a:schemeClr val="dk1"/>
              </a:solidFill>
              <a:latin typeface="Calibri"/>
              <a:ea typeface="Calibri"/>
              <a:cs typeface="Calibri"/>
              <a:sym typeface="Calibri"/>
            </a:endParaRPr>
          </a:p>
        </p:txBody>
      </p:sp>
      <p:sp>
        <p:nvSpPr>
          <p:cNvPr id="356" name="Google Shape;356;p14"/>
          <p:cNvSpPr/>
          <p:nvPr/>
        </p:nvSpPr>
        <p:spPr>
          <a:xfrm>
            <a:off x="365750" y="2889500"/>
            <a:ext cx="5029200" cy="859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EC8E3"/>
              </a:buClr>
              <a:buSzPts val="1050"/>
              <a:buFont typeface="Calibri"/>
              <a:buNone/>
            </a:pPr>
            <a:r>
              <a:rPr b="1" lang="en-US" sz="1050">
                <a:solidFill>
                  <a:srgbClr val="FF0000"/>
                </a:solidFill>
                <a:latin typeface="Calibri"/>
                <a:ea typeface="Calibri"/>
                <a:cs typeface="Calibri"/>
                <a:sym typeface="Calibri"/>
              </a:rPr>
              <a:t>How: </a:t>
            </a:r>
            <a:r>
              <a:rPr lang="en-US" sz="1050">
                <a:solidFill>
                  <a:schemeClr val="dk1"/>
                </a:solidFill>
                <a:latin typeface="Calibri"/>
                <a:ea typeface="Calibri"/>
                <a:cs typeface="Calibri"/>
                <a:sym typeface="Calibri"/>
              </a:rPr>
              <a:t>The same AIR and ME formulas were applied  but the model's outputs were computed per intersectional cell, not per race alone.</a:t>
            </a:r>
            <a:br>
              <a:rPr lang="en-US" sz="1050">
                <a:solidFill>
                  <a:srgbClr val="D0D5DD"/>
                </a:solidFill>
                <a:latin typeface="Calibri"/>
                <a:ea typeface="Calibri"/>
                <a:cs typeface="Calibri"/>
                <a:sym typeface="Calibri"/>
              </a:rPr>
            </a:br>
            <a:r>
              <a:rPr b="1" lang="en-US" sz="1050">
                <a:solidFill>
                  <a:srgbClr val="FF0000"/>
                </a:solidFill>
                <a:latin typeface="Calibri"/>
                <a:ea typeface="Calibri"/>
                <a:cs typeface="Calibri"/>
                <a:sym typeface="Calibri"/>
              </a:rPr>
              <a:t>What the model showed:</a:t>
            </a:r>
            <a:r>
              <a:rPr b="1" lang="en-US" sz="1050">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The model produced Minority Female AIR</a:t>
            </a:r>
            <a:r>
              <a:rPr lang="en-US" sz="1050">
                <a:solidFill>
                  <a:srgbClr val="D0D5DD"/>
                </a:solidFill>
                <a:latin typeface="Calibri"/>
                <a:ea typeface="Calibri"/>
                <a:cs typeface="Calibri"/>
                <a:sym typeface="Calibri"/>
              </a:rPr>
              <a:t> </a:t>
            </a:r>
            <a:r>
              <a:rPr b="1" lang="en-US" sz="1050">
                <a:solidFill>
                  <a:srgbClr val="F4A261"/>
                </a:solidFill>
                <a:latin typeface="Calibri"/>
                <a:ea typeface="Calibri"/>
                <a:cs typeface="Calibri"/>
                <a:sym typeface="Calibri"/>
              </a:rPr>
              <a:t>0.854</a:t>
            </a:r>
            <a:r>
              <a:rPr lang="en-US" sz="1050">
                <a:solidFill>
                  <a:srgbClr val="D0D5DD"/>
                </a:solidFill>
                <a:latin typeface="Calibri"/>
                <a:ea typeface="Calibri"/>
                <a:cs typeface="Calibri"/>
                <a:sym typeface="Calibri"/>
              </a:rPr>
              <a:t> </a:t>
            </a:r>
            <a:r>
              <a:rPr lang="en-US" sz="1050">
                <a:solidFill>
                  <a:schemeClr val="dk1"/>
                </a:solidFill>
                <a:latin typeface="Calibri"/>
                <a:ea typeface="Calibri"/>
                <a:cs typeface="Calibri"/>
                <a:sym typeface="Calibri"/>
              </a:rPr>
              <a:t> , ME</a:t>
            </a:r>
            <a:r>
              <a:rPr lang="en-US" sz="1050">
                <a:solidFill>
                  <a:srgbClr val="D0D5DD"/>
                </a:solidFill>
                <a:latin typeface="Calibri"/>
                <a:ea typeface="Calibri"/>
                <a:cs typeface="Calibri"/>
                <a:sym typeface="Calibri"/>
              </a:rPr>
              <a:t> </a:t>
            </a:r>
            <a:r>
              <a:rPr b="1" lang="en-US" sz="1050">
                <a:solidFill>
                  <a:srgbClr val="E07070"/>
                </a:solidFill>
                <a:latin typeface="Calibri"/>
                <a:ea typeface="Calibri"/>
                <a:cs typeface="Calibri"/>
                <a:sym typeface="Calibri"/>
              </a:rPr>
              <a:t>−0.120</a:t>
            </a:r>
            <a:r>
              <a:rPr lang="en-US" sz="1050">
                <a:solidFill>
                  <a:srgbClr val="D0D5DD"/>
                </a:solidFill>
                <a:latin typeface="Calibri"/>
                <a:ea typeface="Calibri"/>
                <a:cs typeface="Calibri"/>
                <a:sym typeface="Calibri"/>
              </a:rPr>
              <a:t>. </a:t>
            </a:r>
            <a:r>
              <a:rPr lang="en-US" sz="1050">
                <a:solidFill>
                  <a:schemeClr val="dk1"/>
                </a:solidFill>
                <a:latin typeface="Calibri"/>
                <a:ea typeface="Calibri"/>
                <a:cs typeface="Calibri"/>
                <a:sym typeface="Calibri"/>
              </a:rPr>
              <a:t>Legally compliant  yet the model's decisions result in ≈3,200 minority women denied due to this gap.</a:t>
            </a:r>
            <a:endParaRPr sz="1050">
              <a:solidFill>
                <a:schemeClr val="dk1"/>
              </a:solidFill>
              <a:latin typeface="Calibri"/>
              <a:ea typeface="Calibri"/>
              <a:cs typeface="Calibri"/>
              <a:sym typeface="Calibri"/>
            </a:endParaRPr>
          </a:p>
        </p:txBody>
      </p:sp>
      <p:sp>
        <p:nvSpPr>
          <p:cNvPr id="357" name="Google Shape;357;p14"/>
          <p:cNvSpPr/>
          <p:nvPr/>
        </p:nvSpPr>
        <p:spPr>
          <a:xfrm>
            <a:off x="365760" y="3749040"/>
            <a:ext cx="2560200" cy="219600"/>
          </a:xfrm>
          <a:prstGeom prst="rect">
            <a:avLst/>
          </a:prstGeom>
          <a:solidFill>
            <a:srgbClr val="2E6B3E"/>
          </a:solidFill>
          <a:ln cap="flat" cmpd="sng" w="12700">
            <a:solidFill>
              <a:srgbClr val="2E6B3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4"/>
          <p:cNvSpPr/>
          <p:nvPr/>
        </p:nvSpPr>
        <p:spPr>
          <a:xfrm>
            <a:off x="365760" y="3749040"/>
            <a:ext cx="25602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lang="en-US" sz="750">
                <a:solidFill>
                  <a:srgbClr val="FFFFFF"/>
                </a:solidFill>
                <a:latin typeface="Calibri"/>
                <a:ea typeface="Calibri"/>
                <a:cs typeface="Calibri"/>
                <a:sym typeface="Calibri"/>
              </a:rPr>
              <a:t>③ CELLS RANKED TO SIZE THE MODEL'S WORST ERROR</a:t>
            </a:r>
            <a:endParaRPr sz="750">
              <a:solidFill>
                <a:schemeClr val="dk1"/>
              </a:solidFill>
              <a:latin typeface="Calibri"/>
              <a:ea typeface="Calibri"/>
              <a:cs typeface="Calibri"/>
              <a:sym typeface="Calibri"/>
            </a:endParaRPr>
          </a:p>
        </p:txBody>
      </p:sp>
      <p:sp>
        <p:nvSpPr>
          <p:cNvPr id="359" name="Google Shape;359;p14"/>
          <p:cNvSpPr/>
          <p:nvPr/>
        </p:nvSpPr>
        <p:spPr>
          <a:xfrm>
            <a:off x="365760" y="4023360"/>
            <a:ext cx="5029200" cy="987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EC8E3"/>
              </a:buClr>
              <a:buSzPts val="1050"/>
              <a:buFont typeface="Calibri"/>
              <a:buNone/>
            </a:pPr>
            <a:r>
              <a:rPr b="1" lang="en-US" sz="1050">
                <a:solidFill>
                  <a:srgbClr val="FF0000"/>
                </a:solidFill>
                <a:latin typeface="Calibri"/>
                <a:ea typeface="Calibri"/>
                <a:cs typeface="Calibri"/>
                <a:sym typeface="Calibri"/>
              </a:rPr>
              <a:t>How: </a:t>
            </a:r>
            <a:r>
              <a:rPr lang="en-US" sz="1050">
                <a:solidFill>
                  <a:schemeClr val="dk1"/>
                </a:solidFill>
                <a:latin typeface="Calibri"/>
                <a:ea typeface="Calibri"/>
                <a:cs typeface="Calibri"/>
                <a:sym typeface="Calibri"/>
              </a:rPr>
              <a:t>All cells were sorted by AIR ascending. The lowest AIR identifies the subgroup the model penalises most.</a:t>
            </a:r>
            <a:br>
              <a:rPr lang="en-US" sz="1050">
                <a:solidFill>
                  <a:srgbClr val="D0D5DD"/>
                </a:solidFill>
                <a:latin typeface="Calibri"/>
                <a:ea typeface="Calibri"/>
                <a:cs typeface="Calibri"/>
                <a:sym typeface="Calibri"/>
              </a:rPr>
            </a:br>
            <a:r>
              <a:rPr b="1" lang="en-US" sz="1050">
                <a:solidFill>
                  <a:srgbClr val="FF0000"/>
                </a:solidFill>
                <a:latin typeface="Calibri"/>
                <a:ea typeface="Calibri"/>
                <a:cs typeface="Calibri"/>
                <a:sym typeface="Calibri"/>
              </a:rPr>
              <a:t>What the model showed:</a:t>
            </a:r>
            <a:r>
              <a:rPr b="1" lang="en-US" sz="1050">
                <a:solidFill>
                  <a:srgbClr val="7EC8E3"/>
                </a:solidFill>
                <a:latin typeface="Calibri"/>
                <a:ea typeface="Calibri"/>
                <a:cs typeface="Calibri"/>
                <a:sym typeface="Calibri"/>
              </a:rPr>
              <a:t> </a:t>
            </a:r>
            <a:r>
              <a:rPr lang="en-US" sz="1050">
                <a:solidFill>
                  <a:schemeClr val="dk1"/>
                </a:solidFill>
                <a:latin typeface="Calibri"/>
                <a:ea typeface="Calibri"/>
                <a:cs typeface="Calibri"/>
                <a:sym typeface="Calibri"/>
              </a:rPr>
              <a:t>Minority Female ranked worst (AIR 0.854). Critically, the model scored an African-American Joint application two incomes  lower than a solo Caucasian Male, revealing that the model discounts the co-borrower's risk benefit when both applicants are minority.</a:t>
            </a:r>
            <a:endParaRPr sz="1050">
              <a:solidFill>
                <a:schemeClr val="dk1"/>
              </a:solidFill>
              <a:latin typeface="Calibri"/>
              <a:ea typeface="Calibri"/>
              <a:cs typeface="Calibri"/>
              <a:sym typeface="Calibri"/>
            </a:endParaRPr>
          </a:p>
        </p:txBody>
      </p:sp>
      <p:sp>
        <p:nvSpPr>
          <p:cNvPr id="360" name="Google Shape;360;p14"/>
          <p:cNvSpPr/>
          <p:nvPr/>
        </p:nvSpPr>
        <p:spPr>
          <a:xfrm>
            <a:off x="5760725" y="-125"/>
            <a:ext cx="3383400" cy="5143500"/>
          </a:xfrm>
          <a:prstGeom prst="rect">
            <a:avLst/>
          </a:prstGeom>
          <a:solidFill>
            <a:srgbClr val="162033"/>
          </a:solidFill>
          <a:ln cap="flat" cmpd="sng" w="12700">
            <a:solidFill>
              <a:srgbClr val="16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14"/>
          <p:cNvSpPr/>
          <p:nvPr/>
        </p:nvSpPr>
        <p:spPr>
          <a:xfrm>
            <a:off x="5760720" y="256032"/>
            <a:ext cx="31548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EC8E3"/>
              </a:buClr>
              <a:buSzPts val="700"/>
              <a:buFont typeface="Calibri"/>
              <a:buNone/>
            </a:pPr>
            <a:r>
              <a:rPr b="1" lang="en-US" sz="700">
                <a:solidFill>
                  <a:srgbClr val="7EC8E3"/>
                </a:solidFill>
                <a:latin typeface="Calibri"/>
                <a:ea typeface="Calibri"/>
                <a:cs typeface="Calibri"/>
                <a:sym typeface="Calibri"/>
              </a:rPr>
              <a:t>SUBGROUP ERROR MEASUREMENTS · RACE × GENDER</a:t>
            </a:r>
            <a:endParaRPr sz="700">
              <a:solidFill>
                <a:schemeClr val="dk1"/>
              </a:solidFill>
              <a:latin typeface="Calibri"/>
              <a:ea typeface="Calibri"/>
              <a:cs typeface="Calibri"/>
              <a:sym typeface="Calibri"/>
            </a:endParaRPr>
          </a:p>
        </p:txBody>
      </p:sp>
      <p:sp>
        <p:nvSpPr>
          <p:cNvPr id="362" name="Google Shape;362;p14"/>
          <p:cNvSpPr/>
          <p:nvPr/>
        </p:nvSpPr>
        <p:spPr>
          <a:xfrm>
            <a:off x="5760720" y="457200"/>
            <a:ext cx="3154800" cy="16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800"/>
              <a:buFont typeface="Calibri"/>
              <a:buNone/>
            </a:pPr>
            <a:r>
              <a:rPr i="1" lang="en-US" sz="800">
                <a:solidFill>
                  <a:srgbClr val="8899AA"/>
                </a:solidFill>
                <a:latin typeface="Calibri"/>
                <a:ea typeface="Calibri"/>
                <a:cs typeface="Calibri"/>
                <a:sym typeface="Calibri"/>
              </a:rPr>
              <a:t>Sorted by AIR ascending — lowest = model's largest error</a:t>
            </a:r>
            <a:endParaRPr sz="800">
              <a:solidFill>
                <a:schemeClr val="dk1"/>
              </a:solidFill>
              <a:latin typeface="Calibri"/>
              <a:ea typeface="Calibri"/>
              <a:cs typeface="Calibri"/>
              <a:sym typeface="Calibri"/>
            </a:endParaRPr>
          </a:p>
        </p:txBody>
      </p:sp>
      <p:cxnSp>
        <p:nvCxnSpPr>
          <p:cNvPr id="363" name="Google Shape;363;p14"/>
          <p:cNvCxnSpPr/>
          <p:nvPr/>
        </p:nvCxnSpPr>
        <p:spPr>
          <a:xfrm>
            <a:off x="5897880" y="658368"/>
            <a:ext cx="2880300" cy="0"/>
          </a:xfrm>
          <a:prstGeom prst="straightConnector1">
            <a:avLst/>
          </a:prstGeom>
          <a:noFill/>
          <a:ln cap="flat" cmpd="sng" w="12700">
            <a:solidFill>
              <a:srgbClr val="2A3F58"/>
            </a:solidFill>
            <a:prstDash val="solid"/>
            <a:round/>
            <a:headEnd len="sm" w="sm" type="none"/>
            <a:tailEnd len="sm" w="sm" type="none"/>
          </a:ln>
        </p:spPr>
      </p:cxnSp>
      <p:sp>
        <p:nvSpPr>
          <p:cNvPr id="364" name="Google Shape;364;p14"/>
          <p:cNvSpPr/>
          <p:nvPr/>
        </p:nvSpPr>
        <p:spPr>
          <a:xfrm>
            <a:off x="5788152" y="731520"/>
            <a:ext cx="14172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99AA"/>
              </a:buClr>
              <a:buSzPts val="750"/>
              <a:buFont typeface="Calibri"/>
              <a:buNone/>
            </a:pPr>
            <a:r>
              <a:rPr b="1" lang="en-US" sz="750">
                <a:solidFill>
                  <a:srgbClr val="8899AA"/>
                </a:solidFill>
                <a:latin typeface="Calibri"/>
                <a:ea typeface="Calibri"/>
                <a:cs typeface="Calibri"/>
                <a:sym typeface="Calibri"/>
              </a:rPr>
              <a:t>SUBGROUP</a:t>
            </a:r>
            <a:endParaRPr sz="750">
              <a:solidFill>
                <a:schemeClr val="dk1"/>
              </a:solidFill>
              <a:latin typeface="Calibri"/>
              <a:ea typeface="Calibri"/>
              <a:cs typeface="Calibri"/>
              <a:sym typeface="Calibri"/>
            </a:endParaRPr>
          </a:p>
        </p:txBody>
      </p:sp>
      <p:sp>
        <p:nvSpPr>
          <p:cNvPr id="365" name="Google Shape;365;p14"/>
          <p:cNvSpPr/>
          <p:nvPr/>
        </p:nvSpPr>
        <p:spPr>
          <a:xfrm>
            <a:off x="7214616" y="731520"/>
            <a:ext cx="5304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750"/>
              <a:buFont typeface="Calibri"/>
              <a:buNone/>
            </a:pPr>
            <a:r>
              <a:rPr b="1" lang="en-US" sz="750">
                <a:solidFill>
                  <a:srgbClr val="8899AA"/>
                </a:solidFill>
                <a:latin typeface="Calibri"/>
                <a:ea typeface="Calibri"/>
                <a:cs typeface="Calibri"/>
                <a:sym typeface="Calibri"/>
              </a:rPr>
              <a:t>RATE</a:t>
            </a:r>
            <a:endParaRPr sz="750">
              <a:solidFill>
                <a:schemeClr val="dk1"/>
              </a:solidFill>
              <a:latin typeface="Calibri"/>
              <a:ea typeface="Calibri"/>
              <a:cs typeface="Calibri"/>
              <a:sym typeface="Calibri"/>
            </a:endParaRPr>
          </a:p>
        </p:txBody>
      </p:sp>
      <p:sp>
        <p:nvSpPr>
          <p:cNvPr id="366" name="Google Shape;366;p14"/>
          <p:cNvSpPr/>
          <p:nvPr/>
        </p:nvSpPr>
        <p:spPr>
          <a:xfrm>
            <a:off x="7754112" y="731520"/>
            <a:ext cx="4389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750"/>
              <a:buFont typeface="Calibri"/>
              <a:buNone/>
            </a:pPr>
            <a:r>
              <a:rPr b="1" lang="en-US" sz="750">
                <a:solidFill>
                  <a:srgbClr val="8899AA"/>
                </a:solidFill>
                <a:latin typeface="Calibri"/>
                <a:ea typeface="Calibri"/>
                <a:cs typeface="Calibri"/>
                <a:sym typeface="Calibri"/>
              </a:rPr>
              <a:t>AIR</a:t>
            </a:r>
            <a:endParaRPr sz="750">
              <a:solidFill>
                <a:schemeClr val="dk1"/>
              </a:solidFill>
              <a:latin typeface="Calibri"/>
              <a:ea typeface="Calibri"/>
              <a:cs typeface="Calibri"/>
              <a:sym typeface="Calibri"/>
            </a:endParaRPr>
          </a:p>
        </p:txBody>
      </p:sp>
      <p:sp>
        <p:nvSpPr>
          <p:cNvPr id="367" name="Google Shape;367;p14"/>
          <p:cNvSpPr/>
          <p:nvPr/>
        </p:nvSpPr>
        <p:spPr>
          <a:xfrm>
            <a:off x="8202168" y="731520"/>
            <a:ext cx="502800" cy="18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750"/>
              <a:buFont typeface="Calibri"/>
              <a:buNone/>
            </a:pPr>
            <a:r>
              <a:rPr b="1" lang="en-US" sz="750">
                <a:solidFill>
                  <a:srgbClr val="8899AA"/>
                </a:solidFill>
                <a:latin typeface="Calibri"/>
                <a:ea typeface="Calibri"/>
                <a:cs typeface="Calibri"/>
                <a:sym typeface="Calibri"/>
              </a:rPr>
              <a:t>ME</a:t>
            </a:r>
            <a:endParaRPr sz="750">
              <a:solidFill>
                <a:schemeClr val="dk1"/>
              </a:solidFill>
              <a:latin typeface="Calibri"/>
              <a:ea typeface="Calibri"/>
              <a:cs typeface="Calibri"/>
              <a:sym typeface="Calibri"/>
            </a:endParaRPr>
          </a:p>
        </p:txBody>
      </p:sp>
      <p:sp>
        <p:nvSpPr>
          <p:cNvPr id="368" name="Google Shape;368;p14"/>
          <p:cNvSpPr/>
          <p:nvPr/>
        </p:nvSpPr>
        <p:spPr>
          <a:xfrm>
            <a:off x="5788152" y="932688"/>
            <a:ext cx="2990100" cy="438900"/>
          </a:xfrm>
          <a:prstGeom prst="rect">
            <a:avLst/>
          </a:prstGeom>
          <a:solidFill>
            <a:srgbClr val="1A2B40"/>
          </a:solidFill>
          <a:ln cap="flat" cmpd="sng" w="12700">
            <a:solidFill>
              <a:srgbClr val="1A2B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4"/>
          <p:cNvSpPr/>
          <p:nvPr/>
        </p:nvSpPr>
        <p:spPr>
          <a:xfrm>
            <a:off x="5815584" y="1024128"/>
            <a:ext cx="1389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900"/>
              <a:buFont typeface="Calibri"/>
              <a:buNone/>
            </a:pPr>
            <a:r>
              <a:rPr lang="en-US" sz="900">
                <a:solidFill>
                  <a:srgbClr val="F4A261"/>
                </a:solidFill>
                <a:latin typeface="Calibri"/>
                <a:ea typeface="Calibri"/>
                <a:cs typeface="Calibri"/>
                <a:sym typeface="Calibri"/>
              </a:rPr>
              <a:t>Minority Female</a:t>
            </a:r>
            <a:endParaRPr sz="900">
              <a:solidFill>
                <a:schemeClr val="dk1"/>
              </a:solidFill>
              <a:latin typeface="Calibri"/>
              <a:ea typeface="Calibri"/>
              <a:cs typeface="Calibri"/>
              <a:sym typeface="Calibri"/>
            </a:endParaRPr>
          </a:p>
        </p:txBody>
      </p:sp>
      <p:sp>
        <p:nvSpPr>
          <p:cNvPr id="370" name="Google Shape;370;p14"/>
          <p:cNvSpPr/>
          <p:nvPr/>
        </p:nvSpPr>
        <p:spPr>
          <a:xfrm>
            <a:off x="7214616" y="1024128"/>
            <a:ext cx="530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0.698</a:t>
            </a:r>
            <a:endParaRPr sz="900">
              <a:solidFill>
                <a:schemeClr val="dk1"/>
              </a:solidFill>
              <a:latin typeface="Calibri"/>
              <a:ea typeface="Calibri"/>
              <a:cs typeface="Calibri"/>
              <a:sym typeface="Calibri"/>
            </a:endParaRPr>
          </a:p>
        </p:txBody>
      </p:sp>
      <p:sp>
        <p:nvSpPr>
          <p:cNvPr id="371" name="Google Shape;371;p14"/>
          <p:cNvSpPr/>
          <p:nvPr/>
        </p:nvSpPr>
        <p:spPr>
          <a:xfrm>
            <a:off x="7754112" y="1024128"/>
            <a:ext cx="4389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1000"/>
              <a:buFont typeface="Calibri"/>
              <a:buNone/>
            </a:pPr>
            <a:r>
              <a:rPr b="1" lang="en-US" sz="1000">
                <a:solidFill>
                  <a:srgbClr val="F4A261"/>
                </a:solidFill>
                <a:latin typeface="Calibri"/>
                <a:ea typeface="Calibri"/>
                <a:cs typeface="Calibri"/>
                <a:sym typeface="Calibri"/>
              </a:rPr>
              <a:t>0.854</a:t>
            </a:r>
            <a:endParaRPr sz="1000">
              <a:solidFill>
                <a:schemeClr val="dk1"/>
              </a:solidFill>
              <a:latin typeface="Calibri"/>
              <a:ea typeface="Calibri"/>
              <a:cs typeface="Calibri"/>
              <a:sym typeface="Calibri"/>
            </a:endParaRPr>
          </a:p>
        </p:txBody>
      </p:sp>
      <p:sp>
        <p:nvSpPr>
          <p:cNvPr id="372" name="Google Shape;372;p14"/>
          <p:cNvSpPr/>
          <p:nvPr/>
        </p:nvSpPr>
        <p:spPr>
          <a:xfrm>
            <a:off x="8202168" y="1024128"/>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−0.120</a:t>
            </a:r>
            <a:endParaRPr sz="900">
              <a:solidFill>
                <a:schemeClr val="dk1"/>
              </a:solidFill>
              <a:latin typeface="Calibri"/>
              <a:ea typeface="Calibri"/>
              <a:cs typeface="Calibri"/>
              <a:sym typeface="Calibri"/>
            </a:endParaRPr>
          </a:p>
        </p:txBody>
      </p:sp>
      <p:sp>
        <p:nvSpPr>
          <p:cNvPr id="373" name="Google Shape;373;p14"/>
          <p:cNvSpPr/>
          <p:nvPr/>
        </p:nvSpPr>
        <p:spPr>
          <a:xfrm>
            <a:off x="5788152" y="1408176"/>
            <a:ext cx="2990100" cy="438900"/>
          </a:xfrm>
          <a:prstGeom prst="rect">
            <a:avLst/>
          </a:prstGeom>
          <a:solidFill>
            <a:srgbClr val="162033"/>
          </a:solidFill>
          <a:ln cap="flat" cmpd="sng" w="12700">
            <a:solidFill>
              <a:srgbClr val="16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4"/>
          <p:cNvSpPr/>
          <p:nvPr/>
        </p:nvSpPr>
        <p:spPr>
          <a:xfrm>
            <a:off x="5815584" y="1499616"/>
            <a:ext cx="1389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900"/>
              <a:buFont typeface="Calibri"/>
              <a:buNone/>
            </a:pPr>
            <a:r>
              <a:rPr lang="en-US" sz="900">
                <a:solidFill>
                  <a:srgbClr val="F4A261"/>
                </a:solidFill>
                <a:latin typeface="Calibri"/>
                <a:ea typeface="Calibri"/>
                <a:cs typeface="Calibri"/>
                <a:sym typeface="Calibri"/>
              </a:rPr>
              <a:t>Afr.-Amer. Male</a:t>
            </a:r>
            <a:endParaRPr sz="900">
              <a:solidFill>
                <a:schemeClr val="dk1"/>
              </a:solidFill>
              <a:latin typeface="Calibri"/>
              <a:ea typeface="Calibri"/>
              <a:cs typeface="Calibri"/>
              <a:sym typeface="Calibri"/>
            </a:endParaRPr>
          </a:p>
        </p:txBody>
      </p:sp>
      <p:sp>
        <p:nvSpPr>
          <p:cNvPr id="375" name="Google Shape;375;p14"/>
          <p:cNvSpPr/>
          <p:nvPr/>
        </p:nvSpPr>
        <p:spPr>
          <a:xfrm>
            <a:off x="7214616" y="1499616"/>
            <a:ext cx="530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0.706</a:t>
            </a:r>
            <a:endParaRPr sz="900">
              <a:solidFill>
                <a:schemeClr val="dk1"/>
              </a:solidFill>
              <a:latin typeface="Calibri"/>
              <a:ea typeface="Calibri"/>
              <a:cs typeface="Calibri"/>
              <a:sym typeface="Calibri"/>
            </a:endParaRPr>
          </a:p>
        </p:txBody>
      </p:sp>
      <p:sp>
        <p:nvSpPr>
          <p:cNvPr id="376" name="Google Shape;376;p14"/>
          <p:cNvSpPr/>
          <p:nvPr/>
        </p:nvSpPr>
        <p:spPr>
          <a:xfrm>
            <a:off x="7754112" y="1499616"/>
            <a:ext cx="4389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1000"/>
              <a:buFont typeface="Calibri"/>
              <a:buNone/>
            </a:pPr>
            <a:r>
              <a:rPr b="1" lang="en-US" sz="1000">
                <a:solidFill>
                  <a:srgbClr val="F4A261"/>
                </a:solidFill>
                <a:latin typeface="Calibri"/>
                <a:ea typeface="Calibri"/>
                <a:cs typeface="Calibri"/>
                <a:sym typeface="Calibri"/>
              </a:rPr>
              <a:t>0.863</a:t>
            </a:r>
            <a:endParaRPr sz="1000">
              <a:solidFill>
                <a:schemeClr val="dk1"/>
              </a:solidFill>
              <a:latin typeface="Calibri"/>
              <a:ea typeface="Calibri"/>
              <a:cs typeface="Calibri"/>
              <a:sym typeface="Calibri"/>
            </a:endParaRPr>
          </a:p>
        </p:txBody>
      </p:sp>
      <p:sp>
        <p:nvSpPr>
          <p:cNvPr id="377" name="Google Shape;377;p14"/>
          <p:cNvSpPr/>
          <p:nvPr/>
        </p:nvSpPr>
        <p:spPr>
          <a:xfrm>
            <a:off x="8202168" y="1499616"/>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−0.112</a:t>
            </a:r>
            <a:endParaRPr sz="900">
              <a:solidFill>
                <a:schemeClr val="dk1"/>
              </a:solidFill>
              <a:latin typeface="Calibri"/>
              <a:ea typeface="Calibri"/>
              <a:cs typeface="Calibri"/>
              <a:sym typeface="Calibri"/>
            </a:endParaRPr>
          </a:p>
        </p:txBody>
      </p:sp>
      <p:sp>
        <p:nvSpPr>
          <p:cNvPr id="378" name="Google Shape;378;p14"/>
          <p:cNvSpPr/>
          <p:nvPr/>
        </p:nvSpPr>
        <p:spPr>
          <a:xfrm>
            <a:off x="5788152" y="1883664"/>
            <a:ext cx="2990100" cy="438900"/>
          </a:xfrm>
          <a:prstGeom prst="rect">
            <a:avLst/>
          </a:prstGeom>
          <a:solidFill>
            <a:srgbClr val="1A2B40"/>
          </a:solidFill>
          <a:ln cap="flat" cmpd="sng" w="12700">
            <a:solidFill>
              <a:srgbClr val="1A2B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4"/>
          <p:cNvSpPr/>
          <p:nvPr/>
        </p:nvSpPr>
        <p:spPr>
          <a:xfrm>
            <a:off x="5815584" y="1975104"/>
            <a:ext cx="1389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900"/>
              <a:buFont typeface="Calibri"/>
              <a:buNone/>
            </a:pPr>
            <a:r>
              <a:rPr lang="en-US" sz="900">
                <a:solidFill>
                  <a:srgbClr val="F4A261"/>
                </a:solidFill>
                <a:latin typeface="Calibri"/>
                <a:ea typeface="Calibri"/>
                <a:cs typeface="Calibri"/>
                <a:sym typeface="Calibri"/>
              </a:rPr>
              <a:t>Afr.-Amer. Female</a:t>
            </a:r>
            <a:endParaRPr sz="900">
              <a:solidFill>
                <a:schemeClr val="dk1"/>
              </a:solidFill>
              <a:latin typeface="Calibri"/>
              <a:ea typeface="Calibri"/>
              <a:cs typeface="Calibri"/>
              <a:sym typeface="Calibri"/>
            </a:endParaRPr>
          </a:p>
        </p:txBody>
      </p:sp>
      <p:sp>
        <p:nvSpPr>
          <p:cNvPr id="380" name="Google Shape;380;p14"/>
          <p:cNvSpPr/>
          <p:nvPr/>
        </p:nvSpPr>
        <p:spPr>
          <a:xfrm>
            <a:off x="7214616" y="1975104"/>
            <a:ext cx="530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0.709</a:t>
            </a:r>
            <a:endParaRPr sz="900">
              <a:solidFill>
                <a:schemeClr val="dk1"/>
              </a:solidFill>
              <a:latin typeface="Calibri"/>
              <a:ea typeface="Calibri"/>
              <a:cs typeface="Calibri"/>
              <a:sym typeface="Calibri"/>
            </a:endParaRPr>
          </a:p>
        </p:txBody>
      </p:sp>
      <p:sp>
        <p:nvSpPr>
          <p:cNvPr id="381" name="Google Shape;381;p14"/>
          <p:cNvSpPr/>
          <p:nvPr/>
        </p:nvSpPr>
        <p:spPr>
          <a:xfrm>
            <a:off x="7754112" y="1975104"/>
            <a:ext cx="4389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1000"/>
              <a:buFont typeface="Calibri"/>
              <a:buNone/>
            </a:pPr>
            <a:r>
              <a:rPr b="1" lang="en-US" sz="1000">
                <a:solidFill>
                  <a:srgbClr val="F4A261"/>
                </a:solidFill>
                <a:latin typeface="Calibri"/>
                <a:ea typeface="Calibri"/>
                <a:cs typeface="Calibri"/>
                <a:sym typeface="Calibri"/>
              </a:rPr>
              <a:t>0.867</a:t>
            </a:r>
            <a:endParaRPr sz="1000">
              <a:solidFill>
                <a:schemeClr val="dk1"/>
              </a:solidFill>
              <a:latin typeface="Calibri"/>
              <a:ea typeface="Calibri"/>
              <a:cs typeface="Calibri"/>
              <a:sym typeface="Calibri"/>
            </a:endParaRPr>
          </a:p>
        </p:txBody>
      </p:sp>
      <p:sp>
        <p:nvSpPr>
          <p:cNvPr id="382" name="Google Shape;382;p14"/>
          <p:cNvSpPr/>
          <p:nvPr/>
        </p:nvSpPr>
        <p:spPr>
          <a:xfrm>
            <a:off x="8202168" y="1975104"/>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−0.109</a:t>
            </a:r>
            <a:endParaRPr sz="900">
              <a:solidFill>
                <a:schemeClr val="dk1"/>
              </a:solidFill>
              <a:latin typeface="Calibri"/>
              <a:ea typeface="Calibri"/>
              <a:cs typeface="Calibri"/>
              <a:sym typeface="Calibri"/>
            </a:endParaRPr>
          </a:p>
        </p:txBody>
      </p:sp>
      <p:sp>
        <p:nvSpPr>
          <p:cNvPr id="383" name="Google Shape;383;p14"/>
          <p:cNvSpPr/>
          <p:nvPr/>
        </p:nvSpPr>
        <p:spPr>
          <a:xfrm>
            <a:off x="5788152" y="2359152"/>
            <a:ext cx="2990100" cy="438900"/>
          </a:xfrm>
          <a:prstGeom prst="rect">
            <a:avLst/>
          </a:prstGeom>
          <a:solidFill>
            <a:srgbClr val="162033"/>
          </a:solidFill>
          <a:ln cap="flat" cmpd="sng" w="12700">
            <a:solidFill>
              <a:srgbClr val="16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4"/>
          <p:cNvSpPr/>
          <p:nvPr/>
        </p:nvSpPr>
        <p:spPr>
          <a:xfrm>
            <a:off x="5815584" y="2450592"/>
            <a:ext cx="1389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900"/>
              <a:buFont typeface="Calibri"/>
              <a:buNone/>
            </a:pPr>
            <a:r>
              <a:rPr lang="en-US" sz="900">
                <a:solidFill>
                  <a:srgbClr val="F4A261"/>
                </a:solidFill>
                <a:latin typeface="Calibri"/>
                <a:ea typeface="Calibri"/>
                <a:cs typeface="Calibri"/>
                <a:sym typeface="Calibri"/>
              </a:rPr>
              <a:t>Minority Male</a:t>
            </a:r>
            <a:endParaRPr sz="900">
              <a:solidFill>
                <a:schemeClr val="dk1"/>
              </a:solidFill>
              <a:latin typeface="Calibri"/>
              <a:ea typeface="Calibri"/>
              <a:cs typeface="Calibri"/>
              <a:sym typeface="Calibri"/>
            </a:endParaRPr>
          </a:p>
        </p:txBody>
      </p:sp>
      <p:sp>
        <p:nvSpPr>
          <p:cNvPr id="385" name="Google Shape;385;p14"/>
          <p:cNvSpPr/>
          <p:nvPr/>
        </p:nvSpPr>
        <p:spPr>
          <a:xfrm>
            <a:off x="7214616" y="2450592"/>
            <a:ext cx="530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0.715</a:t>
            </a:r>
            <a:endParaRPr sz="900">
              <a:solidFill>
                <a:schemeClr val="dk1"/>
              </a:solidFill>
              <a:latin typeface="Calibri"/>
              <a:ea typeface="Calibri"/>
              <a:cs typeface="Calibri"/>
              <a:sym typeface="Calibri"/>
            </a:endParaRPr>
          </a:p>
        </p:txBody>
      </p:sp>
      <p:sp>
        <p:nvSpPr>
          <p:cNvPr id="386" name="Google Shape;386;p14"/>
          <p:cNvSpPr/>
          <p:nvPr/>
        </p:nvSpPr>
        <p:spPr>
          <a:xfrm>
            <a:off x="7754112" y="2450592"/>
            <a:ext cx="4389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4A261"/>
              </a:buClr>
              <a:buSzPts val="1000"/>
              <a:buFont typeface="Calibri"/>
              <a:buNone/>
            </a:pPr>
            <a:r>
              <a:rPr b="1" lang="en-US" sz="1000">
                <a:solidFill>
                  <a:srgbClr val="F4A261"/>
                </a:solidFill>
                <a:latin typeface="Calibri"/>
                <a:ea typeface="Calibri"/>
                <a:cs typeface="Calibri"/>
                <a:sym typeface="Calibri"/>
              </a:rPr>
              <a:t>0.874</a:t>
            </a:r>
            <a:endParaRPr sz="1000">
              <a:solidFill>
                <a:schemeClr val="dk1"/>
              </a:solidFill>
              <a:latin typeface="Calibri"/>
              <a:ea typeface="Calibri"/>
              <a:cs typeface="Calibri"/>
              <a:sym typeface="Calibri"/>
            </a:endParaRPr>
          </a:p>
        </p:txBody>
      </p:sp>
      <p:sp>
        <p:nvSpPr>
          <p:cNvPr id="387" name="Google Shape;387;p14"/>
          <p:cNvSpPr/>
          <p:nvPr/>
        </p:nvSpPr>
        <p:spPr>
          <a:xfrm>
            <a:off x="8202168" y="2450592"/>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−0.103</a:t>
            </a:r>
            <a:endParaRPr sz="900">
              <a:solidFill>
                <a:schemeClr val="dk1"/>
              </a:solidFill>
              <a:latin typeface="Calibri"/>
              <a:ea typeface="Calibri"/>
              <a:cs typeface="Calibri"/>
              <a:sym typeface="Calibri"/>
            </a:endParaRPr>
          </a:p>
        </p:txBody>
      </p:sp>
      <p:sp>
        <p:nvSpPr>
          <p:cNvPr id="388" name="Google Shape;388;p14"/>
          <p:cNvSpPr/>
          <p:nvPr/>
        </p:nvSpPr>
        <p:spPr>
          <a:xfrm>
            <a:off x="5788152" y="2834640"/>
            <a:ext cx="2990100" cy="438900"/>
          </a:xfrm>
          <a:prstGeom prst="rect">
            <a:avLst/>
          </a:prstGeom>
          <a:solidFill>
            <a:srgbClr val="1A2B40"/>
          </a:solidFill>
          <a:ln cap="flat" cmpd="sng" w="12700">
            <a:solidFill>
              <a:srgbClr val="1A2B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14"/>
          <p:cNvSpPr/>
          <p:nvPr/>
        </p:nvSpPr>
        <p:spPr>
          <a:xfrm>
            <a:off x="5815584" y="2926080"/>
            <a:ext cx="1389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Caucasian Female</a:t>
            </a:r>
            <a:endParaRPr sz="900">
              <a:solidFill>
                <a:schemeClr val="dk1"/>
              </a:solidFill>
              <a:latin typeface="Calibri"/>
              <a:ea typeface="Calibri"/>
              <a:cs typeface="Calibri"/>
              <a:sym typeface="Calibri"/>
            </a:endParaRPr>
          </a:p>
        </p:txBody>
      </p:sp>
      <p:sp>
        <p:nvSpPr>
          <p:cNvPr id="390" name="Google Shape;390;p14"/>
          <p:cNvSpPr/>
          <p:nvPr/>
        </p:nvSpPr>
        <p:spPr>
          <a:xfrm>
            <a:off x="7214616" y="2926080"/>
            <a:ext cx="530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0.813</a:t>
            </a:r>
            <a:endParaRPr sz="900">
              <a:solidFill>
                <a:schemeClr val="dk1"/>
              </a:solidFill>
              <a:latin typeface="Calibri"/>
              <a:ea typeface="Calibri"/>
              <a:cs typeface="Calibri"/>
              <a:sym typeface="Calibri"/>
            </a:endParaRPr>
          </a:p>
        </p:txBody>
      </p:sp>
      <p:sp>
        <p:nvSpPr>
          <p:cNvPr id="391" name="Google Shape;391;p14"/>
          <p:cNvSpPr/>
          <p:nvPr/>
        </p:nvSpPr>
        <p:spPr>
          <a:xfrm>
            <a:off x="7754112" y="2926080"/>
            <a:ext cx="4389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1000"/>
              <a:buFont typeface="Calibri"/>
              <a:buNone/>
            </a:pPr>
            <a:r>
              <a:rPr b="1" lang="en-US" sz="1000">
                <a:solidFill>
                  <a:srgbClr val="8899AA"/>
                </a:solidFill>
                <a:latin typeface="Calibri"/>
                <a:ea typeface="Calibri"/>
                <a:cs typeface="Calibri"/>
                <a:sym typeface="Calibri"/>
              </a:rPr>
              <a:t>0.994</a:t>
            </a:r>
            <a:endParaRPr sz="1000">
              <a:solidFill>
                <a:schemeClr val="dk1"/>
              </a:solidFill>
              <a:latin typeface="Calibri"/>
              <a:ea typeface="Calibri"/>
              <a:cs typeface="Calibri"/>
              <a:sym typeface="Calibri"/>
            </a:endParaRPr>
          </a:p>
        </p:txBody>
      </p:sp>
      <p:sp>
        <p:nvSpPr>
          <p:cNvPr id="392" name="Google Shape;392;p14"/>
          <p:cNvSpPr/>
          <p:nvPr/>
        </p:nvSpPr>
        <p:spPr>
          <a:xfrm>
            <a:off x="8202168" y="2926080"/>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070"/>
              </a:buClr>
              <a:buSzPts val="900"/>
              <a:buFont typeface="Calibri"/>
              <a:buNone/>
            </a:pPr>
            <a:r>
              <a:rPr lang="en-US" sz="900">
                <a:solidFill>
                  <a:srgbClr val="E07070"/>
                </a:solidFill>
                <a:latin typeface="Calibri"/>
                <a:ea typeface="Calibri"/>
                <a:cs typeface="Calibri"/>
                <a:sym typeface="Calibri"/>
              </a:rPr>
              <a:t>−0.005</a:t>
            </a:r>
            <a:endParaRPr sz="900">
              <a:solidFill>
                <a:schemeClr val="dk1"/>
              </a:solidFill>
              <a:latin typeface="Calibri"/>
              <a:ea typeface="Calibri"/>
              <a:cs typeface="Calibri"/>
              <a:sym typeface="Calibri"/>
            </a:endParaRPr>
          </a:p>
        </p:txBody>
      </p:sp>
      <p:sp>
        <p:nvSpPr>
          <p:cNvPr id="393" name="Google Shape;393;p14"/>
          <p:cNvSpPr/>
          <p:nvPr/>
        </p:nvSpPr>
        <p:spPr>
          <a:xfrm>
            <a:off x="5788152" y="3310128"/>
            <a:ext cx="2990100" cy="438900"/>
          </a:xfrm>
          <a:prstGeom prst="rect">
            <a:avLst/>
          </a:prstGeom>
          <a:solidFill>
            <a:srgbClr val="162033"/>
          </a:solidFill>
          <a:ln cap="flat" cmpd="sng" w="12700">
            <a:solidFill>
              <a:srgbClr val="16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4"/>
          <p:cNvSpPr/>
          <p:nvPr/>
        </p:nvSpPr>
        <p:spPr>
          <a:xfrm>
            <a:off x="5815584" y="3401568"/>
            <a:ext cx="1389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Caucasian Male (ref)</a:t>
            </a:r>
            <a:endParaRPr sz="900">
              <a:solidFill>
                <a:schemeClr val="dk1"/>
              </a:solidFill>
              <a:latin typeface="Calibri"/>
              <a:ea typeface="Calibri"/>
              <a:cs typeface="Calibri"/>
              <a:sym typeface="Calibri"/>
            </a:endParaRPr>
          </a:p>
        </p:txBody>
      </p:sp>
      <p:sp>
        <p:nvSpPr>
          <p:cNvPr id="395" name="Google Shape;395;p14"/>
          <p:cNvSpPr/>
          <p:nvPr/>
        </p:nvSpPr>
        <p:spPr>
          <a:xfrm>
            <a:off x="7214616" y="3401568"/>
            <a:ext cx="530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0.818</a:t>
            </a:r>
            <a:endParaRPr sz="900">
              <a:solidFill>
                <a:schemeClr val="dk1"/>
              </a:solidFill>
              <a:latin typeface="Calibri"/>
              <a:ea typeface="Calibri"/>
              <a:cs typeface="Calibri"/>
              <a:sym typeface="Calibri"/>
            </a:endParaRPr>
          </a:p>
        </p:txBody>
      </p:sp>
      <p:sp>
        <p:nvSpPr>
          <p:cNvPr id="396" name="Google Shape;396;p14"/>
          <p:cNvSpPr/>
          <p:nvPr/>
        </p:nvSpPr>
        <p:spPr>
          <a:xfrm>
            <a:off x="7754112" y="3401568"/>
            <a:ext cx="4389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1000"/>
              <a:buFont typeface="Calibri"/>
              <a:buNone/>
            </a:pPr>
            <a:r>
              <a:rPr b="1" lang="en-US" sz="1000">
                <a:solidFill>
                  <a:srgbClr val="8899AA"/>
                </a:solidFill>
                <a:latin typeface="Calibri"/>
                <a:ea typeface="Calibri"/>
                <a:cs typeface="Calibri"/>
                <a:sym typeface="Calibri"/>
              </a:rPr>
              <a:t>1.000</a:t>
            </a:r>
            <a:endParaRPr sz="1000">
              <a:solidFill>
                <a:schemeClr val="dk1"/>
              </a:solidFill>
              <a:latin typeface="Calibri"/>
              <a:ea typeface="Calibri"/>
              <a:cs typeface="Calibri"/>
              <a:sym typeface="Calibri"/>
            </a:endParaRPr>
          </a:p>
        </p:txBody>
      </p:sp>
      <p:sp>
        <p:nvSpPr>
          <p:cNvPr id="397" name="Google Shape;397;p14"/>
          <p:cNvSpPr/>
          <p:nvPr/>
        </p:nvSpPr>
        <p:spPr>
          <a:xfrm>
            <a:off x="8202168" y="3401568"/>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0.000</a:t>
            </a:r>
            <a:endParaRPr sz="900">
              <a:solidFill>
                <a:schemeClr val="dk1"/>
              </a:solidFill>
              <a:latin typeface="Calibri"/>
              <a:ea typeface="Calibri"/>
              <a:cs typeface="Calibri"/>
              <a:sym typeface="Calibri"/>
            </a:endParaRPr>
          </a:p>
        </p:txBody>
      </p:sp>
      <p:sp>
        <p:nvSpPr>
          <p:cNvPr id="398" name="Google Shape;398;p14"/>
          <p:cNvSpPr/>
          <p:nvPr/>
        </p:nvSpPr>
        <p:spPr>
          <a:xfrm>
            <a:off x="5788152" y="3785616"/>
            <a:ext cx="2990100" cy="438900"/>
          </a:xfrm>
          <a:prstGeom prst="rect">
            <a:avLst/>
          </a:prstGeom>
          <a:solidFill>
            <a:srgbClr val="1A2B40"/>
          </a:solidFill>
          <a:ln cap="flat" cmpd="sng" w="12700">
            <a:solidFill>
              <a:srgbClr val="1A2B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4"/>
          <p:cNvSpPr/>
          <p:nvPr/>
        </p:nvSpPr>
        <p:spPr>
          <a:xfrm>
            <a:off x="5815584" y="3877056"/>
            <a:ext cx="13899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Asian Male</a:t>
            </a:r>
            <a:endParaRPr sz="900">
              <a:solidFill>
                <a:schemeClr val="dk1"/>
              </a:solidFill>
              <a:latin typeface="Calibri"/>
              <a:ea typeface="Calibri"/>
              <a:cs typeface="Calibri"/>
              <a:sym typeface="Calibri"/>
            </a:endParaRPr>
          </a:p>
        </p:txBody>
      </p:sp>
      <p:sp>
        <p:nvSpPr>
          <p:cNvPr id="400" name="Google Shape;400;p14"/>
          <p:cNvSpPr/>
          <p:nvPr/>
        </p:nvSpPr>
        <p:spPr>
          <a:xfrm>
            <a:off x="7214616" y="3877056"/>
            <a:ext cx="530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899AA"/>
              </a:buClr>
              <a:buSzPts val="900"/>
              <a:buFont typeface="Calibri"/>
              <a:buNone/>
            </a:pPr>
            <a:r>
              <a:rPr lang="en-US" sz="900">
                <a:solidFill>
                  <a:srgbClr val="8899AA"/>
                </a:solidFill>
                <a:latin typeface="Calibri"/>
                <a:ea typeface="Calibri"/>
                <a:cs typeface="Calibri"/>
                <a:sym typeface="Calibri"/>
              </a:rPr>
              <a:t>0.849</a:t>
            </a:r>
            <a:endParaRPr sz="900">
              <a:solidFill>
                <a:schemeClr val="dk1"/>
              </a:solidFill>
              <a:latin typeface="Calibri"/>
              <a:ea typeface="Calibri"/>
              <a:cs typeface="Calibri"/>
              <a:sym typeface="Calibri"/>
            </a:endParaRPr>
          </a:p>
        </p:txBody>
      </p:sp>
      <p:sp>
        <p:nvSpPr>
          <p:cNvPr id="401" name="Google Shape;401;p14"/>
          <p:cNvSpPr/>
          <p:nvPr/>
        </p:nvSpPr>
        <p:spPr>
          <a:xfrm>
            <a:off x="7754112" y="3877056"/>
            <a:ext cx="4389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1000"/>
              <a:buFont typeface="Calibri"/>
              <a:buNone/>
            </a:pPr>
            <a:r>
              <a:rPr b="1" lang="en-US" sz="1000">
                <a:solidFill>
                  <a:srgbClr val="52B788"/>
                </a:solidFill>
                <a:latin typeface="Calibri"/>
                <a:ea typeface="Calibri"/>
                <a:cs typeface="Calibri"/>
                <a:sym typeface="Calibri"/>
              </a:rPr>
              <a:t>1.038</a:t>
            </a:r>
            <a:endParaRPr sz="1000">
              <a:solidFill>
                <a:schemeClr val="dk1"/>
              </a:solidFill>
              <a:latin typeface="Calibri"/>
              <a:ea typeface="Calibri"/>
              <a:cs typeface="Calibri"/>
              <a:sym typeface="Calibri"/>
            </a:endParaRPr>
          </a:p>
        </p:txBody>
      </p:sp>
      <p:sp>
        <p:nvSpPr>
          <p:cNvPr id="402" name="Google Shape;402;p14"/>
          <p:cNvSpPr/>
          <p:nvPr/>
        </p:nvSpPr>
        <p:spPr>
          <a:xfrm>
            <a:off x="8202168" y="3877056"/>
            <a:ext cx="5028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2B788"/>
              </a:buClr>
              <a:buSzPts val="900"/>
              <a:buFont typeface="Calibri"/>
              <a:buNone/>
            </a:pPr>
            <a:r>
              <a:rPr lang="en-US" sz="900">
                <a:solidFill>
                  <a:srgbClr val="52B788"/>
                </a:solidFill>
                <a:latin typeface="Calibri"/>
                <a:ea typeface="Calibri"/>
                <a:cs typeface="Calibri"/>
                <a:sym typeface="Calibri"/>
              </a:rPr>
              <a:t>+0.031</a:t>
            </a:r>
            <a:endParaRPr sz="900">
              <a:solidFill>
                <a:schemeClr val="dk1"/>
              </a:solidFill>
              <a:latin typeface="Calibri"/>
              <a:ea typeface="Calibri"/>
              <a:cs typeface="Calibri"/>
              <a:sym typeface="Calibri"/>
            </a:endParaRPr>
          </a:p>
        </p:txBody>
      </p:sp>
      <p:sp>
        <p:nvSpPr>
          <p:cNvPr id="403" name="Google Shape;403;p14"/>
          <p:cNvSpPr/>
          <p:nvPr/>
        </p:nvSpPr>
        <p:spPr>
          <a:xfrm>
            <a:off x="5788152" y="4315968"/>
            <a:ext cx="2990100" cy="694800"/>
          </a:xfrm>
          <a:prstGeom prst="rect">
            <a:avLst/>
          </a:prstGeom>
          <a:solidFill>
            <a:srgbClr val="0F1D2E"/>
          </a:solidFill>
          <a:ln cap="flat" cmpd="sng" w="12700">
            <a:solidFill>
              <a:srgbClr val="2A4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4"/>
          <p:cNvSpPr/>
          <p:nvPr/>
        </p:nvSpPr>
        <p:spPr>
          <a:xfrm>
            <a:off x="5852160" y="4261104"/>
            <a:ext cx="28530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4A261"/>
              </a:buClr>
              <a:buSzPts val="850"/>
              <a:buFont typeface="Calibri"/>
              <a:buNone/>
            </a:pPr>
            <a:r>
              <a:rPr b="1" lang="en-US" sz="850">
                <a:solidFill>
                  <a:srgbClr val="F4A261"/>
                </a:solidFill>
                <a:latin typeface="Calibri"/>
                <a:ea typeface="Calibri"/>
                <a:cs typeface="Calibri"/>
                <a:sym typeface="Calibri"/>
              </a:rPr>
              <a:t>⚡ KEY TAKEAWAY</a:t>
            </a:r>
            <a:endParaRPr sz="850">
              <a:solidFill>
                <a:schemeClr val="dk1"/>
              </a:solidFill>
              <a:latin typeface="Calibri"/>
              <a:ea typeface="Calibri"/>
              <a:cs typeface="Calibri"/>
              <a:sym typeface="Calibri"/>
            </a:endParaRPr>
          </a:p>
        </p:txBody>
      </p:sp>
      <p:sp>
        <p:nvSpPr>
          <p:cNvPr id="405" name="Google Shape;405;p14"/>
          <p:cNvSpPr/>
          <p:nvPr/>
        </p:nvSpPr>
        <p:spPr>
          <a:xfrm>
            <a:off x="5852160" y="4485132"/>
            <a:ext cx="2853000" cy="52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0D5DD"/>
              </a:buClr>
              <a:buSzPts val="850"/>
              <a:buFont typeface="Calibri"/>
              <a:buNone/>
            </a:pPr>
            <a:r>
              <a:rPr lang="en-US" sz="850">
                <a:solidFill>
                  <a:srgbClr val="D0D5DD"/>
                </a:solidFill>
                <a:latin typeface="Calibri"/>
                <a:ea typeface="Calibri"/>
                <a:cs typeface="Calibri"/>
                <a:sym typeface="Calibri"/>
              </a:rPr>
              <a:t>Race-only AIR masked the model's worst decisions. The Race × Gender split is what exposed Minority Female as the group the model penalises most  invisible in any single-variable view.</a:t>
            </a:r>
            <a:endParaRPr sz="8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A"/>
        </a:solidFill>
      </p:bgPr>
    </p:bg>
    <p:spTree>
      <p:nvGrpSpPr>
        <p:cNvPr id="410" name="Shape 410"/>
        <p:cNvGrpSpPr/>
        <p:nvPr/>
      </p:nvGrpSpPr>
      <p:grpSpPr>
        <a:xfrm>
          <a:off x="0" y="0"/>
          <a:ext cx="0" cy="0"/>
          <a:chOff x="0" y="0"/>
          <a:chExt cx="0" cy="0"/>
        </a:xfrm>
      </p:grpSpPr>
      <p:sp>
        <p:nvSpPr>
          <p:cNvPr id="411" name="Google Shape;411;p15"/>
          <p:cNvSpPr/>
          <p:nvPr/>
        </p:nvSpPr>
        <p:spPr>
          <a:xfrm>
            <a:off x="322222" y="127431"/>
            <a:ext cx="8321100" cy="164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000"/>
              <a:buFont typeface="Georgia"/>
              <a:buNone/>
            </a:pPr>
            <a:r>
              <a:rPr b="1" i="0" lang="en-US" sz="3800" u="none" cap="none" strike="noStrike">
                <a:solidFill>
                  <a:srgbClr val="FFFFFF"/>
                </a:solidFill>
                <a:latin typeface="Georgia"/>
                <a:ea typeface="Georgia"/>
                <a:cs typeface="Georgia"/>
                <a:sym typeface="Georgia"/>
              </a:rPr>
              <a:t>Q4: Residual Risks</a:t>
            </a:r>
            <a:endParaRPr i="0" sz="3800" u="none" cap="none" strike="noStrike">
              <a:solidFill>
                <a:schemeClr val="dk1"/>
              </a:solidFill>
              <a:latin typeface="Georgia"/>
              <a:ea typeface="Georgia"/>
              <a:cs typeface="Georgia"/>
              <a:sym typeface="Georgia"/>
            </a:endParaRPr>
          </a:p>
          <a:p>
            <a:pPr indent="0" lvl="0" marL="0" marR="0" rtl="0" algn="l">
              <a:spcBef>
                <a:spcPts val="0"/>
              </a:spcBef>
              <a:spcAft>
                <a:spcPts val="0"/>
              </a:spcAft>
              <a:buClr>
                <a:srgbClr val="FFFFFF"/>
              </a:buClr>
              <a:buSzPts val="4000"/>
              <a:buFont typeface="Georgia"/>
              <a:buNone/>
            </a:pPr>
            <a:r>
              <a:rPr b="1" i="0" lang="en-US" sz="3800" u="none" cap="none" strike="noStrike">
                <a:solidFill>
                  <a:srgbClr val="FFFFFF"/>
                </a:solidFill>
                <a:latin typeface="Georgia"/>
                <a:ea typeface="Georgia"/>
                <a:cs typeface="Georgia"/>
                <a:sym typeface="Georgia"/>
              </a:rPr>
              <a:t>&amp; Deployment Defensibility</a:t>
            </a:r>
            <a:endParaRPr i="0" sz="3800" u="none" cap="none" strike="noStrike">
              <a:solidFill>
                <a:schemeClr val="dk1"/>
              </a:solidFill>
              <a:latin typeface="Georgia"/>
              <a:ea typeface="Georgia"/>
              <a:cs typeface="Georgia"/>
              <a:sym typeface="Georgia"/>
            </a:endParaRPr>
          </a:p>
        </p:txBody>
      </p:sp>
      <p:sp>
        <p:nvSpPr>
          <p:cNvPr id="412" name="Google Shape;412;p15"/>
          <p:cNvSpPr/>
          <p:nvPr/>
        </p:nvSpPr>
        <p:spPr>
          <a:xfrm>
            <a:off x="322222" y="1773351"/>
            <a:ext cx="83211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600"/>
              <a:buFont typeface="Georgia"/>
              <a:buNone/>
            </a:pPr>
            <a:r>
              <a:rPr i="1" lang="en-US" sz="1600" u="none" cap="none" strike="noStrike">
                <a:solidFill>
                  <a:srgbClr val="C8A84B"/>
                </a:solidFill>
                <a:latin typeface="Calibri"/>
                <a:ea typeface="Calibri"/>
                <a:cs typeface="Calibri"/>
                <a:sym typeface="Calibri"/>
              </a:rPr>
              <a:t>What risks remain after mitigation and is deployment defensible?</a:t>
            </a:r>
            <a:endParaRPr i="0" sz="1600" u="none" cap="none" strike="noStrike">
              <a:solidFill>
                <a:schemeClr val="dk1"/>
              </a:solidFill>
              <a:latin typeface="Calibri"/>
              <a:ea typeface="Calibri"/>
              <a:cs typeface="Calibri"/>
              <a:sym typeface="Calibri"/>
            </a:endParaRPr>
          </a:p>
        </p:txBody>
      </p:sp>
      <p:sp>
        <p:nvSpPr>
          <p:cNvPr id="413" name="Google Shape;413;p15"/>
          <p:cNvSpPr/>
          <p:nvPr/>
        </p:nvSpPr>
        <p:spPr>
          <a:xfrm>
            <a:off x="322222" y="2230551"/>
            <a:ext cx="8321100" cy="36600"/>
          </a:xfrm>
          <a:prstGeom prst="rect">
            <a:avLst/>
          </a:prstGeom>
          <a:solidFill>
            <a:srgbClr val="C8A84B"/>
          </a:solidFill>
          <a:ln cap="flat" cmpd="sng" w="12700">
            <a:solidFill>
              <a:srgbClr val="C8A8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5"/>
          <p:cNvSpPr/>
          <p:nvPr/>
        </p:nvSpPr>
        <p:spPr>
          <a:xfrm>
            <a:off x="322222" y="2395143"/>
            <a:ext cx="2651700" cy="1371600"/>
          </a:xfrm>
          <a:prstGeom prst="rect">
            <a:avLst/>
          </a:prstGeom>
          <a:solidFill>
            <a:srgbClr val="162330"/>
          </a:solidFill>
          <a:ln cap="flat" cmpd="sng" w="1905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5"/>
          <p:cNvSpPr/>
          <p:nvPr/>
        </p:nvSpPr>
        <p:spPr>
          <a:xfrm>
            <a:off x="431950" y="2440863"/>
            <a:ext cx="24324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AIR Metric</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Blindness</a:t>
            </a:r>
            <a:endParaRPr sz="1300">
              <a:solidFill>
                <a:schemeClr val="dk1"/>
              </a:solidFill>
              <a:latin typeface="Calibri"/>
              <a:ea typeface="Calibri"/>
              <a:cs typeface="Calibri"/>
              <a:sym typeface="Calibri"/>
            </a:endParaRPr>
          </a:p>
        </p:txBody>
      </p:sp>
      <p:sp>
        <p:nvSpPr>
          <p:cNvPr id="416" name="Google Shape;416;p15"/>
          <p:cNvSpPr/>
          <p:nvPr/>
        </p:nvSpPr>
        <p:spPr>
          <a:xfrm>
            <a:off x="431950" y="3218103"/>
            <a:ext cx="24324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0A4"/>
              </a:buClr>
              <a:buSzPts val="1000"/>
              <a:buFont typeface="Calibri"/>
              <a:buNone/>
            </a:pPr>
            <a:r>
              <a:rPr lang="en-US" sz="1000">
                <a:solidFill>
                  <a:srgbClr val="4A90A4"/>
                </a:solidFill>
                <a:latin typeface="Calibri"/>
                <a:ea typeface="Calibri"/>
                <a:cs typeface="Calibri"/>
                <a:sym typeface="Calibri"/>
              </a:rPr>
              <a:t>Metric masking post-attack</a:t>
            </a:r>
            <a:endParaRPr sz="1000">
              <a:solidFill>
                <a:schemeClr val="dk1"/>
              </a:solidFill>
              <a:latin typeface="Calibri"/>
              <a:ea typeface="Calibri"/>
              <a:cs typeface="Calibri"/>
              <a:sym typeface="Calibri"/>
            </a:endParaRPr>
          </a:p>
        </p:txBody>
      </p:sp>
      <p:sp>
        <p:nvSpPr>
          <p:cNvPr id="417" name="Google Shape;417;p15"/>
          <p:cNvSpPr/>
          <p:nvPr/>
        </p:nvSpPr>
        <p:spPr>
          <a:xfrm>
            <a:off x="3156862" y="2395143"/>
            <a:ext cx="2651700" cy="1371600"/>
          </a:xfrm>
          <a:prstGeom prst="rect">
            <a:avLst/>
          </a:prstGeom>
          <a:solidFill>
            <a:srgbClr val="162330"/>
          </a:solidFill>
          <a:ln cap="flat" cmpd="sng" w="1905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5"/>
          <p:cNvSpPr/>
          <p:nvPr/>
        </p:nvSpPr>
        <p:spPr>
          <a:xfrm>
            <a:off x="3266590" y="2440863"/>
            <a:ext cx="24324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Historical Bias</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Amplification</a:t>
            </a:r>
            <a:endParaRPr sz="1300">
              <a:solidFill>
                <a:schemeClr val="dk1"/>
              </a:solidFill>
              <a:latin typeface="Calibri"/>
              <a:ea typeface="Calibri"/>
              <a:cs typeface="Calibri"/>
              <a:sym typeface="Calibri"/>
            </a:endParaRPr>
          </a:p>
        </p:txBody>
      </p:sp>
      <p:sp>
        <p:nvSpPr>
          <p:cNvPr id="419" name="Google Shape;419;p15"/>
          <p:cNvSpPr/>
          <p:nvPr/>
        </p:nvSpPr>
        <p:spPr>
          <a:xfrm>
            <a:off x="3266590" y="3218103"/>
            <a:ext cx="24324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0A4"/>
              </a:buClr>
              <a:buSzPts val="1000"/>
              <a:buFont typeface="Calibri"/>
              <a:buNone/>
            </a:pPr>
            <a:r>
              <a:rPr lang="en-US" sz="1000">
                <a:solidFill>
                  <a:srgbClr val="4A90A4"/>
                </a:solidFill>
                <a:latin typeface="Calibri"/>
                <a:ea typeface="Calibri"/>
                <a:cs typeface="Calibri"/>
                <a:sym typeface="Calibri"/>
              </a:rPr>
              <a:t>Training data structural gaps</a:t>
            </a:r>
            <a:endParaRPr sz="1000">
              <a:solidFill>
                <a:schemeClr val="dk1"/>
              </a:solidFill>
              <a:latin typeface="Calibri"/>
              <a:ea typeface="Calibri"/>
              <a:cs typeface="Calibri"/>
              <a:sym typeface="Calibri"/>
            </a:endParaRPr>
          </a:p>
        </p:txBody>
      </p:sp>
      <p:sp>
        <p:nvSpPr>
          <p:cNvPr id="420" name="Google Shape;420;p15"/>
          <p:cNvSpPr/>
          <p:nvPr/>
        </p:nvSpPr>
        <p:spPr>
          <a:xfrm>
            <a:off x="5991502" y="2395143"/>
            <a:ext cx="2651700" cy="1371600"/>
          </a:xfrm>
          <a:prstGeom prst="rect">
            <a:avLst/>
          </a:prstGeom>
          <a:solidFill>
            <a:srgbClr val="162330"/>
          </a:solidFill>
          <a:ln cap="flat" cmpd="sng" w="1905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5"/>
          <p:cNvSpPr/>
          <p:nvPr/>
        </p:nvSpPr>
        <p:spPr>
          <a:xfrm>
            <a:off x="6101230" y="2440863"/>
            <a:ext cx="2432400" cy="77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  Non-Recourse</a:t>
            </a:r>
            <a:endParaRPr sz="13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&amp; Privacy Gaps</a:t>
            </a:r>
            <a:endParaRPr sz="1300">
              <a:solidFill>
                <a:schemeClr val="dk1"/>
              </a:solidFill>
              <a:latin typeface="Calibri"/>
              <a:ea typeface="Calibri"/>
              <a:cs typeface="Calibri"/>
              <a:sym typeface="Calibri"/>
            </a:endParaRPr>
          </a:p>
        </p:txBody>
      </p:sp>
      <p:sp>
        <p:nvSpPr>
          <p:cNvPr id="422" name="Google Shape;422;p15"/>
          <p:cNvSpPr/>
          <p:nvPr/>
        </p:nvSpPr>
        <p:spPr>
          <a:xfrm>
            <a:off x="6101230" y="3218103"/>
            <a:ext cx="24324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0A4"/>
              </a:buClr>
              <a:buSzPts val="1000"/>
              <a:buFont typeface="Calibri"/>
              <a:buNone/>
            </a:pPr>
            <a:r>
              <a:rPr lang="en-US" sz="1000">
                <a:solidFill>
                  <a:srgbClr val="4A90A4"/>
                </a:solidFill>
                <a:latin typeface="Calibri"/>
                <a:ea typeface="Calibri"/>
                <a:cs typeface="Calibri"/>
                <a:sym typeface="Calibri"/>
              </a:rPr>
              <a:t>Boundary rigidity · Outlier risk</a:t>
            </a:r>
            <a:endParaRPr sz="1000">
              <a:solidFill>
                <a:schemeClr val="dk1"/>
              </a:solidFill>
              <a:latin typeface="Calibri"/>
              <a:ea typeface="Calibri"/>
              <a:cs typeface="Calibri"/>
              <a:sym typeface="Calibri"/>
            </a:endParaRPr>
          </a:p>
        </p:txBody>
      </p:sp>
      <p:sp>
        <p:nvSpPr>
          <p:cNvPr id="423" name="Google Shape;423;p15"/>
          <p:cNvSpPr/>
          <p:nvPr/>
        </p:nvSpPr>
        <p:spPr>
          <a:xfrm>
            <a:off x="322222" y="4022775"/>
            <a:ext cx="109800" cy="2925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15"/>
          <p:cNvSpPr/>
          <p:nvPr/>
        </p:nvSpPr>
        <p:spPr>
          <a:xfrm>
            <a:off x="523390" y="3949623"/>
            <a:ext cx="40233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Risk 1  →  AIR Metric Blindness</a:t>
            </a:r>
            <a:endParaRPr sz="1300">
              <a:solidFill>
                <a:schemeClr val="dk1"/>
              </a:solidFill>
              <a:latin typeface="Calibri"/>
              <a:ea typeface="Calibri"/>
              <a:cs typeface="Calibri"/>
              <a:sym typeface="Calibri"/>
            </a:endParaRPr>
          </a:p>
        </p:txBody>
      </p:sp>
      <p:sp>
        <p:nvSpPr>
          <p:cNvPr id="425" name="Google Shape;425;p15"/>
          <p:cNvSpPr/>
          <p:nvPr/>
        </p:nvSpPr>
        <p:spPr>
          <a:xfrm>
            <a:off x="322222" y="4461687"/>
            <a:ext cx="109800" cy="2925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5"/>
          <p:cNvSpPr/>
          <p:nvPr/>
        </p:nvSpPr>
        <p:spPr>
          <a:xfrm>
            <a:off x="523390" y="4388535"/>
            <a:ext cx="40233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Risk 2  →  Historical Bias Amplification</a:t>
            </a:r>
            <a:endParaRPr sz="1300">
              <a:solidFill>
                <a:schemeClr val="dk1"/>
              </a:solidFill>
              <a:latin typeface="Calibri"/>
              <a:ea typeface="Calibri"/>
              <a:cs typeface="Calibri"/>
              <a:sym typeface="Calibri"/>
            </a:endParaRPr>
          </a:p>
        </p:txBody>
      </p:sp>
      <p:sp>
        <p:nvSpPr>
          <p:cNvPr id="427" name="Google Shape;427;p15"/>
          <p:cNvSpPr/>
          <p:nvPr/>
        </p:nvSpPr>
        <p:spPr>
          <a:xfrm>
            <a:off x="4574182" y="4022775"/>
            <a:ext cx="109800" cy="2925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15"/>
          <p:cNvSpPr/>
          <p:nvPr/>
        </p:nvSpPr>
        <p:spPr>
          <a:xfrm>
            <a:off x="4775350" y="3949623"/>
            <a:ext cx="40233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Risk 3  →  Non-Recourse &amp; Privacy Gaps</a:t>
            </a:r>
            <a:endParaRPr sz="1300">
              <a:solidFill>
                <a:schemeClr val="dk1"/>
              </a:solidFill>
              <a:latin typeface="Calibri"/>
              <a:ea typeface="Calibri"/>
              <a:cs typeface="Calibri"/>
              <a:sym typeface="Calibri"/>
            </a:endParaRPr>
          </a:p>
        </p:txBody>
      </p:sp>
      <p:sp>
        <p:nvSpPr>
          <p:cNvPr id="429" name="Google Shape;429;p15"/>
          <p:cNvSpPr/>
          <p:nvPr/>
        </p:nvSpPr>
        <p:spPr>
          <a:xfrm>
            <a:off x="4574182" y="4461687"/>
            <a:ext cx="109800" cy="2925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15"/>
          <p:cNvSpPr/>
          <p:nvPr/>
        </p:nvSpPr>
        <p:spPr>
          <a:xfrm>
            <a:off x="4775350" y="4388535"/>
            <a:ext cx="4023300" cy="438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lang="en-US" sz="1300">
                <a:solidFill>
                  <a:srgbClr val="FFFFFF"/>
                </a:solidFill>
                <a:latin typeface="Calibri"/>
                <a:ea typeface="Calibri"/>
                <a:cs typeface="Calibri"/>
                <a:sym typeface="Calibri"/>
              </a:rPr>
              <a:t>Q5  →  Deployment: Conditionally Defensible</a:t>
            </a:r>
            <a:endParaRPr sz="13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A"/>
        </a:solidFill>
      </p:bgPr>
    </p:bg>
    <p:spTree>
      <p:nvGrpSpPr>
        <p:cNvPr id="435" name="Shape 435"/>
        <p:cNvGrpSpPr/>
        <p:nvPr/>
      </p:nvGrpSpPr>
      <p:grpSpPr>
        <a:xfrm>
          <a:off x="0" y="0"/>
          <a:ext cx="0" cy="0"/>
          <a:chOff x="0" y="0"/>
          <a:chExt cx="0" cy="0"/>
        </a:xfrm>
      </p:grpSpPr>
      <p:sp>
        <p:nvSpPr>
          <p:cNvPr id="436" name="Google Shape;436;p16"/>
          <p:cNvSpPr/>
          <p:nvPr/>
        </p:nvSpPr>
        <p:spPr>
          <a:xfrm>
            <a:off x="0" y="0"/>
            <a:ext cx="1188600" cy="3474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6"/>
          <p:cNvSpPr/>
          <p:nvPr/>
        </p:nvSpPr>
        <p:spPr>
          <a:xfrm>
            <a:off x="0" y="0"/>
            <a:ext cx="11886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RISK 01</a:t>
            </a:r>
            <a:endParaRPr sz="1000">
              <a:solidFill>
                <a:schemeClr val="dk1"/>
              </a:solidFill>
              <a:latin typeface="Calibri"/>
              <a:ea typeface="Calibri"/>
              <a:cs typeface="Calibri"/>
              <a:sym typeface="Calibri"/>
            </a:endParaRPr>
          </a:p>
        </p:txBody>
      </p:sp>
      <p:sp>
        <p:nvSpPr>
          <p:cNvPr id="438" name="Google Shape;438;p16"/>
          <p:cNvSpPr/>
          <p:nvPr/>
        </p:nvSpPr>
        <p:spPr>
          <a:xfrm>
            <a:off x="307792" y="256369"/>
            <a:ext cx="4114800" cy="141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Georgia"/>
              <a:buNone/>
            </a:pPr>
            <a:r>
              <a:rPr b="1" lang="en-US" sz="3400">
                <a:solidFill>
                  <a:srgbClr val="FFFFFF"/>
                </a:solidFill>
                <a:latin typeface="Georgia"/>
                <a:ea typeface="Georgia"/>
                <a:cs typeface="Georgia"/>
                <a:sym typeface="Georgia"/>
              </a:rPr>
              <a:t>AIR Metric</a:t>
            </a:r>
            <a:endParaRPr sz="3400">
              <a:solidFill>
                <a:schemeClr val="dk1"/>
              </a:solidFill>
              <a:latin typeface="Georgia"/>
              <a:ea typeface="Georgia"/>
              <a:cs typeface="Georgia"/>
              <a:sym typeface="Georgia"/>
            </a:endParaRPr>
          </a:p>
          <a:p>
            <a:pPr indent="0" lvl="0" marL="0" marR="0" rtl="0" algn="l">
              <a:spcBef>
                <a:spcPts val="0"/>
              </a:spcBef>
              <a:spcAft>
                <a:spcPts val="0"/>
              </a:spcAft>
              <a:buClr>
                <a:srgbClr val="FFFFFF"/>
              </a:buClr>
              <a:buSzPts val="3400"/>
              <a:buFont typeface="Georgia"/>
              <a:buNone/>
            </a:pPr>
            <a:r>
              <a:rPr b="1" lang="en-US" sz="3400">
                <a:solidFill>
                  <a:srgbClr val="FFFFFF"/>
                </a:solidFill>
                <a:latin typeface="Georgia"/>
                <a:ea typeface="Georgia"/>
                <a:cs typeface="Georgia"/>
                <a:sym typeface="Georgia"/>
              </a:rPr>
              <a:t>Blindness</a:t>
            </a:r>
            <a:endParaRPr sz="3400">
              <a:solidFill>
                <a:schemeClr val="dk1"/>
              </a:solidFill>
              <a:latin typeface="Georgia"/>
              <a:ea typeface="Georgia"/>
              <a:cs typeface="Georgia"/>
              <a:sym typeface="Georgia"/>
            </a:endParaRPr>
          </a:p>
        </p:txBody>
      </p:sp>
      <p:sp>
        <p:nvSpPr>
          <p:cNvPr id="439" name="Google Shape;439;p16"/>
          <p:cNvSpPr/>
          <p:nvPr/>
        </p:nvSpPr>
        <p:spPr>
          <a:xfrm>
            <a:off x="307792" y="1765129"/>
            <a:ext cx="2194500" cy="3291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6"/>
          <p:cNvSpPr/>
          <p:nvPr/>
        </p:nvSpPr>
        <p:spPr>
          <a:xfrm>
            <a:off x="307792" y="1765129"/>
            <a:ext cx="21945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Poisoning Audit  ·  FPR/FNR</a:t>
            </a:r>
            <a:endParaRPr sz="1000">
              <a:solidFill>
                <a:schemeClr val="dk1"/>
              </a:solidFill>
              <a:latin typeface="Calibri"/>
              <a:ea typeface="Calibri"/>
              <a:cs typeface="Calibri"/>
              <a:sym typeface="Calibri"/>
            </a:endParaRPr>
          </a:p>
        </p:txBody>
      </p:sp>
      <p:sp>
        <p:nvSpPr>
          <p:cNvPr id="441" name="Google Shape;441;p16"/>
          <p:cNvSpPr/>
          <p:nvPr/>
        </p:nvSpPr>
        <p:spPr>
          <a:xfrm>
            <a:off x="307792" y="2222329"/>
            <a:ext cx="54900" cy="7497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6"/>
          <p:cNvSpPr/>
          <p:nvPr/>
        </p:nvSpPr>
        <p:spPr>
          <a:xfrm>
            <a:off x="444952" y="2222329"/>
            <a:ext cx="3840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00"/>
              <a:buFont typeface="Calibri"/>
              <a:buNone/>
            </a:pPr>
            <a:r>
              <a:rPr b="1" lang="en-US" sz="1000">
                <a:solidFill>
                  <a:srgbClr val="E05C3A"/>
                </a:solidFill>
                <a:latin typeface="Calibri"/>
                <a:ea typeface="Calibri"/>
                <a:cs typeface="Calibri"/>
                <a:sym typeface="Calibri"/>
              </a:rPr>
              <a:t>WHAT FAILS</a:t>
            </a:r>
            <a:endParaRPr sz="1000">
              <a:solidFill>
                <a:schemeClr val="dk1"/>
              </a:solidFill>
              <a:latin typeface="Calibri"/>
              <a:ea typeface="Calibri"/>
              <a:cs typeface="Calibri"/>
              <a:sym typeface="Calibri"/>
            </a:endParaRPr>
          </a:p>
        </p:txBody>
      </p:sp>
      <p:sp>
        <p:nvSpPr>
          <p:cNvPr id="443" name="Google Shape;443;p16"/>
          <p:cNvSpPr/>
          <p:nvPr/>
        </p:nvSpPr>
        <p:spPr>
          <a:xfrm>
            <a:off x="444952" y="2460073"/>
            <a:ext cx="38406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Even after a 25% label-flipping attack on African-American applicants, AIR stayed above 0.80, appearing legally compliant while minority-cohort accuracy silently collapsed.</a:t>
            </a:r>
            <a:endParaRPr sz="1050">
              <a:solidFill>
                <a:schemeClr val="dk1"/>
              </a:solidFill>
              <a:latin typeface="Calibri"/>
              <a:ea typeface="Calibri"/>
              <a:cs typeface="Calibri"/>
              <a:sym typeface="Calibri"/>
            </a:endParaRPr>
          </a:p>
        </p:txBody>
      </p:sp>
      <p:sp>
        <p:nvSpPr>
          <p:cNvPr id="444" name="Google Shape;444;p16"/>
          <p:cNvSpPr/>
          <p:nvPr/>
        </p:nvSpPr>
        <p:spPr>
          <a:xfrm>
            <a:off x="307792" y="3118441"/>
            <a:ext cx="54900" cy="7497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16"/>
          <p:cNvSpPr/>
          <p:nvPr/>
        </p:nvSpPr>
        <p:spPr>
          <a:xfrm>
            <a:off x="444952" y="3118441"/>
            <a:ext cx="3840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00"/>
              <a:buFont typeface="Calibri"/>
              <a:buNone/>
            </a:pPr>
            <a:r>
              <a:rPr b="1" lang="en-US" sz="1000">
                <a:solidFill>
                  <a:srgbClr val="E05C3A"/>
                </a:solidFill>
                <a:latin typeface="Calibri"/>
                <a:ea typeface="Calibri"/>
                <a:cs typeface="Calibri"/>
                <a:sym typeface="Calibri"/>
              </a:rPr>
              <a:t>WHY IT FAILS</a:t>
            </a:r>
            <a:endParaRPr sz="1000">
              <a:solidFill>
                <a:schemeClr val="dk1"/>
              </a:solidFill>
              <a:latin typeface="Calibri"/>
              <a:ea typeface="Calibri"/>
              <a:cs typeface="Calibri"/>
              <a:sym typeface="Calibri"/>
            </a:endParaRPr>
          </a:p>
        </p:txBody>
      </p:sp>
      <p:sp>
        <p:nvSpPr>
          <p:cNvPr id="446" name="Google Shape;446;p16"/>
          <p:cNvSpPr/>
          <p:nvPr/>
        </p:nvSpPr>
        <p:spPr>
          <a:xfrm>
            <a:off x="444952" y="3356185"/>
            <a:ext cx="38406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AIR measures relative approval volumes, not predictive correctness. An attacker can destroy group-level accuracy without ever moving the ratio.</a:t>
            </a:r>
            <a:endParaRPr sz="1050">
              <a:solidFill>
                <a:schemeClr val="dk1"/>
              </a:solidFill>
              <a:latin typeface="Calibri"/>
              <a:ea typeface="Calibri"/>
              <a:cs typeface="Calibri"/>
              <a:sym typeface="Calibri"/>
            </a:endParaRPr>
          </a:p>
        </p:txBody>
      </p:sp>
      <p:sp>
        <p:nvSpPr>
          <p:cNvPr id="447" name="Google Shape;447;p16"/>
          <p:cNvSpPr/>
          <p:nvPr/>
        </p:nvSpPr>
        <p:spPr>
          <a:xfrm>
            <a:off x="307792" y="4014553"/>
            <a:ext cx="54900" cy="7497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6"/>
          <p:cNvSpPr/>
          <p:nvPr/>
        </p:nvSpPr>
        <p:spPr>
          <a:xfrm>
            <a:off x="444952" y="4014553"/>
            <a:ext cx="3840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00"/>
              <a:buFont typeface="Calibri"/>
              <a:buNone/>
            </a:pPr>
            <a:r>
              <a:rPr b="1" lang="en-US" sz="1000">
                <a:solidFill>
                  <a:srgbClr val="E05C3A"/>
                </a:solidFill>
                <a:latin typeface="Calibri"/>
                <a:ea typeface="Calibri"/>
                <a:cs typeface="Calibri"/>
                <a:sym typeface="Calibri"/>
              </a:rPr>
              <a:t>WHO IS HARMED</a:t>
            </a:r>
            <a:endParaRPr sz="1000">
              <a:solidFill>
                <a:schemeClr val="dk1"/>
              </a:solidFill>
              <a:latin typeface="Calibri"/>
              <a:ea typeface="Calibri"/>
              <a:cs typeface="Calibri"/>
              <a:sym typeface="Calibri"/>
            </a:endParaRPr>
          </a:p>
        </p:txBody>
      </p:sp>
      <p:sp>
        <p:nvSpPr>
          <p:cNvPr id="449" name="Google Shape;449;p16"/>
          <p:cNvSpPr/>
          <p:nvPr/>
        </p:nvSpPr>
        <p:spPr>
          <a:xfrm>
            <a:off x="444952" y="4252297"/>
            <a:ext cx="38406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African-American applicants: accurately qualified applicants are denied and unqualified ones approved, but global metrics hide this completely.</a:t>
            </a:r>
            <a:endParaRPr sz="1050">
              <a:solidFill>
                <a:schemeClr val="dk1"/>
              </a:solidFill>
              <a:latin typeface="Calibri"/>
              <a:ea typeface="Calibri"/>
              <a:cs typeface="Calibri"/>
              <a:sym typeface="Calibri"/>
            </a:endParaRPr>
          </a:p>
        </p:txBody>
      </p:sp>
      <p:sp>
        <p:nvSpPr>
          <p:cNvPr id="450" name="Google Shape;450;p16"/>
          <p:cNvSpPr/>
          <p:nvPr/>
        </p:nvSpPr>
        <p:spPr>
          <a:xfrm>
            <a:off x="4553712" y="0"/>
            <a:ext cx="4590300" cy="5143500"/>
          </a:xfrm>
          <a:prstGeom prst="rect">
            <a:avLst/>
          </a:prstGeom>
          <a:solidFill>
            <a:srgbClr val="F5F4EF"/>
          </a:solidFill>
          <a:ln cap="flat" cmpd="sng" w="12700">
            <a:solidFill>
              <a:srgbClr val="F5F4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6"/>
          <p:cNvSpPr/>
          <p:nvPr/>
        </p:nvSpPr>
        <p:spPr>
          <a:xfrm>
            <a:off x="4553712" y="0"/>
            <a:ext cx="4590300" cy="4755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6"/>
          <p:cNvSpPr/>
          <p:nvPr/>
        </p:nvSpPr>
        <p:spPr>
          <a:xfrm>
            <a:off x="4617720" y="0"/>
            <a:ext cx="44622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Poisoning Attack: Accuracy vs. AIR</a:t>
            </a:r>
            <a:endParaRPr sz="1200">
              <a:solidFill>
                <a:schemeClr val="dk1"/>
              </a:solidFill>
              <a:latin typeface="Calibri"/>
              <a:ea typeface="Calibri"/>
              <a:cs typeface="Calibri"/>
              <a:sym typeface="Calibri"/>
            </a:endParaRPr>
          </a:p>
        </p:txBody>
      </p:sp>
      <p:sp>
        <p:nvSpPr>
          <p:cNvPr id="453" name="Google Shape;453;p16"/>
          <p:cNvSpPr/>
          <p:nvPr/>
        </p:nvSpPr>
        <p:spPr>
          <a:xfrm>
            <a:off x="4617720" y="502920"/>
            <a:ext cx="4462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BAA"/>
              </a:buClr>
              <a:buSzPts val="1000"/>
              <a:buFont typeface="Calibri"/>
              <a:buNone/>
            </a:pPr>
            <a:r>
              <a:rPr i="1" lang="en-US" sz="1000">
                <a:solidFill>
                  <a:srgbClr val="8A9BAA"/>
                </a:solidFill>
                <a:latin typeface="Calibri"/>
                <a:ea typeface="Calibri"/>
                <a:cs typeface="Calibri"/>
                <a:sym typeface="Calibri"/>
              </a:rPr>
              <a:t>25% label-flip targeting African-American cohort</a:t>
            </a:r>
            <a:endParaRPr sz="1000">
              <a:solidFill>
                <a:schemeClr val="dk1"/>
              </a:solidFill>
              <a:latin typeface="Calibri"/>
              <a:ea typeface="Calibri"/>
              <a:cs typeface="Calibri"/>
              <a:sym typeface="Calibri"/>
            </a:endParaRPr>
          </a:p>
        </p:txBody>
      </p:sp>
      <p:sp>
        <p:nvSpPr>
          <p:cNvPr id="454" name="Google Shape;454;p16"/>
          <p:cNvSpPr/>
          <p:nvPr/>
        </p:nvSpPr>
        <p:spPr>
          <a:xfrm>
            <a:off x="4663440" y="868680"/>
            <a:ext cx="2057400" cy="1170300"/>
          </a:xfrm>
          <a:prstGeom prst="rect">
            <a:avLst/>
          </a:prstGeom>
          <a:solidFill>
            <a:srgbClr val="FFFFFF"/>
          </a:solidFill>
          <a:ln cap="flat" cmpd="sng" w="12700">
            <a:solidFill>
              <a:srgbClr val="E8E6E0"/>
            </a:solidFill>
            <a:prstDash val="solid"/>
            <a:round/>
            <a:headEnd len="sm" w="sm" type="none"/>
            <a:tailEnd len="sm" w="sm" type="none"/>
          </a:ln>
          <a:effectLst>
            <a:outerShdw blurRad="76200" rotWithShape="0" algn="bl" dir="8100000" dist="25400">
              <a:srgbClr val="000000">
                <a:alpha val="180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6"/>
          <p:cNvSpPr/>
          <p:nvPr/>
        </p:nvSpPr>
        <p:spPr>
          <a:xfrm>
            <a:off x="4663440" y="868680"/>
            <a:ext cx="2057400" cy="549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6"/>
          <p:cNvSpPr/>
          <p:nvPr/>
        </p:nvSpPr>
        <p:spPr>
          <a:xfrm>
            <a:off x="4754880" y="978408"/>
            <a:ext cx="18744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2200"/>
              <a:buFont typeface="Georgia"/>
              <a:buNone/>
            </a:pPr>
            <a:r>
              <a:rPr b="1" lang="en-US" sz="2200">
                <a:solidFill>
                  <a:srgbClr val="1C2B3A"/>
                </a:solidFill>
                <a:latin typeface="Georgia"/>
                <a:ea typeface="Georgia"/>
                <a:cs typeface="Georgia"/>
                <a:sym typeface="Georgia"/>
              </a:rPr>
              <a:t>−0.5%</a:t>
            </a:r>
            <a:endParaRPr sz="2200">
              <a:solidFill>
                <a:schemeClr val="dk1"/>
              </a:solidFill>
              <a:latin typeface="Calibri"/>
              <a:ea typeface="Calibri"/>
              <a:cs typeface="Calibri"/>
              <a:sym typeface="Calibri"/>
            </a:endParaRPr>
          </a:p>
        </p:txBody>
      </p:sp>
      <p:sp>
        <p:nvSpPr>
          <p:cNvPr id="457" name="Google Shape;457;p16"/>
          <p:cNvSpPr/>
          <p:nvPr/>
        </p:nvSpPr>
        <p:spPr>
          <a:xfrm>
            <a:off x="4754880" y="1481328"/>
            <a:ext cx="1874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950"/>
              <a:buFont typeface="Calibri"/>
              <a:buNone/>
            </a:pPr>
            <a:r>
              <a:rPr b="1" lang="en-US" sz="950">
                <a:solidFill>
                  <a:srgbClr val="1C2B3A"/>
                </a:solidFill>
                <a:latin typeface="Calibri"/>
                <a:ea typeface="Calibri"/>
                <a:cs typeface="Calibri"/>
                <a:sym typeface="Calibri"/>
              </a:rPr>
              <a:t>Accuracy Drop (global)</a:t>
            </a:r>
            <a:endParaRPr sz="950">
              <a:solidFill>
                <a:schemeClr val="dk1"/>
              </a:solidFill>
              <a:latin typeface="Calibri"/>
              <a:ea typeface="Calibri"/>
              <a:cs typeface="Calibri"/>
              <a:sym typeface="Calibri"/>
            </a:endParaRPr>
          </a:p>
        </p:txBody>
      </p:sp>
      <p:sp>
        <p:nvSpPr>
          <p:cNvPr id="458" name="Google Shape;458;p16"/>
          <p:cNvSpPr/>
          <p:nvPr/>
        </p:nvSpPr>
        <p:spPr>
          <a:xfrm>
            <a:off x="4754880" y="1737360"/>
            <a:ext cx="18744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BAA"/>
              </a:buClr>
              <a:buSzPts val="900"/>
              <a:buFont typeface="Calibri"/>
              <a:buNone/>
            </a:pPr>
            <a:r>
              <a:rPr i="1" lang="en-US" sz="900">
                <a:solidFill>
                  <a:srgbClr val="8A9BAA"/>
                </a:solidFill>
                <a:latin typeface="Calibri"/>
                <a:ea typeface="Calibri"/>
                <a:cs typeface="Calibri"/>
                <a:sym typeface="Calibri"/>
              </a:rPr>
              <a:t>0.8136 → 0.8082</a:t>
            </a:r>
            <a:endParaRPr sz="900">
              <a:solidFill>
                <a:schemeClr val="dk1"/>
              </a:solidFill>
              <a:latin typeface="Calibri"/>
              <a:ea typeface="Calibri"/>
              <a:cs typeface="Calibri"/>
              <a:sym typeface="Calibri"/>
            </a:endParaRPr>
          </a:p>
        </p:txBody>
      </p:sp>
      <p:sp>
        <p:nvSpPr>
          <p:cNvPr id="459" name="Google Shape;459;p16"/>
          <p:cNvSpPr/>
          <p:nvPr/>
        </p:nvSpPr>
        <p:spPr>
          <a:xfrm>
            <a:off x="6876288" y="868680"/>
            <a:ext cx="2057400" cy="1170300"/>
          </a:xfrm>
          <a:prstGeom prst="rect">
            <a:avLst/>
          </a:prstGeom>
          <a:solidFill>
            <a:srgbClr val="FFFFFF"/>
          </a:solidFill>
          <a:ln cap="flat" cmpd="sng" w="12700">
            <a:solidFill>
              <a:srgbClr val="E8E6E0"/>
            </a:solidFill>
            <a:prstDash val="solid"/>
            <a:round/>
            <a:headEnd len="sm" w="sm" type="none"/>
            <a:tailEnd len="sm" w="sm" type="none"/>
          </a:ln>
          <a:effectLst>
            <a:outerShdw blurRad="76200" rotWithShape="0" algn="bl" dir="8100000" dist="25400">
              <a:srgbClr val="000000">
                <a:alpha val="180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6"/>
          <p:cNvSpPr/>
          <p:nvPr/>
        </p:nvSpPr>
        <p:spPr>
          <a:xfrm>
            <a:off x="6876288" y="868680"/>
            <a:ext cx="2057400" cy="549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6"/>
          <p:cNvSpPr/>
          <p:nvPr/>
        </p:nvSpPr>
        <p:spPr>
          <a:xfrm>
            <a:off x="6967728" y="978408"/>
            <a:ext cx="18744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2200"/>
              <a:buFont typeface="Georgia"/>
              <a:buNone/>
            </a:pPr>
            <a:r>
              <a:rPr b="1" lang="en-US" sz="2200">
                <a:solidFill>
                  <a:srgbClr val="1C2B3A"/>
                </a:solidFill>
                <a:latin typeface="Georgia"/>
                <a:ea typeface="Georgia"/>
                <a:cs typeface="Georgia"/>
                <a:sym typeface="Georgia"/>
              </a:rPr>
              <a:t>−0.008</a:t>
            </a:r>
            <a:endParaRPr sz="2200">
              <a:solidFill>
                <a:schemeClr val="dk1"/>
              </a:solidFill>
              <a:latin typeface="Calibri"/>
              <a:ea typeface="Calibri"/>
              <a:cs typeface="Calibri"/>
              <a:sym typeface="Calibri"/>
            </a:endParaRPr>
          </a:p>
        </p:txBody>
      </p:sp>
      <p:sp>
        <p:nvSpPr>
          <p:cNvPr id="462" name="Google Shape;462;p16"/>
          <p:cNvSpPr/>
          <p:nvPr/>
        </p:nvSpPr>
        <p:spPr>
          <a:xfrm>
            <a:off x="6967728" y="1481328"/>
            <a:ext cx="1874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950"/>
              <a:buFont typeface="Calibri"/>
              <a:buNone/>
            </a:pPr>
            <a:r>
              <a:rPr b="1" lang="en-US" sz="950">
                <a:solidFill>
                  <a:srgbClr val="1C2B3A"/>
                </a:solidFill>
                <a:latin typeface="Calibri"/>
                <a:ea typeface="Calibri"/>
                <a:cs typeface="Calibri"/>
                <a:sym typeface="Calibri"/>
              </a:rPr>
              <a:t>AIR Shift (post-attack)</a:t>
            </a:r>
            <a:endParaRPr sz="950">
              <a:solidFill>
                <a:schemeClr val="dk1"/>
              </a:solidFill>
              <a:latin typeface="Calibri"/>
              <a:ea typeface="Calibri"/>
              <a:cs typeface="Calibri"/>
              <a:sym typeface="Calibri"/>
            </a:endParaRPr>
          </a:p>
        </p:txBody>
      </p:sp>
      <p:sp>
        <p:nvSpPr>
          <p:cNvPr id="463" name="Google Shape;463;p16"/>
          <p:cNvSpPr/>
          <p:nvPr/>
        </p:nvSpPr>
        <p:spPr>
          <a:xfrm>
            <a:off x="6967728" y="1737360"/>
            <a:ext cx="18744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BAA"/>
              </a:buClr>
              <a:buSzPts val="900"/>
              <a:buFont typeface="Calibri"/>
              <a:buNone/>
            </a:pPr>
            <a:r>
              <a:rPr i="1" lang="en-US" sz="900">
                <a:solidFill>
                  <a:srgbClr val="8A9BAA"/>
                </a:solidFill>
                <a:latin typeface="Calibri"/>
                <a:ea typeface="Calibri"/>
                <a:cs typeface="Calibri"/>
                <a:sym typeface="Calibri"/>
              </a:rPr>
              <a:t>0.9460 → 0.9387</a:t>
            </a:r>
            <a:endParaRPr sz="900">
              <a:solidFill>
                <a:schemeClr val="dk1"/>
              </a:solidFill>
              <a:latin typeface="Calibri"/>
              <a:ea typeface="Calibri"/>
              <a:cs typeface="Calibri"/>
              <a:sym typeface="Calibri"/>
            </a:endParaRPr>
          </a:p>
        </p:txBody>
      </p:sp>
      <p:sp>
        <p:nvSpPr>
          <p:cNvPr id="464" name="Google Shape;464;p16"/>
          <p:cNvSpPr/>
          <p:nvPr/>
        </p:nvSpPr>
        <p:spPr>
          <a:xfrm>
            <a:off x="4663440" y="2167128"/>
            <a:ext cx="2057400" cy="1170300"/>
          </a:xfrm>
          <a:prstGeom prst="rect">
            <a:avLst/>
          </a:prstGeom>
          <a:solidFill>
            <a:srgbClr val="FFFFFF"/>
          </a:solidFill>
          <a:ln cap="flat" cmpd="sng" w="12700">
            <a:solidFill>
              <a:srgbClr val="E8E6E0"/>
            </a:solidFill>
            <a:prstDash val="solid"/>
            <a:round/>
            <a:headEnd len="sm" w="sm" type="none"/>
            <a:tailEnd len="sm" w="sm" type="none"/>
          </a:ln>
          <a:effectLst>
            <a:outerShdw blurRad="76200" rotWithShape="0" algn="bl" dir="8100000" dist="25400">
              <a:srgbClr val="000000">
                <a:alpha val="180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6"/>
          <p:cNvSpPr/>
          <p:nvPr/>
        </p:nvSpPr>
        <p:spPr>
          <a:xfrm>
            <a:off x="4663440" y="2167128"/>
            <a:ext cx="2057400" cy="549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6"/>
          <p:cNvSpPr/>
          <p:nvPr/>
        </p:nvSpPr>
        <p:spPr>
          <a:xfrm>
            <a:off x="4754880" y="2276856"/>
            <a:ext cx="18744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2200"/>
              <a:buFont typeface="Georgia"/>
              <a:buNone/>
            </a:pPr>
            <a:r>
              <a:rPr b="1" lang="en-US" sz="2200">
                <a:solidFill>
                  <a:srgbClr val="1C2B3A"/>
                </a:solidFill>
                <a:latin typeface="Georgia"/>
                <a:ea typeface="Georgia"/>
                <a:cs typeface="Georgia"/>
                <a:sym typeface="Georgia"/>
              </a:rPr>
              <a:t>ABOVE 0.80</a:t>
            </a:r>
            <a:endParaRPr sz="2200">
              <a:solidFill>
                <a:schemeClr val="dk1"/>
              </a:solidFill>
              <a:latin typeface="Calibri"/>
              <a:ea typeface="Calibri"/>
              <a:cs typeface="Calibri"/>
              <a:sym typeface="Calibri"/>
            </a:endParaRPr>
          </a:p>
        </p:txBody>
      </p:sp>
      <p:sp>
        <p:nvSpPr>
          <p:cNvPr id="467" name="Google Shape;467;p16"/>
          <p:cNvSpPr/>
          <p:nvPr/>
        </p:nvSpPr>
        <p:spPr>
          <a:xfrm>
            <a:off x="4754880" y="2779776"/>
            <a:ext cx="1874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950"/>
              <a:buFont typeface="Calibri"/>
              <a:buNone/>
            </a:pPr>
            <a:r>
              <a:rPr b="1" lang="en-US" sz="950">
                <a:solidFill>
                  <a:srgbClr val="1C2B3A"/>
                </a:solidFill>
                <a:latin typeface="Calibri"/>
                <a:ea typeface="Calibri"/>
                <a:cs typeface="Calibri"/>
                <a:sym typeface="Calibri"/>
              </a:rPr>
              <a:t>AIR vs. Threshold</a:t>
            </a:r>
            <a:endParaRPr sz="950">
              <a:solidFill>
                <a:schemeClr val="dk1"/>
              </a:solidFill>
              <a:latin typeface="Calibri"/>
              <a:ea typeface="Calibri"/>
              <a:cs typeface="Calibri"/>
              <a:sym typeface="Calibri"/>
            </a:endParaRPr>
          </a:p>
        </p:txBody>
      </p:sp>
      <p:sp>
        <p:nvSpPr>
          <p:cNvPr id="468" name="Google Shape;468;p16"/>
          <p:cNvSpPr/>
          <p:nvPr/>
        </p:nvSpPr>
        <p:spPr>
          <a:xfrm>
            <a:off x="4754880" y="3035808"/>
            <a:ext cx="18744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BAA"/>
              </a:buClr>
              <a:buSzPts val="900"/>
              <a:buFont typeface="Calibri"/>
              <a:buNone/>
            </a:pPr>
            <a:r>
              <a:rPr i="1" lang="en-US" sz="900">
                <a:solidFill>
                  <a:srgbClr val="8A9BAA"/>
                </a:solidFill>
                <a:latin typeface="Calibri"/>
                <a:ea typeface="Calibri"/>
                <a:cs typeface="Calibri"/>
                <a:sym typeface="Calibri"/>
              </a:rPr>
              <a:t>Appears compliant</a:t>
            </a:r>
            <a:endParaRPr sz="900">
              <a:solidFill>
                <a:schemeClr val="dk1"/>
              </a:solidFill>
              <a:latin typeface="Calibri"/>
              <a:ea typeface="Calibri"/>
              <a:cs typeface="Calibri"/>
              <a:sym typeface="Calibri"/>
            </a:endParaRPr>
          </a:p>
        </p:txBody>
      </p:sp>
      <p:sp>
        <p:nvSpPr>
          <p:cNvPr id="469" name="Google Shape;469;p16"/>
          <p:cNvSpPr/>
          <p:nvPr/>
        </p:nvSpPr>
        <p:spPr>
          <a:xfrm>
            <a:off x="6876288" y="2167128"/>
            <a:ext cx="2057400" cy="1170300"/>
          </a:xfrm>
          <a:prstGeom prst="rect">
            <a:avLst/>
          </a:prstGeom>
          <a:solidFill>
            <a:srgbClr val="FFFFFF"/>
          </a:solidFill>
          <a:ln cap="flat" cmpd="sng" w="25400">
            <a:solidFill>
              <a:srgbClr val="E05C3A"/>
            </a:solidFill>
            <a:prstDash val="solid"/>
            <a:round/>
            <a:headEnd len="sm" w="sm" type="none"/>
            <a:tailEnd len="sm" w="sm" type="none"/>
          </a:ln>
          <a:effectLst>
            <a:outerShdw blurRad="76200" rotWithShape="0" algn="bl" dir="8100000" dist="25400">
              <a:srgbClr val="000000">
                <a:alpha val="180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16"/>
          <p:cNvSpPr/>
          <p:nvPr/>
        </p:nvSpPr>
        <p:spPr>
          <a:xfrm>
            <a:off x="6876288" y="2167128"/>
            <a:ext cx="2057400" cy="549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6"/>
          <p:cNvSpPr/>
          <p:nvPr/>
        </p:nvSpPr>
        <p:spPr>
          <a:xfrm>
            <a:off x="6931152" y="2286000"/>
            <a:ext cx="2030100" cy="5028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5C3A"/>
              </a:buClr>
              <a:buSzPts val="2200"/>
              <a:buFont typeface="Georgia"/>
              <a:buNone/>
            </a:pPr>
            <a:r>
              <a:rPr b="1" lang="en-US" sz="2200">
                <a:solidFill>
                  <a:srgbClr val="E05C3A"/>
                </a:solidFill>
                <a:latin typeface="Georgia"/>
                <a:ea typeface="Georgia"/>
                <a:cs typeface="Georgia"/>
                <a:sym typeface="Georgia"/>
              </a:rPr>
              <a:t>COLLAPSED</a:t>
            </a:r>
            <a:endParaRPr sz="2200">
              <a:solidFill>
                <a:schemeClr val="dk1"/>
              </a:solidFill>
              <a:latin typeface="Calibri"/>
              <a:ea typeface="Calibri"/>
              <a:cs typeface="Calibri"/>
              <a:sym typeface="Calibri"/>
            </a:endParaRPr>
          </a:p>
        </p:txBody>
      </p:sp>
      <p:sp>
        <p:nvSpPr>
          <p:cNvPr id="472" name="Google Shape;472;p16"/>
          <p:cNvSpPr/>
          <p:nvPr/>
        </p:nvSpPr>
        <p:spPr>
          <a:xfrm>
            <a:off x="6967728" y="2779776"/>
            <a:ext cx="1874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950"/>
              <a:buFont typeface="Calibri"/>
              <a:buNone/>
            </a:pPr>
            <a:r>
              <a:rPr b="1" lang="en-US" sz="950">
                <a:solidFill>
                  <a:srgbClr val="1C2B3A"/>
                </a:solidFill>
                <a:latin typeface="Calibri"/>
                <a:ea typeface="Calibri"/>
                <a:cs typeface="Calibri"/>
                <a:sym typeface="Calibri"/>
              </a:rPr>
              <a:t>Minority Cohort Accuracy</a:t>
            </a:r>
            <a:endParaRPr sz="950">
              <a:solidFill>
                <a:schemeClr val="dk1"/>
              </a:solidFill>
              <a:latin typeface="Calibri"/>
              <a:ea typeface="Calibri"/>
              <a:cs typeface="Calibri"/>
              <a:sym typeface="Calibri"/>
            </a:endParaRPr>
          </a:p>
        </p:txBody>
      </p:sp>
      <p:sp>
        <p:nvSpPr>
          <p:cNvPr id="473" name="Google Shape;473;p16"/>
          <p:cNvSpPr/>
          <p:nvPr/>
        </p:nvSpPr>
        <p:spPr>
          <a:xfrm>
            <a:off x="6967728" y="3035808"/>
            <a:ext cx="1874400" cy="228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BAA"/>
              </a:buClr>
              <a:buSzPts val="900"/>
              <a:buFont typeface="Calibri"/>
              <a:buNone/>
            </a:pPr>
            <a:r>
              <a:rPr i="1" lang="en-US" sz="900">
                <a:solidFill>
                  <a:srgbClr val="8A9BAA"/>
                </a:solidFill>
                <a:latin typeface="Calibri"/>
                <a:ea typeface="Calibri"/>
                <a:cs typeface="Calibri"/>
                <a:sym typeface="Calibri"/>
              </a:rPr>
              <a:t>Hidden by global avg</a:t>
            </a:r>
            <a:endParaRPr sz="900">
              <a:solidFill>
                <a:schemeClr val="dk1"/>
              </a:solidFill>
              <a:latin typeface="Calibri"/>
              <a:ea typeface="Calibri"/>
              <a:cs typeface="Calibri"/>
              <a:sym typeface="Calibri"/>
            </a:endParaRPr>
          </a:p>
        </p:txBody>
      </p:sp>
      <p:sp>
        <p:nvSpPr>
          <p:cNvPr id="474" name="Google Shape;474;p16"/>
          <p:cNvSpPr/>
          <p:nvPr/>
        </p:nvSpPr>
        <p:spPr>
          <a:xfrm>
            <a:off x="4617720" y="3520440"/>
            <a:ext cx="4370700" cy="914400"/>
          </a:xfrm>
          <a:prstGeom prst="rect">
            <a:avLst/>
          </a:prstGeom>
          <a:solidFill>
            <a:srgbClr val="162330"/>
          </a:solidFill>
          <a:ln cap="flat" cmpd="sng" w="1905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6"/>
          <p:cNvSpPr/>
          <p:nvPr/>
        </p:nvSpPr>
        <p:spPr>
          <a:xfrm>
            <a:off x="4709160" y="3547872"/>
            <a:ext cx="4206300" cy="859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8A84B"/>
              </a:buClr>
              <a:buSzPts val="1050"/>
              <a:buFont typeface="Calibri"/>
              <a:buNone/>
            </a:pPr>
            <a:r>
              <a:rPr b="1" lang="en-US" sz="1050">
                <a:solidFill>
                  <a:srgbClr val="C8A84B"/>
                </a:solidFill>
                <a:latin typeface="Calibri"/>
                <a:ea typeface="Calibri"/>
                <a:cs typeface="Calibri"/>
                <a:sym typeface="Calibri"/>
              </a:rPr>
              <a:t>Key Insight: </a:t>
            </a:r>
            <a:r>
              <a:rPr lang="en-US" sz="1050">
                <a:solidFill>
                  <a:srgbClr val="FFFFFF"/>
                </a:solidFill>
                <a:latin typeface="Calibri"/>
                <a:ea typeface="Calibri"/>
                <a:cs typeface="Calibri"/>
                <a:sym typeface="Calibri"/>
              </a:rPr>
              <a:t>AIR is blind to targeted adversarial attacks. Global metrics must be replaced by per-group FPR/FNR dashboards — a monitoring gap that persists post-mitigation.</a:t>
            </a:r>
            <a:endParaRPr sz="1050">
              <a:solidFill>
                <a:schemeClr val="dk1"/>
              </a:solidFill>
              <a:latin typeface="Calibri"/>
              <a:ea typeface="Calibri"/>
              <a:cs typeface="Calibri"/>
              <a:sym typeface="Calibri"/>
            </a:endParaRPr>
          </a:p>
        </p:txBody>
      </p:sp>
      <p:sp>
        <p:nvSpPr>
          <p:cNvPr id="476" name="Google Shape;476;p16"/>
          <p:cNvSpPr/>
          <p:nvPr/>
        </p:nvSpPr>
        <p:spPr>
          <a:xfrm>
            <a:off x="7589520" y="0"/>
            <a:ext cx="1554600" cy="3474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6"/>
          <p:cNvSpPr/>
          <p:nvPr/>
        </p:nvSpPr>
        <p:spPr>
          <a:xfrm>
            <a:off x="7589520" y="0"/>
            <a:ext cx="15546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SEVERITY: HIGH</a:t>
            </a:r>
            <a:endParaRPr sz="95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A"/>
        </a:solidFill>
      </p:bgPr>
    </p:bg>
    <p:spTree>
      <p:nvGrpSpPr>
        <p:cNvPr id="482" name="Shape 482"/>
        <p:cNvGrpSpPr/>
        <p:nvPr/>
      </p:nvGrpSpPr>
      <p:grpSpPr>
        <a:xfrm>
          <a:off x="0" y="0"/>
          <a:ext cx="0" cy="0"/>
          <a:chOff x="0" y="0"/>
          <a:chExt cx="0" cy="0"/>
        </a:xfrm>
      </p:grpSpPr>
      <p:sp>
        <p:nvSpPr>
          <p:cNvPr id="483" name="Google Shape;483;p17"/>
          <p:cNvSpPr/>
          <p:nvPr/>
        </p:nvSpPr>
        <p:spPr>
          <a:xfrm>
            <a:off x="0" y="0"/>
            <a:ext cx="1188600" cy="3474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7"/>
          <p:cNvSpPr/>
          <p:nvPr/>
        </p:nvSpPr>
        <p:spPr>
          <a:xfrm>
            <a:off x="0" y="0"/>
            <a:ext cx="11886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RISK 02</a:t>
            </a:r>
            <a:endParaRPr sz="1000">
              <a:solidFill>
                <a:schemeClr val="dk1"/>
              </a:solidFill>
              <a:latin typeface="Calibri"/>
              <a:ea typeface="Calibri"/>
              <a:cs typeface="Calibri"/>
              <a:sym typeface="Calibri"/>
            </a:endParaRPr>
          </a:p>
        </p:txBody>
      </p:sp>
      <p:sp>
        <p:nvSpPr>
          <p:cNvPr id="485" name="Google Shape;485;p17"/>
          <p:cNvSpPr/>
          <p:nvPr/>
        </p:nvSpPr>
        <p:spPr>
          <a:xfrm>
            <a:off x="274320" y="289841"/>
            <a:ext cx="4114800" cy="141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Georgia"/>
              <a:buNone/>
            </a:pPr>
            <a:r>
              <a:rPr b="1" lang="en-US" sz="3400">
                <a:solidFill>
                  <a:srgbClr val="FFFFFF"/>
                </a:solidFill>
                <a:latin typeface="Georgia"/>
                <a:ea typeface="Georgia"/>
                <a:cs typeface="Georgia"/>
                <a:sym typeface="Georgia"/>
              </a:rPr>
              <a:t>Historical Bias</a:t>
            </a:r>
            <a:endParaRPr sz="3400">
              <a:solidFill>
                <a:schemeClr val="dk1"/>
              </a:solidFill>
              <a:latin typeface="Georgia"/>
              <a:ea typeface="Georgia"/>
              <a:cs typeface="Georgia"/>
              <a:sym typeface="Georgia"/>
            </a:endParaRPr>
          </a:p>
          <a:p>
            <a:pPr indent="0" lvl="0" marL="0" marR="0" rtl="0" algn="l">
              <a:spcBef>
                <a:spcPts val="0"/>
              </a:spcBef>
              <a:spcAft>
                <a:spcPts val="0"/>
              </a:spcAft>
              <a:buClr>
                <a:srgbClr val="FFFFFF"/>
              </a:buClr>
              <a:buSzPts val="3400"/>
              <a:buFont typeface="Georgia"/>
              <a:buNone/>
            </a:pPr>
            <a:r>
              <a:rPr b="1" lang="en-US" sz="3400">
                <a:solidFill>
                  <a:srgbClr val="FFFFFF"/>
                </a:solidFill>
                <a:latin typeface="Georgia"/>
                <a:ea typeface="Georgia"/>
                <a:cs typeface="Georgia"/>
                <a:sym typeface="Georgia"/>
              </a:rPr>
              <a:t>Amplification</a:t>
            </a:r>
            <a:endParaRPr sz="3400">
              <a:solidFill>
                <a:schemeClr val="dk1"/>
              </a:solidFill>
              <a:latin typeface="Georgia"/>
              <a:ea typeface="Georgia"/>
              <a:cs typeface="Georgia"/>
              <a:sym typeface="Georgia"/>
            </a:endParaRPr>
          </a:p>
        </p:txBody>
      </p:sp>
      <p:sp>
        <p:nvSpPr>
          <p:cNvPr id="486" name="Google Shape;486;p17"/>
          <p:cNvSpPr/>
          <p:nvPr/>
        </p:nvSpPr>
        <p:spPr>
          <a:xfrm>
            <a:off x="274320" y="1798601"/>
            <a:ext cx="2377500" cy="3291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17"/>
          <p:cNvSpPr/>
          <p:nvPr/>
        </p:nvSpPr>
        <p:spPr>
          <a:xfrm>
            <a:off x="274320" y="1798601"/>
            <a:ext cx="23775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Training Data  ·  SHAP  ·  AIR</a:t>
            </a:r>
            <a:endParaRPr sz="1000">
              <a:solidFill>
                <a:schemeClr val="dk1"/>
              </a:solidFill>
              <a:latin typeface="Calibri"/>
              <a:ea typeface="Calibri"/>
              <a:cs typeface="Calibri"/>
              <a:sym typeface="Calibri"/>
            </a:endParaRPr>
          </a:p>
        </p:txBody>
      </p:sp>
      <p:sp>
        <p:nvSpPr>
          <p:cNvPr id="488" name="Google Shape;488;p17"/>
          <p:cNvSpPr/>
          <p:nvPr/>
        </p:nvSpPr>
        <p:spPr>
          <a:xfrm>
            <a:off x="274320" y="2255801"/>
            <a:ext cx="54900" cy="731400"/>
          </a:xfrm>
          <a:prstGeom prst="rect">
            <a:avLst/>
          </a:prstGeom>
          <a:solidFill>
            <a:srgbClr val="C8A84B"/>
          </a:solidFill>
          <a:ln cap="flat" cmpd="sng" w="12700">
            <a:solidFill>
              <a:srgbClr val="C8A8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7"/>
          <p:cNvSpPr/>
          <p:nvPr/>
        </p:nvSpPr>
        <p:spPr>
          <a:xfrm>
            <a:off x="411480" y="2255801"/>
            <a:ext cx="3840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000"/>
              <a:buFont typeface="Calibri"/>
              <a:buNone/>
            </a:pPr>
            <a:r>
              <a:rPr b="1" lang="en-US" sz="1000">
                <a:solidFill>
                  <a:srgbClr val="C8A84B"/>
                </a:solidFill>
                <a:latin typeface="Calibri"/>
                <a:ea typeface="Calibri"/>
                <a:cs typeface="Calibri"/>
                <a:sym typeface="Calibri"/>
              </a:rPr>
              <a:t>WHAT FAILS</a:t>
            </a:r>
            <a:endParaRPr sz="1000">
              <a:solidFill>
                <a:schemeClr val="dk1"/>
              </a:solidFill>
              <a:latin typeface="Calibri"/>
              <a:ea typeface="Calibri"/>
              <a:cs typeface="Calibri"/>
              <a:sym typeface="Calibri"/>
            </a:endParaRPr>
          </a:p>
        </p:txBody>
      </p:sp>
      <p:sp>
        <p:nvSpPr>
          <p:cNvPr id="490" name="Google Shape;490;p17"/>
          <p:cNvSpPr/>
          <p:nvPr/>
        </p:nvSpPr>
        <p:spPr>
          <a:xfrm>
            <a:off x="411480" y="2493545"/>
            <a:ext cx="38406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XGBoost trained on 2024 HMDA data inherits structural racial composition imbalances from decades of discriminatory lending. An applicant in a historically redlined zip code faces a harder boundary despite equal financial credentials.</a:t>
            </a:r>
            <a:endParaRPr sz="1050">
              <a:solidFill>
                <a:schemeClr val="dk1"/>
              </a:solidFill>
              <a:latin typeface="Calibri"/>
              <a:ea typeface="Calibri"/>
              <a:cs typeface="Calibri"/>
              <a:sym typeface="Calibri"/>
            </a:endParaRPr>
          </a:p>
        </p:txBody>
      </p:sp>
      <p:sp>
        <p:nvSpPr>
          <p:cNvPr id="491" name="Google Shape;491;p17"/>
          <p:cNvSpPr/>
          <p:nvPr/>
        </p:nvSpPr>
        <p:spPr>
          <a:xfrm>
            <a:off x="274320" y="3124481"/>
            <a:ext cx="54900" cy="731400"/>
          </a:xfrm>
          <a:prstGeom prst="rect">
            <a:avLst/>
          </a:prstGeom>
          <a:solidFill>
            <a:srgbClr val="C8A84B"/>
          </a:solidFill>
          <a:ln cap="flat" cmpd="sng" w="12700">
            <a:solidFill>
              <a:srgbClr val="C8A8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17"/>
          <p:cNvSpPr/>
          <p:nvPr/>
        </p:nvSpPr>
        <p:spPr>
          <a:xfrm>
            <a:off x="411480" y="3124481"/>
            <a:ext cx="3840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000"/>
              <a:buFont typeface="Calibri"/>
              <a:buNone/>
            </a:pPr>
            <a:r>
              <a:rPr b="1" lang="en-US" sz="1000">
                <a:solidFill>
                  <a:srgbClr val="C8A84B"/>
                </a:solidFill>
                <a:latin typeface="Calibri"/>
                <a:ea typeface="Calibri"/>
                <a:cs typeface="Calibri"/>
                <a:sym typeface="Calibri"/>
              </a:rPr>
              <a:t>WHY IT FAILS</a:t>
            </a:r>
            <a:endParaRPr sz="1000">
              <a:solidFill>
                <a:schemeClr val="dk1"/>
              </a:solidFill>
              <a:latin typeface="Calibri"/>
              <a:ea typeface="Calibri"/>
              <a:cs typeface="Calibri"/>
              <a:sym typeface="Calibri"/>
            </a:endParaRPr>
          </a:p>
        </p:txBody>
      </p:sp>
      <p:sp>
        <p:nvSpPr>
          <p:cNvPr id="493" name="Google Shape;493;p17"/>
          <p:cNvSpPr/>
          <p:nvPr/>
        </p:nvSpPr>
        <p:spPr>
          <a:xfrm>
            <a:off x="411480" y="3362225"/>
            <a:ext cx="38406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Reweighting and fairness constraints were evaluated during the audit but never applied to the production model. The bias is learned, then silently scaled at inference time.</a:t>
            </a:r>
            <a:endParaRPr sz="1050">
              <a:solidFill>
                <a:schemeClr val="dk1"/>
              </a:solidFill>
              <a:latin typeface="Calibri"/>
              <a:ea typeface="Calibri"/>
              <a:cs typeface="Calibri"/>
              <a:sym typeface="Calibri"/>
            </a:endParaRPr>
          </a:p>
        </p:txBody>
      </p:sp>
      <p:sp>
        <p:nvSpPr>
          <p:cNvPr id="494" name="Google Shape;494;p17"/>
          <p:cNvSpPr/>
          <p:nvPr/>
        </p:nvSpPr>
        <p:spPr>
          <a:xfrm>
            <a:off x="274320" y="3993161"/>
            <a:ext cx="54900" cy="731400"/>
          </a:xfrm>
          <a:prstGeom prst="rect">
            <a:avLst/>
          </a:prstGeom>
          <a:solidFill>
            <a:srgbClr val="C8A84B"/>
          </a:solidFill>
          <a:ln cap="flat" cmpd="sng" w="12700">
            <a:solidFill>
              <a:srgbClr val="C8A8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7"/>
          <p:cNvSpPr/>
          <p:nvPr/>
        </p:nvSpPr>
        <p:spPr>
          <a:xfrm>
            <a:off x="411480" y="3993161"/>
            <a:ext cx="3840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000"/>
              <a:buFont typeface="Calibri"/>
              <a:buNone/>
            </a:pPr>
            <a:r>
              <a:rPr b="1" lang="en-US" sz="1000">
                <a:solidFill>
                  <a:srgbClr val="C8A84B"/>
                </a:solidFill>
                <a:latin typeface="Calibri"/>
                <a:ea typeface="Calibri"/>
                <a:cs typeface="Calibri"/>
                <a:sym typeface="Calibri"/>
              </a:rPr>
              <a:t>WHO IS HARMED</a:t>
            </a:r>
            <a:endParaRPr sz="1000">
              <a:solidFill>
                <a:schemeClr val="dk1"/>
              </a:solidFill>
              <a:latin typeface="Calibri"/>
              <a:ea typeface="Calibri"/>
              <a:cs typeface="Calibri"/>
              <a:sym typeface="Calibri"/>
            </a:endParaRPr>
          </a:p>
        </p:txBody>
      </p:sp>
      <p:sp>
        <p:nvSpPr>
          <p:cNvPr id="496" name="Google Shape;496;p17"/>
          <p:cNvSpPr/>
          <p:nvPr/>
        </p:nvSpPr>
        <p:spPr>
          <a:xfrm>
            <a:off x="411480" y="4230905"/>
            <a:ext cx="38406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Minority applicants in lower-income MSA census tracts, the model penalizes geography, not personal risk.</a:t>
            </a:r>
            <a:endParaRPr sz="1050">
              <a:solidFill>
                <a:schemeClr val="dk1"/>
              </a:solidFill>
              <a:latin typeface="Calibri"/>
              <a:ea typeface="Calibri"/>
              <a:cs typeface="Calibri"/>
              <a:sym typeface="Calibri"/>
            </a:endParaRPr>
          </a:p>
        </p:txBody>
      </p:sp>
      <p:sp>
        <p:nvSpPr>
          <p:cNvPr id="497" name="Google Shape;497;p17"/>
          <p:cNvSpPr/>
          <p:nvPr/>
        </p:nvSpPr>
        <p:spPr>
          <a:xfrm>
            <a:off x="4553712" y="0"/>
            <a:ext cx="4590300" cy="5143500"/>
          </a:xfrm>
          <a:prstGeom prst="rect">
            <a:avLst/>
          </a:prstGeom>
          <a:solidFill>
            <a:srgbClr val="F5F4EF"/>
          </a:solidFill>
          <a:ln cap="flat" cmpd="sng" w="12700">
            <a:solidFill>
              <a:srgbClr val="F5F4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8" name="Google Shape;498;p17"/>
          <p:cNvSpPr/>
          <p:nvPr/>
        </p:nvSpPr>
        <p:spPr>
          <a:xfrm>
            <a:off x="4553712" y="0"/>
            <a:ext cx="4590300" cy="4755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17"/>
          <p:cNvSpPr/>
          <p:nvPr/>
        </p:nvSpPr>
        <p:spPr>
          <a:xfrm>
            <a:off x="4617720" y="0"/>
            <a:ext cx="44622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Fairness Audit  ·  Intersectional Results</a:t>
            </a:r>
            <a:endParaRPr sz="1200">
              <a:solidFill>
                <a:schemeClr val="dk1"/>
              </a:solidFill>
              <a:latin typeface="Calibri"/>
              <a:ea typeface="Calibri"/>
              <a:cs typeface="Calibri"/>
              <a:sym typeface="Calibri"/>
            </a:endParaRPr>
          </a:p>
        </p:txBody>
      </p:sp>
      <p:sp>
        <p:nvSpPr>
          <p:cNvPr id="500" name="Google Shape;500;p17"/>
          <p:cNvSpPr/>
          <p:nvPr/>
        </p:nvSpPr>
        <p:spPr>
          <a:xfrm>
            <a:off x="4617720" y="502920"/>
            <a:ext cx="4462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BAA"/>
              </a:buClr>
              <a:buSzPts val="1000"/>
              <a:buFont typeface="Calibri"/>
              <a:buNone/>
            </a:pPr>
            <a:r>
              <a:rPr i="1" lang="en-US" sz="1000">
                <a:solidFill>
                  <a:srgbClr val="8A9BAA"/>
                </a:solidFill>
                <a:latin typeface="Calibri"/>
                <a:ea typeface="Calibri"/>
                <a:cs typeface="Calibri"/>
                <a:sym typeface="Calibri"/>
              </a:rPr>
              <a:t>Race × Gender subgroup performance — post-mitigation snapshot</a:t>
            </a:r>
            <a:endParaRPr sz="1000">
              <a:solidFill>
                <a:schemeClr val="dk1"/>
              </a:solidFill>
              <a:latin typeface="Calibri"/>
              <a:ea typeface="Calibri"/>
              <a:cs typeface="Calibri"/>
              <a:sym typeface="Calibri"/>
            </a:endParaRPr>
          </a:p>
        </p:txBody>
      </p:sp>
      <p:sp>
        <p:nvSpPr>
          <p:cNvPr id="501" name="Google Shape;501;p17"/>
          <p:cNvSpPr/>
          <p:nvPr/>
        </p:nvSpPr>
        <p:spPr>
          <a:xfrm>
            <a:off x="4663440" y="822960"/>
            <a:ext cx="2194500" cy="3657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17"/>
          <p:cNvSpPr/>
          <p:nvPr/>
        </p:nvSpPr>
        <p:spPr>
          <a:xfrm>
            <a:off x="4736592" y="822960"/>
            <a:ext cx="21030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Subgroup</a:t>
            </a:r>
            <a:endParaRPr sz="1100">
              <a:solidFill>
                <a:schemeClr val="dk1"/>
              </a:solidFill>
              <a:latin typeface="Calibri"/>
              <a:ea typeface="Calibri"/>
              <a:cs typeface="Calibri"/>
              <a:sym typeface="Calibri"/>
            </a:endParaRPr>
          </a:p>
        </p:txBody>
      </p:sp>
      <p:sp>
        <p:nvSpPr>
          <p:cNvPr id="503" name="Google Shape;503;p17"/>
          <p:cNvSpPr/>
          <p:nvPr/>
        </p:nvSpPr>
        <p:spPr>
          <a:xfrm>
            <a:off x="6858000" y="822960"/>
            <a:ext cx="914400" cy="3657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17"/>
          <p:cNvSpPr/>
          <p:nvPr/>
        </p:nvSpPr>
        <p:spPr>
          <a:xfrm>
            <a:off x="6931152" y="822960"/>
            <a:ext cx="8229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AIR</a:t>
            </a:r>
            <a:endParaRPr sz="1100">
              <a:solidFill>
                <a:schemeClr val="dk1"/>
              </a:solidFill>
              <a:latin typeface="Calibri"/>
              <a:ea typeface="Calibri"/>
              <a:cs typeface="Calibri"/>
              <a:sym typeface="Calibri"/>
            </a:endParaRPr>
          </a:p>
        </p:txBody>
      </p:sp>
      <p:sp>
        <p:nvSpPr>
          <p:cNvPr id="505" name="Google Shape;505;p17"/>
          <p:cNvSpPr/>
          <p:nvPr/>
        </p:nvSpPr>
        <p:spPr>
          <a:xfrm>
            <a:off x="7772400" y="822960"/>
            <a:ext cx="1079100" cy="3657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17"/>
          <p:cNvSpPr/>
          <p:nvPr/>
        </p:nvSpPr>
        <p:spPr>
          <a:xfrm>
            <a:off x="7845552" y="822960"/>
            <a:ext cx="987600" cy="365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Status</a:t>
            </a:r>
            <a:endParaRPr sz="1100">
              <a:solidFill>
                <a:schemeClr val="dk1"/>
              </a:solidFill>
              <a:latin typeface="Calibri"/>
              <a:ea typeface="Calibri"/>
              <a:cs typeface="Calibri"/>
              <a:sym typeface="Calibri"/>
            </a:endParaRPr>
          </a:p>
        </p:txBody>
      </p:sp>
      <p:sp>
        <p:nvSpPr>
          <p:cNvPr id="507" name="Google Shape;507;p17"/>
          <p:cNvSpPr/>
          <p:nvPr/>
        </p:nvSpPr>
        <p:spPr>
          <a:xfrm>
            <a:off x="4663440" y="1188720"/>
            <a:ext cx="2194500" cy="3840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17"/>
          <p:cNvSpPr/>
          <p:nvPr/>
        </p:nvSpPr>
        <p:spPr>
          <a:xfrm>
            <a:off x="4736592" y="1188720"/>
            <a:ext cx="2103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African-American</a:t>
            </a:r>
            <a:endParaRPr sz="1050">
              <a:solidFill>
                <a:schemeClr val="dk1"/>
              </a:solidFill>
              <a:latin typeface="Calibri"/>
              <a:ea typeface="Calibri"/>
              <a:cs typeface="Calibri"/>
              <a:sym typeface="Calibri"/>
            </a:endParaRPr>
          </a:p>
        </p:txBody>
      </p:sp>
      <p:sp>
        <p:nvSpPr>
          <p:cNvPr id="509" name="Google Shape;509;p17"/>
          <p:cNvSpPr/>
          <p:nvPr/>
        </p:nvSpPr>
        <p:spPr>
          <a:xfrm>
            <a:off x="6858000" y="1188720"/>
            <a:ext cx="914400" cy="3840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17"/>
          <p:cNvSpPr/>
          <p:nvPr/>
        </p:nvSpPr>
        <p:spPr>
          <a:xfrm>
            <a:off x="6931152" y="1188720"/>
            <a:ext cx="822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50"/>
              <a:buFont typeface="Calibri"/>
              <a:buNone/>
            </a:pPr>
            <a:r>
              <a:rPr b="1" lang="en-US" sz="1050">
                <a:solidFill>
                  <a:srgbClr val="E05C3A"/>
                </a:solidFill>
                <a:latin typeface="Calibri"/>
                <a:ea typeface="Calibri"/>
                <a:cs typeface="Calibri"/>
                <a:sym typeface="Calibri"/>
              </a:rPr>
              <a:t>0.946</a:t>
            </a:r>
            <a:endParaRPr sz="1050">
              <a:solidFill>
                <a:schemeClr val="dk1"/>
              </a:solidFill>
              <a:latin typeface="Calibri"/>
              <a:ea typeface="Calibri"/>
              <a:cs typeface="Calibri"/>
              <a:sym typeface="Calibri"/>
            </a:endParaRPr>
          </a:p>
        </p:txBody>
      </p:sp>
      <p:sp>
        <p:nvSpPr>
          <p:cNvPr id="511" name="Google Shape;511;p17"/>
          <p:cNvSpPr/>
          <p:nvPr/>
        </p:nvSpPr>
        <p:spPr>
          <a:xfrm>
            <a:off x="7772400" y="1188720"/>
            <a:ext cx="1079100" cy="3840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17"/>
          <p:cNvSpPr/>
          <p:nvPr/>
        </p:nvSpPr>
        <p:spPr>
          <a:xfrm>
            <a:off x="7845552" y="1188720"/>
            <a:ext cx="9876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7A4A"/>
              </a:buClr>
              <a:buSzPts val="1050"/>
              <a:buFont typeface="Calibri"/>
              <a:buNone/>
            </a:pPr>
            <a:r>
              <a:rPr b="1" lang="en-US" sz="1050">
                <a:solidFill>
                  <a:srgbClr val="2A7A4A"/>
                </a:solidFill>
                <a:latin typeface="Calibri"/>
                <a:ea typeface="Calibri"/>
                <a:cs typeface="Calibri"/>
                <a:sym typeface="Calibri"/>
              </a:rPr>
              <a:t>PASS</a:t>
            </a:r>
            <a:endParaRPr sz="1050">
              <a:solidFill>
                <a:schemeClr val="dk1"/>
              </a:solidFill>
              <a:latin typeface="Calibri"/>
              <a:ea typeface="Calibri"/>
              <a:cs typeface="Calibri"/>
              <a:sym typeface="Calibri"/>
            </a:endParaRPr>
          </a:p>
        </p:txBody>
      </p:sp>
      <p:sp>
        <p:nvSpPr>
          <p:cNvPr id="513" name="Google Shape;513;p17"/>
          <p:cNvSpPr/>
          <p:nvPr/>
        </p:nvSpPr>
        <p:spPr>
          <a:xfrm>
            <a:off x="4663440" y="1572768"/>
            <a:ext cx="2194500" cy="3840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7"/>
          <p:cNvSpPr/>
          <p:nvPr/>
        </p:nvSpPr>
        <p:spPr>
          <a:xfrm>
            <a:off x="4736592" y="1572768"/>
            <a:ext cx="2103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African-American · Male</a:t>
            </a:r>
            <a:endParaRPr sz="1050">
              <a:solidFill>
                <a:schemeClr val="dk1"/>
              </a:solidFill>
              <a:latin typeface="Calibri"/>
              <a:ea typeface="Calibri"/>
              <a:cs typeface="Calibri"/>
              <a:sym typeface="Calibri"/>
            </a:endParaRPr>
          </a:p>
        </p:txBody>
      </p:sp>
      <p:sp>
        <p:nvSpPr>
          <p:cNvPr id="515" name="Google Shape;515;p17"/>
          <p:cNvSpPr/>
          <p:nvPr/>
        </p:nvSpPr>
        <p:spPr>
          <a:xfrm>
            <a:off x="6858000" y="1572768"/>
            <a:ext cx="914400" cy="3840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17"/>
          <p:cNvSpPr/>
          <p:nvPr/>
        </p:nvSpPr>
        <p:spPr>
          <a:xfrm>
            <a:off x="6931152" y="1572768"/>
            <a:ext cx="822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50"/>
              <a:buFont typeface="Calibri"/>
              <a:buNone/>
            </a:pPr>
            <a:r>
              <a:rPr b="1" lang="en-US" sz="1050">
                <a:solidFill>
                  <a:srgbClr val="E05C3A"/>
                </a:solidFill>
                <a:latin typeface="Calibri"/>
                <a:ea typeface="Calibri"/>
                <a:cs typeface="Calibri"/>
                <a:sym typeface="Calibri"/>
              </a:rPr>
              <a:t>0.941</a:t>
            </a:r>
            <a:endParaRPr sz="1050">
              <a:solidFill>
                <a:schemeClr val="dk1"/>
              </a:solidFill>
              <a:latin typeface="Calibri"/>
              <a:ea typeface="Calibri"/>
              <a:cs typeface="Calibri"/>
              <a:sym typeface="Calibri"/>
            </a:endParaRPr>
          </a:p>
        </p:txBody>
      </p:sp>
      <p:sp>
        <p:nvSpPr>
          <p:cNvPr id="517" name="Google Shape;517;p17"/>
          <p:cNvSpPr/>
          <p:nvPr/>
        </p:nvSpPr>
        <p:spPr>
          <a:xfrm>
            <a:off x="7772400" y="1572768"/>
            <a:ext cx="1079100" cy="3840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17"/>
          <p:cNvSpPr/>
          <p:nvPr/>
        </p:nvSpPr>
        <p:spPr>
          <a:xfrm>
            <a:off x="7845552" y="1572768"/>
            <a:ext cx="9876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7A4A"/>
              </a:buClr>
              <a:buSzPts val="1050"/>
              <a:buFont typeface="Calibri"/>
              <a:buNone/>
            </a:pPr>
            <a:r>
              <a:rPr b="1" lang="en-US" sz="1050">
                <a:solidFill>
                  <a:srgbClr val="2A7A4A"/>
                </a:solidFill>
                <a:latin typeface="Calibri"/>
                <a:ea typeface="Calibri"/>
                <a:cs typeface="Calibri"/>
                <a:sym typeface="Calibri"/>
              </a:rPr>
              <a:t>PASS</a:t>
            </a:r>
            <a:endParaRPr sz="1050">
              <a:solidFill>
                <a:schemeClr val="dk1"/>
              </a:solidFill>
              <a:latin typeface="Calibri"/>
              <a:ea typeface="Calibri"/>
              <a:cs typeface="Calibri"/>
              <a:sym typeface="Calibri"/>
            </a:endParaRPr>
          </a:p>
        </p:txBody>
      </p:sp>
      <p:sp>
        <p:nvSpPr>
          <p:cNvPr id="519" name="Google Shape;519;p17"/>
          <p:cNvSpPr/>
          <p:nvPr/>
        </p:nvSpPr>
        <p:spPr>
          <a:xfrm>
            <a:off x="4663440" y="1956816"/>
            <a:ext cx="2194500" cy="3840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17"/>
          <p:cNvSpPr/>
          <p:nvPr/>
        </p:nvSpPr>
        <p:spPr>
          <a:xfrm>
            <a:off x="4736592" y="1956816"/>
            <a:ext cx="2103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African-American · Female</a:t>
            </a:r>
            <a:endParaRPr sz="1050">
              <a:solidFill>
                <a:schemeClr val="dk1"/>
              </a:solidFill>
              <a:latin typeface="Calibri"/>
              <a:ea typeface="Calibri"/>
              <a:cs typeface="Calibri"/>
              <a:sym typeface="Calibri"/>
            </a:endParaRPr>
          </a:p>
        </p:txBody>
      </p:sp>
      <p:sp>
        <p:nvSpPr>
          <p:cNvPr id="521" name="Google Shape;521;p17"/>
          <p:cNvSpPr/>
          <p:nvPr/>
        </p:nvSpPr>
        <p:spPr>
          <a:xfrm>
            <a:off x="6858000" y="1956816"/>
            <a:ext cx="914400" cy="3840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17"/>
          <p:cNvSpPr/>
          <p:nvPr/>
        </p:nvSpPr>
        <p:spPr>
          <a:xfrm>
            <a:off x="6931152" y="1956816"/>
            <a:ext cx="822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50"/>
              <a:buFont typeface="Calibri"/>
              <a:buNone/>
            </a:pPr>
            <a:r>
              <a:rPr b="1" lang="en-US" sz="1050">
                <a:solidFill>
                  <a:srgbClr val="E05C3A"/>
                </a:solidFill>
                <a:latin typeface="Calibri"/>
                <a:ea typeface="Calibri"/>
                <a:cs typeface="Calibri"/>
                <a:sym typeface="Calibri"/>
              </a:rPr>
              <a:t>0.952</a:t>
            </a:r>
            <a:endParaRPr sz="1050">
              <a:solidFill>
                <a:schemeClr val="dk1"/>
              </a:solidFill>
              <a:latin typeface="Calibri"/>
              <a:ea typeface="Calibri"/>
              <a:cs typeface="Calibri"/>
              <a:sym typeface="Calibri"/>
            </a:endParaRPr>
          </a:p>
        </p:txBody>
      </p:sp>
      <p:sp>
        <p:nvSpPr>
          <p:cNvPr id="523" name="Google Shape;523;p17"/>
          <p:cNvSpPr/>
          <p:nvPr/>
        </p:nvSpPr>
        <p:spPr>
          <a:xfrm>
            <a:off x="7772400" y="1956816"/>
            <a:ext cx="1079100" cy="3840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4" name="Google Shape;524;p17"/>
          <p:cNvSpPr/>
          <p:nvPr/>
        </p:nvSpPr>
        <p:spPr>
          <a:xfrm>
            <a:off x="7845552" y="1956816"/>
            <a:ext cx="9876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7A4A"/>
              </a:buClr>
              <a:buSzPts val="1050"/>
              <a:buFont typeface="Calibri"/>
              <a:buNone/>
            </a:pPr>
            <a:r>
              <a:rPr b="1" lang="en-US" sz="1050">
                <a:solidFill>
                  <a:srgbClr val="2A7A4A"/>
                </a:solidFill>
                <a:latin typeface="Calibri"/>
                <a:ea typeface="Calibri"/>
                <a:cs typeface="Calibri"/>
                <a:sym typeface="Calibri"/>
              </a:rPr>
              <a:t>PASS</a:t>
            </a:r>
            <a:endParaRPr sz="1050">
              <a:solidFill>
                <a:schemeClr val="dk1"/>
              </a:solidFill>
              <a:latin typeface="Calibri"/>
              <a:ea typeface="Calibri"/>
              <a:cs typeface="Calibri"/>
              <a:sym typeface="Calibri"/>
            </a:endParaRPr>
          </a:p>
        </p:txBody>
      </p:sp>
      <p:sp>
        <p:nvSpPr>
          <p:cNvPr id="525" name="Google Shape;525;p17"/>
          <p:cNvSpPr/>
          <p:nvPr/>
        </p:nvSpPr>
        <p:spPr>
          <a:xfrm>
            <a:off x="4663440" y="2340864"/>
            <a:ext cx="2194500" cy="3840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17"/>
          <p:cNvSpPr/>
          <p:nvPr/>
        </p:nvSpPr>
        <p:spPr>
          <a:xfrm>
            <a:off x="4736592" y="2340864"/>
            <a:ext cx="2103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Minority (aggregate)</a:t>
            </a:r>
            <a:endParaRPr sz="1050">
              <a:solidFill>
                <a:schemeClr val="dk1"/>
              </a:solidFill>
              <a:latin typeface="Calibri"/>
              <a:ea typeface="Calibri"/>
              <a:cs typeface="Calibri"/>
              <a:sym typeface="Calibri"/>
            </a:endParaRPr>
          </a:p>
        </p:txBody>
      </p:sp>
      <p:sp>
        <p:nvSpPr>
          <p:cNvPr id="527" name="Google Shape;527;p17"/>
          <p:cNvSpPr/>
          <p:nvPr/>
        </p:nvSpPr>
        <p:spPr>
          <a:xfrm>
            <a:off x="6858000" y="2340864"/>
            <a:ext cx="914400" cy="3840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17"/>
          <p:cNvSpPr/>
          <p:nvPr/>
        </p:nvSpPr>
        <p:spPr>
          <a:xfrm>
            <a:off x="6931152" y="2340864"/>
            <a:ext cx="822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50"/>
              <a:buFont typeface="Calibri"/>
              <a:buNone/>
            </a:pPr>
            <a:r>
              <a:rPr b="1" lang="en-US" sz="1050">
                <a:solidFill>
                  <a:srgbClr val="E05C3A"/>
                </a:solidFill>
                <a:latin typeface="Calibri"/>
                <a:ea typeface="Calibri"/>
                <a:cs typeface="Calibri"/>
                <a:sym typeface="Calibri"/>
              </a:rPr>
              <a:t>0.938</a:t>
            </a:r>
            <a:endParaRPr sz="1050">
              <a:solidFill>
                <a:schemeClr val="dk1"/>
              </a:solidFill>
              <a:latin typeface="Calibri"/>
              <a:ea typeface="Calibri"/>
              <a:cs typeface="Calibri"/>
              <a:sym typeface="Calibri"/>
            </a:endParaRPr>
          </a:p>
        </p:txBody>
      </p:sp>
      <p:sp>
        <p:nvSpPr>
          <p:cNvPr id="529" name="Google Shape;529;p17"/>
          <p:cNvSpPr/>
          <p:nvPr/>
        </p:nvSpPr>
        <p:spPr>
          <a:xfrm>
            <a:off x="7772400" y="2340864"/>
            <a:ext cx="1079100" cy="3840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17"/>
          <p:cNvSpPr/>
          <p:nvPr/>
        </p:nvSpPr>
        <p:spPr>
          <a:xfrm>
            <a:off x="7845552" y="2340864"/>
            <a:ext cx="9876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7A4A"/>
              </a:buClr>
              <a:buSzPts val="1050"/>
              <a:buFont typeface="Calibri"/>
              <a:buNone/>
            </a:pPr>
            <a:r>
              <a:rPr b="1" lang="en-US" sz="1050">
                <a:solidFill>
                  <a:srgbClr val="2A7A4A"/>
                </a:solidFill>
                <a:latin typeface="Calibri"/>
                <a:ea typeface="Calibri"/>
                <a:cs typeface="Calibri"/>
                <a:sym typeface="Calibri"/>
              </a:rPr>
              <a:t>PASS</a:t>
            </a:r>
            <a:endParaRPr sz="1050">
              <a:solidFill>
                <a:schemeClr val="dk1"/>
              </a:solidFill>
              <a:latin typeface="Calibri"/>
              <a:ea typeface="Calibri"/>
              <a:cs typeface="Calibri"/>
              <a:sym typeface="Calibri"/>
            </a:endParaRPr>
          </a:p>
        </p:txBody>
      </p:sp>
      <p:sp>
        <p:nvSpPr>
          <p:cNvPr id="531" name="Google Shape;531;p17"/>
          <p:cNvSpPr/>
          <p:nvPr/>
        </p:nvSpPr>
        <p:spPr>
          <a:xfrm>
            <a:off x="4663440" y="2724912"/>
            <a:ext cx="2194500" cy="3840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17"/>
          <p:cNvSpPr/>
          <p:nvPr/>
        </p:nvSpPr>
        <p:spPr>
          <a:xfrm>
            <a:off x="4736592" y="2724912"/>
            <a:ext cx="21030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Caucasian (baseline)</a:t>
            </a:r>
            <a:endParaRPr sz="1050">
              <a:solidFill>
                <a:schemeClr val="dk1"/>
              </a:solidFill>
              <a:latin typeface="Calibri"/>
              <a:ea typeface="Calibri"/>
              <a:cs typeface="Calibri"/>
              <a:sym typeface="Calibri"/>
            </a:endParaRPr>
          </a:p>
        </p:txBody>
      </p:sp>
      <p:sp>
        <p:nvSpPr>
          <p:cNvPr id="533" name="Google Shape;533;p17"/>
          <p:cNvSpPr/>
          <p:nvPr/>
        </p:nvSpPr>
        <p:spPr>
          <a:xfrm>
            <a:off x="6858000" y="2724912"/>
            <a:ext cx="914400" cy="3840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17"/>
          <p:cNvSpPr/>
          <p:nvPr/>
        </p:nvSpPr>
        <p:spPr>
          <a:xfrm>
            <a:off x="6931152" y="2724912"/>
            <a:ext cx="8229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b="1" lang="en-US" sz="1050">
                <a:solidFill>
                  <a:srgbClr val="1C2B3A"/>
                </a:solidFill>
                <a:latin typeface="Calibri"/>
                <a:ea typeface="Calibri"/>
                <a:cs typeface="Calibri"/>
                <a:sym typeface="Calibri"/>
              </a:rPr>
              <a:t>1.000</a:t>
            </a:r>
            <a:endParaRPr sz="1050">
              <a:solidFill>
                <a:schemeClr val="dk1"/>
              </a:solidFill>
              <a:latin typeface="Calibri"/>
              <a:ea typeface="Calibri"/>
              <a:cs typeface="Calibri"/>
              <a:sym typeface="Calibri"/>
            </a:endParaRPr>
          </a:p>
        </p:txBody>
      </p:sp>
      <p:sp>
        <p:nvSpPr>
          <p:cNvPr id="535" name="Google Shape;535;p17"/>
          <p:cNvSpPr/>
          <p:nvPr/>
        </p:nvSpPr>
        <p:spPr>
          <a:xfrm>
            <a:off x="7772400" y="2724912"/>
            <a:ext cx="1079100" cy="3840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17"/>
          <p:cNvSpPr/>
          <p:nvPr/>
        </p:nvSpPr>
        <p:spPr>
          <a:xfrm>
            <a:off x="7845552" y="2724912"/>
            <a:ext cx="9876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BAA"/>
              </a:buClr>
              <a:buSzPts val="1050"/>
              <a:buFont typeface="Calibri"/>
              <a:buNone/>
            </a:pPr>
            <a:r>
              <a:rPr b="1" lang="en-US" sz="1050">
                <a:solidFill>
                  <a:srgbClr val="8A9BAA"/>
                </a:solidFill>
                <a:latin typeface="Calibri"/>
                <a:ea typeface="Calibri"/>
                <a:cs typeface="Calibri"/>
                <a:sym typeface="Calibri"/>
              </a:rPr>
              <a:t>—</a:t>
            </a:r>
            <a:endParaRPr sz="1050">
              <a:solidFill>
                <a:schemeClr val="dk1"/>
              </a:solidFill>
              <a:latin typeface="Calibri"/>
              <a:ea typeface="Calibri"/>
              <a:cs typeface="Calibri"/>
              <a:sym typeface="Calibri"/>
            </a:endParaRPr>
          </a:p>
        </p:txBody>
      </p:sp>
      <p:sp>
        <p:nvSpPr>
          <p:cNvPr id="537" name="Google Shape;537;p17"/>
          <p:cNvSpPr/>
          <p:nvPr/>
        </p:nvSpPr>
        <p:spPr>
          <a:xfrm>
            <a:off x="4617720" y="2788920"/>
            <a:ext cx="4370700" cy="548700"/>
          </a:xfrm>
          <a:prstGeom prst="rect">
            <a:avLst/>
          </a:prstGeom>
          <a:solidFill>
            <a:srgbClr val="162330"/>
          </a:solidFill>
          <a:ln cap="flat" cmpd="sng" w="12700">
            <a:solidFill>
              <a:srgbClr val="C8A8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17"/>
          <p:cNvSpPr/>
          <p:nvPr/>
        </p:nvSpPr>
        <p:spPr>
          <a:xfrm>
            <a:off x="4709160" y="2816352"/>
            <a:ext cx="4206300" cy="49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8A84B"/>
              </a:buClr>
              <a:buSzPts val="1000"/>
              <a:buFont typeface="Calibri"/>
              <a:buNone/>
            </a:pPr>
            <a:r>
              <a:rPr b="1" lang="en-US" sz="1000">
                <a:solidFill>
                  <a:srgbClr val="C8A84B"/>
                </a:solidFill>
                <a:latin typeface="Calibri"/>
                <a:ea typeface="Calibri"/>
                <a:cs typeface="Calibri"/>
                <a:sym typeface="Calibri"/>
              </a:rPr>
              <a:t>Unmitigated Gap: </a:t>
            </a:r>
            <a:r>
              <a:rPr lang="en-US" sz="1000">
                <a:solidFill>
                  <a:srgbClr val="FFFFFF"/>
                </a:solidFill>
                <a:latin typeface="Calibri"/>
                <a:ea typeface="Calibri"/>
                <a:cs typeface="Calibri"/>
                <a:sym typeface="Calibri"/>
              </a:rPr>
              <a:t>Fairness constraints were studied but never applied. The model remains in production without reweighting, resampling, or Exponentiated Gradient mitigation.</a:t>
            </a:r>
            <a:endParaRPr sz="1000">
              <a:solidFill>
                <a:schemeClr val="dk1"/>
              </a:solidFill>
              <a:latin typeface="Calibri"/>
              <a:ea typeface="Calibri"/>
              <a:cs typeface="Calibri"/>
              <a:sym typeface="Calibri"/>
            </a:endParaRPr>
          </a:p>
        </p:txBody>
      </p:sp>
      <p:sp>
        <p:nvSpPr>
          <p:cNvPr id="539" name="Google Shape;539;p17"/>
          <p:cNvSpPr/>
          <p:nvPr/>
        </p:nvSpPr>
        <p:spPr>
          <a:xfrm>
            <a:off x="4617720" y="3456432"/>
            <a:ext cx="4370700" cy="969300"/>
          </a:xfrm>
          <a:prstGeom prst="rect">
            <a:avLst/>
          </a:prstGeom>
          <a:solidFill>
            <a:srgbClr val="162330"/>
          </a:solidFill>
          <a:ln cap="flat" cmpd="sng" w="1905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17"/>
          <p:cNvSpPr/>
          <p:nvPr/>
        </p:nvSpPr>
        <p:spPr>
          <a:xfrm>
            <a:off x="4709160" y="3493008"/>
            <a:ext cx="4206300" cy="914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8A84B"/>
              </a:buClr>
              <a:buSzPts val="1050"/>
              <a:buFont typeface="Calibri"/>
              <a:buNone/>
            </a:pPr>
            <a:r>
              <a:rPr b="1" lang="en-US" sz="1050">
                <a:solidFill>
                  <a:srgbClr val="C8A84B"/>
                </a:solidFill>
                <a:latin typeface="Calibri"/>
                <a:ea typeface="Calibri"/>
                <a:cs typeface="Calibri"/>
                <a:sym typeface="Calibri"/>
              </a:rPr>
              <a:t>Key Insight: </a:t>
            </a:r>
            <a:r>
              <a:rPr lang="en-US" sz="1050">
                <a:solidFill>
                  <a:srgbClr val="FFFFFF"/>
                </a:solidFill>
                <a:latin typeface="Calibri"/>
                <a:ea typeface="Calibri"/>
                <a:cs typeface="Calibri"/>
                <a:sym typeface="Calibri"/>
              </a:rPr>
              <a:t>All intersectional cohorts pass the 4/5ths AIR threshold, but AIR compliance does not mean the bias is gone. Historical imbalances are encoded into the model's decision boundary and will systematically disadvantage minority applicants in underserved geographies.</a:t>
            </a:r>
            <a:endParaRPr sz="1050">
              <a:solidFill>
                <a:schemeClr val="dk1"/>
              </a:solidFill>
              <a:latin typeface="Calibri"/>
              <a:ea typeface="Calibri"/>
              <a:cs typeface="Calibri"/>
              <a:sym typeface="Calibri"/>
            </a:endParaRPr>
          </a:p>
        </p:txBody>
      </p:sp>
      <p:sp>
        <p:nvSpPr>
          <p:cNvPr id="541" name="Google Shape;541;p17"/>
          <p:cNvSpPr/>
          <p:nvPr/>
        </p:nvSpPr>
        <p:spPr>
          <a:xfrm>
            <a:off x="7315200" y="0"/>
            <a:ext cx="1828800" cy="3474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7"/>
          <p:cNvSpPr/>
          <p:nvPr/>
        </p:nvSpPr>
        <p:spPr>
          <a:xfrm>
            <a:off x="7315200" y="0"/>
            <a:ext cx="182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SEVERITY: HIGH</a:t>
            </a:r>
            <a:endParaRPr sz="95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A"/>
        </a:solidFill>
      </p:bgPr>
    </p:bg>
    <p:spTree>
      <p:nvGrpSpPr>
        <p:cNvPr id="547" name="Shape 547"/>
        <p:cNvGrpSpPr/>
        <p:nvPr/>
      </p:nvGrpSpPr>
      <p:grpSpPr>
        <a:xfrm>
          <a:off x="0" y="0"/>
          <a:ext cx="0" cy="0"/>
          <a:chOff x="0" y="0"/>
          <a:chExt cx="0" cy="0"/>
        </a:xfrm>
      </p:grpSpPr>
      <p:sp>
        <p:nvSpPr>
          <p:cNvPr id="548" name="Google Shape;548;p18"/>
          <p:cNvSpPr/>
          <p:nvPr/>
        </p:nvSpPr>
        <p:spPr>
          <a:xfrm>
            <a:off x="0" y="0"/>
            <a:ext cx="1188600" cy="3474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18"/>
          <p:cNvSpPr/>
          <p:nvPr/>
        </p:nvSpPr>
        <p:spPr>
          <a:xfrm>
            <a:off x="0" y="0"/>
            <a:ext cx="11886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RISK 03</a:t>
            </a:r>
            <a:endParaRPr sz="1000">
              <a:solidFill>
                <a:schemeClr val="dk1"/>
              </a:solidFill>
              <a:latin typeface="Calibri"/>
              <a:ea typeface="Calibri"/>
              <a:cs typeface="Calibri"/>
              <a:sym typeface="Calibri"/>
            </a:endParaRPr>
          </a:p>
        </p:txBody>
      </p:sp>
      <p:sp>
        <p:nvSpPr>
          <p:cNvPr id="550" name="Google Shape;550;p18"/>
          <p:cNvSpPr/>
          <p:nvPr/>
        </p:nvSpPr>
        <p:spPr>
          <a:xfrm>
            <a:off x="274320" y="323313"/>
            <a:ext cx="4114800" cy="141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Georgia"/>
              <a:buNone/>
            </a:pPr>
            <a:r>
              <a:rPr b="1" lang="en-US" sz="3400">
                <a:solidFill>
                  <a:srgbClr val="FFFFFF"/>
                </a:solidFill>
                <a:latin typeface="Georgia"/>
                <a:ea typeface="Georgia"/>
                <a:cs typeface="Georgia"/>
                <a:sym typeface="Georgia"/>
              </a:rPr>
              <a:t>Non-Recourse</a:t>
            </a:r>
            <a:endParaRPr sz="3400">
              <a:solidFill>
                <a:schemeClr val="dk1"/>
              </a:solidFill>
              <a:latin typeface="Georgia"/>
              <a:ea typeface="Georgia"/>
              <a:cs typeface="Georgia"/>
              <a:sym typeface="Georgia"/>
            </a:endParaRPr>
          </a:p>
          <a:p>
            <a:pPr indent="0" lvl="0" marL="0" marR="0" rtl="0" algn="l">
              <a:spcBef>
                <a:spcPts val="0"/>
              </a:spcBef>
              <a:spcAft>
                <a:spcPts val="0"/>
              </a:spcAft>
              <a:buClr>
                <a:srgbClr val="FFFFFF"/>
              </a:buClr>
              <a:buSzPts val="3400"/>
              <a:buFont typeface="Georgia"/>
              <a:buNone/>
            </a:pPr>
            <a:r>
              <a:rPr b="1" lang="en-US" sz="3400">
                <a:solidFill>
                  <a:srgbClr val="FFFFFF"/>
                </a:solidFill>
                <a:latin typeface="Georgia"/>
                <a:ea typeface="Georgia"/>
                <a:cs typeface="Georgia"/>
                <a:sym typeface="Georgia"/>
              </a:rPr>
              <a:t>&amp; Privacy Gaps</a:t>
            </a:r>
            <a:endParaRPr sz="3400">
              <a:solidFill>
                <a:schemeClr val="dk1"/>
              </a:solidFill>
              <a:latin typeface="Georgia"/>
              <a:ea typeface="Georgia"/>
              <a:cs typeface="Georgia"/>
              <a:sym typeface="Georgia"/>
            </a:endParaRPr>
          </a:p>
        </p:txBody>
      </p:sp>
      <p:sp>
        <p:nvSpPr>
          <p:cNvPr id="551" name="Google Shape;551;p18"/>
          <p:cNvSpPr/>
          <p:nvPr/>
        </p:nvSpPr>
        <p:spPr>
          <a:xfrm>
            <a:off x="274320" y="1832073"/>
            <a:ext cx="2651700" cy="3291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18"/>
          <p:cNvSpPr/>
          <p:nvPr/>
        </p:nvSpPr>
        <p:spPr>
          <a:xfrm>
            <a:off x="274320" y="1832073"/>
            <a:ext cx="26517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HopSkipJump  ·  Boundary Attack  ·  MIA</a:t>
            </a:r>
            <a:endParaRPr sz="1000">
              <a:solidFill>
                <a:schemeClr val="dk1"/>
              </a:solidFill>
              <a:latin typeface="Calibri"/>
              <a:ea typeface="Calibri"/>
              <a:cs typeface="Calibri"/>
              <a:sym typeface="Calibri"/>
            </a:endParaRPr>
          </a:p>
        </p:txBody>
      </p:sp>
      <p:sp>
        <p:nvSpPr>
          <p:cNvPr id="553" name="Google Shape;553;p18"/>
          <p:cNvSpPr/>
          <p:nvPr/>
        </p:nvSpPr>
        <p:spPr>
          <a:xfrm>
            <a:off x="274320" y="2289273"/>
            <a:ext cx="54900" cy="7314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18"/>
          <p:cNvSpPr/>
          <p:nvPr/>
        </p:nvSpPr>
        <p:spPr>
          <a:xfrm>
            <a:off x="411480" y="2289273"/>
            <a:ext cx="3840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0A4"/>
              </a:buClr>
              <a:buSzPts val="1000"/>
              <a:buFont typeface="Calibri"/>
              <a:buNone/>
            </a:pPr>
            <a:r>
              <a:rPr b="1" lang="en-US" sz="1000">
                <a:solidFill>
                  <a:srgbClr val="4A90A4"/>
                </a:solidFill>
                <a:latin typeface="Calibri"/>
                <a:ea typeface="Calibri"/>
                <a:cs typeface="Calibri"/>
                <a:sym typeface="Calibri"/>
              </a:rPr>
              <a:t>WHAT FAILS</a:t>
            </a:r>
            <a:endParaRPr sz="1000">
              <a:solidFill>
                <a:schemeClr val="dk1"/>
              </a:solidFill>
              <a:latin typeface="Calibri"/>
              <a:ea typeface="Calibri"/>
              <a:cs typeface="Calibri"/>
              <a:sym typeface="Calibri"/>
            </a:endParaRPr>
          </a:p>
        </p:txBody>
      </p:sp>
      <p:sp>
        <p:nvSpPr>
          <p:cNvPr id="555" name="Google Shape;555;p18"/>
          <p:cNvSpPr/>
          <p:nvPr/>
        </p:nvSpPr>
        <p:spPr>
          <a:xfrm>
            <a:off x="411480" y="2527017"/>
            <a:ext cx="38406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The model's sharp XGBoost boundary means applicants near the 0.51 threshold cannot be told which actions will flip their outcome. DiCE counterfactuals require a credit score &gt;1,000 and income 40–60× above current, humanly impossible.</a:t>
            </a:r>
            <a:endParaRPr sz="1050">
              <a:solidFill>
                <a:schemeClr val="dk1"/>
              </a:solidFill>
              <a:latin typeface="Calibri"/>
              <a:ea typeface="Calibri"/>
              <a:cs typeface="Calibri"/>
              <a:sym typeface="Calibri"/>
            </a:endParaRPr>
          </a:p>
        </p:txBody>
      </p:sp>
      <p:sp>
        <p:nvSpPr>
          <p:cNvPr id="556" name="Google Shape;556;p18"/>
          <p:cNvSpPr/>
          <p:nvPr/>
        </p:nvSpPr>
        <p:spPr>
          <a:xfrm>
            <a:off x="274320" y="3157953"/>
            <a:ext cx="54900" cy="7314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18"/>
          <p:cNvSpPr/>
          <p:nvPr/>
        </p:nvSpPr>
        <p:spPr>
          <a:xfrm>
            <a:off x="411480" y="3157953"/>
            <a:ext cx="3840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0A4"/>
              </a:buClr>
              <a:buSzPts val="1000"/>
              <a:buFont typeface="Calibri"/>
              <a:buNone/>
            </a:pPr>
            <a:r>
              <a:rPr b="1" lang="en-US" sz="1000">
                <a:solidFill>
                  <a:srgbClr val="4A90A4"/>
                </a:solidFill>
                <a:latin typeface="Calibri"/>
                <a:ea typeface="Calibri"/>
                <a:cs typeface="Calibri"/>
                <a:sym typeface="Calibri"/>
              </a:rPr>
              <a:t>WHY IT FAILS</a:t>
            </a:r>
            <a:endParaRPr sz="1000">
              <a:solidFill>
                <a:schemeClr val="dk1"/>
              </a:solidFill>
              <a:latin typeface="Calibri"/>
              <a:ea typeface="Calibri"/>
              <a:cs typeface="Calibri"/>
              <a:sym typeface="Calibri"/>
            </a:endParaRPr>
          </a:p>
        </p:txBody>
      </p:sp>
      <p:sp>
        <p:nvSpPr>
          <p:cNvPr id="558" name="Google Shape;558;p18"/>
          <p:cNvSpPr/>
          <p:nvPr/>
        </p:nvSpPr>
        <p:spPr>
          <a:xfrm>
            <a:off x="411480" y="3395697"/>
            <a:ext cx="38406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No monotonicity constraints enforced. All features are freely tradeable in the model, but not in real life. The boundary is secure from adversarial attacks but offers no actionable path for rejected consumers.</a:t>
            </a:r>
            <a:endParaRPr sz="1050">
              <a:solidFill>
                <a:schemeClr val="dk1"/>
              </a:solidFill>
              <a:latin typeface="Calibri"/>
              <a:ea typeface="Calibri"/>
              <a:cs typeface="Calibri"/>
              <a:sym typeface="Calibri"/>
            </a:endParaRPr>
          </a:p>
        </p:txBody>
      </p:sp>
      <p:sp>
        <p:nvSpPr>
          <p:cNvPr id="559" name="Google Shape;559;p18"/>
          <p:cNvSpPr/>
          <p:nvPr/>
        </p:nvSpPr>
        <p:spPr>
          <a:xfrm>
            <a:off x="274320" y="4026633"/>
            <a:ext cx="54900" cy="7314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18"/>
          <p:cNvSpPr/>
          <p:nvPr/>
        </p:nvSpPr>
        <p:spPr>
          <a:xfrm>
            <a:off x="411480" y="4026633"/>
            <a:ext cx="38406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0A4"/>
              </a:buClr>
              <a:buSzPts val="1000"/>
              <a:buFont typeface="Calibri"/>
              <a:buNone/>
            </a:pPr>
            <a:r>
              <a:rPr b="1" lang="en-US" sz="1000">
                <a:solidFill>
                  <a:srgbClr val="4A90A4"/>
                </a:solidFill>
                <a:latin typeface="Calibri"/>
                <a:ea typeface="Calibri"/>
                <a:cs typeface="Calibri"/>
                <a:sym typeface="Calibri"/>
              </a:rPr>
              <a:t>WHO IS HARMED</a:t>
            </a:r>
            <a:endParaRPr sz="1000">
              <a:solidFill>
                <a:schemeClr val="dk1"/>
              </a:solidFill>
              <a:latin typeface="Calibri"/>
              <a:ea typeface="Calibri"/>
              <a:cs typeface="Calibri"/>
              <a:sym typeface="Calibri"/>
            </a:endParaRPr>
          </a:p>
        </p:txBody>
      </p:sp>
      <p:sp>
        <p:nvSpPr>
          <p:cNvPr id="561" name="Google Shape;561;p18"/>
          <p:cNvSpPr/>
          <p:nvPr/>
        </p:nvSpPr>
        <p:spPr>
          <a:xfrm>
            <a:off x="411480" y="4264377"/>
            <a:ext cx="3840600" cy="493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Marginal applicants, disproportionately minority, and outlier individuals whose unique financial profile could expose them to attribute-inference privacy attacks not caught by aggregate metrics.</a:t>
            </a:r>
            <a:endParaRPr sz="1050">
              <a:solidFill>
                <a:schemeClr val="dk1"/>
              </a:solidFill>
              <a:latin typeface="Calibri"/>
              <a:ea typeface="Calibri"/>
              <a:cs typeface="Calibri"/>
              <a:sym typeface="Calibri"/>
            </a:endParaRPr>
          </a:p>
        </p:txBody>
      </p:sp>
      <p:sp>
        <p:nvSpPr>
          <p:cNvPr id="562" name="Google Shape;562;p18"/>
          <p:cNvSpPr/>
          <p:nvPr/>
        </p:nvSpPr>
        <p:spPr>
          <a:xfrm>
            <a:off x="4553712" y="0"/>
            <a:ext cx="4590300" cy="5143500"/>
          </a:xfrm>
          <a:prstGeom prst="rect">
            <a:avLst/>
          </a:prstGeom>
          <a:solidFill>
            <a:srgbClr val="F5F4EF"/>
          </a:solidFill>
          <a:ln cap="flat" cmpd="sng" w="12700">
            <a:solidFill>
              <a:srgbClr val="F5F4E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18"/>
          <p:cNvSpPr/>
          <p:nvPr/>
        </p:nvSpPr>
        <p:spPr>
          <a:xfrm>
            <a:off x="4553712" y="0"/>
            <a:ext cx="4590300" cy="4755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18"/>
          <p:cNvSpPr/>
          <p:nvPr/>
        </p:nvSpPr>
        <p:spPr>
          <a:xfrm>
            <a:off x="4617720" y="0"/>
            <a:ext cx="44622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Security &amp; Privacy Audit Results</a:t>
            </a:r>
            <a:endParaRPr sz="1200">
              <a:solidFill>
                <a:schemeClr val="dk1"/>
              </a:solidFill>
              <a:latin typeface="Calibri"/>
              <a:ea typeface="Calibri"/>
              <a:cs typeface="Calibri"/>
              <a:sym typeface="Calibri"/>
            </a:endParaRPr>
          </a:p>
        </p:txBody>
      </p:sp>
      <p:sp>
        <p:nvSpPr>
          <p:cNvPr id="565" name="Google Shape;565;p18"/>
          <p:cNvSpPr/>
          <p:nvPr/>
        </p:nvSpPr>
        <p:spPr>
          <a:xfrm>
            <a:off x="4617720" y="502920"/>
            <a:ext cx="44622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A9BAA"/>
              </a:buClr>
              <a:buSzPts val="1000"/>
              <a:buFont typeface="Calibri"/>
              <a:buNone/>
            </a:pPr>
            <a:r>
              <a:rPr i="1" lang="en-US" sz="1000">
                <a:solidFill>
                  <a:srgbClr val="8A9BAA"/>
                </a:solidFill>
                <a:latin typeface="Calibri"/>
                <a:ea typeface="Calibri"/>
                <a:cs typeface="Calibri"/>
                <a:sym typeface="Calibri"/>
              </a:rPr>
              <a:t>Evasion attacks + Membership Inference — combined findings</a:t>
            </a:r>
            <a:endParaRPr sz="1000">
              <a:solidFill>
                <a:schemeClr val="dk1"/>
              </a:solidFill>
              <a:latin typeface="Calibri"/>
              <a:ea typeface="Calibri"/>
              <a:cs typeface="Calibri"/>
              <a:sym typeface="Calibri"/>
            </a:endParaRPr>
          </a:p>
        </p:txBody>
      </p:sp>
      <p:sp>
        <p:nvSpPr>
          <p:cNvPr id="566" name="Google Shape;566;p18"/>
          <p:cNvSpPr/>
          <p:nvPr/>
        </p:nvSpPr>
        <p:spPr>
          <a:xfrm>
            <a:off x="4663440" y="868680"/>
            <a:ext cx="2057400" cy="1051500"/>
          </a:xfrm>
          <a:prstGeom prst="rect">
            <a:avLst/>
          </a:prstGeom>
          <a:solidFill>
            <a:srgbClr val="FFFFFF"/>
          </a:solidFill>
          <a:ln cap="flat" cmpd="sng" w="12700">
            <a:solidFill>
              <a:srgbClr val="2A7A4A"/>
            </a:solidFill>
            <a:prstDash val="solid"/>
            <a:round/>
            <a:headEnd len="sm" w="sm" type="none"/>
            <a:tailEnd len="sm" w="sm" type="none"/>
          </a:ln>
          <a:effectLst>
            <a:outerShdw blurRad="76200" rotWithShape="0" algn="bl" dir="8100000" dist="25400">
              <a:srgbClr val="000000">
                <a:alpha val="180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18"/>
          <p:cNvSpPr/>
          <p:nvPr/>
        </p:nvSpPr>
        <p:spPr>
          <a:xfrm>
            <a:off x="4663440" y="868680"/>
            <a:ext cx="2057400" cy="54900"/>
          </a:xfrm>
          <a:prstGeom prst="rect">
            <a:avLst/>
          </a:prstGeom>
          <a:solidFill>
            <a:srgbClr val="2A7A4A"/>
          </a:solidFill>
          <a:ln cap="flat" cmpd="sng" w="12700">
            <a:solidFill>
              <a:srgbClr val="2A7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18"/>
          <p:cNvSpPr/>
          <p:nvPr/>
        </p:nvSpPr>
        <p:spPr>
          <a:xfrm>
            <a:off x="4754880" y="960120"/>
            <a:ext cx="18744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A7A4A"/>
              </a:buClr>
              <a:buSzPts val="2200"/>
              <a:buFont typeface="Georgia"/>
              <a:buNone/>
            </a:pPr>
            <a:r>
              <a:rPr b="1" lang="en-US" sz="2200">
                <a:solidFill>
                  <a:srgbClr val="2A7A4A"/>
                </a:solidFill>
                <a:latin typeface="Georgia"/>
                <a:ea typeface="Georgia"/>
                <a:cs typeface="Georgia"/>
                <a:sym typeface="Georgia"/>
              </a:rPr>
              <a:t>FAILED</a:t>
            </a:r>
            <a:endParaRPr sz="2200">
              <a:solidFill>
                <a:schemeClr val="dk1"/>
              </a:solidFill>
              <a:latin typeface="Calibri"/>
              <a:ea typeface="Calibri"/>
              <a:cs typeface="Calibri"/>
              <a:sym typeface="Calibri"/>
            </a:endParaRPr>
          </a:p>
        </p:txBody>
      </p:sp>
      <p:sp>
        <p:nvSpPr>
          <p:cNvPr id="569" name="Google Shape;569;p18"/>
          <p:cNvSpPr/>
          <p:nvPr/>
        </p:nvSpPr>
        <p:spPr>
          <a:xfrm>
            <a:off x="4754880" y="1417320"/>
            <a:ext cx="1874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950"/>
              <a:buFont typeface="Calibri"/>
              <a:buNone/>
            </a:pPr>
            <a:r>
              <a:rPr b="1" lang="en-US" sz="950">
                <a:solidFill>
                  <a:srgbClr val="1C2B3A"/>
                </a:solidFill>
                <a:latin typeface="Calibri"/>
                <a:ea typeface="Calibri"/>
                <a:cs typeface="Calibri"/>
                <a:sym typeface="Calibri"/>
              </a:rPr>
              <a:t>HopSkipJump Attack</a:t>
            </a:r>
            <a:endParaRPr sz="950">
              <a:solidFill>
                <a:schemeClr val="dk1"/>
              </a:solidFill>
              <a:latin typeface="Calibri"/>
              <a:ea typeface="Calibri"/>
              <a:cs typeface="Calibri"/>
              <a:sym typeface="Calibri"/>
            </a:endParaRPr>
          </a:p>
        </p:txBody>
      </p:sp>
      <p:sp>
        <p:nvSpPr>
          <p:cNvPr id="570" name="Google Shape;570;p18"/>
          <p:cNvSpPr/>
          <p:nvPr/>
        </p:nvSpPr>
        <p:spPr>
          <a:xfrm>
            <a:off x="4754880" y="1673352"/>
            <a:ext cx="18744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BAA"/>
              </a:buClr>
              <a:buSzPts val="900"/>
              <a:buFont typeface="Calibri"/>
              <a:buNone/>
            </a:pPr>
            <a:r>
              <a:rPr i="1" lang="en-US" sz="900">
                <a:solidFill>
                  <a:srgbClr val="8A9BAA"/>
                </a:solidFill>
                <a:latin typeface="Calibri"/>
                <a:ea typeface="Calibri"/>
                <a:cs typeface="Calibri"/>
                <a:sym typeface="Calibri"/>
              </a:rPr>
              <a:t>Model boundary not breached</a:t>
            </a:r>
            <a:endParaRPr sz="900">
              <a:solidFill>
                <a:schemeClr val="dk1"/>
              </a:solidFill>
              <a:latin typeface="Calibri"/>
              <a:ea typeface="Calibri"/>
              <a:cs typeface="Calibri"/>
              <a:sym typeface="Calibri"/>
            </a:endParaRPr>
          </a:p>
        </p:txBody>
      </p:sp>
      <p:sp>
        <p:nvSpPr>
          <p:cNvPr id="571" name="Google Shape;571;p18"/>
          <p:cNvSpPr/>
          <p:nvPr/>
        </p:nvSpPr>
        <p:spPr>
          <a:xfrm>
            <a:off x="6876288" y="868680"/>
            <a:ext cx="2057400" cy="1051500"/>
          </a:xfrm>
          <a:prstGeom prst="rect">
            <a:avLst/>
          </a:prstGeom>
          <a:solidFill>
            <a:srgbClr val="FFFFFF"/>
          </a:solidFill>
          <a:ln cap="flat" cmpd="sng" w="12700">
            <a:solidFill>
              <a:srgbClr val="2A7A4A"/>
            </a:solidFill>
            <a:prstDash val="solid"/>
            <a:round/>
            <a:headEnd len="sm" w="sm" type="none"/>
            <a:tailEnd len="sm" w="sm" type="none"/>
          </a:ln>
          <a:effectLst>
            <a:outerShdw blurRad="76200" rotWithShape="0" algn="bl" dir="8100000" dist="25400">
              <a:srgbClr val="000000">
                <a:alpha val="180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18"/>
          <p:cNvSpPr/>
          <p:nvPr/>
        </p:nvSpPr>
        <p:spPr>
          <a:xfrm>
            <a:off x="6876288" y="868680"/>
            <a:ext cx="2057400" cy="54900"/>
          </a:xfrm>
          <a:prstGeom prst="rect">
            <a:avLst/>
          </a:prstGeom>
          <a:solidFill>
            <a:srgbClr val="2A7A4A"/>
          </a:solidFill>
          <a:ln cap="flat" cmpd="sng" w="12700">
            <a:solidFill>
              <a:srgbClr val="2A7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18"/>
          <p:cNvSpPr/>
          <p:nvPr/>
        </p:nvSpPr>
        <p:spPr>
          <a:xfrm>
            <a:off x="6967728" y="960120"/>
            <a:ext cx="18744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A7A4A"/>
              </a:buClr>
              <a:buSzPts val="2200"/>
              <a:buFont typeface="Georgia"/>
              <a:buNone/>
            </a:pPr>
            <a:r>
              <a:rPr b="1" lang="en-US" sz="2200">
                <a:solidFill>
                  <a:srgbClr val="2A7A4A"/>
                </a:solidFill>
                <a:latin typeface="Georgia"/>
                <a:ea typeface="Georgia"/>
                <a:cs typeface="Georgia"/>
                <a:sym typeface="Georgia"/>
              </a:rPr>
              <a:t>FAILED</a:t>
            </a:r>
            <a:endParaRPr sz="2200">
              <a:solidFill>
                <a:schemeClr val="dk1"/>
              </a:solidFill>
              <a:latin typeface="Calibri"/>
              <a:ea typeface="Calibri"/>
              <a:cs typeface="Calibri"/>
              <a:sym typeface="Calibri"/>
            </a:endParaRPr>
          </a:p>
        </p:txBody>
      </p:sp>
      <p:sp>
        <p:nvSpPr>
          <p:cNvPr id="574" name="Google Shape;574;p18"/>
          <p:cNvSpPr/>
          <p:nvPr/>
        </p:nvSpPr>
        <p:spPr>
          <a:xfrm>
            <a:off x="6967728" y="1417320"/>
            <a:ext cx="1874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950"/>
              <a:buFont typeface="Calibri"/>
              <a:buNone/>
            </a:pPr>
            <a:r>
              <a:rPr b="1" lang="en-US" sz="950">
                <a:solidFill>
                  <a:srgbClr val="1C2B3A"/>
                </a:solidFill>
                <a:latin typeface="Calibri"/>
                <a:ea typeface="Calibri"/>
                <a:cs typeface="Calibri"/>
                <a:sym typeface="Calibri"/>
              </a:rPr>
              <a:t>Boundary Attack</a:t>
            </a:r>
            <a:endParaRPr sz="950">
              <a:solidFill>
                <a:schemeClr val="dk1"/>
              </a:solidFill>
              <a:latin typeface="Calibri"/>
              <a:ea typeface="Calibri"/>
              <a:cs typeface="Calibri"/>
              <a:sym typeface="Calibri"/>
            </a:endParaRPr>
          </a:p>
        </p:txBody>
      </p:sp>
      <p:sp>
        <p:nvSpPr>
          <p:cNvPr id="575" name="Google Shape;575;p18"/>
          <p:cNvSpPr/>
          <p:nvPr/>
        </p:nvSpPr>
        <p:spPr>
          <a:xfrm>
            <a:off x="6967728" y="1673352"/>
            <a:ext cx="18744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BAA"/>
              </a:buClr>
              <a:buSzPts val="900"/>
              <a:buFont typeface="Calibri"/>
              <a:buNone/>
            </a:pPr>
            <a:r>
              <a:rPr i="1" lang="en-US" sz="900">
                <a:solidFill>
                  <a:srgbClr val="8A9BAA"/>
                </a:solidFill>
                <a:latin typeface="Calibri"/>
                <a:ea typeface="Calibri"/>
                <a:cs typeface="Calibri"/>
                <a:sym typeface="Calibri"/>
              </a:rPr>
              <a:t>Absolute boundary rigidity</a:t>
            </a:r>
            <a:endParaRPr sz="900">
              <a:solidFill>
                <a:schemeClr val="dk1"/>
              </a:solidFill>
              <a:latin typeface="Calibri"/>
              <a:ea typeface="Calibri"/>
              <a:cs typeface="Calibri"/>
              <a:sym typeface="Calibri"/>
            </a:endParaRPr>
          </a:p>
        </p:txBody>
      </p:sp>
      <p:sp>
        <p:nvSpPr>
          <p:cNvPr id="576" name="Google Shape;576;p18"/>
          <p:cNvSpPr/>
          <p:nvPr/>
        </p:nvSpPr>
        <p:spPr>
          <a:xfrm>
            <a:off x="4663440" y="2039112"/>
            <a:ext cx="2057400" cy="1051500"/>
          </a:xfrm>
          <a:prstGeom prst="rect">
            <a:avLst/>
          </a:prstGeom>
          <a:solidFill>
            <a:srgbClr val="FFFFFF"/>
          </a:solidFill>
          <a:ln cap="flat" cmpd="sng" w="12700">
            <a:solidFill>
              <a:srgbClr val="2A7A4A"/>
            </a:solidFill>
            <a:prstDash val="solid"/>
            <a:round/>
            <a:headEnd len="sm" w="sm" type="none"/>
            <a:tailEnd len="sm" w="sm" type="none"/>
          </a:ln>
          <a:effectLst>
            <a:outerShdw blurRad="76200" rotWithShape="0" algn="bl" dir="8100000" dist="25400">
              <a:srgbClr val="000000">
                <a:alpha val="180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18"/>
          <p:cNvSpPr/>
          <p:nvPr/>
        </p:nvSpPr>
        <p:spPr>
          <a:xfrm>
            <a:off x="4663440" y="2039112"/>
            <a:ext cx="2057400" cy="54900"/>
          </a:xfrm>
          <a:prstGeom prst="rect">
            <a:avLst/>
          </a:prstGeom>
          <a:solidFill>
            <a:srgbClr val="2A7A4A"/>
          </a:solidFill>
          <a:ln cap="flat" cmpd="sng" w="12700">
            <a:solidFill>
              <a:srgbClr val="2A7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18"/>
          <p:cNvSpPr/>
          <p:nvPr/>
        </p:nvSpPr>
        <p:spPr>
          <a:xfrm>
            <a:off x="4754880" y="2130552"/>
            <a:ext cx="18744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A7A4A"/>
              </a:buClr>
              <a:buSzPts val="2200"/>
              <a:buFont typeface="Georgia"/>
              <a:buNone/>
            </a:pPr>
            <a:r>
              <a:rPr b="1" lang="en-US" sz="2200">
                <a:solidFill>
                  <a:srgbClr val="2A7A4A"/>
                </a:solidFill>
                <a:latin typeface="Georgia"/>
                <a:ea typeface="Georgia"/>
                <a:cs typeface="Georgia"/>
                <a:sym typeface="Georgia"/>
              </a:rPr>
              <a:t>0.0000</a:t>
            </a:r>
            <a:endParaRPr sz="2200">
              <a:solidFill>
                <a:schemeClr val="dk1"/>
              </a:solidFill>
              <a:latin typeface="Calibri"/>
              <a:ea typeface="Calibri"/>
              <a:cs typeface="Calibri"/>
              <a:sym typeface="Calibri"/>
            </a:endParaRPr>
          </a:p>
        </p:txBody>
      </p:sp>
      <p:sp>
        <p:nvSpPr>
          <p:cNvPr id="579" name="Google Shape;579;p18"/>
          <p:cNvSpPr/>
          <p:nvPr/>
        </p:nvSpPr>
        <p:spPr>
          <a:xfrm>
            <a:off x="4754880" y="2587752"/>
            <a:ext cx="1874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950"/>
              <a:buFont typeface="Calibri"/>
              <a:buNone/>
            </a:pPr>
            <a:r>
              <a:rPr b="1" lang="en-US" sz="950">
                <a:solidFill>
                  <a:srgbClr val="1C2B3A"/>
                </a:solidFill>
                <a:latin typeface="Calibri"/>
                <a:ea typeface="Calibri"/>
                <a:cs typeface="Calibri"/>
                <a:sym typeface="Calibri"/>
              </a:rPr>
              <a:t>Privacy Leakage Score</a:t>
            </a:r>
            <a:endParaRPr sz="950">
              <a:solidFill>
                <a:schemeClr val="dk1"/>
              </a:solidFill>
              <a:latin typeface="Calibri"/>
              <a:ea typeface="Calibri"/>
              <a:cs typeface="Calibri"/>
              <a:sym typeface="Calibri"/>
            </a:endParaRPr>
          </a:p>
        </p:txBody>
      </p:sp>
      <p:sp>
        <p:nvSpPr>
          <p:cNvPr id="580" name="Google Shape;580;p18"/>
          <p:cNvSpPr/>
          <p:nvPr/>
        </p:nvSpPr>
        <p:spPr>
          <a:xfrm>
            <a:off x="4754880" y="2843784"/>
            <a:ext cx="18744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BAA"/>
              </a:buClr>
              <a:buSzPts val="900"/>
              <a:buFont typeface="Calibri"/>
              <a:buNone/>
            </a:pPr>
            <a:r>
              <a:rPr i="1" lang="en-US" sz="900">
                <a:solidFill>
                  <a:srgbClr val="8A9BAA"/>
                </a:solidFill>
                <a:latin typeface="Calibri"/>
                <a:ea typeface="Calibri"/>
                <a:cs typeface="Calibri"/>
                <a:sym typeface="Calibri"/>
              </a:rPr>
              <a:t>No systemic memorisation</a:t>
            </a:r>
            <a:endParaRPr sz="900">
              <a:solidFill>
                <a:schemeClr val="dk1"/>
              </a:solidFill>
              <a:latin typeface="Calibri"/>
              <a:ea typeface="Calibri"/>
              <a:cs typeface="Calibri"/>
              <a:sym typeface="Calibri"/>
            </a:endParaRPr>
          </a:p>
        </p:txBody>
      </p:sp>
      <p:sp>
        <p:nvSpPr>
          <p:cNvPr id="581" name="Google Shape;581;p18"/>
          <p:cNvSpPr/>
          <p:nvPr/>
        </p:nvSpPr>
        <p:spPr>
          <a:xfrm>
            <a:off x="6876288" y="2039112"/>
            <a:ext cx="2057400" cy="1051500"/>
          </a:xfrm>
          <a:prstGeom prst="rect">
            <a:avLst/>
          </a:prstGeom>
          <a:solidFill>
            <a:srgbClr val="FFFFFF"/>
          </a:solidFill>
          <a:ln cap="flat" cmpd="sng" w="25400">
            <a:solidFill>
              <a:srgbClr val="E05C3A"/>
            </a:solidFill>
            <a:prstDash val="solid"/>
            <a:round/>
            <a:headEnd len="sm" w="sm" type="none"/>
            <a:tailEnd len="sm" w="sm" type="none"/>
          </a:ln>
          <a:effectLst>
            <a:outerShdw blurRad="76200" rotWithShape="0" algn="bl" dir="8100000" dist="25400">
              <a:srgbClr val="000000">
                <a:alpha val="180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2" name="Google Shape;582;p18"/>
          <p:cNvSpPr/>
          <p:nvPr/>
        </p:nvSpPr>
        <p:spPr>
          <a:xfrm>
            <a:off x="6876288" y="2039112"/>
            <a:ext cx="2057400" cy="549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18"/>
          <p:cNvSpPr/>
          <p:nvPr/>
        </p:nvSpPr>
        <p:spPr>
          <a:xfrm>
            <a:off x="6967728" y="2130552"/>
            <a:ext cx="1874400" cy="438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5C3A"/>
              </a:buClr>
              <a:buSzPts val="1600"/>
              <a:buFont typeface="Georgia"/>
              <a:buNone/>
            </a:pPr>
            <a:r>
              <a:rPr b="1" lang="en-US" sz="1600">
                <a:solidFill>
                  <a:srgbClr val="E05C3A"/>
                </a:solidFill>
                <a:latin typeface="Georgia"/>
                <a:ea typeface="Georgia"/>
                <a:cs typeface="Georgia"/>
                <a:sym typeface="Georgia"/>
              </a:rPr>
              <a:t>EXPOSED</a:t>
            </a:r>
            <a:endParaRPr sz="1600">
              <a:solidFill>
                <a:schemeClr val="dk1"/>
              </a:solidFill>
              <a:latin typeface="Calibri"/>
              <a:ea typeface="Calibri"/>
              <a:cs typeface="Calibri"/>
              <a:sym typeface="Calibri"/>
            </a:endParaRPr>
          </a:p>
        </p:txBody>
      </p:sp>
      <p:sp>
        <p:nvSpPr>
          <p:cNvPr id="584" name="Google Shape;584;p18"/>
          <p:cNvSpPr/>
          <p:nvPr/>
        </p:nvSpPr>
        <p:spPr>
          <a:xfrm>
            <a:off x="6967728" y="2587752"/>
            <a:ext cx="1874400" cy="255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C2B3A"/>
              </a:buClr>
              <a:buSzPts val="950"/>
              <a:buFont typeface="Calibri"/>
              <a:buNone/>
            </a:pPr>
            <a:r>
              <a:rPr b="1" lang="en-US" sz="950">
                <a:solidFill>
                  <a:srgbClr val="1C2B3A"/>
                </a:solidFill>
                <a:latin typeface="Calibri"/>
                <a:ea typeface="Calibri"/>
                <a:cs typeface="Calibri"/>
                <a:sym typeface="Calibri"/>
              </a:rPr>
              <a:t>Outlier Vulnerability</a:t>
            </a:r>
            <a:endParaRPr sz="950">
              <a:solidFill>
                <a:schemeClr val="dk1"/>
              </a:solidFill>
              <a:latin typeface="Calibri"/>
              <a:ea typeface="Calibri"/>
              <a:cs typeface="Calibri"/>
              <a:sym typeface="Calibri"/>
            </a:endParaRPr>
          </a:p>
        </p:txBody>
      </p:sp>
      <p:sp>
        <p:nvSpPr>
          <p:cNvPr id="585" name="Google Shape;585;p18"/>
          <p:cNvSpPr/>
          <p:nvPr/>
        </p:nvSpPr>
        <p:spPr>
          <a:xfrm>
            <a:off x="6967728" y="2843784"/>
            <a:ext cx="1874400" cy="201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8A9BAA"/>
              </a:buClr>
              <a:buSzPts val="900"/>
              <a:buFont typeface="Calibri"/>
              <a:buNone/>
            </a:pPr>
            <a:r>
              <a:rPr i="1" lang="en-US" sz="900">
                <a:solidFill>
                  <a:srgbClr val="8A9BAA"/>
                </a:solidFill>
                <a:latin typeface="Calibri"/>
                <a:ea typeface="Calibri"/>
                <a:cs typeface="Calibri"/>
                <a:sym typeface="Calibri"/>
              </a:rPr>
              <a:t>Attribute inference not audited</a:t>
            </a:r>
            <a:endParaRPr sz="900">
              <a:solidFill>
                <a:schemeClr val="dk1"/>
              </a:solidFill>
              <a:latin typeface="Calibri"/>
              <a:ea typeface="Calibri"/>
              <a:cs typeface="Calibri"/>
              <a:sym typeface="Calibri"/>
            </a:endParaRPr>
          </a:p>
        </p:txBody>
      </p:sp>
      <p:sp>
        <p:nvSpPr>
          <p:cNvPr id="586" name="Google Shape;586;p18"/>
          <p:cNvSpPr/>
          <p:nvPr/>
        </p:nvSpPr>
        <p:spPr>
          <a:xfrm>
            <a:off x="4617720" y="3246120"/>
            <a:ext cx="4370700" cy="3474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18"/>
          <p:cNvSpPr/>
          <p:nvPr/>
        </p:nvSpPr>
        <p:spPr>
          <a:xfrm>
            <a:off x="4663440" y="3246120"/>
            <a:ext cx="42795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DiCE Counterfactual  ·  Recourse Table</a:t>
            </a:r>
            <a:endParaRPr sz="1100">
              <a:solidFill>
                <a:schemeClr val="dk1"/>
              </a:solidFill>
              <a:latin typeface="Calibri"/>
              <a:ea typeface="Calibri"/>
              <a:cs typeface="Calibri"/>
              <a:sym typeface="Calibri"/>
            </a:endParaRPr>
          </a:p>
        </p:txBody>
      </p:sp>
      <p:sp>
        <p:nvSpPr>
          <p:cNvPr id="588" name="Google Shape;588;p18"/>
          <p:cNvSpPr/>
          <p:nvPr/>
        </p:nvSpPr>
        <p:spPr>
          <a:xfrm>
            <a:off x="4617720" y="3593592"/>
            <a:ext cx="1326000" cy="310800"/>
          </a:xfrm>
          <a:prstGeom prst="rect">
            <a:avLst/>
          </a:prstGeom>
          <a:solidFill>
            <a:srgbClr val="2A3F52"/>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9" name="Google Shape;589;p18"/>
          <p:cNvSpPr/>
          <p:nvPr/>
        </p:nvSpPr>
        <p:spPr>
          <a:xfrm>
            <a:off x="4663440" y="3593592"/>
            <a:ext cx="12528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Feature</a:t>
            </a:r>
            <a:endParaRPr sz="950">
              <a:solidFill>
                <a:schemeClr val="dk1"/>
              </a:solidFill>
              <a:latin typeface="Calibri"/>
              <a:ea typeface="Calibri"/>
              <a:cs typeface="Calibri"/>
              <a:sym typeface="Calibri"/>
            </a:endParaRPr>
          </a:p>
        </p:txBody>
      </p:sp>
      <p:sp>
        <p:nvSpPr>
          <p:cNvPr id="590" name="Google Shape;590;p18"/>
          <p:cNvSpPr/>
          <p:nvPr/>
        </p:nvSpPr>
        <p:spPr>
          <a:xfrm>
            <a:off x="5943600" y="3593592"/>
            <a:ext cx="777300" cy="310800"/>
          </a:xfrm>
          <a:prstGeom prst="rect">
            <a:avLst/>
          </a:prstGeom>
          <a:solidFill>
            <a:srgbClr val="2A3F52"/>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18"/>
          <p:cNvSpPr/>
          <p:nvPr/>
        </p:nvSpPr>
        <p:spPr>
          <a:xfrm>
            <a:off x="5989320" y="3593592"/>
            <a:ext cx="7041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Original</a:t>
            </a:r>
            <a:endParaRPr sz="950">
              <a:solidFill>
                <a:schemeClr val="dk1"/>
              </a:solidFill>
              <a:latin typeface="Calibri"/>
              <a:ea typeface="Calibri"/>
              <a:cs typeface="Calibri"/>
              <a:sym typeface="Calibri"/>
            </a:endParaRPr>
          </a:p>
        </p:txBody>
      </p:sp>
      <p:sp>
        <p:nvSpPr>
          <p:cNvPr id="592" name="Google Shape;592;p18"/>
          <p:cNvSpPr/>
          <p:nvPr/>
        </p:nvSpPr>
        <p:spPr>
          <a:xfrm>
            <a:off x="6720840" y="3593592"/>
            <a:ext cx="1097400" cy="310800"/>
          </a:xfrm>
          <a:prstGeom prst="rect">
            <a:avLst/>
          </a:prstGeom>
          <a:solidFill>
            <a:srgbClr val="2A3F52"/>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18"/>
          <p:cNvSpPr/>
          <p:nvPr/>
        </p:nvSpPr>
        <p:spPr>
          <a:xfrm>
            <a:off x="6766560" y="3593592"/>
            <a:ext cx="10242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Suggested</a:t>
            </a:r>
            <a:endParaRPr sz="950">
              <a:solidFill>
                <a:schemeClr val="dk1"/>
              </a:solidFill>
              <a:latin typeface="Calibri"/>
              <a:ea typeface="Calibri"/>
              <a:cs typeface="Calibri"/>
              <a:sym typeface="Calibri"/>
            </a:endParaRPr>
          </a:p>
        </p:txBody>
      </p:sp>
      <p:sp>
        <p:nvSpPr>
          <p:cNvPr id="594" name="Google Shape;594;p18"/>
          <p:cNvSpPr/>
          <p:nvPr/>
        </p:nvSpPr>
        <p:spPr>
          <a:xfrm>
            <a:off x="7818120" y="3593592"/>
            <a:ext cx="1079100" cy="310800"/>
          </a:xfrm>
          <a:prstGeom prst="rect">
            <a:avLst/>
          </a:prstGeom>
          <a:solidFill>
            <a:srgbClr val="2A3F52"/>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18"/>
          <p:cNvSpPr/>
          <p:nvPr/>
        </p:nvSpPr>
        <p:spPr>
          <a:xfrm>
            <a:off x="7863840" y="3593592"/>
            <a:ext cx="10059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Feasible?</a:t>
            </a:r>
            <a:endParaRPr sz="950">
              <a:solidFill>
                <a:schemeClr val="dk1"/>
              </a:solidFill>
              <a:latin typeface="Calibri"/>
              <a:ea typeface="Calibri"/>
              <a:cs typeface="Calibri"/>
              <a:sym typeface="Calibri"/>
            </a:endParaRPr>
          </a:p>
        </p:txBody>
      </p:sp>
      <p:sp>
        <p:nvSpPr>
          <p:cNvPr id="596" name="Google Shape;596;p18"/>
          <p:cNvSpPr/>
          <p:nvPr/>
        </p:nvSpPr>
        <p:spPr>
          <a:xfrm>
            <a:off x="4617720" y="3904488"/>
            <a:ext cx="1326000" cy="3108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18"/>
          <p:cNvSpPr/>
          <p:nvPr/>
        </p:nvSpPr>
        <p:spPr>
          <a:xfrm>
            <a:off x="4663440" y="3904488"/>
            <a:ext cx="12528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credit_score</a:t>
            </a:r>
            <a:endParaRPr sz="950">
              <a:solidFill>
                <a:schemeClr val="dk1"/>
              </a:solidFill>
              <a:latin typeface="Calibri"/>
              <a:ea typeface="Calibri"/>
              <a:cs typeface="Calibri"/>
              <a:sym typeface="Calibri"/>
            </a:endParaRPr>
          </a:p>
        </p:txBody>
      </p:sp>
      <p:sp>
        <p:nvSpPr>
          <p:cNvPr id="598" name="Google Shape;598;p18"/>
          <p:cNvSpPr/>
          <p:nvPr/>
        </p:nvSpPr>
        <p:spPr>
          <a:xfrm>
            <a:off x="5943600" y="3904488"/>
            <a:ext cx="777300" cy="3108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18"/>
          <p:cNvSpPr/>
          <p:nvPr/>
        </p:nvSpPr>
        <p:spPr>
          <a:xfrm>
            <a:off x="5989320" y="3904488"/>
            <a:ext cx="7041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620</a:t>
            </a:r>
            <a:endParaRPr sz="950">
              <a:solidFill>
                <a:schemeClr val="dk1"/>
              </a:solidFill>
              <a:latin typeface="Calibri"/>
              <a:ea typeface="Calibri"/>
              <a:cs typeface="Calibri"/>
              <a:sym typeface="Calibri"/>
            </a:endParaRPr>
          </a:p>
        </p:txBody>
      </p:sp>
      <p:sp>
        <p:nvSpPr>
          <p:cNvPr id="600" name="Google Shape;600;p18"/>
          <p:cNvSpPr/>
          <p:nvPr/>
        </p:nvSpPr>
        <p:spPr>
          <a:xfrm>
            <a:off x="6720840" y="3904488"/>
            <a:ext cx="1097400" cy="3108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18"/>
          <p:cNvSpPr/>
          <p:nvPr/>
        </p:nvSpPr>
        <p:spPr>
          <a:xfrm>
            <a:off x="6766560" y="3904488"/>
            <a:ext cx="10242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950"/>
              <a:buFont typeface="Calibri"/>
              <a:buNone/>
            </a:pPr>
            <a:r>
              <a:rPr b="1" lang="en-US" sz="950">
                <a:solidFill>
                  <a:srgbClr val="E05C3A"/>
                </a:solidFill>
                <a:latin typeface="Calibri"/>
                <a:ea typeface="Calibri"/>
                <a:cs typeface="Calibri"/>
                <a:sym typeface="Calibri"/>
              </a:rPr>
              <a:t>&gt;1,028</a:t>
            </a:r>
            <a:endParaRPr sz="950">
              <a:solidFill>
                <a:schemeClr val="dk1"/>
              </a:solidFill>
              <a:latin typeface="Calibri"/>
              <a:ea typeface="Calibri"/>
              <a:cs typeface="Calibri"/>
              <a:sym typeface="Calibri"/>
            </a:endParaRPr>
          </a:p>
        </p:txBody>
      </p:sp>
      <p:sp>
        <p:nvSpPr>
          <p:cNvPr id="602" name="Google Shape;602;p18"/>
          <p:cNvSpPr/>
          <p:nvPr/>
        </p:nvSpPr>
        <p:spPr>
          <a:xfrm>
            <a:off x="7818120" y="3904488"/>
            <a:ext cx="1079100" cy="3108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18"/>
          <p:cNvSpPr/>
          <p:nvPr/>
        </p:nvSpPr>
        <p:spPr>
          <a:xfrm>
            <a:off x="7863840" y="3904488"/>
            <a:ext cx="10059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950"/>
              <a:buFont typeface="Calibri"/>
              <a:buNone/>
            </a:pPr>
            <a:r>
              <a:rPr b="1" lang="en-US" sz="950">
                <a:solidFill>
                  <a:srgbClr val="E05C3A"/>
                </a:solidFill>
                <a:latin typeface="Calibri"/>
                <a:ea typeface="Calibri"/>
                <a:cs typeface="Calibri"/>
                <a:sym typeface="Calibri"/>
              </a:rPr>
              <a:t>✗  No</a:t>
            </a:r>
            <a:endParaRPr sz="950">
              <a:solidFill>
                <a:schemeClr val="dk1"/>
              </a:solidFill>
              <a:latin typeface="Calibri"/>
              <a:ea typeface="Calibri"/>
              <a:cs typeface="Calibri"/>
              <a:sym typeface="Calibri"/>
            </a:endParaRPr>
          </a:p>
        </p:txBody>
      </p:sp>
      <p:sp>
        <p:nvSpPr>
          <p:cNvPr id="604" name="Google Shape;604;p18"/>
          <p:cNvSpPr/>
          <p:nvPr/>
        </p:nvSpPr>
        <p:spPr>
          <a:xfrm>
            <a:off x="4617720" y="4215384"/>
            <a:ext cx="1326000" cy="3108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18"/>
          <p:cNvSpPr/>
          <p:nvPr/>
        </p:nvSpPr>
        <p:spPr>
          <a:xfrm>
            <a:off x="4663440" y="4215384"/>
            <a:ext cx="12528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relative_income</a:t>
            </a:r>
            <a:endParaRPr sz="950">
              <a:solidFill>
                <a:schemeClr val="dk1"/>
              </a:solidFill>
              <a:latin typeface="Calibri"/>
              <a:ea typeface="Calibri"/>
              <a:cs typeface="Calibri"/>
              <a:sym typeface="Calibri"/>
            </a:endParaRPr>
          </a:p>
        </p:txBody>
      </p:sp>
      <p:sp>
        <p:nvSpPr>
          <p:cNvPr id="606" name="Google Shape;606;p18"/>
          <p:cNvSpPr/>
          <p:nvPr/>
        </p:nvSpPr>
        <p:spPr>
          <a:xfrm>
            <a:off x="5943600" y="4215384"/>
            <a:ext cx="777300" cy="3108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18"/>
          <p:cNvSpPr/>
          <p:nvPr/>
        </p:nvSpPr>
        <p:spPr>
          <a:xfrm>
            <a:off x="5989320" y="4215384"/>
            <a:ext cx="7041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0.24</a:t>
            </a:r>
            <a:endParaRPr sz="950">
              <a:solidFill>
                <a:schemeClr val="dk1"/>
              </a:solidFill>
              <a:latin typeface="Calibri"/>
              <a:ea typeface="Calibri"/>
              <a:cs typeface="Calibri"/>
              <a:sym typeface="Calibri"/>
            </a:endParaRPr>
          </a:p>
        </p:txBody>
      </p:sp>
      <p:sp>
        <p:nvSpPr>
          <p:cNvPr id="608" name="Google Shape;608;p18"/>
          <p:cNvSpPr/>
          <p:nvPr/>
        </p:nvSpPr>
        <p:spPr>
          <a:xfrm>
            <a:off x="6720840" y="4215384"/>
            <a:ext cx="1097400" cy="3108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18"/>
          <p:cNvSpPr/>
          <p:nvPr/>
        </p:nvSpPr>
        <p:spPr>
          <a:xfrm>
            <a:off x="6766560" y="4215384"/>
            <a:ext cx="10242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950"/>
              <a:buFont typeface="Calibri"/>
              <a:buNone/>
            </a:pPr>
            <a:r>
              <a:rPr b="1" lang="en-US" sz="950">
                <a:solidFill>
                  <a:srgbClr val="E05C3A"/>
                </a:solidFill>
                <a:latin typeface="Calibri"/>
                <a:ea typeface="Calibri"/>
                <a:cs typeface="Calibri"/>
                <a:sym typeface="Calibri"/>
              </a:rPr>
              <a:t>14.3×</a:t>
            </a:r>
            <a:endParaRPr sz="950">
              <a:solidFill>
                <a:schemeClr val="dk1"/>
              </a:solidFill>
              <a:latin typeface="Calibri"/>
              <a:ea typeface="Calibri"/>
              <a:cs typeface="Calibri"/>
              <a:sym typeface="Calibri"/>
            </a:endParaRPr>
          </a:p>
        </p:txBody>
      </p:sp>
      <p:sp>
        <p:nvSpPr>
          <p:cNvPr id="610" name="Google Shape;610;p18"/>
          <p:cNvSpPr/>
          <p:nvPr/>
        </p:nvSpPr>
        <p:spPr>
          <a:xfrm>
            <a:off x="7818120" y="4215384"/>
            <a:ext cx="1079100" cy="310800"/>
          </a:xfrm>
          <a:prstGeom prst="rect">
            <a:avLst/>
          </a:prstGeom>
          <a:solidFill>
            <a:srgbClr val="F5F4E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18"/>
          <p:cNvSpPr/>
          <p:nvPr/>
        </p:nvSpPr>
        <p:spPr>
          <a:xfrm>
            <a:off x="7863840" y="4215384"/>
            <a:ext cx="10059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950"/>
              <a:buFont typeface="Calibri"/>
              <a:buNone/>
            </a:pPr>
            <a:r>
              <a:rPr b="1" lang="en-US" sz="950">
                <a:solidFill>
                  <a:srgbClr val="E05C3A"/>
                </a:solidFill>
                <a:latin typeface="Calibri"/>
                <a:ea typeface="Calibri"/>
                <a:cs typeface="Calibri"/>
                <a:sym typeface="Calibri"/>
              </a:rPr>
              <a:t>✗  No</a:t>
            </a:r>
            <a:endParaRPr sz="950">
              <a:solidFill>
                <a:schemeClr val="dk1"/>
              </a:solidFill>
              <a:latin typeface="Calibri"/>
              <a:ea typeface="Calibri"/>
              <a:cs typeface="Calibri"/>
              <a:sym typeface="Calibri"/>
            </a:endParaRPr>
          </a:p>
        </p:txBody>
      </p:sp>
      <p:sp>
        <p:nvSpPr>
          <p:cNvPr id="612" name="Google Shape;612;p18"/>
          <p:cNvSpPr/>
          <p:nvPr/>
        </p:nvSpPr>
        <p:spPr>
          <a:xfrm>
            <a:off x="4617720" y="4526280"/>
            <a:ext cx="1326000" cy="3108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18"/>
          <p:cNvSpPr/>
          <p:nvPr/>
        </p:nvSpPr>
        <p:spPr>
          <a:xfrm>
            <a:off x="4663440" y="4526280"/>
            <a:ext cx="12528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loan_purpose</a:t>
            </a:r>
            <a:endParaRPr sz="950">
              <a:solidFill>
                <a:schemeClr val="dk1"/>
              </a:solidFill>
              <a:latin typeface="Calibri"/>
              <a:ea typeface="Calibri"/>
              <a:cs typeface="Calibri"/>
              <a:sym typeface="Calibri"/>
            </a:endParaRPr>
          </a:p>
        </p:txBody>
      </p:sp>
      <p:sp>
        <p:nvSpPr>
          <p:cNvPr id="614" name="Google Shape;614;p18"/>
          <p:cNvSpPr/>
          <p:nvPr/>
        </p:nvSpPr>
        <p:spPr>
          <a:xfrm>
            <a:off x="5943600" y="4526280"/>
            <a:ext cx="777300" cy="3108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5" name="Google Shape;615;p18"/>
          <p:cNvSpPr/>
          <p:nvPr/>
        </p:nvSpPr>
        <p:spPr>
          <a:xfrm>
            <a:off x="5989320" y="4526280"/>
            <a:ext cx="7041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950"/>
              <a:buFont typeface="Calibri"/>
              <a:buNone/>
            </a:pPr>
            <a:r>
              <a:rPr lang="en-US" sz="950">
                <a:solidFill>
                  <a:srgbClr val="1C2B3A"/>
                </a:solidFill>
                <a:latin typeface="Calibri"/>
                <a:ea typeface="Calibri"/>
                <a:cs typeface="Calibri"/>
                <a:sym typeface="Calibri"/>
              </a:rPr>
              <a:t>refinance</a:t>
            </a:r>
            <a:endParaRPr sz="950">
              <a:solidFill>
                <a:schemeClr val="dk1"/>
              </a:solidFill>
              <a:latin typeface="Calibri"/>
              <a:ea typeface="Calibri"/>
              <a:cs typeface="Calibri"/>
              <a:sym typeface="Calibri"/>
            </a:endParaRPr>
          </a:p>
        </p:txBody>
      </p:sp>
      <p:sp>
        <p:nvSpPr>
          <p:cNvPr id="616" name="Google Shape;616;p18"/>
          <p:cNvSpPr/>
          <p:nvPr/>
        </p:nvSpPr>
        <p:spPr>
          <a:xfrm>
            <a:off x="6720840" y="4526280"/>
            <a:ext cx="1097400" cy="3108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18"/>
          <p:cNvSpPr/>
          <p:nvPr/>
        </p:nvSpPr>
        <p:spPr>
          <a:xfrm>
            <a:off x="6766560" y="4526280"/>
            <a:ext cx="10242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950"/>
              <a:buFont typeface="Calibri"/>
              <a:buNone/>
            </a:pPr>
            <a:r>
              <a:rPr b="1" lang="en-US" sz="950">
                <a:solidFill>
                  <a:srgbClr val="E05C3A"/>
                </a:solidFill>
                <a:latin typeface="Calibri"/>
                <a:ea typeface="Calibri"/>
                <a:cs typeface="Calibri"/>
                <a:sym typeface="Calibri"/>
              </a:rPr>
              <a:t>home_improv.</a:t>
            </a:r>
            <a:endParaRPr sz="950">
              <a:solidFill>
                <a:schemeClr val="dk1"/>
              </a:solidFill>
              <a:latin typeface="Calibri"/>
              <a:ea typeface="Calibri"/>
              <a:cs typeface="Calibri"/>
              <a:sym typeface="Calibri"/>
            </a:endParaRPr>
          </a:p>
        </p:txBody>
      </p:sp>
      <p:sp>
        <p:nvSpPr>
          <p:cNvPr id="618" name="Google Shape;618;p18"/>
          <p:cNvSpPr/>
          <p:nvPr/>
        </p:nvSpPr>
        <p:spPr>
          <a:xfrm>
            <a:off x="7818120" y="4526280"/>
            <a:ext cx="1079100" cy="310800"/>
          </a:xfrm>
          <a:prstGeom prst="rect">
            <a:avLst/>
          </a:prstGeom>
          <a:solidFill>
            <a:srgbClr val="FFFFFF"/>
          </a:solidFill>
          <a:ln cap="flat" cmpd="sng" w="9525">
            <a:solidFill>
              <a:srgbClr val="E8E6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18"/>
          <p:cNvSpPr/>
          <p:nvPr/>
        </p:nvSpPr>
        <p:spPr>
          <a:xfrm>
            <a:off x="7863840" y="4526280"/>
            <a:ext cx="1005900" cy="310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0A4"/>
              </a:buClr>
              <a:buSzPts val="950"/>
              <a:buFont typeface="Calibri"/>
              <a:buNone/>
            </a:pPr>
            <a:r>
              <a:rPr b="1" lang="en-US" sz="950">
                <a:solidFill>
                  <a:srgbClr val="4A90A4"/>
                </a:solidFill>
                <a:latin typeface="Calibri"/>
                <a:ea typeface="Calibri"/>
                <a:cs typeface="Calibri"/>
                <a:sym typeface="Calibri"/>
              </a:rPr>
              <a:t>~  Maybe</a:t>
            </a:r>
            <a:endParaRPr sz="950">
              <a:solidFill>
                <a:schemeClr val="dk1"/>
              </a:solidFill>
              <a:latin typeface="Calibri"/>
              <a:ea typeface="Calibri"/>
              <a:cs typeface="Calibri"/>
              <a:sym typeface="Calibri"/>
            </a:endParaRPr>
          </a:p>
        </p:txBody>
      </p:sp>
      <p:sp>
        <p:nvSpPr>
          <p:cNvPr id="620" name="Google Shape;620;p18"/>
          <p:cNvSpPr/>
          <p:nvPr/>
        </p:nvSpPr>
        <p:spPr>
          <a:xfrm>
            <a:off x="7315200" y="0"/>
            <a:ext cx="1828800" cy="3474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18"/>
          <p:cNvSpPr/>
          <p:nvPr/>
        </p:nvSpPr>
        <p:spPr>
          <a:xfrm>
            <a:off x="7315200" y="0"/>
            <a:ext cx="182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Calibri"/>
              <a:buNone/>
            </a:pPr>
            <a:r>
              <a:rPr b="1" lang="en-US" sz="950">
                <a:solidFill>
                  <a:srgbClr val="FFFFFF"/>
                </a:solidFill>
                <a:latin typeface="Calibri"/>
                <a:ea typeface="Calibri"/>
                <a:cs typeface="Calibri"/>
                <a:sym typeface="Calibri"/>
              </a:rPr>
              <a:t>SEVERITY: MED–HIGH</a:t>
            </a:r>
            <a:endParaRPr sz="95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EF"/>
        </a:solidFill>
      </p:bgPr>
    </p:bg>
    <p:spTree>
      <p:nvGrpSpPr>
        <p:cNvPr id="626" name="Shape 626"/>
        <p:cNvGrpSpPr/>
        <p:nvPr/>
      </p:nvGrpSpPr>
      <p:grpSpPr>
        <a:xfrm>
          <a:off x="0" y="0"/>
          <a:ext cx="0" cy="0"/>
          <a:chOff x="0" y="0"/>
          <a:chExt cx="0" cy="0"/>
        </a:xfrm>
      </p:grpSpPr>
      <p:sp>
        <p:nvSpPr>
          <p:cNvPr id="627" name="Google Shape;627;p19"/>
          <p:cNvSpPr/>
          <p:nvPr/>
        </p:nvSpPr>
        <p:spPr>
          <a:xfrm>
            <a:off x="0" y="0"/>
            <a:ext cx="9144000" cy="1234500"/>
          </a:xfrm>
          <a:prstGeom prst="rect">
            <a:avLst/>
          </a:prstGeom>
          <a:solidFill>
            <a:srgbClr val="1C2B3A"/>
          </a:solidFill>
          <a:ln cap="flat" cmpd="sng" w="12700">
            <a:solidFill>
              <a:srgbClr val="1C2B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19"/>
          <p:cNvSpPr/>
          <p:nvPr/>
        </p:nvSpPr>
        <p:spPr>
          <a:xfrm>
            <a:off x="320040" y="301527"/>
            <a:ext cx="7772400" cy="621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00"/>
              <a:buFont typeface="Georgia"/>
              <a:buNone/>
            </a:pPr>
            <a:r>
              <a:rPr b="1" lang="en-US" sz="2900">
                <a:solidFill>
                  <a:srgbClr val="FFFFFF"/>
                </a:solidFill>
                <a:latin typeface="Georgia"/>
                <a:ea typeface="Georgia"/>
                <a:cs typeface="Georgia"/>
                <a:sym typeface="Georgia"/>
              </a:rPr>
              <a:t>Q5: </a:t>
            </a:r>
            <a:r>
              <a:rPr b="1" lang="en-US" sz="2900">
                <a:solidFill>
                  <a:srgbClr val="FFFFFF"/>
                </a:solidFill>
                <a:latin typeface="Georgia"/>
                <a:ea typeface="Georgia"/>
                <a:cs typeface="Georgia"/>
                <a:sym typeface="Georgia"/>
              </a:rPr>
              <a:t>Is Deployment Defensible?</a:t>
            </a:r>
            <a:endParaRPr sz="2900">
              <a:solidFill>
                <a:schemeClr val="dk1"/>
              </a:solidFill>
              <a:latin typeface="Georgia"/>
              <a:ea typeface="Georgia"/>
              <a:cs typeface="Georgia"/>
              <a:sym typeface="Georgia"/>
            </a:endParaRPr>
          </a:p>
        </p:txBody>
      </p:sp>
      <p:sp>
        <p:nvSpPr>
          <p:cNvPr id="629" name="Google Shape;629;p19"/>
          <p:cNvSpPr/>
          <p:nvPr/>
        </p:nvSpPr>
        <p:spPr>
          <a:xfrm>
            <a:off x="0" y="1188720"/>
            <a:ext cx="9144000" cy="45600"/>
          </a:xfrm>
          <a:prstGeom prst="rect">
            <a:avLst/>
          </a:prstGeom>
          <a:solidFill>
            <a:srgbClr val="C8A84B"/>
          </a:solidFill>
          <a:ln cap="flat" cmpd="sng" w="12700">
            <a:solidFill>
              <a:srgbClr val="C8A8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19"/>
          <p:cNvSpPr/>
          <p:nvPr/>
        </p:nvSpPr>
        <p:spPr>
          <a:xfrm>
            <a:off x="320040" y="1325880"/>
            <a:ext cx="3108900" cy="3291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19"/>
          <p:cNvSpPr/>
          <p:nvPr/>
        </p:nvSpPr>
        <p:spPr>
          <a:xfrm>
            <a:off x="320040" y="1325880"/>
            <a:ext cx="3108900" cy="329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NIST AI RMF  ·  EU AI Act  ·  Three Lines</a:t>
            </a:r>
            <a:endParaRPr sz="1000">
              <a:solidFill>
                <a:schemeClr val="dk1"/>
              </a:solidFill>
              <a:latin typeface="Calibri"/>
              <a:ea typeface="Calibri"/>
              <a:cs typeface="Calibri"/>
              <a:sym typeface="Calibri"/>
            </a:endParaRPr>
          </a:p>
        </p:txBody>
      </p:sp>
      <p:sp>
        <p:nvSpPr>
          <p:cNvPr id="632" name="Google Shape;632;p19"/>
          <p:cNvSpPr/>
          <p:nvPr/>
        </p:nvSpPr>
        <p:spPr>
          <a:xfrm>
            <a:off x="320040" y="1783080"/>
            <a:ext cx="54900" cy="822900"/>
          </a:xfrm>
          <a:prstGeom prst="rect">
            <a:avLst/>
          </a:prstGeom>
          <a:solidFill>
            <a:srgbClr val="2A7A4A"/>
          </a:solidFill>
          <a:ln cap="flat" cmpd="sng" w="12700">
            <a:solidFill>
              <a:srgbClr val="2A7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19"/>
          <p:cNvSpPr/>
          <p:nvPr/>
        </p:nvSpPr>
        <p:spPr>
          <a:xfrm>
            <a:off x="457200" y="1783080"/>
            <a:ext cx="3703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7A4A"/>
              </a:buClr>
              <a:buSzPts val="1000"/>
              <a:buFont typeface="Calibri"/>
              <a:buNone/>
            </a:pPr>
            <a:r>
              <a:rPr b="1" lang="en-US" sz="1000">
                <a:solidFill>
                  <a:srgbClr val="2A7A4A"/>
                </a:solidFill>
                <a:latin typeface="Calibri"/>
                <a:ea typeface="Calibri"/>
                <a:cs typeface="Calibri"/>
                <a:sym typeface="Calibri"/>
              </a:rPr>
              <a:t>WHAT PASSES</a:t>
            </a:r>
            <a:endParaRPr sz="1000">
              <a:solidFill>
                <a:schemeClr val="dk1"/>
              </a:solidFill>
              <a:latin typeface="Calibri"/>
              <a:ea typeface="Calibri"/>
              <a:cs typeface="Calibri"/>
              <a:sym typeface="Calibri"/>
            </a:endParaRPr>
          </a:p>
        </p:txBody>
      </p:sp>
      <p:sp>
        <p:nvSpPr>
          <p:cNvPr id="634" name="Google Shape;634;p19"/>
          <p:cNvSpPr/>
          <p:nvPr/>
        </p:nvSpPr>
        <p:spPr>
          <a:xfrm>
            <a:off x="457200" y="2039112"/>
            <a:ext cx="37032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All intersectional subgroup audits (Race × Gender) cleared the 4/5ths AIR threshold. HopSkipJump and Boundary adversarial attacks both failed to penetrate the model — confirming evasion resistance.</a:t>
            </a:r>
            <a:endParaRPr sz="1050">
              <a:solidFill>
                <a:schemeClr val="dk1"/>
              </a:solidFill>
              <a:latin typeface="Calibri"/>
              <a:ea typeface="Calibri"/>
              <a:cs typeface="Calibri"/>
              <a:sym typeface="Calibri"/>
            </a:endParaRPr>
          </a:p>
        </p:txBody>
      </p:sp>
      <p:sp>
        <p:nvSpPr>
          <p:cNvPr id="635" name="Google Shape;635;p19"/>
          <p:cNvSpPr/>
          <p:nvPr/>
        </p:nvSpPr>
        <p:spPr>
          <a:xfrm>
            <a:off x="320040" y="2752344"/>
            <a:ext cx="54900" cy="822900"/>
          </a:xfrm>
          <a:prstGeom prst="rect">
            <a:avLst/>
          </a:prstGeom>
          <a:solidFill>
            <a:srgbClr val="2A7A4A"/>
          </a:solidFill>
          <a:ln cap="flat" cmpd="sng" w="12700">
            <a:solidFill>
              <a:srgbClr val="2A7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19"/>
          <p:cNvSpPr/>
          <p:nvPr/>
        </p:nvSpPr>
        <p:spPr>
          <a:xfrm>
            <a:off x="457200" y="2752344"/>
            <a:ext cx="3703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7A4A"/>
              </a:buClr>
              <a:buSzPts val="1000"/>
              <a:buFont typeface="Calibri"/>
              <a:buNone/>
            </a:pPr>
            <a:r>
              <a:rPr b="1" lang="en-US" sz="1000">
                <a:solidFill>
                  <a:srgbClr val="2A7A4A"/>
                </a:solidFill>
                <a:latin typeface="Calibri"/>
                <a:ea typeface="Calibri"/>
                <a:cs typeface="Calibri"/>
                <a:sym typeface="Calibri"/>
              </a:rPr>
              <a:t>GOVERNANCE MET</a:t>
            </a:r>
            <a:endParaRPr sz="1000">
              <a:solidFill>
                <a:schemeClr val="dk1"/>
              </a:solidFill>
              <a:latin typeface="Calibri"/>
              <a:ea typeface="Calibri"/>
              <a:cs typeface="Calibri"/>
              <a:sym typeface="Calibri"/>
            </a:endParaRPr>
          </a:p>
        </p:txBody>
      </p:sp>
      <p:sp>
        <p:nvSpPr>
          <p:cNvPr id="637" name="Google Shape;637;p19"/>
          <p:cNvSpPr/>
          <p:nvPr/>
        </p:nvSpPr>
        <p:spPr>
          <a:xfrm>
            <a:off x="457200" y="3008376"/>
            <a:ext cx="37032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Architecture satisfies EU AI Act High-Risk requirements: risk management, data governance, transparency, human oversight. NIST AI RMF GOVERN, MAP, MEASURE, and MANAGE pillars are all addressed.</a:t>
            </a:r>
            <a:endParaRPr sz="1050">
              <a:solidFill>
                <a:schemeClr val="dk1"/>
              </a:solidFill>
              <a:latin typeface="Calibri"/>
              <a:ea typeface="Calibri"/>
              <a:cs typeface="Calibri"/>
              <a:sym typeface="Calibri"/>
            </a:endParaRPr>
          </a:p>
        </p:txBody>
      </p:sp>
      <p:sp>
        <p:nvSpPr>
          <p:cNvPr id="638" name="Google Shape;638;p19"/>
          <p:cNvSpPr/>
          <p:nvPr/>
        </p:nvSpPr>
        <p:spPr>
          <a:xfrm>
            <a:off x="320040" y="3721608"/>
            <a:ext cx="54900" cy="822900"/>
          </a:xfrm>
          <a:prstGeom prst="rect">
            <a:avLst/>
          </a:prstGeom>
          <a:solidFill>
            <a:srgbClr val="2A7A4A"/>
          </a:solidFill>
          <a:ln cap="flat" cmpd="sng" w="12700">
            <a:solidFill>
              <a:srgbClr val="2A7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19"/>
          <p:cNvSpPr/>
          <p:nvPr/>
        </p:nvSpPr>
        <p:spPr>
          <a:xfrm>
            <a:off x="457200" y="3721608"/>
            <a:ext cx="37032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7A4A"/>
              </a:buClr>
              <a:buSzPts val="1000"/>
              <a:buFont typeface="Calibri"/>
              <a:buNone/>
            </a:pPr>
            <a:r>
              <a:rPr b="1" lang="en-US" sz="1000">
                <a:solidFill>
                  <a:srgbClr val="2A7A4A"/>
                </a:solidFill>
                <a:latin typeface="Calibri"/>
                <a:ea typeface="Calibri"/>
                <a:cs typeface="Calibri"/>
                <a:sym typeface="Calibri"/>
              </a:rPr>
              <a:t>HITL SAFEGUARD</a:t>
            </a:r>
            <a:endParaRPr sz="1000">
              <a:solidFill>
                <a:schemeClr val="dk1"/>
              </a:solidFill>
              <a:latin typeface="Calibri"/>
              <a:ea typeface="Calibri"/>
              <a:cs typeface="Calibri"/>
              <a:sym typeface="Calibri"/>
            </a:endParaRPr>
          </a:p>
        </p:txBody>
      </p:sp>
      <p:sp>
        <p:nvSpPr>
          <p:cNvPr id="640" name="Google Shape;640;p19"/>
          <p:cNvSpPr/>
          <p:nvPr/>
        </p:nvSpPr>
        <p:spPr>
          <a:xfrm>
            <a:off x="457200" y="3977640"/>
            <a:ext cx="37032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Marginal applicants (p ≈ 0.51) are automatically flagged for human review. Autonomous harm is structurally bounded — no fully autonomous high-stakes decisions.</a:t>
            </a:r>
            <a:endParaRPr sz="1050">
              <a:solidFill>
                <a:schemeClr val="dk1"/>
              </a:solidFill>
              <a:latin typeface="Calibri"/>
              <a:ea typeface="Calibri"/>
              <a:cs typeface="Calibri"/>
              <a:sym typeface="Calibri"/>
            </a:endParaRPr>
          </a:p>
        </p:txBody>
      </p:sp>
      <p:sp>
        <p:nvSpPr>
          <p:cNvPr id="641" name="Google Shape;641;p19"/>
          <p:cNvSpPr/>
          <p:nvPr/>
        </p:nvSpPr>
        <p:spPr>
          <a:xfrm>
            <a:off x="4553712" y="1298448"/>
            <a:ext cx="4434900" cy="3246000"/>
          </a:xfrm>
          <a:prstGeom prst="rect">
            <a:avLst/>
          </a:prstGeom>
          <a:solidFill>
            <a:srgbClr val="FFFFFF"/>
          </a:solidFill>
          <a:ln cap="flat" cmpd="sng" w="12700">
            <a:solidFill>
              <a:srgbClr val="E8E6E0"/>
            </a:solidFill>
            <a:prstDash val="solid"/>
            <a:round/>
            <a:headEnd len="sm" w="sm" type="none"/>
            <a:tailEnd len="sm" w="sm" type="none"/>
          </a:ln>
          <a:effectLst>
            <a:outerShdw blurRad="76200" rotWithShape="0" algn="bl" dir="8100000" dist="25400">
              <a:srgbClr val="000000">
                <a:alpha val="1804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19"/>
          <p:cNvSpPr/>
          <p:nvPr/>
        </p:nvSpPr>
        <p:spPr>
          <a:xfrm>
            <a:off x="4553712" y="1298448"/>
            <a:ext cx="4434900" cy="4023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3" name="Google Shape;643;p19"/>
          <p:cNvSpPr/>
          <p:nvPr/>
        </p:nvSpPr>
        <p:spPr>
          <a:xfrm>
            <a:off x="4617720" y="1298448"/>
            <a:ext cx="43161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100"/>
              <a:buFont typeface="Calibri"/>
              <a:buNone/>
            </a:pPr>
            <a:r>
              <a:rPr b="1" lang="en-US" sz="1100">
                <a:solidFill>
                  <a:srgbClr val="C8A84B"/>
                </a:solidFill>
                <a:latin typeface="Calibri"/>
                <a:ea typeface="Calibri"/>
                <a:cs typeface="Calibri"/>
                <a:sym typeface="Calibri"/>
              </a:rPr>
              <a:t>PRE-CONDITIONS FOR GO-LIVE</a:t>
            </a:r>
            <a:endParaRPr sz="1100">
              <a:solidFill>
                <a:schemeClr val="dk1"/>
              </a:solidFill>
              <a:latin typeface="Calibri"/>
              <a:ea typeface="Calibri"/>
              <a:cs typeface="Calibri"/>
              <a:sym typeface="Calibri"/>
            </a:endParaRPr>
          </a:p>
        </p:txBody>
      </p:sp>
      <p:sp>
        <p:nvSpPr>
          <p:cNvPr id="644" name="Google Shape;644;p19"/>
          <p:cNvSpPr/>
          <p:nvPr/>
        </p:nvSpPr>
        <p:spPr>
          <a:xfrm>
            <a:off x="4645152" y="1901952"/>
            <a:ext cx="255900" cy="2559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19"/>
          <p:cNvSpPr/>
          <p:nvPr/>
        </p:nvSpPr>
        <p:spPr>
          <a:xfrm>
            <a:off x="4645152" y="1901952"/>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1</a:t>
            </a:r>
            <a:endParaRPr sz="900">
              <a:solidFill>
                <a:schemeClr val="dk1"/>
              </a:solidFill>
              <a:latin typeface="Calibri"/>
              <a:ea typeface="Calibri"/>
              <a:cs typeface="Calibri"/>
              <a:sym typeface="Calibri"/>
            </a:endParaRPr>
          </a:p>
        </p:txBody>
      </p:sp>
      <p:sp>
        <p:nvSpPr>
          <p:cNvPr id="646" name="Google Shape;646;p19"/>
          <p:cNvSpPr/>
          <p:nvPr/>
        </p:nvSpPr>
        <p:spPr>
          <a:xfrm>
            <a:off x="4974336" y="1810512"/>
            <a:ext cx="3913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Deploy per-group FPR/FNR dashboards with automated alerts before first live inference — replace AIR-only monitoring.</a:t>
            </a:r>
            <a:endParaRPr sz="1050">
              <a:solidFill>
                <a:schemeClr val="dk1"/>
              </a:solidFill>
              <a:latin typeface="Calibri"/>
              <a:ea typeface="Calibri"/>
              <a:cs typeface="Calibri"/>
              <a:sym typeface="Calibri"/>
            </a:endParaRPr>
          </a:p>
        </p:txBody>
      </p:sp>
      <p:sp>
        <p:nvSpPr>
          <p:cNvPr id="647" name="Google Shape;647;p19"/>
          <p:cNvSpPr/>
          <p:nvPr/>
        </p:nvSpPr>
        <p:spPr>
          <a:xfrm>
            <a:off x="4645152" y="2414016"/>
            <a:ext cx="255900" cy="2559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19"/>
          <p:cNvSpPr/>
          <p:nvPr/>
        </p:nvSpPr>
        <p:spPr>
          <a:xfrm>
            <a:off x="4645152" y="2414016"/>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2</a:t>
            </a:r>
            <a:endParaRPr sz="900">
              <a:solidFill>
                <a:schemeClr val="dk1"/>
              </a:solidFill>
              <a:latin typeface="Calibri"/>
              <a:ea typeface="Calibri"/>
              <a:cs typeface="Calibri"/>
              <a:sym typeface="Calibri"/>
            </a:endParaRPr>
          </a:p>
        </p:txBody>
      </p:sp>
      <p:sp>
        <p:nvSpPr>
          <p:cNvPr id="649" name="Google Shape;649;p19"/>
          <p:cNvSpPr/>
          <p:nvPr/>
        </p:nvSpPr>
        <p:spPr>
          <a:xfrm>
            <a:off x="4974336" y="2322576"/>
            <a:ext cx="3913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Implement cryptographic batch hashing and anomaly detection on label distributions in the training pipeline.</a:t>
            </a:r>
            <a:endParaRPr sz="1050">
              <a:solidFill>
                <a:schemeClr val="dk1"/>
              </a:solidFill>
              <a:latin typeface="Calibri"/>
              <a:ea typeface="Calibri"/>
              <a:cs typeface="Calibri"/>
              <a:sym typeface="Calibri"/>
            </a:endParaRPr>
          </a:p>
        </p:txBody>
      </p:sp>
      <p:sp>
        <p:nvSpPr>
          <p:cNvPr id="650" name="Google Shape;650;p19"/>
          <p:cNvSpPr/>
          <p:nvPr/>
        </p:nvSpPr>
        <p:spPr>
          <a:xfrm>
            <a:off x="4645152" y="2926080"/>
            <a:ext cx="255900" cy="2559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p19"/>
          <p:cNvSpPr/>
          <p:nvPr/>
        </p:nvSpPr>
        <p:spPr>
          <a:xfrm>
            <a:off x="4645152" y="2926080"/>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3</a:t>
            </a:r>
            <a:endParaRPr sz="900">
              <a:solidFill>
                <a:schemeClr val="dk1"/>
              </a:solidFill>
              <a:latin typeface="Calibri"/>
              <a:ea typeface="Calibri"/>
              <a:cs typeface="Calibri"/>
              <a:sym typeface="Calibri"/>
            </a:endParaRPr>
          </a:p>
        </p:txBody>
      </p:sp>
      <p:sp>
        <p:nvSpPr>
          <p:cNvPr id="652" name="Google Shape;652;p19"/>
          <p:cNvSpPr/>
          <p:nvPr/>
        </p:nvSpPr>
        <p:spPr>
          <a:xfrm>
            <a:off x="4974336" y="2834640"/>
            <a:ext cx="3913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Complete Leave-One-Out influence analysis on high-leverage applicants before external API access is granted.</a:t>
            </a:r>
            <a:endParaRPr sz="1050">
              <a:solidFill>
                <a:schemeClr val="dk1"/>
              </a:solidFill>
              <a:latin typeface="Calibri"/>
              <a:ea typeface="Calibri"/>
              <a:cs typeface="Calibri"/>
              <a:sym typeface="Calibri"/>
            </a:endParaRPr>
          </a:p>
        </p:txBody>
      </p:sp>
      <p:sp>
        <p:nvSpPr>
          <p:cNvPr id="653" name="Google Shape;653;p19"/>
          <p:cNvSpPr/>
          <p:nvPr/>
        </p:nvSpPr>
        <p:spPr>
          <a:xfrm>
            <a:off x="4645152" y="3438144"/>
            <a:ext cx="255900" cy="2559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19"/>
          <p:cNvSpPr/>
          <p:nvPr/>
        </p:nvSpPr>
        <p:spPr>
          <a:xfrm>
            <a:off x="4645152" y="3438144"/>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4</a:t>
            </a:r>
            <a:endParaRPr sz="900">
              <a:solidFill>
                <a:schemeClr val="dk1"/>
              </a:solidFill>
              <a:latin typeface="Calibri"/>
              <a:ea typeface="Calibri"/>
              <a:cs typeface="Calibri"/>
              <a:sym typeface="Calibri"/>
            </a:endParaRPr>
          </a:p>
        </p:txBody>
      </p:sp>
      <p:sp>
        <p:nvSpPr>
          <p:cNvPr id="655" name="Google Shape;655;p19"/>
          <p:cNvSpPr/>
          <p:nvPr/>
        </p:nvSpPr>
        <p:spPr>
          <a:xfrm>
            <a:off x="4974336" y="3346704"/>
            <a:ext cx="3913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Run Differentially Private XGBoost experiment; document ε budget and accept/reject based on AUC–fairness tradeoff.</a:t>
            </a:r>
            <a:endParaRPr sz="1050">
              <a:solidFill>
                <a:schemeClr val="dk1"/>
              </a:solidFill>
              <a:latin typeface="Calibri"/>
              <a:ea typeface="Calibri"/>
              <a:cs typeface="Calibri"/>
              <a:sym typeface="Calibri"/>
            </a:endParaRPr>
          </a:p>
        </p:txBody>
      </p:sp>
      <p:sp>
        <p:nvSpPr>
          <p:cNvPr id="656" name="Google Shape;656;p19"/>
          <p:cNvSpPr/>
          <p:nvPr/>
        </p:nvSpPr>
        <p:spPr>
          <a:xfrm>
            <a:off x="4645152" y="3950208"/>
            <a:ext cx="255900" cy="2559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 name="Google Shape;657;p19"/>
          <p:cNvSpPr/>
          <p:nvPr/>
        </p:nvSpPr>
        <p:spPr>
          <a:xfrm>
            <a:off x="4645152" y="3950208"/>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5</a:t>
            </a:r>
            <a:endParaRPr sz="900">
              <a:solidFill>
                <a:schemeClr val="dk1"/>
              </a:solidFill>
              <a:latin typeface="Calibri"/>
              <a:ea typeface="Calibri"/>
              <a:cs typeface="Calibri"/>
              <a:sym typeface="Calibri"/>
            </a:endParaRPr>
          </a:p>
        </p:txBody>
      </p:sp>
      <p:sp>
        <p:nvSpPr>
          <p:cNvPr id="658" name="Google Shape;658;p19"/>
          <p:cNvSpPr/>
          <p:nvPr/>
        </p:nvSpPr>
        <p:spPr>
          <a:xfrm>
            <a:off x="4974336" y="3858768"/>
            <a:ext cx="3913500" cy="475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C2B3A"/>
              </a:buClr>
              <a:buSzPts val="1050"/>
              <a:buFont typeface="Calibri"/>
              <a:buNone/>
            </a:pPr>
            <a:r>
              <a:rPr lang="en-US" sz="1050">
                <a:solidFill>
                  <a:srgbClr val="1C2B3A"/>
                </a:solidFill>
                <a:latin typeface="Calibri"/>
                <a:ea typeface="Calibri"/>
                <a:cs typeface="Calibri"/>
                <a:sym typeface="Calibri"/>
              </a:rPr>
              <a:t>Retrain with income/DTI monotone constraints so marginal applicants receive actionable recourse paths.</a:t>
            </a:r>
            <a:endParaRPr sz="105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B3A"/>
        </a:solidFill>
      </p:bgPr>
    </p:bg>
    <p:spTree>
      <p:nvGrpSpPr>
        <p:cNvPr id="663" name="Shape 663"/>
        <p:cNvGrpSpPr/>
        <p:nvPr/>
      </p:nvGrpSpPr>
      <p:grpSpPr>
        <a:xfrm>
          <a:off x="0" y="0"/>
          <a:ext cx="0" cy="0"/>
          <a:chOff x="0" y="0"/>
          <a:chExt cx="0" cy="0"/>
        </a:xfrm>
      </p:grpSpPr>
      <p:sp>
        <p:nvSpPr>
          <p:cNvPr id="664" name="Google Shape;664;p20"/>
          <p:cNvSpPr/>
          <p:nvPr/>
        </p:nvSpPr>
        <p:spPr>
          <a:xfrm>
            <a:off x="320040" y="145382"/>
            <a:ext cx="85038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Georgia"/>
              <a:buNone/>
            </a:pPr>
            <a:r>
              <a:rPr b="1" lang="en-US" sz="2700">
                <a:solidFill>
                  <a:srgbClr val="FFFFFF"/>
                </a:solidFill>
                <a:latin typeface="Georgia"/>
                <a:ea typeface="Georgia"/>
                <a:cs typeface="Georgia"/>
                <a:sym typeface="Georgia"/>
              </a:rPr>
              <a:t>Q4 &amp; Q5 Summary  ·  Risk &amp; Deployment Table</a:t>
            </a:r>
            <a:endParaRPr sz="2700">
              <a:solidFill>
                <a:schemeClr val="dk1"/>
              </a:solidFill>
              <a:latin typeface="Georgia"/>
              <a:ea typeface="Georgia"/>
              <a:cs typeface="Georgia"/>
              <a:sym typeface="Georgia"/>
            </a:endParaRPr>
          </a:p>
        </p:txBody>
      </p:sp>
      <p:sp>
        <p:nvSpPr>
          <p:cNvPr id="665" name="Google Shape;665;p20"/>
          <p:cNvSpPr/>
          <p:nvPr/>
        </p:nvSpPr>
        <p:spPr>
          <a:xfrm>
            <a:off x="320040" y="840326"/>
            <a:ext cx="8503800" cy="36600"/>
          </a:xfrm>
          <a:prstGeom prst="rect">
            <a:avLst/>
          </a:prstGeom>
          <a:solidFill>
            <a:srgbClr val="C8A84B"/>
          </a:solidFill>
          <a:ln cap="flat" cmpd="sng" w="12700">
            <a:solidFill>
              <a:srgbClr val="C8A84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20"/>
          <p:cNvSpPr/>
          <p:nvPr/>
        </p:nvSpPr>
        <p:spPr>
          <a:xfrm>
            <a:off x="320040" y="950054"/>
            <a:ext cx="1737300" cy="4023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 name="Google Shape;667;p20"/>
          <p:cNvSpPr/>
          <p:nvPr/>
        </p:nvSpPr>
        <p:spPr>
          <a:xfrm>
            <a:off x="411480" y="950054"/>
            <a:ext cx="16275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100"/>
              <a:buFont typeface="Calibri"/>
              <a:buNone/>
            </a:pPr>
            <a:r>
              <a:rPr b="1" lang="en-US" sz="1100">
                <a:solidFill>
                  <a:srgbClr val="C8A84B"/>
                </a:solidFill>
                <a:latin typeface="Calibri"/>
                <a:ea typeface="Calibri"/>
                <a:cs typeface="Calibri"/>
                <a:sym typeface="Calibri"/>
              </a:rPr>
              <a:t>Risk / Check</a:t>
            </a:r>
            <a:endParaRPr sz="1100">
              <a:solidFill>
                <a:schemeClr val="dk1"/>
              </a:solidFill>
              <a:latin typeface="Calibri"/>
              <a:ea typeface="Calibri"/>
              <a:cs typeface="Calibri"/>
              <a:sym typeface="Calibri"/>
            </a:endParaRPr>
          </a:p>
        </p:txBody>
      </p:sp>
      <p:sp>
        <p:nvSpPr>
          <p:cNvPr id="668" name="Google Shape;668;p20"/>
          <p:cNvSpPr/>
          <p:nvPr/>
        </p:nvSpPr>
        <p:spPr>
          <a:xfrm>
            <a:off x="2057400" y="950054"/>
            <a:ext cx="1920300" cy="4023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20"/>
          <p:cNvSpPr/>
          <p:nvPr/>
        </p:nvSpPr>
        <p:spPr>
          <a:xfrm>
            <a:off x="2148840" y="950054"/>
            <a:ext cx="18105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100"/>
              <a:buFont typeface="Calibri"/>
              <a:buNone/>
            </a:pPr>
            <a:r>
              <a:rPr b="1" lang="en-US" sz="1100">
                <a:solidFill>
                  <a:srgbClr val="C8A84B"/>
                </a:solidFill>
                <a:latin typeface="Calibri"/>
                <a:ea typeface="Calibri"/>
                <a:cs typeface="Calibri"/>
                <a:sym typeface="Calibri"/>
              </a:rPr>
              <a:t>Trigger Condition</a:t>
            </a:r>
            <a:endParaRPr sz="1100">
              <a:solidFill>
                <a:schemeClr val="dk1"/>
              </a:solidFill>
              <a:latin typeface="Calibri"/>
              <a:ea typeface="Calibri"/>
              <a:cs typeface="Calibri"/>
              <a:sym typeface="Calibri"/>
            </a:endParaRPr>
          </a:p>
        </p:txBody>
      </p:sp>
      <p:sp>
        <p:nvSpPr>
          <p:cNvPr id="670" name="Google Shape;670;p20"/>
          <p:cNvSpPr/>
          <p:nvPr/>
        </p:nvSpPr>
        <p:spPr>
          <a:xfrm>
            <a:off x="3977640" y="950054"/>
            <a:ext cx="1691700" cy="4023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20"/>
          <p:cNvSpPr/>
          <p:nvPr/>
        </p:nvSpPr>
        <p:spPr>
          <a:xfrm>
            <a:off x="4069080" y="950054"/>
            <a:ext cx="15819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100"/>
              <a:buFont typeface="Calibri"/>
              <a:buNone/>
            </a:pPr>
            <a:r>
              <a:rPr b="1" lang="en-US" sz="1100">
                <a:solidFill>
                  <a:srgbClr val="C8A84B"/>
                </a:solidFill>
                <a:latin typeface="Calibri"/>
                <a:ea typeface="Calibri"/>
                <a:cs typeface="Calibri"/>
                <a:sym typeface="Calibri"/>
              </a:rPr>
              <a:t>Harmed Group</a:t>
            </a:r>
            <a:endParaRPr sz="1100">
              <a:solidFill>
                <a:schemeClr val="dk1"/>
              </a:solidFill>
              <a:latin typeface="Calibri"/>
              <a:ea typeface="Calibri"/>
              <a:cs typeface="Calibri"/>
              <a:sym typeface="Calibri"/>
            </a:endParaRPr>
          </a:p>
        </p:txBody>
      </p:sp>
      <p:sp>
        <p:nvSpPr>
          <p:cNvPr id="672" name="Google Shape;672;p20"/>
          <p:cNvSpPr/>
          <p:nvPr/>
        </p:nvSpPr>
        <p:spPr>
          <a:xfrm>
            <a:off x="5669280" y="950054"/>
            <a:ext cx="1371600" cy="4023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3" name="Google Shape;673;p20"/>
          <p:cNvSpPr/>
          <p:nvPr/>
        </p:nvSpPr>
        <p:spPr>
          <a:xfrm>
            <a:off x="5760720" y="950054"/>
            <a:ext cx="12618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100"/>
              <a:buFont typeface="Calibri"/>
              <a:buNone/>
            </a:pPr>
            <a:r>
              <a:rPr b="1" lang="en-US" sz="1100">
                <a:solidFill>
                  <a:srgbClr val="C8A84B"/>
                </a:solidFill>
                <a:latin typeface="Calibri"/>
                <a:ea typeface="Calibri"/>
                <a:cs typeface="Calibri"/>
                <a:sym typeface="Calibri"/>
              </a:rPr>
              <a:t>Method</a:t>
            </a:r>
            <a:endParaRPr sz="1100">
              <a:solidFill>
                <a:schemeClr val="dk1"/>
              </a:solidFill>
              <a:latin typeface="Calibri"/>
              <a:ea typeface="Calibri"/>
              <a:cs typeface="Calibri"/>
              <a:sym typeface="Calibri"/>
            </a:endParaRPr>
          </a:p>
        </p:txBody>
      </p:sp>
      <p:sp>
        <p:nvSpPr>
          <p:cNvPr id="674" name="Google Shape;674;p20"/>
          <p:cNvSpPr/>
          <p:nvPr/>
        </p:nvSpPr>
        <p:spPr>
          <a:xfrm>
            <a:off x="7040880" y="950054"/>
            <a:ext cx="1371600" cy="402300"/>
          </a:xfrm>
          <a:prstGeom prst="rect">
            <a:avLst/>
          </a:prstGeom>
          <a:solidFill>
            <a:srgbClr val="162330"/>
          </a:solidFill>
          <a:ln cap="flat" cmpd="sng" w="12700">
            <a:solidFill>
              <a:srgbClr val="16233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5" name="Google Shape;675;p20"/>
          <p:cNvSpPr/>
          <p:nvPr/>
        </p:nvSpPr>
        <p:spPr>
          <a:xfrm>
            <a:off x="7132320" y="950054"/>
            <a:ext cx="1261800" cy="402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A84B"/>
              </a:buClr>
              <a:buSzPts val="1100"/>
              <a:buFont typeface="Calibri"/>
              <a:buNone/>
            </a:pPr>
            <a:r>
              <a:rPr b="1" lang="en-US" sz="1100">
                <a:solidFill>
                  <a:srgbClr val="C8A84B"/>
                </a:solidFill>
                <a:latin typeface="Calibri"/>
                <a:ea typeface="Calibri"/>
                <a:cs typeface="Calibri"/>
                <a:sym typeface="Calibri"/>
              </a:rPr>
              <a:t>Status</a:t>
            </a:r>
            <a:endParaRPr sz="1100">
              <a:solidFill>
                <a:schemeClr val="dk1"/>
              </a:solidFill>
              <a:latin typeface="Calibri"/>
              <a:ea typeface="Calibri"/>
              <a:cs typeface="Calibri"/>
              <a:sym typeface="Calibri"/>
            </a:endParaRPr>
          </a:p>
        </p:txBody>
      </p:sp>
      <p:sp>
        <p:nvSpPr>
          <p:cNvPr id="676" name="Google Shape;676;p20"/>
          <p:cNvSpPr/>
          <p:nvPr/>
        </p:nvSpPr>
        <p:spPr>
          <a:xfrm>
            <a:off x="320040" y="1352390"/>
            <a:ext cx="17373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7" name="Google Shape;677;p20"/>
          <p:cNvSpPr/>
          <p:nvPr/>
        </p:nvSpPr>
        <p:spPr>
          <a:xfrm>
            <a:off x="411480" y="1388966"/>
            <a:ext cx="1609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AIR Metric Blindness</a:t>
            </a:r>
            <a:endParaRPr sz="1000">
              <a:solidFill>
                <a:schemeClr val="dk1"/>
              </a:solidFill>
              <a:latin typeface="Calibri"/>
              <a:ea typeface="Calibri"/>
              <a:cs typeface="Calibri"/>
              <a:sym typeface="Calibri"/>
            </a:endParaRPr>
          </a:p>
        </p:txBody>
      </p:sp>
      <p:sp>
        <p:nvSpPr>
          <p:cNvPr id="678" name="Google Shape;678;p20"/>
          <p:cNvSpPr/>
          <p:nvPr/>
        </p:nvSpPr>
        <p:spPr>
          <a:xfrm>
            <a:off x="2057400" y="1352390"/>
            <a:ext cx="19203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20"/>
          <p:cNvSpPr/>
          <p:nvPr/>
        </p:nvSpPr>
        <p:spPr>
          <a:xfrm>
            <a:off x="2148840" y="1388966"/>
            <a:ext cx="1792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25% label-flip attack — AIR stays &gt;0.80 masking minority cohort collapse</a:t>
            </a:r>
            <a:endParaRPr sz="1000">
              <a:solidFill>
                <a:schemeClr val="dk1"/>
              </a:solidFill>
              <a:latin typeface="Calibri"/>
              <a:ea typeface="Calibri"/>
              <a:cs typeface="Calibri"/>
              <a:sym typeface="Calibri"/>
            </a:endParaRPr>
          </a:p>
        </p:txBody>
      </p:sp>
      <p:sp>
        <p:nvSpPr>
          <p:cNvPr id="680" name="Google Shape;680;p20"/>
          <p:cNvSpPr/>
          <p:nvPr/>
        </p:nvSpPr>
        <p:spPr>
          <a:xfrm>
            <a:off x="3977640" y="1352390"/>
            <a:ext cx="16917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1" name="Google Shape;681;p20"/>
          <p:cNvSpPr/>
          <p:nvPr/>
        </p:nvSpPr>
        <p:spPr>
          <a:xfrm>
            <a:off x="4069080" y="1388966"/>
            <a:ext cx="15636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African-American applicants</a:t>
            </a:r>
            <a:endParaRPr sz="1000">
              <a:solidFill>
                <a:schemeClr val="dk1"/>
              </a:solidFill>
              <a:latin typeface="Calibri"/>
              <a:ea typeface="Calibri"/>
              <a:cs typeface="Calibri"/>
              <a:sym typeface="Calibri"/>
            </a:endParaRPr>
          </a:p>
        </p:txBody>
      </p:sp>
      <p:sp>
        <p:nvSpPr>
          <p:cNvPr id="682" name="Google Shape;682;p20"/>
          <p:cNvSpPr/>
          <p:nvPr/>
        </p:nvSpPr>
        <p:spPr>
          <a:xfrm>
            <a:off x="5669280" y="1352390"/>
            <a:ext cx="13716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3" name="Google Shape;683;p20"/>
          <p:cNvSpPr/>
          <p:nvPr/>
        </p:nvSpPr>
        <p:spPr>
          <a:xfrm>
            <a:off x="5760720" y="1388966"/>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Poisoning Audit</a:t>
            </a:r>
            <a:endParaRPr sz="1000">
              <a:solidFill>
                <a:schemeClr val="dk1"/>
              </a:solidFill>
              <a:latin typeface="Calibri"/>
              <a:ea typeface="Calibri"/>
              <a:cs typeface="Calibri"/>
              <a:sym typeface="Calibri"/>
            </a:endParaRPr>
          </a:p>
        </p:txBody>
      </p:sp>
      <p:sp>
        <p:nvSpPr>
          <p:cNvPr id="684" name="Google Shape;684;p20"/>
          <p:cNvSpPr/>
          <p:nvPr/>
        </p:nvSpPr>
        <p:spPr>
          <a:xfrm>
            <a:off x="7040880" y="1352390"/>
            <a:ext cx="13716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p20"/>
          <p:cNvSpPr/>
          <p:nvPr/>
        </p:nvSpPr>
        <p:spPr>
          <a:xfrm>
            <a:off x="7132320" y="1388966"/>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00"/>
              <a:buFont typeface="Calibri"/>
              <a:buNone/>
            </a:pPr>
            <a:r>
              <a:rPr b="1" lang="en-US" sz="1000">
                <a:solidFill>
                  <a:srgbClr val="E05C3A"/>
                </a:solidFill>
                <a:latin typeface="Calibri"/>
                <a:ea typeface="Calibri"/>
                <a:cs typeface="Calibri"/>
                <a:sym typeface="Calibri"/>
              </a:rPr>
              <a:t>HIGH</a:t>
            </a:r>
            <a:endParaRPr sz="1000">
              <a:solidFill>
                <a:schemeClr val="dk1"/>
              </a:solidFill>
              <a:latin typeface="Calibri"/>
              <a:ea typeface="Calibri"/>
              <a:cs typeface="Calibri"/>
              <a:sym typeface="Calibri"/>
            </a:endParaRPr>
          </a:p>
        </p:txBody>
      </p:sp>
      <p:sp>
        <p:nvSpPr>
          <p:cNvPr id="686" name="Google Shape;686;p20"/>
          <p:cNvSpPr/>
          <p:nvPr/>
        </p:nvSpPr>
        <p:spPr>
          <a:xfrm>
            <a:off x="320040" y="1352390"/>
            <a:ext cx="45600" cy="5853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p20"/>
          <p:cNvSpPr/>
          <p:nvPr/>
        </p:nvSpPr>
        <p:spPr>
          <a:xfrm>
            <a:off x="320040" y="1955894"/>
            <a:ext cx="17373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p20"/>
          <p:cNvSpPr/>
          <p:nvPr/>
        </p:nvSpPr>
        <p:spPr>
          <a:xfrm>
            <a:off x="411480" y="1992470"/>
            <a:ext cx="1609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Historical Bias Amplif.</a:t>
            </a:r>
            <a:endParaRPr sz="1000">
              <a:solidFill>
                <a:schemeClr val="dk1"/>
              </a:solidFill>
              <a:latin typeface="Calibri"/>
              <a:ea typeface="Calibri"/>
              <a:cs typeface="Calibri"/>
              <a:sym typeface="Calibri"/>
            </a:endParaRPr>
          </a:p>
        </p:txBody>
      </p:sp>
      <p:sp>
        <p:nvSpPr>
          <p:cNvPr id="689" name="Google Shape;689;p20"/>
          <p:cNvSpPr/>
          <p:nvPr/>
        </p:nvSpPr>
        <p:spPr>
          <a:xfrm>
            <a:off x="2057400" y="1955894"/>
            <a:ext cx="19203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p20"/>
          <p:cNvSpPr/>
          <p:nvPr/>
        </p:nvSpPr>
        <p:spPr>
          <a:xfrm>
            <a:off x="2148840" y="1992470"/>
            <a:ext cx="1792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FFIEC census-tract income encodes redlining into feature space</a:t>
            </a:r>
            <a:endParaRPr sz="1000">
              <a:solidFill>
                <a:schemeClr val="dk1"/>
              </a:solidFill>
              <a:latin typeface="Calibri"/>
              <a:ea typeface="Calibri"/>
              <a:cs typeface="Calibri"/>
              <a:sym typeface="Calibri"/>
            </a:endParaRPr>
          </a:p>
        </p:txBody>
      </p:sp>
      <p:sp>
        <p:nvSpPr>
          <p:cNvPr id="691" name="Google Shape;691;p20"/>
          <p:cNvSpPr/>
          <p:nvPr/>
        </p:nvSpPr>
        <p:spPr>
          <a:xfrm>
            <a:off x="3977640" y="1955894"/>
            <a:ext cx="16917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20"/>
          <p:cNvSpPr/>
          <p:nvPr/>
        </p:nvSpPr>
        <p:spPr>
          <a:xfrm>
            <a:off x="4069080" y="1992470"/>
            <a:ext cx="15636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Minority / MSA applicants</a:t>
            </a:r>
            <a:endParaRPr sz="1000">
              <a:solidFill>
                <a:schemeClr val="dk1"/>
              </a:solidFill>
              <a:latin typeface="Calibri"/>
              <a:ea typeface="Calibri"/>
              <a:cs typeface="Calibri"/>
              <a:sym typeface="Calibri"/>
            </a:endParaRPr>
          </a:p>
        </p:txBody>
      </p:sp>
      <p:sp>
        <p:nvSpPr>
          <p:cNvPr id="693" name="Google Shape;693;p20"/>
          <p:cNvSpPr/>
          <p:nvPr/>
        </p:nvSpPr>
        <p:spPr>
          <a:xfrm>
            <a:off x="5669280" y="1955894"/>
            <a:ext cx="13716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p20"/>
          <p:cNvSpPr/>
          <p:nvPr/>
        </p:nvSpPr>
        <p:spPr>
          <a:xfrm>
            <a:off x="5760720" y="1992470"/>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SHAP + AIR</a:t>
            </a:r>
            <a:endParaRPr sz="1000">
              <a:solidFill>
                <a:schemeClr val="dk1"/>
              </a:solidFill>
              <a:latin typeface="Calibri"/>
              <a:ea typeface="Calibri"/>
              <a:cs typeface="Calibri"/>
              <a:sym typeface="Calibri"/>
            </a:endParaRPr>
          </a:p>
        </p:txBody>
      </p:sp>
      <p:sp>
        <p:nvSpPr>
          <p:cNvPr id="695" name="Google Shape;695;p20"/>
          <p:cNvSpPr/>
          <p:nvPr/>
        </p:nvSpPr>
        <p:spPr>
          <a:xfrm>
            <a:off x="7040880" y="1955894"/>
            <a:ext cx="13716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p20"/>
          <p:cNvSpPr/>
          <p:nvPr/>
        </p:nvSpPr>
        <p:spPr>
          <a:xfrm>
            <a:off x="7132320" y="1992470"/>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05C3A"/>
              </a:buClr>
              <a:buSzPts val="1000"/>
              <a:buFont typeface="Calibri"/>
              <a:buNone/>
            </a:pPr>
            <a:r>
              <a:rPr b="1" lang="en-US" sz="1000">
                <a:solidFill>
                  <a:srgbClr val="E05C3A"/>
                </a:solidFill>
                <a:latin typeface="Calibri"/>
                <a:ea typeface="Calibri"/>
                <a:cs typeface="Calibri"/>
                <a:sym typeface="Calibri"/>
              </a:rPr>
              <a:t>HIGH</a:t>
            </a:r>
            <a:endParaRPr sz="1000">
              <a:solidFill>
                <a:schemeClr val="dk1"/>
              </a:solidFill>
              <a:latin typeface="Calibri"/>
              <a:ea typeface="Calibri"/>
              <a:cs typeface="Calibri"/>
              <a:sym typeface="Calibri"/>
            </a:endParaRPr>
          </a:p>
        </p:txBody>
      </p:sp>
      <p:sp>
        <p:nvSpPr>
          <p:cNvPr id="697" name="Google Shape;697;p20"/>
          <p:cNvSpPr/>
          <p:nvPr/>
        </p:nvSpPr>
        <p:spPr>
          <a:xfrm>
            <a:off x="320040" y="1955894"/>
            <a:ext cx="45600" cy="585300"/>
          </a:xfrm>
          <a:prstGeom prst="rect">
            <a:avLst/>
          </a:prstGeom>
          <a:solidFill>
            <a:srgbClr val="E05C3A"/>
          </a:solidFill>
          <a:ln cap="flat" cmpd="sng" w="12700">
            <a:solidFill>
              <a:srgbClr val="E05C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20"/>
          <p:cNvSpPr/>
          <p:nvPr/>
        </p:nvSpPr>
        <p:spPr>
          <a:xfrm>
            <a:off x="320040" y="2559398"/>
            <a:ext cx="17373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p20"/>
          <p:cNvSpPr/>
          <p:nvPr/>
        </p:nvSpPr>
        <p:spPr>
          <a:xfrm>
            <a:off x="411480" y="2595974"/>
            <a:ext cx="1609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Non-Recourse Rigidity</a:t>
            </a:r>
            <a:endParaRPr sz="1000">
              <a:solidFill>
                <a:schemeClr val="dk1"/>
              </a:solidFill>
              <a:latin typeface="Calibri"/>
              <a:ea typeface="Calibri"/>
              <a:cs typeface="Calibri"/>
              <a:sym typeface="Calibri"/>
            </a:endParaRPr>
          </a:p>
        </p:txBody>
      </p:sp>
      <p:sp>
        <p:nvSpPr>
          <p:cNvPr id="700" name="Google Shape;700;p20"/>
          <p:cNvSpPr/>
          <p:nvPr/>
        </p:nvSpPr>
        <p:spPr>
          <a:xfrm>
            <a:off x="2057400" y="2559398"/>
            <a:ext cx="19203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1" name="Google Shape;701;p20"/>
          <p:cNvSpPr/>
          <p:nvPr/>
        </p:nvSpPr>
        <p:spPr>
          <a:xfrm>
            <a:off x="2148840" y="2595974"/>
            <a:ext cx="1792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DiCE needs score &gt;1,000 &amp; income 40–60× — no feasible recourse path</a:t>
            </a:r>
            <a:endParaRPr sz="1000">
              <a:solidFill>
                <a:schemeClr val="dk1"/>
              </a:solidFill>
              <a:latin typeface="Calibri"/>
              <a:ea typeface="Calibri"/>
              <a:cs typeface="Calibri"/>
              <a:sym typeface="Calibri"/>
            </a:endParaRPr>
          </a:p>
        </p:txBody>
      </p:sp>
      <p:sp>
        <p:nvSpPr>
          <p:cNvPr id="702" name="Google Shape;702;p20"/>
          <p:cNvSpPr/>
          <p:nvPr/>
        </p:nvSpPr>
        <p:spPr>
          <a:xfrm>
            <a:off x="3977640" y="2559398"/>
            <a:ext cx="16917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20"/>
          <p:cNvSpPr/>
          <p:nvPr/>
        </p:nvSpPr>
        <p:spPr>
          <a:xfrm>
            <a:off x="4069080" y="2595974"/>
            <a:ext cx="15636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Rejected applicants</a:t>
            </a:r>
            <a:endParaRPr sz="1000">
              <a:solidFill>
                <a:schemeClr val="dk1"/>
              </a:solidFill>
              <a:latin typeface="Calibri"/>
              <a:ea typeface="Calibri"/>
              <a:cs typeface="Calibri"/>
              <a:sym typeface="Calibri"/>
            </a:endParaRPr>
          </a:p>
        </p:txBody>
      </p:sp>
      <p:sp>
        <p:nvSpPr>
          <p:cNvPr id="704" name="Google Shape;704;p20"/>
          <p:cNvSpPr/>
          <p:nvPr/>
        </p:nvSpPr>
        <p:spPr>
          <a:xfrm>
            <a:off x="5669280" y="2559398"/>
            <a:ext cx="13716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5" name="Google Shape;705;p20"/>
          <p:cNvSpPr/>
          <p:nvPr/>
        </p:nvSpPr>
        <p:spPr>
          <a:xfrm>
            <a:off x="5760720" y="2595974"/>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DiCE + HopSkipJump</a:t>
            </a:r>
            <a:endParaRPr sz="1000">
              <a:solidFill>
                <a:schemeClr val="dk1"/>
              </a:solidFill>
              <a:latin typeface="Calibri"/>
              <a:ea typeface="Calibri"/>
              <a:cs typeface="Calibri"/>
              <a:sym typeface="Calibri"/>
            </a:endParaRPr>
          </a:p>
        </p:txBody>
      </p:sp>
      <p:sp>
        <p:nvSpPr>
          <p:cNvPr id="706" name="Google Shape;706;p20"/>
          <p:cNvSpPr/>
          <p:nvPr/>
        </p:nvSpPr>
        <p:spPr>
          <a:xfrm>
            <a:off x="7040880" y="2559398"/>
            <a:ext cx="13716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20"/>
          <p:cNvSpPr/>
          <p:nvPr/>
        </p:nvSpPr>
        <p:spPr>
          <a:xfrm>
            <a:off x="7132320" y="2595974"/>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853A"/>
              </a:buClr>
              <a:buSzPts val="1000"/>
              <a:buFont typeface="Calibri"/>
              <a:buNone/>
            </a:pPr>
            <a:r>
              <a:rPr b="1" lang="en-US" sz="1000">
                <a:solidFill>
                  <a:srgbClr val="C8853A"/>
                </a:solidFill>
                <a:latin typeface="Calibri"/>
                <a:ea typeface="Calibri"/>
                <a:cs typeface="Calibri"/>
                <a:sym typeface="Calibri"/>
              </a:rPr>
              <a:t>MED–HIGH</a:t>
            </a:r>
            <a:endParaRPr sz="1000">
              <a:solidFill>
                <a:schemeClr val="dk1"/>
              </a:solidFill>
              <a:latin typeface="Calibri"/>
              <a:ea typeface="Calibri"/>
              <a:cs typeface="Calibri"/>
              <a:sym typeface="Calibri"/>
            </a:endParaRPr>
          </a:p>
        </p:txBody>
      </p:sp>
      <p:sp>
        <p:nvSpPr>
          <p:cNvPr id="708" name="Google Shape;708;p20"/>
          <p:cNvSpPr/>
          <p:nvPr/>
        </p:nvSpPr>
        <p:spPr>
          <a:xfrm>
            <a:off x="320040" y="2559398"/>
            <a:ext cx="45600" cy="585300"/>
          </a:xfrm>
          <a:prstGeom prst="rect">
            <a:avLst/>
          </a:prstGeom>
          <a:solidFill>
            <a:srgbClr val="C8853A"/>
          </a:solidFill>
          <a:ln cap="flat" cmpd="sng" w="12700">
            <a:solidFill>
              <a:srgbClr val="C885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20"/>
          <p:cNvSpPr/>
          <p:nvPr/>
        </p:nvSpPr>
        <p:spPr>
          <a:xfrm>
            <a:off x="320040" y="3162902"/>
            <a:ext cx="17373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0" name="Google Shape;710;p20"/>
          <p:cNvSpPr/>
          <p:nvPr/>
        </p:nvSpPr>
        <p:spPr>
          <a:xfrm>
            <a:off x="411480" y="3199478"/>
            <a:ext cx="1609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Outlier Privacy Gap</a:t>
            </a:r>
            <a:endParaRPr sz="1000">
              <a:solidFill>
                <a:schemeClr val="dk1"/>
              </a:solidFill>
              <a:latin typeface="Calibri"/>
              <a:ea typeface="Calibri"/>
              <a:cs typeface="Calibri"/>
              <a:sym typeface="Calibri"/>
            </a:endParaRPr>
          </a:p>
        </p:txBody>
      </p:sp>
      <p:sp>
        <p:nvSpPr>
          <p:cNvPr id="711" name="Google Shape;711;p20"/>
          <p:cNvSpPr/>
          <p:nvPr/>
        </p:nvSpPr>
        <p:spPr>
          <a:xfrm>
            <a:off x="2057400" y="3162902"/>
            <a:ext cx="19203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20"/>
          <p:cNvSpPr/>
          <p:nvPr/>
        </p:nvSpPr>
        <p:spPr>
          <a:xfrm>
            <a:off x="2148840" y="3199478"/>
            <a:ext cx="1792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Attribute inference not audited; Leave-One-Out analysis pending</a:t>
            </a:r>
            <a:endParaRPr sz="1000">
              <a:solidFill>
                <a:schemeClr val="dk1"/>
              </a:solidFill>
              <a:latin typeface="Calibri"/>
              <a:ea typeface="Calibri"/>
              <a:cs typeface="Calibri"/>
              <a:sym typeface="Calibri"/>
            </a:endParaRPr>
          </a:p>
        </p:txBody>
      </p:sp>
      <p:sp>
        <p:nvSpPr>
          <p:cNvPr id="713" name="Google Shape;713;p20"/>
          <p:cNvSpPr/>
          <p:nvPr/>
        </p:nvSpPr>
        <p:spPr>
          <a:xfrm>
            <a:off x="3977640" y="3162902"/>
            <a:ext cx="16917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20"/>
          <p:cNvSpPr/>
          <p:nvPr/>
        </p:nvSpPr>
        <p:spPr>
          <a:xfrm>
            <a:off x="4069080" y="3199478"/>
            <a:ext cx="15636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Outlier applicants</a:t>
            </a:r>
            <a:endParaRPr sz="1000">
              <a:solidFill>
                <a:schemeClr val="dk1"/>
              </a:solidFill>
              <a:latin typeface="Calibri"/>
              <a:ea typeface="Calibri"/>
              <a:cs typeface="Calibri"/>
              <a:sym typeface="Calibri"/>
            </a:endParaRPr>
          </a:p>
        </p:txBody>
      </p:sp>
      <p:sp>
        <p:nvSpPr>
          <p:cNvPr id="715" name="Google Shape;715;p20"/>
          <p:cNvSpPr/>
          <p:nvPr/>
        </p:nvSpPr>
        <p:spPr>
          <a:xfrm>
            <a:off x="5669280" y="3162902"/>
            <a:ext cx="13716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20"/>
          <p:cNvSpPr/>
          <p:nvPr/>
        </p:nvSpPr>
        <p:spPr>
          <a:xfrm>
            <a:off x="5760720" y="3199478"/>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MIA (rule-based)</a:t>
            </a:r>
            <a:endParaRPr sz="1000">
              <a:solidFill>
                <a:schemeClr val="dk1"/>
              </a:solidFill>
              <a:latin typeface="Calibri"/>
              <a:ea typeface="Calibri"/>
              <a:cs typeface="Calibri"/>
              <a:sym typeface="Calibri"/>
            </a:endParaRPr>
          </a:p>
        </p:txBody>
      </p:sp>
      <p:sp>
        <p:nvSpPr>
          <p:cNvPr id="717" name="Google Shape;717;p20"/>
          <p:cNvSpPr/>
          <p:nvPr/>
        </p:nvSpPr>
        <p:spPr>
          <a:xfrm>
            <a:off x="7040880" y="3162902"/>
            <a:ext cx="13716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20"/>
          <p:cNvSpPr/>
          <p:nvPr/>
        </p:nvSpPr>
        <p:spPr>
          <a:xfrm>
            <a:off x="7132320" y="3199478"/>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853A"/>
              </a:buClr>
              <a:buSzPts val="1000"/>
              <a:buFont typeface="Calibri"/>
              <a:buNone/>
            </a:pPr>
            <a:r>
              <a:rPr b="1" lang="en-US" sz="1000">
                <a:solidFill>
                  <a:srgbClr val="C8853A"/>
                </a:solidFill>
                <a:latin typeface="Calibri"/>
                <a:ea typeface="Calibri"/>
                <a:cs typeface="Calibri"/>
                <a:sym typeface="Calibri"/>
              </a:rPr>
              <a:t>MED–HIGH</a:t>
            </a:r>
            <a:endParaRPr sz="1000">
              <a:solidFill>
                <a:schemeClr val="dk1"/>
              </a:solidFill>
              <a:latin typeface="Calibri"/>
              <a:ea typeface="Calibri"/>
              <a:cs typeface="Calibri"/>
              <a:sym typeface="Calibri"/>
            </a:endParaRPr>
          </a:p>
        </p:txBody>
      </p:sp>
      <p:sp>
        <p:nvSpPr>
          <p:cNvPr id="719" name="Google Shape;719;p20"/>
          <p:cNvSpPr/>
          <p:nvPr/>
        </p:nvSpPr>
        <p:spPr>
          <a:xfrm>
            <a:off x="320040" y="3162902"/>
            <a:ext cx="45600" cy="585300"/>
          </a:xfrm>
          <a:prstGeom prst="rect">
            <a:avLst/>
          </a:prstGeom>
          <a:solidFill>
            <a:srgbClr val="C8853A"/>
          </a:solidFill>
          <a:ln cap="flat" cmpd="sng" w="12700">
            <a:solidFill>
              <a:srgbClr val="C885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20"/>
          <p:cNvSpPr/>
          <p:nvPr/>
        </p:nvSpPr>
        <p:spPr>
          <a:xfrm>
            <a:off x="320040" y="3766406"/>
            <a:ext cx="17373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20"/>
          <p:cNvSpPr/>
          <p:nvPr/>
        </p:nvSpPr>
        <p:spPr>
          <a:xfrm>
            <a:off x="411480" y="3802982"/>
            <a:ext cx="1609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EU AI Act Conformity</a:t>
            </a:r>
            <a:endParaRPr sz="1000">
              <a:solidFill>
                <a:schemeClr val="dk1"/>
              </a:solidFill>
              <a:latin typeface="Calibri"/>
              <a:ea typeface="Calibri"/>
              <a:cs typeface="Calibri"/>
              <a:sym typeface="Calibri"/>
            </a:endParaRPr>
          </a:p>
        </p:txBody>
      </p:sp>
      <p:sp>
        <p:nvSpPr>
          <p:cNvPr id="722" name="Google Shape;722;p20"/>
          <p:cNvSpPr/>
          <p:nvPr/>
        </p:nvSpPr>
        <p:spPr>
          <a:xfrm>
            <a:off x="2057400" y="3766406"/>
            <a:ext cx="19203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20"/>
          <p:cNvSpPr/>
          <p:nvPr/>
        </p:nvSpPr>
        <p:spPr>
          <a:xfrm>
            <a:off x="2148840" y="3802982"/>
            <a:ext cx="1792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High-Risk classification met; HITL, transparency &amp; oversight satisfied</a:t>
            </a:r>
            <a:endParaRPr sz="1000">
              <a:solidFill>
                <a:schemeClr val="dk1"/>
              </a:solidFill>
              <a:latin typeface="Calibri"/>
              <a:ea typeface="Calibri"/>
              <a:cs typeface="Calibri"/>
              <a:sym typeface="Calibri"/>
            </a:endParaRPr>
          </a:p>
        </p:txBody>
      </p:sp>
      <p:sp>
        <p:nvSpPr>
          <p:cNvPr id="724" name="Google Shape;724;p20"/>
          <p:cNvSpPr/>
          <p:nvPr/>
        </p:nvSpPr>
        <p:spPr>
          <a:xfrm>
            <a:off x="3977640" y="3766406"/>
            <a:ext cx="16917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5" name="Google Shape;725;p20"/>
          <p:cNvSpPr/>
          <p:nvPr/>
        </p:nvSpPr>
        <p:spPr>
          <a:xfrm>
            <a:off x="4069080" y="3802982"/>
            <a:ext cx="15636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Regulatory compliance</a:t>
            </a:r>
            <a:endParaRPr sz="1000">
              <a:solidFill>
                <a:schemeClr val="dk1"/>
              </a:solidFill>
              <a:latin typeface="Calibri"/>
              <a:ea typeface="Calibri"/>
              <a:cs typeface="Calibri"/>
              <a:sym typeface="Calibri"/>
            </a:endParaRPr>
          </a:p>
        </p:txBody>
      </p:sp>
      <p:sp>
        <p:nvSpPr>
          <p:cNvPr id="726" name="Google Shape;726;p20"/>
          <p:cNvSpPr/>
          <p:nvPr/>
        </p:nvSpPr>
        <p:spPr>
          <a:xfrm>
            <a:off x="5669280" y="3766406"/>
            <a:ext cx="13716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7" name="Google Shape;727;p20"/>
          <p:cNvSpPr/>
          <p:nvPr/>
        </p:nvSpPr>
        <p:spPr>
          <a:xfrm>
            <a:off x="5760720" y="3802982"/>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Framework audit</a:t>
            </a:r>
            <a:endParaRPr sz="1000">
              <a:solidFill>
                <a:schemeClr val="dk1"/>
              </a:solidFill>
              <a:latin typeface="Calibri"/>
              <a:ea typeface="Calibri"/>
              <a:cs typeface="Calibri"/>
              <a:sym typeface="Calibri"/>
            </a:endParaRPr>
          </a:p>
        </p:txBody>
      </p:sp>
      <p:sp>
        <p:nvSpPr>
          <p:cNvPr id="728" name="Google Shape;728;p20"/>
          <p:cNvSpPr/>
          <p:nvPr/>
        </p:nvSpPr>
        <p:spPr>
          <a:xfrm>
            <a:off x="7040880" y="3766406"/>
            <a:ext cx="1371600" cy="585300"/>
          </a:xfrm>
          <a:prstGeom prst="rect">
            <a:avLst/>
          </a:prstGeom>
          <a:solidFill>
            <a:srgbClr val="162330"/>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9" name="Google Shape;729;p20"/>
          <p:cNvSpPr/>
          <p:nvPr/>
        </p:nvSpPr>
        <p:spPr>
          <a:xfrm>
            <a:off x="7132320" y="3802982"/>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7A4A"/>
              </a:buClr>
              <a:buSzPts val="1000"/>
              <a:buFont typeface="Calibri"/>
              <a:buNone/>
            </a:pPr>
            <a:r>
              <a:rPr b="1" lang="en-US" sz="1000">
                <a:solidFill>
                  <a:srgbClr val="2A7A4A"/>
                </a:solidFill>
                <a:latin typeface="Calibri"/>
                <a:ea typeface="Calibri"/>
                <a:cs typeface="Calibri"/>
                <a:sym typeface="Calibri"/>
              </a:rPr>
              <a:t>PASS</a:t>
            </a:r>
            <a:endParaRPr sz="1000">
              <a:solidFill>
                <a:schemeClr val="dk1"/>
              </a:solidFill>
              <a:latin typeface="Calibri"/>
              <a:ea typeface="Calibri"/>
              <a:cs typeface="Calibri"/>
              <a:sym typeface="Calibri"/>
            </a:endParaRPr>
          </a:p>
        </p:txBody>
      </p:sp>
      <p:sp>
        <p:nvSpPr>
          <p:cNvPr id="730" name="Google Shape;730;p20"/>
          <p:cNvSpPr/>
          <p:nvPr/>
        </p:nvSpPr>
        <p:spPr>
          <a:xfrm>
            <a:off x="320040" y="3766406"/>
            <a:ext cx="45600" cy="585300"/>
          </a:xfrm>
          <a:prstGeom prst="rect">
            <a:avLst/>
          </a:prstGeom>
          <a:solidFill>
            <a:srgbClr val="2A7A4A"/>
          </a:solidFill>
          <a:ln cap="flat" cmpd="sng" w="12700">
            <a:solidFill>
              <a:srgbClr val="2A7A4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1" name="Google Shape;731;p20"/>
          <p:cNvSpPr/>
          <p:nvPr/>
        </p:nvSpPr>
        <p:spPr>
          <a:xfrm>
            <a:off x="320040" y="4369910"/>
            <a:ext cx="17373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20"/>
          <p:cNvSpPr/>
          <p:nvPr/>
        </p:nvSpPr>
        <p:spPr>
          <a:xfrm>
            <a:off x="411480" y="4406486"/>
            <a:ext cx="1609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Deployment Defensible?</a:t>
            </a:r>
            <a:endParaRPr sz="1000">
              <a:solidFill>
                <a:schemeClr val="dk1"/>
              </a:solidFill>
              <a:latin typeface="Calibri"/>
              <a:ea typeface="Calibri"/>
              <a:cs typeface="Calibri"/>
              <a:sym typeface="Calibri"/>
            </a:endParaRPr>
          </a:p>
        </p:txBody>
      </p:sp>
      <p:sp>
        <p:nvSpPr>
          <p:cNvPr id="733" name="Google Shape;733;p20"/>
          <p:cNvSpPr/>
          <p:nvPr/>
        </p:nvSpPr>
        <p:spPr>
          <a:xfrm>
            <a:off x="2057400" y="4369910"/>
            <a:ext cx="19203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20"/>
          <p:cNvSpPr/>
          <p:nvPr/>
        </p:nvSpPr>
        <p:spPr>
          <a:xfrm>
            <a:off x="2148840" y="4406486"/>
            <a:ext cx="17922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4 pre-conditions must close before production go-live</a:t>
            </a:r>
            <a:endParaRPr sz="1000">
              <a:solidFill>
                <a:schemeClr val="dk1"/>
              </a:solidFill>
              <a:latin typeface="Calibri"/>
              <a:ea typeface="Calibri"/>
              <a:cs typeface="Calibri"/>
              <a:sym typeface="Calibri"/>
            </a:endParaRPr>
          </a:p>
        </p:txBody>
      </p:sp>
      <p:sp>
        <p:nvSpPr>
          <p:cNvPr id="735" name="Google Shape;735;p20"/>
          <p:cNvSpPr/>
          <p:nvPr/>
        </p:nvSpPr>
        <p:spPr>
          <a:xfrm>
            <a:off x="3977640" y="4369910"/>
            <a:ext cx="16917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6" name="Google Shape;736;p20"/>
          <p:cNvSpPr/>
          <p:nvPr/>
        </p:nvSpPr>
        <p:spPr>
          <a:xfrm>
            <a:off x="4069080" y="4406486"/>
            <a:ext cx="15636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All applicants</a:t>
            </a:r>
            <a:endParaRPr sz="1000">
              <a:solidFill>
                <a:schemeClr val="dk1"/>
              </a:solidFill>
              <a:latin typeface="Calibri"/>
              <a:ea typeface="Calibri"/>
              <a:cs typeface="Calibri"/>
              <a:sym typeface="Calibri"/>
            </a:endParaRPr>
          </a:p>
        </p:txBody>
      </p:sp>
      <p:sp>
        <p:nvSpPr>
          <p:cNvPr id="737" name="Google Shape;737;p20"/>
          <p:cNvSpPr/>
          <p:nvPr/>
        </p:nvSpPr>
        <p:spPr>
          <a:xfrm>
            <a:off x="5669280" y="4369910"/>
            <a:ext cx="13716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8" name="Google Shape;738;p20"/>
          <p:cNvSpPr/>
          <p:nvPr/>
        </p:nvSpPr>
        <p:spPr>
          <a:xfrm>
            <a:off x="5760720" y="4406486"/>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5F4EF"/>
              </a:buClr>
              <a:buSzPts val="1000"/>
              <a:buFont typeface="Calibri"/>
              <a:buNone/>
            </a:pPr>
            <a:r>
              <a:rPr lang="en-US" sz="1000">
                <a:solidFill>
                  <a:srgbClr val="F5F4EF"/>
                </a:solidFill>
                <a:latin typeface="Calibri"/>
                <a:ea typeface="Calibri"/>
                <a:cs typeface="Calibri"/>
                <a:sym typeface="Calibri"/>
              </a:rPr>
              <a:t>NIST AI RMF</a:t>
            </a:r>
            <a:endParaRPr sz="1000">
              <a:solidFill>
                <a:schemeClr val="dk1"/>
              </a:solidFill>
              <a:latin typeface="Calibri"/>
              <a:ea typeface="Calibri"/>
              <a:cs typeface="Calibri"/>
              <a:sym typeface="Calibri"/>
            </a:endParaRPr>
          </a:p>
        </p:txBody>
      </p:sp>
      <p:sp>
        <p:nvSpPr>
          <p:cNvPr id="739" name="Google Shape;739;p20"/>
          <p:cNvSpPr/>
          <p:nvPr/>
        </p:nvSpPr>
        <p:spPr>
          <a:xfrm>
            <a:off x="7040880" y="4369910"/>
            <a:ext cx="1371600" cy="585300"/>
          </a:xfrm>
          <a:prstGeom prst="rect">
            <a:avLst/>
          </a:prstGeom>
          <a:solidFill>
            <a:srgbClr val="1C2B3A"/>
          </a:solidFill>
          <a:ln cap="flat" cmpd="sng" w="9525">
            <a:solidFill>
              <a:srgbClr val="2A3F5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0" name="Google Shape;740;p20"/>
          <p:cNvSpPr/>
          <p:nvPr/>
        </p:nvSpPr>
        <p:spPr>
          <a:xfrm>
            <a:off x="7132320" y="4406486"/>
            <a:ext cx="1243500" cy="51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90A4"/>
              </a:buClr>
              <a:buSzPts val="1000"/>
              <a:buFont typeface="Calibri"/>
              <a:buNone/>
            </a:pPr>
            <a:r>
              <a:rPr b="1" lang="en-US" sz="1000">
                <a:solidFill>
                  <a:srgbClr val="4A90A4"/>
                </a:solidFill>
                <a:latin typeface="Calibri"/>
                <a:ea typeface="Calibri"/>
                <a:cs typeface="Calibri"/>
                <a:sym typeface="Calibri"/>
              </a:rPr>
              <a:t>CONDITIONAL</a:t>
            </a:r>
            <a:endParaRPr sz="1000">
              <a:solidFill>
                <a:schemeClr val="dk1"/>
              </a:solidFill>
              <a:latin typeface="Calibri"/>
              <a:ea typeface="Calibri"/>
              <a:cs typeface="Calibri"/>
              <a:sym typeface="Calibri"/>
            </a:endParaRPr>
          </a:p>
        </p:txBody>
      </p:sp>
      <p:sp>
        <p:nvSpPr>
          <p:cNvPr id="741" name="Google Shape;741;p20"/>
          <p:cNvSpPr/>
          <p:nvPr/>
        </p:nvSpPr>
        <p:spPr>
          <a:xfrm>
            <a:off x="320040" y="4369910"/>
            <a:ext cx="45600" cy="585300"/>
          </a:xfrm>
          <a:prstGeom prst="rect">
            <a:avLst/>
          </a:prstGeom>
          <a:solidFill>
            <a:srgbClr val="4A90A4"/>
          </a:solidFill>
          <a:ln cap="flat" cmpd="sng" w="12700">
            <a:solidFill>
              <a:srgbClr val="4A90A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746" name="Shape 746"/>
        <p:cNvGrpSpPr/>
        <p:nvPr/>
      </p:nvGrpSpPr>
      <p:grpSpPr>
        <a:xfrm>
          <a:off x="0" y="0"/>
          <a:ext cx="0" cy="0"/>
          <a:chOff x="0" y="0"/>
          <a:chExt cx="0" cy="0"/>
        </a:xfrm>
      </p:grpSpPr>
      <p:sp>
        <p:nvSpPr>
          <p:cNvPr id="747" name="Google Shape;747;p21"/>
          <p:cNvSpPr/>
          <p:nvPr/>
        </p:nvSpPr>
        <p:spPr>
          <a:xfrm>
            <a:off x="-1097280" y="-1097280"/>
            <a:ext cx="4114800" cy="4114800"/>
          </a:xfrm>
          <a:prstGeom prst="ellipse">
            <a:avLst/>
          </a:prstGeom>
          <a:solidFill>
            <a:srgbClr val="1C2B4A">
              <a:alpha val="30199"/>
            </a:srgbClr>
          </a:solidFill>
          <a:ln cap="flat" cmpd="sng" w="12700">
            <a:solidFill>
              <a:srgbClr val="1C2B4A">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1"/>
          <p:cNvSpPr/>
          <p:nvPr/>
        </p:nvSpPr>
        <p:spPr>
          <a:xfrm>
            <a:off x="6858000" y="2926080"/>
            <a:ext cx="3657600" cy="3657600"/>
          </a:xfrm>
          <a:prstGeom prst="ellipse">
            <a:avLst/>
          </a:prstGeom>
          <a:solidFill>
            <a:srgbClr val="1C2B4A">
              <a:alpha val="30199"/>
            </a:srgbClr>
          </a:solidFill>
          <a:ln cap="flat" cmpd="sng" w="12700">
            <a:solidFill>
              <a:srgbClr val="1C2B4A">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1"/>
          <p:cNvSpPr/>
          <p:nvPr/>
        </p:nvSpPr>
        <p:spPr>
          <a:xfrm>
            <a:off x="0" y="0"/>
            <a:ext cx="201300" cy="5143500"/>
          </a:xfrm>
          <a:prstGeom prst="rect">
            <a:avLst/>
          </a:prstGeom>
          <a:solidFill>
            <a:srgbClr val="C0392B"/>
          </a:solidFill>
          <a:ln cap="flat" cmpd="sng" w="12700">
            <a:solidFill>
              <a:srgbClr val="C03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1"/>
          <p:cNvSpPr/>
          <p:nvPr/>
        </p:nvSpPr>
        <p:spPr>
          <a:xfrm>
            <a:off x="502925" y="2907805"/>
            <a:ext cx="8282400" cy="18300"/>
          </a:xfrm>
          <a:prstGeom prst="rect">
            <a:avLst/>
          </a:prstGeom>
          <a:solidFill>
            <a:srgbClr val="C49A22"/>
          </a:solidFill>
          <a:ln cap="flat" cmpd="sng" w="12700">
            <a:solidFill>
              <a:srgbClr val="C49A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1"/>
          <p:cNvSpPr/>
          <p:nvPr/>
        </p:nvSpPr>
        <p:spPr>
          <a:xfrm>
            <a:off x="502920" y="347472"/>
            <a:ext cx="8229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2"/>
              </a:buClr>
              <a:buSzPts val="1000"/>
              <a:buFont typeface="Calibri"/>
              <a:buNone/>
            </a:pPr>
            <a:r>
              <a:rPr b="0" i="0" lang="en-US" sz="1000" u="none" cap="none" strike="noStrike">
                <a:solidFill>
                  <a:srgbClr val="6B7A92"/>
                </a:solidFill>
                <a:latin typeface="Calibri"/>
                <a:ea typeface="Calibri"/>
                <a:cs typeface="Calibri"/>
                <a:sym typeface="Calibri"/>
              </a:rPr>
              <a:t>DNSC 6330  ·  Responsible Machine Learning  ·  George Washington University</a:t>
            </a:r>
            <a:endParaRPr b="0" i="0" sz="1000" u="none" cap="none" strike="noStrike">
              <a:solidFill>
                <a:schemeClr val="dk1"/>
              </a:solidFill>
              <a:latin typeface="Calibri"/>
              <a:ea typeface="Calibri"/>
              <a:cs typeface="Calibri"/>
              <a:sym typeface="Calibri"/>
            </a:endParaRPr>
          </a:p>
        </p:txBody>
      </p:sp>
      <p:sp>
        <p:nvSpPr>
          <p:cNvPr id="752" name="Google Shape;752;p21"/>
          <p:cNvSpPr/>
          <p:nvPr/>
        </p:nvSpPr>
        <p:spPr>
          <a:xfrm>
            <a:off x="502920" y="1467624"/>
            <a:ext cx="7863900" cy="141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800"/>
              <a:buFont typeface="Georgia"/>
              <a:buNone/>
            </a:pPr>
            <a:r>
              <a:rPr b="1" lang="en-US" sz="4800">
                <a:solidFill>
                  <a:srgbClr val="FFFFFF"/>
                </a:solidFill>
                <a:latin typeface="Georgia"/>
                <a:ea typeface="Georgia"/>
                <a:cs typeface="Georgia"/>
                <a:sym typeface="Georgia"/>
              </a:rPr>
              <a:t>THANK YOU</a:t>
            </a:r>
            <a:endParaRPr b="0" i="0" sz="4800" u="none" cap="none" strike="noStrike">
              <a:solidFill>
                <a:schemeClr val="dk1"/>
              </a:solidFill>
              <a:latin typeface="Calibri"/>
              <a:ea typeface="Calibri"/>
              <a:cs typeface="Calibri"/>
              <a:sym typeface="Calibri"/>
            </a:endParaRPr>
          </a:p>
        </p:txBody>
      </p:sp>
      <p:sp>
        <p:nvSpPr>
          <p:cNvPr id="753" name="Google Shape;753;p21"/>
          <p:cNvSpPr/>
          <p:nvPr/>
        </p:nvSpPr>
        <p:spPr>
          <a:xfrm>
            <a:off x="502920" y="3090672"/>
            <a:ext cx="2743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9A22"/>
              </a:buClr>
              <a:buSzPts val="900"/>
              <a:buFont typeface="Calibri"/>
              <a:buNone/>
            </a:pPr>
            <a:r>
              <a:rPr b="1" i="0" lang="en-US" sz="900" u="none" cap="none" strike="noStrike">
                <a:solidFill>
                  <a:srgbClr val="C49A22"/>
                </a:solidFill>
                <a:latin typeface="Calibri"/>
                <a:ea typeface="Calibri"/>
                <a:cs typeface="Calibri"/>
                <a:sym typeface="Calibri"/>
              </a:rPr>
              <a:t>PRESENTED BY</a:t>
            </a:r>
            <a:endParaRPr b="0" i="0" sz="900" u="none" cap="none" strike="noStrike">
              <a:solidFill>
                <a:schemeClr val="dk1"/>
              </a:solidFill>
              <a:latin typeface="Calibri"/>
              <a:ea typeface="Calibri"/>
              <a:cs typeface="Calibri"/>
              <a:sym typeface="Calibri"/>
            </a:endParaRPr>
          </a:p>
        </p:txBody>
      </p:sp>
      <p:sp>
        <p:nvSpPr>
          <p:cNvPr id="754" name="Google Shape;754;p21"/>
          <p:cNvSpPr/>
          <p:nvPr/>
        </p:nvSpPr>
        <p:spPr>
          <a:xfrm>
            <a:off x="502920" y="3429000"/>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Natchapa Aunkay (Gift)</a:t>
            </a:r>
            <a:endParaRPr b="0" i="0" sz="1300" u="none" cap="none" strike="noStrike">
              <a:solidFill>
                <a:schemeClr val="dk1"/>
              </a:solidFill>
              <a:latin typeface="Calibri"/>
              <a:ea typeface="Calibri"/>
              <a:cs typeface="Calibri"/>
              <a:sym typeface="Calibri"/>
            </a:endParaRPr>
          </a:p>
        </p:txBody>
      </p:sp>
      <p:sp>
        <p:nvSpPr>
          <p:cNvPr id="755" name="Google Shape;755;p21"/>
          <p:cNvSpPr/>
          <p:nvPr/>
        </p:nvSpPr>
        <p:spPr>
          <a:xfrm>
            <a:off x="502920" y="3730752"/>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Hazel Mugadza</a:t>
            </a:r>
            <a:endParaRPr b="0" i="0" sz="1300" u="none" cap="none" strike="noStrike">
              <a:solidFill>
                <a:schemeClr val="dk1"/>
              </a:solidFill>
              <a:latin typeface="Calibri"/>
              <a:ea typeface="Calibri"/>
              <a:cs typeface="Calibri"/>
              <a:sym typeface="Calibri"/>
            </a:endParaRPr>
          </a:p>
        </p:txBody>
      </p:sp>
      <p:sp>
        <p:nvSpPr>
          <p:cNvPr id="756" name="Google Shape;756;p21"/>
          <p:cNvSpPr/>
          <p:nvPr/>
        </p:nvSpPr>
        <p:spPr>
          <a:xfrm>
            <a:off x="502920" y="4032504"/>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Shreyas Kuradagi</a:t>
            </a:r>
            <a:endParaRPr b="0" i="0" sz="1300" u="none" cap="none" strike="noStrike">
              <a:solidFill>
                <a:schemeClr val="dk1"/>
              </a:solidFill>
              <a:latin typeface="Calibri"/>
              <a:ea typeface="Calibri"/>
              <a:cs typeface="Calibri"/>
              <a:sym typeface="Calibri"/>
            </a:endParaRPr>
          </a:p>
        </p:txBody>
      </p:sp>
      <p:sp>
        <p:nvSpPr>
          <p:cNvPr id="757" name="Google Shape;757;p21"/>
          <p:cNvSpPr/>
          <p:nvPr/>
        </p:nvSpPr>
        <p:spPr>
          <a:xfrm>
            <a:off x="3429000" y="3429000"/>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Tatenda Kagande</a:t>
            </a:r>
            <a:endParaRPr b="0" i="0" sz="1300" u="none" cap="none" strike="noStrike">
              <a:solidFill>
                <a:schemeClr val="dk1"/>
              </a:solidFill>
              <a:latin typeface="Calibri"/>
              <a:ea typeface="Calibri"/>
              <a:cs typeface="Calibri"/>
              <a:sym typeface="Calibri"/>
            </a:endParaRPr>
          </a:p>
        </p:txBody>
      </p:sp>
      <p:sp>
        <p:nvSpPr>
          <p:cNvPr id="758" name="Google Shape;758;p21"/>
          <p:cNvSpPr/>
          <p:nvPr/>
        </p:nvSpPr>
        <p:spPr>
          <a:xfrm>
            <a:off x="3429000" y="3730752"/>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Oliastic Ngoshi</a:t>
            </a:r>
            <a:endParaRPr b="0" i="0" sz="1300" u="none" cap="none" strike="noStrike">
              <a:solidFill>
                <a:schemeClr val="dk1"/>
              </a:solidFill>
              <a:latin typeface="Calibri"/>
              <a:ea typeface="Calibri"/>
              <a:cs typeface="Calibri"/>
              <a:sym typeface="Calibri"/>
            </a:endParaRPr>
          </a:p>
        </p:txBody>
      </p:sp>
      <p:sp>
        <p:nvSpPr>
          <p:cNvPr id="759" name="Google Shape;759;p21"/>
          <p:cNvSpPr/>
          <p:nvPr/>
        </p:nvSpPr>
        <p:spPr>
          <a:xfrm>
            <a:off x="3429000" y="4032504"/>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0D6E0"/>
              </a:buClr>
              <a:buSzPts val="1300"/>
              <a:buFont typeface="Calibri"/>
              <a:buNone/>
            </a:pPr>
            <a:r>
              <a:rPr lang="en-US" sz="1300">
                <a:solidFill>
                  <a:srgbClr val="D0D6E0"/>
                </a:solidFill>
                <a:latin typeface="Calibri"/>
                <a:ea typeface="Calibri"/>
                <a:cs typeface="Calibri"/>
                <a:sym typeface="Calibri"/>
              </a:rPr>
              <a:t>Steven Chu</a:t>
            </a:r>
            <a:endParaRPr b="0" i="0" sz="1300" u="none" cap="none" strike="noStrike">
              <a:solidFill>
                <a:schemeClr val="dk1"/>
              </a:solidFill>
              <a:latin typeface="Calibri"/>
              <a:ea typeface="Calibri"/>
              <a:cs typeface="Calibri"/>
              <a:sym typeface="Calibri"/>
            </a:endParaRPr>
          </a:p>
        </p:txBody>
      </p:sp>
      <p:sp>
        <p:nvSpPr>
          <p:cNvPr id="760" name="Google Shape;760;p21"/>
          <p:cNvSpPr/>
          <p:nvPr/>
        </p:nvSpPr>
        <p:spPr>
          <a:xfrm>
            <a:off x="0" y="4960620"/>
            <a:ext cx="9144000" cy="183000"/>
          </a:xfrm>
          <a:prstGeom prst="rect">
            <a:avLst/>
          </a:prstGeom>
          <a:solidFill>
            <a:srgbClr val="C0392B">
              <a:alpha val="40000"/>
            </a:srgbClr>
          </a:solidFill>
          <a:ln cap="flat" cmpd="sng" w="12700">
            <a:solidFill>
              <a:srgbClr val="C0392B">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