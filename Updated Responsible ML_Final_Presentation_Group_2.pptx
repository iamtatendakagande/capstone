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67" r:id="rId14"/>
    <p:sldId id="268" r:id="rId15"/>
    <p:sldId id="269" r:id="rId16"/>
    <p:sldId id="270" r:id="rId17"/>
    <p:sldId id="271" r:id="rId18"/>
    <p:sldId id="272" r:id="rId19"/>
    <p:sldId id="273" r:id="rId20"/>
    <p:sldId id="274" r:id="rId2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E50B99-0EE5-4D77-ACAF-0EF031F8B03B}">
  <a:tblStyle styleId="{7AE50B99-0EE5-4D77-ACAF-0EF031F8B03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6"/>
  </p:normalViewPr>
  <p:slideViewPr>
    <p:cSldViewPr snapToGrid="0">
      <p:cViewPr varScale="1">
        <p:scale>
          <a:sx n="143" d="100"/>
          <a:sy n="143" d="100"/>
        </p:scale>
        <p:origin x="6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g3dbe971301e_0_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g3dbe971301e_0_1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g3dbe971301e_0_1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dd94ae34f3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 name="Google Shape;50;g3dd94ae34f3_0_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g3dd94ae34f3_0_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d94ae34f3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g3dd94ae34f3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000" b="1">
                <a:solidFill>
                  <a:srgbClr val="1C2B4A"/>
                </a:solidFill>
              </a:rPr>
              <a:t>Now I’ll discuss Question 2, which focuses on known failure modes in our HMDA mortgage approval model.</a:t>
            </a:r>
            <a:endParaRPr sz="1000" b="1">
              <a:solidFill>
                <a:srgbClr val="1C2B4A"/>
              </a:solidFill>
            </a:endParaRPr>
          </a:p>
          <a:p>
            <a:pPr marL="0" lvl="0" indent="0" algn="l" rtl="0">
              <a:lnSpc>
                <a:spcPct val="115000"/>
              </a:lnSpc>
              <a:spcBef>
                <a:spcPts val="1200"/>
              </a:spcBef>
              <a:spcAft>
                <a:spcPts val="0"/>
              </a:spcAft>
              <a:buClr>
                <a:schemeClr val="dk1"/>
              </a:buClr>
              <a:buSzPts val="1100"/>
              <a:buFont typeface="Arial"/>
              <a:buNone/>
            </a:pPr>
            <a:r>
              <a:rPr lang="en-US" sz="1000" b="1">
                <a:solidFill>
                  <a:srgbClr val="1C2B4A"/>
                </a:solidFill>
              </a:rPr>
              <a:t>Our goal was to identify where the model breaks down, why it fails, and which groups are harmed when these failures occur.</a:t>
            </a:r>
            <a:endParaRPr sz="1000" b="1">
              <a:solidFill>
                <a:srgbClr val="1C2B4A"/>
              </a:solidFill>
            </a:endParaRPr>
          </a:p>
          <a:p>
            <a:pPr marL="0" lvl="0" indent="0" algn="l" rtl="0">
              <a:lnSpc>
                <a:spcPct val="115000"/>
              </a:lnSpc>
              <a:spcBef>
                <a:spcPts val="1200"/>
              </a:spcBef>
              <a:spcAft>
                <a:spcPts val="0"/>
              </a:spcAft>
              <a:buClr>
                <a:schemeClr val="dk1"/>
              </a:buClr>
              <a:buSzPts val="1100"/>
              <a:buFont typeface="Arial"/>
              <a:buNone/>
            </a:pPr>
            <a:r>
              <a:rPr lang="en-US" sz="1000" b="1">
                <a:solidFill>
                  <a:srgbClr val="1C2B4A"/>
                </a:solidFill>
              </a:rPr>
              <a:t>To analyze this, we used four main techniques:</a:t>
            </a:r>
            <a:endParaRPr sz="1000" b="1">
              <a:solidFill>
                <a:srgbClr val="1C2B4A"/>
              </a:solidFill>
            </a:endParaRPr>
          </a:p>
          <a:p>
            <a:pPr marL="457200" lvl="0" indent="-292100" algn="l" rtl="0">
              <a:lnSpc>
                <a:spcPct val="115000"/>
              </a:lnSpc>
              <a:spcBef>
                <a:spcPts val="1200"/>
              </a:spcBef>
              <a:spcAft>
                <a:spcPts val="0"/>
              </a:spcAft>
              <a:buClr>
                <a:schemeClr val="dk1"/>
              </a:buClr>
              <a:buSzPts val="1000"/>
              <a:buFont typeface="Calibri"/>
              <a:buChar char="●"/>
            </a:pPr>
            <a:r>
              <a:rPr lang="en-US" sz="1000" b="1">
                <a:solidFill>
                  <a:srgbClr val="1C2B4A"/>
                </a:solidFill>
              </a:rPr>
              <a:t>SHAP for global and local feature importance,</a:t>
            </a:r>
            <a:endParaRPr sz="1000" b="1">
              <a:solidFill>
                <a:srgbClr val="1C2B4A"/>
              </a:solidFill>
            </a:endParaRPr>
          </a:p>
          <a:p>
            <a:pPr marL="457200" lvl="0" indent="-292100" algn="l" rtl="0">
              <a:lnSpc>
                <a:spcPct val="115000"/>
              </a:lnSpc>
              <a:spcBef>
                <a:spcPts val="0"/>
              </a:spcBef>
              <a:spcAft>
                <a:spcPts val="0"/>
              </a:spcAft>
              <a:buClr>
                <a:schemeClr val="dk1"/>
              </a:buClr>
              <a:buSzPts val="1000"/>
              <a:buFont typeface="Calibri"/>
              <a:buChar char="●"/>
            </a:pPr>
            <a:r>
              <a:rPr lang="en-US" sz="1000" b="1">
                <a:solidFill>
                  <a:srgbClr val="1C2B4A"/>
                </a:solidFill>
              </a:rPr>
              <a:t>waterfall explanations for individual decisions,</a:t>
            </a:r>
            <a:endParaRPr sz="1000" b="1">
              <a:solidFill>
                <a:srgbClr val="1C2B4A"/>
              </a:solidFill>
            </a:endParaRPr>
          </a:p>
          <a:p>
            <a:pPr marL="457200" lvl="0" indent="-292100" algn="l" rtl="0">
              <a:lnSpc>
                <a:spcPct val="115000"/>
              </a:lnSpc>
              <a:spcBef>
                <a:spcPts val="0"/>
              </a:spcBef>
              <a:spcAft>
                <a:spcPts val="0"/>
              </a:spcAft>
              <a:buClr>
                <a:schemeClr val="dk1"/>
              </a:buClr>
              <a:buSzPts val="1000"/>
              <a:buFont typeface="Calibri"/>
              <a:buChar char="●"/>
            </a:pPr>
            <a:r>
              <a:rPr lang="en-US" sz="1000" b="1">
                <a:solidFill>
                  <a:srgbClr val="1C2B4A"/>
                </a:solidFill>
              </a:rPr>
              <a:t>DiCE counterfactual analysis,</a:t>
            </a:r>
            <a:endParaRPr sz="1000" b="1">
              <a:solidFill>
                <a:srgbClr val="1C2B4A"/>
              </a:solidFill>
            </a:endParaRPr>
          </a:p>
          <a:p>
            <a:pPr marL="457200" lvl="0" indent="-292100" algn="l" rtl="0">
              <a:lnSpc>
                <a:spcPct val="115000"/>
              </a:lnSpc>
              <a:spcBef>
                <a:spcPts val="0"/>
              </a:spcBef>
              <a:spcAft>
                <a:spcPts val="0"/>
              </a:spcAft>
              <a:buClr>
                <a:schemeClr val="dk1"/>
              </a:buClr>
              <a:buSzPts val="1000"/>
              <a:buFont typeface="Calibri"/>
              <a:buChar char="●"/>
            </a:pPr>
            <a:r>
              <a:rPr lang="en-US" sz="1000" b="1">
                <a:solidFill>
                  <a:srgbClr val="1C2B4A"/>
                </a:solidFill>
              </a:rPr>
              <a:t>and PSI with stress testing for feature drift.</a:t>
            </a:r>
            <a:endParaRPr sz="1000" b="1">
              <a:solidFill>
                <a:srgbClr val="1C2B4A"/>
              </a:solidFill>
            </a:endParaRPr>
          </a:p>
          <a:p>
            <a:pPr marL="0" lvl="0" indent="0" algn="l" rtl="0">
              <a:lnSpc>
                <a:spcPct val="115000"/>
              </a:lnSpc>
              <a:spcBef>
                <a:spcPts val="1200"/>
              </a:spcBef>
              <a:spcAft>
                <a:spcPts val="0"/>
              </a:spcAft>
              <a:buClr>
                <a:schemeClr val="dk1"/>
              </a:buClr>
              <a:buSzPts val="1100"/>
              <a:buFont typeface="Arial"/>
              <a:buNone/>
            </a:pPr>
            <a:r>
              <a:rPr lang="en-US" sz="1000" b="1">
                <a:solidFill>
                  <a:srgbClr val="1C2B4A"/>
                </a:solidFill>
              </a:rPr>
              <a:t>From this analysis, we identified four major failure modes:</a:t>
            </a:r>
            <a:br>
              <a:rPr lang="en-US" sz="1000" b="1">
                <a:solidFill>
                  <a:srgbClr val="1C2B4A"/>
                </a:solidFill>
              </a:rPr>
            </a:br>
            <a:r>
              <a:rPr lang="en-US" sz="1000" b="1">
                <a:solidFill>
                  <a:srgbClr val="1C2B4A"/>
                </a:solidFill>
              </a:rPr>
              <a:t>proxy bias, risk override, recourse failure, and feature drift.</a:t>
            </a:r>
            <a:endParaRPr sz="1000" b="1">
              <a:solidFill>
                <a:srgbClr val="1C2B4A"/>
              </a:solidFill>
            </a:endParaRPr>
          </a:p>
          <a:p>
            <a:pPr marL="0" lvl="0" indent="0" algn="l" rtl="0">
              <a:spcBef>
                <a:spcPts val="1200"/>
              </a:spcBef>
              <a:spcAft>
                <a:spcPts val="0"/>
              </a:spcAft>
              <a:buClr>
                <a:schemeClr val="lt1"/>
              </a:buClr>
              <a:buSzPts val="1800"/>
              <a:buFont typeface="Calibri"/>
              <a:buNone/>
            </a:pPr>
            <a:endParaRPr sz="2600" b="1">
              <a:solidFill>
                <a:srgbClr val="1C2B4A"/>
              </a:solidFill>
            </a:endParaRPr>
          </a:p>
        </p:txBody>
      </p:sp>
      <p:sp>
        <p:nvSpPr>
          <p:cNvPr id="60" name="Google Shape;60;g3dd94ae34f3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be971301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g3dbe971301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Our first failure mode is something we're calling proxy discrimination, and it's the one with the most serious legal implications.</a:t>
            </a:r>
            <a:endParaRPr/>
          </a:p>
          <a:p>
            <a:pPr marL="0" lvl="0" indent="0" algn="l" rtl="0">
              <a:lnSpc>
                <a:spcPct val="115000"/>
              </a:lnSpc>
              <a:spcBef>
                <a:spcPts val="1200"/>
              </a:spcBef>
              <a:spcAft>
                <a:spcPts val="0"/>
              </a:spcAft>
              <a:buClr>
                <a:schemeClr val="dk1"/>
              </a:buClr>
              <a:buSzPts val="1100"/>
              <a:buFont typeface="Arial"/>
              <a:buNone/>
            </a:pPr>
            <a:r>
              <a:rPr lang="en-US"/>
              <a:t>Here's the issue. Our model uses the median income of the applicant's neighborhood as one of its inputs. That sounds reasonable on the surface -- neighborhood income seems like a legitimate financial signal. But when we dug into the data, we found something troubling.</a:t>
            </a:r>
            <a:endParaRPr/>
          </a:p>
          <a:p>
            <a:pPr marL="0" lvl="0" indent="0" algn="l" rtl="0">
              <a:lnSpc>
                <a:spcPct val="115000"/>
              </a:lnSpc>
              <a:spcBef>
                <a:spcPts val="1200"/>
              </a:spcBef>
              <a:spcAft>
                <a:spcPts val="0"/>
              </a:spcAft>
              <a:buSzPts val="1100"/>
              <a:buNone/>
            </a:pPr>
            <a:r>
              <a:rPr lang="en-US"/>
              <a:t>We used a method called SHAP, which essentially asks: for this specific applicant, what factors pushed the model toward approving or denying them? And what we found is that the same neighborhood income feature was pushing African-American applicants toward denial while pushing Caucasian applicants toward approval. This is due to something called residential segregation. For most of the 20th century, Black Americans were systematically blocked from building wealth through homeownership. Banks refused to give mortgages in Black neighborhoods, a practice called redlining. The federal government then backed loans for white families moving to the suburbs while explicitly excluding Black families. Entire generations were locked out of the primary way most American families accumulate wealth.</a:t>
            </a:r>
            <a:endParaRPr/>
          </a:p>
          <a:p>
            <a:pPr marL="0" lvl="0" indent="0" algn="l" rtl="0">
              <a:lnSpc>
                <a:spcPct val="115000"/>
              </a:lnSpc>
              <a:spcBef>
                <a:spcPts val="1200"/>
              </a:spcBef>
              <a:spcAft>
                <a:spcPts val="0"/>
              </a:spcAft>
              <a:buClr>
                <a:schemeClr val="dk1"/>
              </a:buClr>
              <a:buSzPts val="1100"/>
              <a:buFont typeface="Arial"/>
              <a:buNone/>
            </a:pPr>
            <a:r>
              <a:rPr lang="en-US"/>
              <a:t>The result is that today, neighborhood income and neighborhood demographics are deeply correlated not by coincidence, but by policy. Our model never looks at race directly. However, it looks at zip codes. But due to that correlation we mentioned earlier, zip codes carry a lot more implications, so when the model penalizes someone for living in a lower-income neighborhood, it is -- without knowing it -- penalizing them for the consequences of discrimination their parents and grandparents faced. That's what we mean by proxy discrimination. The bias doesn't need to be intentional to cause real harm, and under fair lending law, that distinction doesn't matter.</a:t>
            </a:r>
            <a:endParaRPr/>
          </a:p>
          <a:p>
            <a:pPr marL="0" lvl="0" indent="0" algn="l" rtl="0">
              <a:lnSpc>
                <a:spcPct val="115000"/>
              </a:lnSpc>
              <a:spcBef>
                <a:spcPts val="1200"/>
              </a:spcBef>
              <a:spcAft>
                <a:spcPts val="0"/>
              </a:spcAft>
              <a:buClr>
                <a:schemeClr val="dk1"/>
              </a:buClr>
              <a:buSzPts val="1100"/>
              <a:buFont typeface="Arial"/>
              <a:buNone/>
            </a:pPr>
            <a:r>
              <a:rPr lang="en-US"/>
              <a:t>We flagged this as high severity.</a:t>
            </a:r>
            <a:endParaRPr/>
          </a:p>
          <a:p>
            <a:pPr marL="0" lvl="0" indent="0" algn="l" rtl="0">
              <a:lnSpc>
                <a:spcPct val="115000"/>
              </a:lnSpc>
              <a:spcBef>
                <a:spcPts val="1200"/>
              </a:spcBef>
              <a:spcAft>
                <a:spcPts val="0"/>
              </a:spcAft>
              <a:buClr>
                <a:schemeClr val="dk1"/>
              </a:buClr>
              <a:buSzPts val="1100"/>
              <a:buFont typeface="Arial"/>
              <a:buNone/>
            </a:pPr>
            <a:r>
              <a:rPr lang="en-US"/>
              <a:t>—-------------</a:t>
            </a:r>
            <a:endParaRPr/>
          </a:p>
          <a:p>
            <a:pPr marL="0" lvl="0" indent="0" algn="l" rtl="0">
              <a:lnSpc>
                <a:spcPct val="115000"/>
              </a:lnSpc>
              <a:spcBef>
                <a:spcPts val="1200"/>
              </a:spcBef>
              <a:spcAft>
                <a:spcPts val="0"/>
              </a:spcAft>
              <a:buClr>
                <a:schemeClr val="dk1"/>
              </a:buClr>
              <a:buSzPts val="1100"/>
              <a:buFont typeface="Arial"/>
              <a:buNone/>
            </a:pPr>
            <a:r>
              <a:rPr lang="en-US"/>
              <a:t>This first failure mode is proxy discrimination through neighborhood income.</a:t>
            </a:r>
            <a:endParaRPr/>
          </a:p>
          <a:p>
            <a:pPr marL="0" lvl="0" indent="0" algn="l" rtl="0">
              <a:lnSpc>
                <a:spcPct val="115000"/>
              </a:lnSpc>
              <a:spcBef>
                <a:spcPts val="1200"/>
              </a:spcBef>
              <a:spcAft>
                <a:spcPts val="0"/>
              </a:spcAft>
              <a:buClr>
                <a:schemeClr val="dk1"/>
              </a:buClr>
              <a:buSzPts val="1100"/>
              <a:buFont typeface="Arial"/>
              <a:buNone/>
            </a:pPr>
            <a:r>
              <a:rPr lang="en-US"/>
              <a:t>The model heavily relies on features like FFIEC median family income, relative income, and loan purpose. SHAP analysis showed these were among the most influential features in the model.</a:t>
            </a:r>
            <a:endParaRPr/>
          </a:p>
          <a:p>
            <a:pPr marL="0" lvl="0" indent="0" algn="l" rtl="0">
              <a:lnSpc>
                <a:spcPct val="115000"/>
              </a:lnSpc>
              <a:spcBef>
                <a:spcPts val="1200"/>
              </a:spcBef>
              <a:spcAft>
                <a:spcPts val="0"/>
              </a:spcAft>
              <a:buClr>
                <a:schemeClr val="dk1"/>
              </a:buClr>
              <a:buSzPts val="1100"/>
              <a:buFont typeface="Arial"/>
              <a:buNone/>
            </a:pPr>
            <a:r>
              <a:rPr lang="en-US"/>
              <a:t>The issue is that FFIEC median family income represents the income level of the applicant’s census tract, not the individual applicant directly. Because residential segregation and historical redlining patterns still exist, the model may indirectly learn racial and socioeconomic patterns even though race itself is not included.</a:t>
            </a:r>
            <a:endParaRPr/>
          </a:p>
          <a:p>
            <a:pPr marL="0" lvl="0" indent="0" algn="l" rtl="0">
              <a:lnSpc>
                <a:spcPct val="115000"/>
              </a:lnSpc>
              <a:spcBef>
                <a:spcPts val="1200"/>
              </a:spcBef>
              <a:spcAft>
                <a:spcPts val="0"/>
              </a:spcAft>
              <a:buClr>
                <a:schemeClr val="dk1"/>
              </a:buClr>
              <a:buSzPts val="1100"/>
              <a:buFont typeface="Arial"/>
              <a:buNone/>
            </a:pPr>
            <a:r>
              <a:rPr lang="en-US"/>
              <a:t>As a result, applicants from historically disadvantaged neighborhoods may be penalized simply because of where they live rather than their true financial risk.</a:t>
            </a:r>
            <a:endParaRPr/>
          </a:p>
          <a:p>
            <a:pPr marL="0" lvl="0" indent="0" algn="l" rtl="0">
              <a:lnSpc>
                <a:spcPct val="115000"/>
              </a:lnSpc>
              <a:spcBef>
                <a:spcPts val="1200"/>
              </a:spcBef>
              <a:spcAft>
                <a:spcPts val="0"/>
              </a:spcAft>
              <a:buClr>
                <a:schemeClr val="dk1"/>
              </a:buClr>
              <a:buSzPts val="1100"/>
              <a:buFont typeface="Arial"/>
              <a:buNone/>
            </a:pPr>
            <a:r>
              <a:rPr lang="en-US"/>
              <a:t>This especially harms African-American applicants, who are disproportionately represented in lower-income census tracts.</a:t>
            </a:r>
            <a:endParaRPr/>
          </a:p>
          <a:p>
            <a:pPr marL="0" lvl="0" indent="0" algn="l" rtl="0">
              <a:lnSpc>
                <a:spcPct val="115000"/>
              </a:lnSpc>
              <a:spcBef>
                <a:spcPts val="1200"/>
              </a:spcBef>
              <a:spcAft>
                <a:spcPts val="0"/>
              </a:spcAft>
              <a:buClr>
                <a:schemeClr val="dk1"/>
              </a:buClr>
              <a:buSzPts val="1100"/>
              <a:buFont typeface="Arial"/>
              <a:buNone/>
            </a:pPr>
            <a:r>
              <a:rPr lang="en-US"/>
              <a:t>We classified this as a high-severity fairness risk and a potential ECOA compliance concern</a:t>
            </a: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spcBef>
                <a:spcPts val="1200"/>
              </a:spcBef>
              <a:spcAft>
                <a:spcPts val="0"/>
              </a:spcAft>
              <a:buNone/>
            </a:pPr>
            <a:endParaRPr/>
          </a:p>
        </p:txBody>
      </p:sp>
      <p:sp>
        <p:nvSpPr>
          <p:cNvPr id="89" name="Google Shape;89;g3dbe971301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be971301e_0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g3dbe971301e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Our second failure mode is a little more technical, but the plain English version is this: the model can be talked out of a red flag.</a:t>
            </a:r>
            <a:endParaRPr/>
          </a:p>
          <a:p>
            <a:pPr marL="0" lvl="0" indent="0" algn="l" rtl="0">
              <a:lnSpc>
                <a:spcPct val="115000"/>
              </a:lnSpc>
              <a:spcBef>
                <a:spcPts val="1200"/>
              </a:spcBef>
              <a:spcAft>
                <a:spcPts val="0"/>
              </a:spcAft>
              <a:buClr>
                <a:schemeClr val="dk1"/>
              </a:buClr>
              <a:buSzPts val="1100"/>
              <a:buFont typeface="Arial"/>
              <a:buNone/>
            </a:pPr>
            <a:r>
              <a:rPr lang="en-US"/>
              <a:t>Debt-to-income ratio is one of the most basic measures of whether someone can afford a loan. If your monthly debt payments eat up most of your income, that's a serious warning sign. Our model knows this. It correctly penalizes high DTI.</a:t>
            </a:r>
            <a:endParaRPr/>
          </a:p>
          <a:p>
            <a:pPr marL="0" lvl="0" indent="0" algn="l" rtl="0">
              <a:lnSpc>
                <a:spcPct val="115000"/>
              </a:lnSpc>
              <a:spcBef>
                <a:spcPts val="1200"/>
              </a:spcBef>
              <a:spcAft>
                <a:spcPts val="0"/>
              </a:spcAft>
              <a:buClr>
                <a:schemeClr val="dk1"/>
              </a:buClr>
              <a:buSzPts val="1100"/>
              <a:buFont typeface="Arial"/>
              <a:buNone/>
            </a:pPr>
            <a:r>
              <a:rPr lang="en-US"/>
              <a:t>But we found cases where another feature, loan purpose, was strong enough to completely cancel that penalty out. So you could have an applicant the model itself has flagged as extreme financial risk, and they still get approved because of why they want the loan.</a:t>
            </a:r>
            <a:endParaRPr/>
          </a:p>
          <a:p>
            <a:pPr marL="0" lvl="0" indent="0" algn="l" rtl="0">
              <a:lnSpc>
                <a:spcPct val="115000"/>
              </a:lnSpc>
              <a:spcBef>
                <a:spcPts val="1200"/>
              </a:spcBef>
              <a:spcAft>
                <a:spcPts val="0"/>
              </a:spcAft>
              <a:buClr>
                <a:schemeClr val="dk1"/>
              </a:buClr>
              <a:buSzPts val="1100"/>
              <a:buFont typeface="Arial"/>
              <a:buNone/>
            </a:pPr>
            <a:r>
              <a:rPr lang="en-US"/>
              <a:t>That's a problem. There's no floor, no hard limit that says 'regardless of everything else, extreme DTI means denial.' Every feature is tradeable against every other feature, which means the model's safety signals aren't actually safe.</a:t>
            </a:r>
            <a:endParaRPr/>
          </a:p>
          <a:p>
            <a:pPr marL="0" lvl="0" indent="0" algn="l" rtl="0">
              <a:lnSpc>
                <a:spcPct val="115000"/>
              </a:lnSpc>
              <a:spcBef>
                <a:spcPts val="1200"/>
              </a:spcBef>
              <a:spcAft>
                <a:spcPts val="0"/>
              </a:spcAft>
              <a:buClr>
                <a:schemeClr val="dk1"/>
              </a:buClr>
              <a:buSzPts val="1100"/>
              <a:buFont typeface="Arial"/>
              <a:buNone/>
            </a:pPr>
            <a:r>
              <a:rPr lang="en-US"/>
              <a:t>And just to flag briefly, that neighborhood income feature from failure mode one shows up here too, which tells us this isn't an isolated issue. These patterns are connected.</a:t>
            </a:r>
            <a:endParaRPr/>
          </a:p>
          <a:p>
            <a:pPr marL="0" lvl="0" indent="0" algn="l" rtl="0">
              <a:lnSpc>
                <a:spcPct val="115000"/>
              </a:lnSpc>
              <a:spcBef>
                <a:spcPts val="1200"/>
              </a:spcBef>
              <a:spcAft>
                <a:spcPts val="0"/>
              </a:spcAft>
              <a:buSzPts val="1100"/>
              <a:buNone/>
            </a:pPr>
            <a:r>
              <a:rPr lang="en-US"/>
              <a:t>The bottom line for this one is that the institution could be approving genuinely high-risk applicants, and when those loans go bad, there's no clear explanation for why they were approved in the first place. That's a legal and financial liability.</a:t>
            </a:r>
            <a:endParaRPr/>
          </a:p>
          <a:p>
            <a:pPr marL="0" lvl="0" indent="0" algn="l" rtl="0">
              <a:lnSpc>
                <a:spcPct val="115000"/>
              </a:lnSpc>
              <a:spcBef>
                <a:spcPts val="1200"/>
              </a:spcBef>
              <a:spcAft>
                <a:spcPts val="0"/>
              </a:spcAft>
              <a:buSzPts val="1100"/>
              <a:buNone/>
            </a:pPr>
            <a:r>
              <a:rPr lang="en-US"/>
              <a:t>—---------------</a:t>
            </a:r>
            <a:endParaRPr/>
          </a:p>
          <a:p>
            <a:pPr marL="0" lvl="0" indent="0" algn="l" rtl="0">
              <a:lnSpc>
                <a:spcPct val="115000"/>
              </a:lnSpc>
              <a:spcBef>
                <a:spcPts val="1200"/>
              </a:spcBef>
              <a:spcAft>
                <a:spcPts val="0"/>
              </a:spcAft>
              <a:buClr>
                <a:schemeClr val="dk1"/>
              </a:buClr>
              <a:buSzPts val="1100"/>
              <a:buFont typeface="Arial"/>
              <a:buNone/>
            </a:pPr>
            <a:r>
              <a:rPr lang="en-US"/>
              <a:t>This second failure mode shows that non-critical features can override fundamental financial risk signals.</a:t>
            </a:r>
            <a:endParaRPr/>
          </a:p>
          <a:p>
            <a:pPr marL="0" lvl="0" indent="0" algn="l" rtl="0">
              <a:lnSpc>
                <a:spcPct val="115000"/>
              </a:lnSpc>
              <a:spcBef>
                <a:spcPts val="1200"/>
              </a:spcBef>
              <a:spcAft>
                <a:spcPts val="0"/>
              </a:spcAft>
              <a:buClr>
                <a:schemeClr val="dk1"/>
              </a:buClr>
              <a:buSzPts val="1100"/>
              <a:buFont typeface="Arial"/>
              <a:buNone/>
            </a:pPr>
            <a:r>
              <a:rPr lang="en-US"/>
              <a:t>In the SHAP waterfall explanation, we found a high-risk applicant with extreme debt-to-income risk still received an approval prediction.</a:t>
            </a:r>
            <a:endParaRPr/>
          </a:p>
          <a:p>
            <a:pPr marL="0" lvl="0" indent="0" algn="l" rtl="0">
              <a:lnSpc>
                <a:spcPct val="115000"/>
              </a:lnSpc>
              <a:spcBef>
                <a:spcPts val="1200"/>
              </a:spcBef>
              <a:spcAft>
                <a:spcPts val="0"/>
              </a:spcAft>
              <a:buClr>
                <a:schemeClr val="dk1"/>
              </a:buClr>
              <a:buSzPts val="1100"/>
              <a:buFont typeface="Arial"/>
              <a:buNone/>
            </a:pPr>
            <a:r>
              <a:rPr lang="en-US"/>
              <a:t>The waterfall plot shows that loan purpose contributed a strong positive SHAP value of plus 0.84, while extreme DTI risk only contributed minus 0.72.</a:t>
            </a:r>
            <a:endParaRPr/>
          </a:p>
          <a:p>
            <a:pPr marL="0" lvl="0" indent="0" algn="l" rtl="0">
              <a:lnSpc>
                <a:spcPct val="115000"/>
              </a:lnSpc>
              <a:spcBef>
                <a:spcPts val="1200"/>
              </a:spcBef>
              <a:spcAft>
                <a:spcPts val="0"/>
              </a:spcAft>
              <a:buClr>
                <a:schemeClr val="dk1"/>
              </a:buClr>
              <a:buSzPts val="1100"/>
              <a:buFont typeface="Arial"/>
              <a:buNone/>
            </a:pPr>
            <a:r>
              <a:rPr lang="en-US"/>
              <a:t>Because the positive contribution was larger, the final prediction became approved.</a:t>
            </a:r>
            <a:endParaRPr/>
          </a:p>
          <a:p>
            <a:pPr marL="0" lvl="0" indent="0" algn="l" rtl="0">
              <a:lnSpc>
                <a:spcPct val="115000"/>
              </a:lnSpc>
              <a:spcBef>
                <a:spcPts val="1200"/>
              </a:spcBef>
              <a:spcAft>
                <a:spcPts val="0"/>
              </a:spcAft>
              <a:buClr>
                <a:schemeClr val="dk1"/>
              </a:buClr>
              <a:buSzPts val="1100"/>
              <a:buFont typeface="Arial"/>
              <a:buNone/>
            </a:pPr>
            <a:r>
              <a:rPr lang="en-US"/>
              <a:t>This reveals that the model treats features as independently tradeable rather than enforcing hard financial constraints. In other words, loan purpose can effectively cancel out dangerous financial risk.</a:t>
            </a:r>
            <a:endParaRPr/>
          </a:p>
          <a:p>
            <a:pPr marL="0" lvl="0" indent="0" algn="l" rtl="0">
              <a:lnSpc>
                <a:spcPct val="115000"/>
              </a:lnSpc>
              <a:spcBef>
                <a:spcPts val="1200"/>
              </a:spcBef>
              <a:spcAft>
                <a:spcPts val="0"/>
              </a:spcAft>
              <a:buClr>
                <a:schemeClr val="dk1"/>
              </a:buClr>
              <a:buSzPts val="1100"/>
              <a:buFont typeface="Arial"/>
              <a:buNone/>
            </a:pPr>
            <a:r>
              <a:rPr lang="en-US"/>
              <a:t>This creates inconsistent approvals and can especially harm minority applicants because similar financial risk profiles may receive different outcomes depending on feature interactions.</a:t>
            </a:r>
            <a:endParaRPr/>
          </a:p>
          <a:p>
            <a:pPr marL="0" lvl="0" indent="0" algn="l" rtl="0">
              <a:lnSpc>
                <a:spcPct val="115000"/>
              </a:lnSpc>
              <a:spcBef>
                <a:spcPts val="1200"/>
              </a:spcBef>
              <a:spcAft>
                <a:spcPts val="0"/>
              </a:spcAft>
              <a:buClr>
                <a:schemeClr val="dk1"/>
              </a:buClr>
              <a:buSzPts val="1100"/>
              <a:buFont typeface="Arial"/>
              <a:buNone/>
            </a:pPr>
            <a:r>
              <a:rPr lang="en-US"/>
              <a:t>We considered this a high-severity reliability and fairness issue.</a:t>
            </a:r>
            <a:endParaRPr/>
          </a:p>
          <a:p>
            <a:pPr marL="0" lvl="0" indent="0" algn="l" rtl="0">
              <a:lnSpc>
                <a:spcPct val="115000"/>
              </a:lnSpc>
              <a:spcBef>
                <a:spcPts val="1200"/>
              </a:spcBef>
              <a:spcAft>
                <a:spcPts val="1200"/>
              </a:spcAft>
              <a:buSzPts val="1100"/>
              <a:buNone/>
            </a:pPr>
            <a:endParaRPr/>
          </a:p>
        </p:txBody>
      </p:sp>
      <p:sp>
        <p:nvSpPr>
          <p:cNvPr id="126" name="Google Shape;126;g3dbe971301e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This third failure mode focuses on counterfactual explanations using DiCE.</a:t>
            </a:r>
            <a:endParaRPr/>
          </a:p>
          <a:p>
            <a:pPr marL="0" lvl="0" indent="0" algn="l" rtl="0">
              <a:lnSpc>
                <a:spcPct val="115000"/>
              </a:lnSpc>
              <a:spcBef>
                <a:spcPts val="1200"/>
              </a:spcBef>
              <a:spcAft>
                <a:spcPts val="0"/>
              </a:spcAft>
              <a:buClr>
                <a:schemeClr val="dk1"/>
              </a:buClr>
              <a:buSzPts val="1100"/>
              <a:buFont typeface="Arial"/>
              <a:buNone/>
            </a:pPr>
            <a:r>
              <a:rPr lang="en-US"/>
              <a:t>We tested whether rejected applicants could realistically improve their outcomes. However, the model generated recommendations that were mathematically valid but unrealistic in practice.</a:t>
            </a:r>
            <a:endParaRPr/>
          </a:p>
          <a:p>
            <a:pPr marL="0" lvl="0" indent="0" algn="l" rtl="0">
              <a:lnSpc>
                <a:spcPct val="115000"/>
              </a:lnSpc>
              <a:spcBef>
                <a:spcPts val="1200"/>
              </a:spcBef>
              <a:spcAft>
                <a:spcPts val="0"/>
              </a:spcAft>
              <a:buClr>
                <a:schemeClr val="dk1"/>
              </a:buClr>
              <a:buSzPts val="1100"/>
              <a:buFont typeface="Arial"/>
              <a:buNone/>
            </a:pPr>
            <a:r>
              <a:rPr lang="en-US"/>
              <a:t>For example, one counterfactual required increasing the applicant’s credit score from 620 to over 1,000 and increasing relative income from 0.24 to 14.3.</a:t>
            </a:r>
            <a:endParaRPr/>
          </a:p>
          <a:p>
            <a:pPr marL="0" lvl="0" indent="0" algn="l" rtl="0">
              <a:lnSpc>
                <a:spcPct val="115000"/>
              </a:lnSpc>
              <a:spcBef>
                <a:spcPts val="1200"/>
              </a:spcBef>
              <a:spcAft>
                <a:spcPts val="0"/>
              </a:spcAft>
              <a:buSzPts val="1100"/>
              <a:buNone/>
            </a:pPr>
            <a:r>
              <a:rPr lang="en-US"/>
              <a:t>These values are not feasible in the real world the maximum for credit score is 850.</a:t>
            </a: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lnSpc>
                <a:spcPct val="115000"/>
              </a:lnSpc>
              <a:spcBef>
                <a:spcPts val="1200"/>
              </a:spcBef>
              <a:spcAft>
                <a:spcPts val="0"/>
              </a:spcAft>
              <a:buClr>
                <a:schemeClr val="dk1"/>
              </a:buClr>
              <a:buSzPts val="1100"/>
              <a:buFont typeface="Arial"/>
              <a:buNone/>
            </a:pPr>
            <a:r>
              <a:rPr lang="en-US"/>
              <a:t>This happens because the model assumes all features are freely adjustable and independent, while ignoring causal and human constraints.</a:t>
            </a:r>
            <a:endParaRPr/>
          </a:p>
          <a:p>
            <a:pPr marL="0" lvl="0" indent="0" algn="l" rtl="0">
              <a:lnSpc>
                <a:spcPct val="115000"/>
              </a:lnSpc>
              <a:spcBef>
                <a:spcPts val="1200"/>
              </a:spcBef>
              <a:spcAft>
                <a:spcPts val="0"/>
              </a:spcAft>
              <a:buClr>
                <a:schemeClr val="dk1"/>
              </a:buClr>
              <a:buSzPts val="1100"/>
              <a:buFont typeface="Arial"/>
              <a:buNone/>
            </a:pPr>
            <a:r>
              <a:rPr lang="en-US"/>
              <a:t>As a result, rejected applicants receive guidance they cannot realistically follow, meaning the model fails to provide meaningful recourse.</a:t>
            </a:r>
            <a:endParaRPr/>
          </a:p>
          <a:p>
            <a:pPr marL="0" lvl="0" indent="0" algn="l" rtl="0">
              <a:lnSpc>
                <a:spcPct val="115000"/>
              </a:lnSpc>
              <a:spcBef>
                <a:spcPts val="1200"/>
              </a:spcBef>
              <a:spcAft>
                <a:spcPts val="0"/>
              </a:spcAft>
              <a:buClr>
                <a:schemeClr val="dk1"/>
              </a:buClr>
              <a:buSzPts val="1100"/>
              <a:buFont typeface="Arial"/>
              <a:buNone/>
            </a:pPr>
            <a:r>
              <a:rPr lang="en-US"/>
              <a:t>This issue disproportionately affects disadvantaged applicants and was classified as medium-to-high severity.</a:t>
            </a:r>
            <a:endParaRPr/>
          </a:p>
          <a:p>
            <a:pPr marL="0" lvl="0" indent="0" algn="l" rtl="0">
              <a:spcBef>
                <a:spcPts val="1200"/>
              </a:spcBef>
              <a:spcAft>
                <a:spcPts val="0"/>
              </a:spcAft>
              <a:buNone/>
            </a:pPr>
            <a:endParaRPr/>
          </a:p>
        </p:txBody>
      </p:sp>
      <p:sp>
        <p:nvSpPr>
          <p:cNvPr id="177" name="Google Shape;17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This final failure mode examines feature drift using PSI, KS testing, and stress testing.</a:t>
            </a:r>
            <a:endParaRPr/>
          </a:p>
          <a:p>
            <a:pPr marL="0" lvl="0" indent="0" algn="l" rtl="0">
              <a:lnSpc>
                <a:spcPct val="115000"/>
              </a:lnSpc>
              <a:spcBef>
                <a:spcPts val="1200"/>
              </a:spcBef>
              <a:spcAft>
                <a:spcPts val="0"/>
              </a:spcAft>
              <a:buClr>
                <a:schemeClr val="dk1"/>
              </a:buClr>
              <a:buSzPts val="1100"/>
              <a:buFont typeface="Arial"/>
              <a:buNone/>
            </a:pPr>
            <a:r>
              <a:rPr lang="en-US"/>
              <a:t>At the global level, PSI was approximately zero and the KS test was not statistically significant, which initially suggests the model is stable over time.</a:t>
            </a:r>
            <a:endParaRPr/>
          </a:p>
          <a:p>
            <a:pPr marL="0" lvl="0" indent="0" algn="l" rtl="0">
              <a:lnSpc>
                <a:spcPct val="115000"/>
              </a:lnSpc>
              <a:spcBef>
                <a:spcPts val="1200"/>
              </a:spcBef>
              <a:spcAft>
                <a:spcPts val="0"/>
              </a:spcAft>
              <a:buClr>
                <a:schemeClr val="dk1"/>
              </a:buClr>
              <a:buSzPts val="1100"/>
              <a:buFont typeface="Arial"/>
              <a:buNone/>
            </a:pPr>
            <a:r>
              <a:rPr lang="en-US"/>
              <a:t>However, when we simulated a 15 percent income shock, model accuracy dropped by around 1.3 percent.</a:t>
            </a:r>
            <a:endParaRPr/>
          </a:p>
          <a:p>
            <a:pPr marL="0" lvl="0" indent="0" algn="l" rtl="0">
              <a:lnSpc>
                <a:spcPct val="115000"/>
              </a:lnSpc>
              <a:spcBef>
                <a:spcPts val="1200"/>
              </a:spcBef>
              <a:spcAft>
                <a:spcPts val="0"/>
              </a:spcAft>
              <a:buClr>
                <a:schemeClr val="dk1"/>
              </a:buClr>
              <a:buSzPts val="1100"/>
              <a:buFont typeface="Arial"/>
              <a:buNone/>
            </a:pPr>
            <a:r>
              <a:rPr lang="en-US"/>
              <a:t>This shows that even when global drift metrics appear stable, subgroup-level risks may still exist.</a:t>
            </a:r>
            <a:endParaRPr/>
          </a:p>
          <a:p>
            <a:pPr marL="0" lvl="0" indent="0" algn="l" rtl="0">
              <a:lnSpc>
                <a:spcPct val="115000"/>
              </a:lnSpc>
              <a:spcBef>
                <a:spcPts val="1200"/>
              </a:spcBef>
              <a:spcAft>
                <a:spcPts val="0"/>
              </a:spcAft>
              <a:buClr>
                <a:schemeClr val="dk1"/>
              </a:buClr>
              <a:buSzPts val="1100"/>
              <a:buFont typeface="Arial"/>
              <a:buNone/>
            </a:pPr>
            <a:r>
              <a:rPr lang="en-US"/>
              <a:t>Borderline applicants and minority groups are especially vulnerable because small changes in income distributions can push them across the decision boundary.</a:t>
            </a:r>
            <a:endParaRPr/>
          </a:p>
          <a:p>
            <a:pPr marL="0" lvl="0" indent="0" algn="l" rtl="0">
              <a:lnSpc>
                <a:spcPct val="115000"/>
              </a:lnSpc>
              <a:spcBef>
                <a:spcPts val="1200"/>
              </a:spcBef>
              <a:spcAft>
                <a:spcPts val="0"/>
              </a:spcAft>
              <a:buClr>
                <a:schemeClr val="dk1"/>
              </a:buClr>
              <a:buSzPts val="1100"/>
              <a:buFont typeface="Arial"/>
              <a:buNone/>
            </a:pPr>
            <a:r>
              <a:rPr lang="en-US"/>
              <a:t>The key insight is that global stability metrics may hide local fairness risks, especially during economic changes or shocks.</a:t>
            </a:r>
            <a:endParaRPr/>
          </a:p>
          <a:p>
            <a:pPr marL="0" lvl="0" indent="0" algn="l" rtl="0">
              <a:lnSpc>
                <a:spcPct val="115000"/>
              </a:lnSpc>
              <a:spcBef>
                <a:spcPts val="1200"/>
              </a:spcBef>
              <a:spcAft>
                <a:spcPts val="0"/>
              </a:spcAft>
              <a:buClr>
                <a:schemeClr val="dk1"/>
              </a:buClr>
              <a:buSzPts val="1100"/>
              <a:buFont typeface="Arial"/>
              <a:buNone/>
            </a:pPr>
            <a:r>
              <a:rPr lang="en-US"/>
              <a:t>We classified this as medium-to-high severity.</a:t>
            </a:r>
            <a:endParaRPr/>
          </a:p>
          <a:p>
            <a:pPr marL="0" lvl="0" indent="0" algn="l" rtl="0">
              <a:spcBef>
                <a:spcPts val="1200"/>
              </a:spcBef>
              <a:spcAft>
                <a:spcPts val="0"/>
              </a:spcAft>
              <a:buNone/>
            </a:pPr>
            <a:endParaRPr/>
          </a:p>
        </p:txBody>
      </p:sp>
      <p:sp>
        <p:nvSpPr>
          <p:cNvPr id="209" name="Google Shape;20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To summarize, we identified four major failure modes in the HMDA mortgage approval model.</a:t>
            </a:r>
            <a:endParaRPr/>
          </a:p>
          <a:p>
            <a:pPr marL="0" lvl="0" indent="0" algn="l" rtl="0">
              <a:lnSpc>
                <a:spcPct val="115000"/>
              </a:lnSpc>
              <a:spcBef>
                <a:spcPts val="1200"/>
              </a:spcBef>
              <a:spcAft>
                <a:spcPts val="0"/>
              </a:spcAft>
              <a:buClr>
                <a:schemeClr val="dk1"/>
              </a:buClr>
              <a:buSzPts val="1100"/>
              <a:buFont typeface="Arial"/>
              <a:buNone/>
            </a:pPr>
            <a:r>
              <a:rPr lang="en-US"/>
              <a:t>First, proxy bias occurs because geographic and socioeconomic variables act as indirect racial proxies.</a:t>
            </a:r>
            <a:endParaRPr/>
          </a:p>
          <a:p>
            <a:pPr marL="0" lvl="0" indent="0" algn="l" rtl="0">
              <a:lnSpc>
                <a:spcPct val="115000"/>
              </a:lnSpc>
              <a:spcBef>
                <a:spcPts val="1200"/>
              </a:spcBef>
              <a:spcAft>
                <a:spcPts val="0"/>
              </a:spcAft>
              <a:buClr>
                <a:schemeClr val="dk1"/>
              </a:buClr>
              <a:buSzPts val="1100"/>
              <a:buFont typeface="Arial"/>
              <a:buNone/>
            </a:pPr>
            <a:r>
              <a:rPr lang="en-US"/>
              <a:t>Second, risk override shows that loan purpose can outweigh extreme financial risk, producing inconsistent approvals.</a:t>
            </a:r>
            <a:endParaRPr/>
          </a:p>
          <a:p>
            <a:pPr marL="0" lvl="0" indent="0" algn="l" rtl="0">
              <a:lnSpc>
                <a:spcPct val="115000"/>
              </a:lnSpc>
              <a:spcBef>
                <a:spcPts val="1200"/>
              </a:spcBef>
              <a:spcAft>
                <a:spcPts val="0"/>
              </a:spcAft>
              <a:buClr>
                <a:schemeClr val="dk1"/>
              </a:buClr>
              <a:buSzPts val="1100"/>
              <a:buFont typeface="Arial"/>
              <a:buNone/>
            </a:pPr>
            <a:r>
              <a:rPr lang="en-US"/>
              <a:t>Third, the counterfactual analysis revealed that the model provides unrealistic recommendations that applicants cannot practically follow.</a:t>
            </a:r>
            <a:endParaRPr/>
          </a:p>
          <a:p>
            <a:pPr marL="0" lvl="0" indent="0" algn="l" rtl="0">
              <a:lnSpc>
                <a:spcPct val="115000"/>
              </a:lnSpc>
              <a:spcBef>
                <a:spcPts val="1200"/>
              </a:spcBef>
              <a:spcAft>
                <a:spcPts val="0"/>
              </a:spcAft>
              <a:buClr>
                <a:schemeClr val="dk1"/>
              </a:buClr>
              <a:buSzPts val="1100"/>
              <a:buFont typeface="Arial"/>
              <a:buNone/>
            </a:pPr>
            <a:r>
              <a:rPr lang="en-US"/>
              <a:t>Finally, feature drift analysis showed that even small economic shifts can disproportionately affect borderline and minority applicants, despite stable global metrics.</a:t>
            </a:r>
            <a:endParaRPr/>
          </a:p>
          <a:p>
            <a:pPr marL="0" lvl="0" indent="0" algn="l" rtl="0">
              <a:lnSpc>
                <a:spcPct val="115000"/>
              </a:lnSpc>
              <a:spcBef>
                <a:spcPts val="1200"/>
              </a:spcBef>
              <a:spcAft>
                <a:spcPts val="0"/>
              </a:spcAft>
              <a:buClr>
                <a:schemeClr val="dk1"/>
              </a:buClr>
              <a:buSzPts val="1100"/>
              <a:buFont typeface="Arial"/>
              <a:buNone/>
            </a:pPr>
            <a:r>
              <a:rPr lang="en-US"/>
              <a:t>Overall, the model performs well statistically, but important risks remain in fairness, consistency, robustness, and real-world usability.</a:t>
            </a:r>
            <a:endParaRPr/>
          </a:p>
          <a:p>
            <a:pPr marL="0" lvl="0" indent="0" algn="l" rtl="0">
              <a:spcBef>
                <a:spcPts val="1200"/>
              </a:spcBef>
              <a:spcAft>
                <a:spcPts val="0"/>
              </a:spcAft>
              <a:buNone/>
            </a:pPr>
            <a:endParaRPr/>
          </a:p>
        </p:txBody>
      </p:sp>
      <p:sp>
        <p:nvSpPr>
          <p:cNvPr id="261" name="Google Shape;26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dbd88e3920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g3dbd88e3920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g3dbd88e3920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dd94ae34f3_1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g3dd94ae34f3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286" name="Google Shape;286;g3dd94ae34f3_1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86DE505B-C189-4764-AFEB-51B1396F1D31}"/>
            </a:ext>
          </a:extLst>
        </p:cNvPr>
        <p:cNvGrpSpPr/>
        <p:nvPr/>
      </p:nvGrpSpPr>
      <p:grpSpPr>
        <a:xfrm>
          <a:off x="0" y="0"/>
          <a:ext cx="0" cy="0"/>
          <a:chOff x="0" y="0"/>
          <a:chExt cx="0" cy="0"/>
        </a:xfrm>
      </p:grpSpPr>
      <p:sp>
        <p:nvSpPr>
          <p:cNvPr id="284" name="Google Shape;284;g3dd94ae34f3_1_0:notes">
            <a:extLst>
              <a:ext uri="{FF2B5EF4-FFF2-40B4-BE49-F238E27FC236}">
                <a16:creationId xmlns:a16="http://schemas.microsoft.com/office/drawing/2014/main" id="{342AEF82-9944-8C3F-B268-C93683E5537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g3dd94ae34f3_1_0:notes">
            <a:extLst>
              <a:ext uri="{FF2B5EF4-FFF2-40B4-BE49-F238E27FC236}">
                <a16:creationId xmlns:a16="http://schemas.microsoft.com/office/drawing/2014/main" id="{1E8837C3-FC93-0224-ED84-D09CCCD6D4A4}"/>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6" name="Google Shape;286;g3dd94ae34f3_1_0:notes">
            <a:extLst>
              <a:ext uri="{FF2B5EF4-FFF2-40B4-BE49-F238E27FC236}">
                <a16:creationId xmlns:a16="http://schemas.microsoft.com/office/drawing/2014/main" id="{C76EF8A9-9AEC-D878-56C1-073B9A0873B9}"/>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429631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dd94ae34f3_1_6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5" name="Google Shape;345;g3dd94ae34f3_1_6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6" name="Google Shape;346;g3dd94ae34f3_1_6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dd94ae34f3_1_13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g3dd94ae34f3_1_1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09" name="Google Shape;409;g3dd94ae34f3_1_1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dd94ae34f3_1_16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g3dd94ae34f3_1_16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34" name="Google Shape;434;g3dd94ae34f3_1_16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dd94ae34f3_1_20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g3dd94ae34f3_1_20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1" name="Google Shape;481;g3dd94ae34f3_1_20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dd94ae34f3_1_27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5" name="Google Shape;545;g3dd94ae34f3_1_27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46" name="Google Shape;546;g3dd94ae34f3_1_27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dd94ae34f3_1_35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g3dd94ae34f3_1_3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25" name="Google Shape;625;g3dd94ae34f3_1_35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dd94ae34f3_1_39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1" name="Google Shape;661;g3dd94ae34f3_1_39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62" name="Google Shape;662;g3dd94ae34f3_1_39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3dbd88e3920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3dbd88e3920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g3dbd88e3920_0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Shape 15"/>
        <p:cNvGrpSpPr/>
        <p:nvPr/>
      </p:nvGrpSpPr>
      <p:grpSpPr>
        <a:xfrm>
          <a:off x="0" y="0"/>
          <a:ext cx="0" cy="0"/>
          <a:chOff x="0" y="0"/>
          <a:chExt cx="0" cy="0"/>
        </a:xfrm>
      </p:grpSpPr>
      <p:sp>
        <p:nvSpPr>
          <p:cNvPr id="16" name="Google Shape;16;p3"/>
          <p:cNvSpPr/>
          <p:nvPr/>
        </p:nvSpPr>
        <p:spPr>
          <a:xfrm>
            <a:off x="-1097280" y="-1097280"/>
            <a:ext cx="4114800" cy="4114800"/>
          </a:xfrm>
          <a:prstGeom prst="ellipse">
            <a:avLst/>
          </a:prstGeom>
          <a:solidFill>
            <a:srgbClr val="1C2B4A">
              <a:alpha val="30199"/>
            </a:srgbClr>
          </a:solidFill>
          <a:ln w="12700" cap="flat" cmpd="sng">
            <a:solidFill>
              <a:srgbClr val="1C2B4A">
                <a:alpha val="3019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6858000" y="2926080"/>
            <a:ext cx="3657600" cy="3657600"/>
          </a:xfrm>
          <a:prstGeom prst="ellipse">
            <a:avLst/>
          </a:prstGeom>
          <a:solidFill>
            <a:srgbClr val="1C2B4A">
              <a:alpha val="30199"/>
            </a:srgbClr>
          </a:solidFill>
          <a:ln w="12700" cap="flat" cmpd="sng">
            <a:solidFill>
              <a:srgbClr val="1C2B4A">
                <a:alpha val="3019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0" y="0"/>
            <a:ext cx="201300" cy="5143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502920" y="2907792"/>
            <a:ext cx="5943600" cy="41100"/>
          </a:xfrm>
          <a:prstGeom prst="rect">
            <a:avLst/>
          </a:prstGeom>
          <a:solidFill>
            <a:srgbClr val="C49A22"/>
          </a:solidFill>
          <a:ln w="12700" cap="flat" cmpd="sng">
            <a:solidFill>
              <a:srgbClr val="C49A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02920" y="347472"/>
            <a:ext cx="8229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A92"/>
              </a:buClr>
              <a:buSzPts val="1000"/>
              <a:buFont typeface="Calibri"/>
              <a:buNone/>
            </a:pPr>
            <a:r>
              <a:rPr lang="en-US" sz="1000" b="0" i="0" u="none" strike="noStrike" cap="none">
                <a:solidFill>
                  <a:srgbClr val="6B7A92"/>
                </a:solidFill>
                <a:latin typeface="Calibri"/>
                <a:ea typeface="Calibri"/>
                <a:cs typeface="Calibri"/>
                <a:sym typeface="Calibri"/>
              </a:rPr>
              <a:t>DNSC 6330  ·  Responsible Machine Learning  ·  George Washington University</a:t>
            </a:r>
            <a:endParaRPr sz="1000" b="0" i="0" u="none" strike="noStrike" cap="none">
              <a:solidFill>
                <a:schemeClr val="dk1"/>
              </a:solidFill>
              <a:latin typeface="Calibri"/>
              <a:ea typeface="Calibri"/>
              <a:cs typeface="Calibri"/>
              <a:sym typeface="Calibri"/>
            </a:endParaRPr>
          </a:p>
        </p:txBody>
      </p:sp>
      <p:sp>
        <p:nvSpPr>
          <p:cNvPr id="21" name="Google Shape;21;p3"/>
          <p:cNvSpPr/>
          <p:nvPr/>
        </p:nvSpPr>
        <p:spPr>
          <a:xfrm>
            <a:off x="502925" y="941950"/>
            <a:ext cx="5178900" cy="141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800"/>
              <a:buFont typeface="Georgia"/>
              <a:buNone/>
            </a:pPr>
            <a:r>
              <a:rPr lang="en-US" sz="8100" b="1">
                <a:solidFill>
                  <a:srgbClr val="FFFFFF"/>
                </a:solidFill>
                <a:latin typeface="Georgia"/>
                <a:ea typeface="Georgia"/>
                <a:cs typeface="Georgia"/>
                <a:sym typeface="Georgia"/>
              </a:rPr>
              <a:t>Group 2</a:t>
            </a:r>
            <a:endParaRPr sz="8100" b="0" i="0" u="none" strike="noStrike" cap="none">
              <a:solidFill>
                <a:schemeClr val="dk1"/>
              </a:solidFill>
              <a:latin typeface="Calibri"/>
              <a:ea typeface="Calibri"/>
              <a:cs typeface="Calibri"/>
              <a:sym typeface="Calibri"/>
            </a:endParaRPr>
          </a:p>
        </p:txBody>
      </p:sp>
      <p:sp>
        <p:nvSpPr>
          <p:cNvPr id="22" name="Google Shape;22;p3"/>
          <p:cNvSpPr/>
          <p:nvPr/>
        </p:nvSpPr>
        <p:spPr>
          <a:xfrm>
            <a:off x="502920" y="2359152"/>
            <a:ext cx="73152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1600"/>
              <a:buFont typeface="Calibri"/>
              <a:buNone/>
            </a:pPr>
            <a:r>
              <a:rPr lang="en-US" sz="1600" b="0" i="1" u="none" strike="noStrike" cap="none">
                <a:solidFill>
                  <a:srgbClr val="C49A22"/>
                </a:solidFill>
                <a:latin typeface="Calibri"/>
                <a:ea typeface="Calibri"/>
                <a:cs typeface="Calibri"/>
                <a:sym typeface="Calibri"/>
              </a:rPr>
              <a:t>A Responsible AI Audit  ·  2024 HMDA Mortgage Data</a:t>
            </a:r>
            <a:endParaRPr sz="1600" b="0" i="0" u="none" strike="noStrike" cap="none">
              <a:solidFill>
                <a:schemeClr val="dk1"/>
              </a:solidFill>
              <a:latin typeface="Calibri"/>
              <a:ea typeface="Calibri"/>
              <a:cs typeface="Calibri"/>
              <a:sym typeface="Calibri"/>
            </a:endParaRPr>
          </a:p>
        </p:txBody>
      </p:sp>
      <p:sp>
        <p:nvSpPr>
          <p:cNvPr id="23" name="Google Shape;23;p3"/>
          <p:cNvSpPr/>
          <p:nvPr/>
        </p:nvSpPr>
        <p:spPr>
          <a:xfrm>
            <a:off x="502920" y="3090672"/>
            <a:ext cx="27432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900"/>
              <a:buFont typeface="Calibri"/>
              <a:buNone/>
            </a:pPr>
            <a:r>
              <a:rPr lang="en-US" sz="900" b="1" i="0" u="none" strike="noStrike" cap="none">
                <a:solidFill>
                  <a:srgbClr val="C49A22"/>
                </a:solidFill>
                <a:latin typeface="Calibri"/>
                <a:ea typeface="Calibri"/>
                <a:cs typeface="Calibri"/>
                <a:sym typeface="Calibri"/>
              </a:rPr>
              <a:t>PRESENTED BY</a:t>
            </a:r>
            <a:endParaRPr sz="900" b="0" i="0" u="none" strike="noStrike" cap="none">
              <a:solidFill>
                <a:schemeClr val="dk1"/>
              </a:solidFill>
              <a:latin typeface="Calibri"/>
              <a:ea typeface="Calibri"/>
              <a:cs typeface="Calibri"/>
              <a:sym typeface="Calibri"/>
            </a:endParaRPr>
          </a:p>
        </p:txBody>
      </p:sp>
      <p:sp>
        <p:nvSpPr>
          <p:cNvPr id="24" name="Google Shape;24;p3"/>
          <p:cNvSpPr/>
          <p:nvPr/>
        </p:nvSpPr>
        <p:spPr>
          <a:xfrm>
            <a:off x="502920" y="3429000"/>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Natchapa Aunkay (Gift)</a:t>
            </a:r>
            <a:endParaRPr sz="1300" b="0" i="0" u="none" strike="noStrike" cap="none">
              <a:solidFill>
                <a:schemeClr val="dk1"/>
              </a:solidFill>
              <a:latin typeface="Calibri"/>
              <a:ea typeface="Calibri"/>
              <a:cs typeface="Calibri"/>
              <a:sym typeface="Calibri"/>
            </a:endParaRPr>
          </a:p>
        </p:txBody>
      </p:sp>
      <p:sp>
        <p:nvSpPr>
          <p:cNvPr id="25" name="Google Shape;25;p3"/>
          <p:cNvSpPr/>
          <p:nvPr/>
        </p:nvSpPr>
        <p:spPr>
          <a:xfrm>
            <a:off x="502920" y="3730752"/>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Hazel Mugadza</a:t>
            </a:r>
            <a:endParaRPr sz="1300" b="0" i="0" u="none" strike="noStrike" cap="none">
              <a:solidFill>
                <a:schemeClr val="dk1"/>
              </a:solidFill>
              <a:latin typeface="Calibri"/>
              <a:ea typeface="Calibri"/>
              <a:cs typeface="Calibri"/>
              <a:sym typeface="Calibri"/>
            </a:endParaRPr>
          </a:p>
        </p:txBody>
      </p:sp>
      <p:sp>
        <p:nvSpPr>
          <p:cNvPr id="26" name="Google Shape;26;p3"/>
          <p:cNvSpPr/>
          <p:nvPr/>
        </p:nvSpPr>
        <p:spPr>
          <a:xfrm>
            <a:off x="502920" y="4032504"/>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Shreyas Kuradagi</a:t>
            </a:r>
            <a:endParaRPr sz="1300" b="0" i="0" u="none" strike="noStrike" cap="none">
              <a:solidFill>
                <a:schemeClr val="dk1"/>
              </a:solidFill>
              <a:latin typeface="Calibri"/>
              <a:ea typeface="Calibri"/>
              <a:cs typeface="Calibri"/>
              <a:sym typeface="Calibri"/>
            </a:endParaRPr>
          </a:p>
        </p:txBody>
      </p:sp>
      <p:sp>
        <p:nvSpPr>
          <p:cNvPr id="27" name="Google Shape;27;p3"/>
          <p:cNvSpPr/>
          <p:nvPr/>
        </p:nvSpPr>
        <p:spPr>
          <a:xfrm>
            <a:off x="3429000" y="3429000"/>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Tatenda Kagande</a:t>
            </a:r>
            <a:endParaRPr sz="1300" b="0" i="0" u="none" strike="noStrike" cap="none">
              <a:solidFill>
                <a:schemeClr val="dk1"/>
              </a:solidFill>
              <a:latin typeface="Calibri"/>
              <a:ea typeface="Calibri"/>
              <a:cs typeface="Calibri"/>
              <a:sym typeface="Calibri"/>
            </a:endParaRPr>
          </a:p>
        </p:txBody>
      </p:sp>
      <p:sp>
        <p:nvSpPr>
          <p:cNvPr id="28" name="Google Shape;28;p3"/>
          <p:cNvSpPr/>
          <p:nvPr/>
        </p:nvSpPr>
        <p:spPr>
          <a:xfrm>
            <a:off x="3429000" y="3730752"/>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Oliastic Ngoshi</a:t>
            </a:r>
            <a:endParaRPr sz="1300" b="0" i="0" u="none" strike="noStrike" cap="none">
              <a:solidFill>
                <a:schemeClr val="dk1"/>
              </a:solidFill>
              <a:latin typeface="Calibri"/>
              <a:ea typeface="Calibri"/>
              <a:cs typeface="Calibri"/>
              <a:sym typeface="Calibri"/>
            </a:endParaRPr>
          </a:p>
        </p:txBody>
      </p:sp>
      <p:sp>
        <p:nvSpPr>
          <p:cNvPr id="29" name="Google Shape;29;p3"/>
          <p:cNvSpPr/>
          <p:nvPr/>
        </p:nvSpPr>
        <p:spPr>
          <a:xfrm>
            <a:off x="3429000" y="4032504"/>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Steven Chu</a:t>
            </a:r>
            <a:endParaRPr sz="1300" b="0" i="0" u="none" strike="noStrike" cap="none">
              <a:solidFill>
                <a:schemeClr val="dk1"/>
              </a:solidFill>
              <a:latin typeface="Calibri"/>
              <a:ea typeface="Calibri"/>
              <a:cs typeface="Calibri"/>
              <a:sym typeface="Calibri"/>
            </a:endParaRPr>
          </a:p>
        </p:txBody>
      </p:sp>
      <p:sp>
        <p:nvSpPr>
          <p:cNvPr id="30" name="Google Shape;30;p3"/>
          <p:cNvSpPr/>
          <p:nvPr/>
        </p:nvSpPr>
        <p:spPr>
          <a:xfrm>
            <a:off x="0" y="4960620"/>
            <a:ext cx="9144000" cy="183000"/>
          </a:xfrm>
          <a:prstGeom prst="rect">
            <a:avLst/>
          </a:prstGeom>
          <a:solidFill>
            <a:srgbClr val="C0392B">
              <a:alpha val="40000"/>
            </a:srgbClr>
          </a:solidFill>
          <a:ln w="12700" cap="flat" cmpd="sng">
            <a:solidFill>
              <a:srgbClr val="C0392B">
                <a:alpha val="4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35"/>
        <p:cNvGrpSpPr/>
        <p:nvPr/>
      </p:nvGrpSpPr>
      <p:grpSpPr>
        <a:xfrm>
          <a:off x="0" y="0"/>
          <a:ext cx="0" cy="0"/>
          <a:chOff x="0" y="0"/>
          <a:chExt cx="0" cy="0"/>
        </a:xfrm>
      </p:grpSpPr>
      <p:sp>
        <p:nvSpPr>
          <p:cNvPr id="36" name="Google Shape;36;p4"/>
          <p:cNvSpPr/>
          <p:nvPr/>
        </p:nvSpPr>
        <p:spPr>
          <a:xfrm>
            <a:off x="0" y="0"/>
            <a:ext cx="164592" cy="51435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299907" y="379289"/>
            <a:ext cx="8321100" cy="731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Georgia"/>
                <a:ea typeface="Georgia"/>
                <a:cs typeface="Georgia"/>
                <a:sym typeface="Georgia"/>
              </a:rPr>
              <a:t>Q</a:t>
            </a:r>
            <a:r>
              <a:rPr lang="en-US" sz="3800" b="1">
                <a:solidFill>
                  <a:srgbClr val="FFFFFF"/>
                </a:solidFill>
                <a:latin typeface="Georgia"/>
                <a:ea typeface="Georgia"/>
                <a:cs typeface="Georgia"/>
                <a:sym typeface="Georgia"/>
              </a:rPr>
              <a:t>1</a:t>
            </a:r>
            <a:r>
              <a:rPr lang="en-US" sz="3800" b="1" i="0" u="none" strike="noStrike" cap="none">
                <a:solidFill>
                  <a:srgbClr val="FFFFFF"/>
                </a:solidFill>
                <a:latin typeface="Georgia"/>
                <a:ea typeface="Georgia"/>
                <a:cs typeface="Georgia"/>
                <a:sym typeface="Georgia"/>
              </a:rPr>
              <a:t>: </a:t>
            </a:r>
            <a:r>
              <a:rPr lang="en-US" sz="3800" b="1">
                <a:solidFill>
                  <a:srgbClr val="FFFFFF"/>
                </a:solidFill>
                <a:latin typeface="Georgia"/>
                <a:ea typeface="Georgia"/>
                <a:cs typeface="Georgia"/>
                <a:sym typeface="Georgia"/>
              </a:rPr>
              <a:t>Optimization Objective </a:t>
            </a:r>
            <a:endParaRPr sz="3800" i="0" u="none" strike="noStrike" cap="none">
              <a:solidFill>
                <a:schemeClr val="dk1"/>
              </a:solidFill>
              <a:latin typeface="Georgia"/>
              <a:ea typeface="Georgia"/>
              <a:cs typeface="Georgia"/>
              <a:sym typeface="Georgia"/>
            </a:endParaRPr>
          </a:p>
        </p:txBody>
      </p:sp>
      <p:sp>
        <p:nvSpPr>
          <p:cNvPr id="38" name="Google Shape;38;p4"/>
          <p:cNvSpPr/>
          <p:nvPr/>
        </p:nvSpPr>
        <p:spPr>
          <a:xfrm>
            <a:off x="299907" y="1211372"/>
            <a:ext cx="83211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700"/>
              <a:buFont typeface="Calibri"/>
              <a:buNone/>
            </a:pPr>
            <a:r>
              <a:rPr lang="en-US" sz="1700" i="1">
                <a:solidFill>
                  <a:srgbClr val="F0C878"/>
                </a:solidFill>
                <a:latin typeface="Calibri"/>
                <a:ea typeface="Calibri"/>
                <a:cs typeface="Calibri"/>
                <a:sym typeface="Calibri"/>
              </a:rPr>
              <a:t>Optimization Objective: ROC-AUC with Threshold = 0.7 </a:t>
            </a:r>
            <a:endParaRPr sz="1700" i="0" u="none" strike="noStrike" cap="none">
              <a:solidFill>
                <a:schemeClr val="dk1"/>
              </a:solidFill>
              <a:latin typeface="Calibri"/>
              <a:ea typeface="Calibri"/>
              <a:cs typeface="Calibri"/>
              <a:sym typeface="Calibri"/>
            </a:endParaRPr>
          </a:p>
        </p:txBody>
      </p:sp>
      <p:sp>
        <p:nvSpPr>
          <p:cNvPr id="39" name="Google Shape;39;p4"/>
          <p:cNvSpPr/>
          <p:nvPr/>
        </p:nvSpPr>
        <p:spPr>
          <a:xfrm>
            <a:off x="299907" y="1723436"/>
            <a:ext cx="8321100" cy="273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40" name="Google Shape;40;p4"/>
          <p:cNvSpPr/>
          <p:nvPr/>
        </p:nvSpPr>
        <p:spPr>
          <a:xfrm>
            <a:off x="422632" y="1622859"/>
            <a:ext cx="4364400" cy="23001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b="1">
                <a:solidFill>
                  <a:schemeClr val="lt1"/>
                </a:solidFill>
                <a:latin typeface="Calibri"/>
                <a:ea typeface="Calibri"/>
                <a:cs typeface="Calibri"/>
                <a:sym typeface="Calibri"/>
              </a:rPr>
              <a:t>Objective</a:t>
            </a:r>
            <a:endParaRPr sz="1100" b="1">
              <a:solidFill>
                <a:schemeClr val="lt1"/>
              </a:solidFill>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Maximize </a:t>
            </a:r>
            <a:r>
              <a:rPr lang="en-US" sz="1100" b="1">
                <a:solidFill>
                  <a:schemeClr val="lt1"/>
                </a:solidFill>
                <a:latin typeface="Calibri"/>
                <a:ea typeface="Calibri"/>
                <a:cs typeface="Calibri"/>
                <a:sym typeface="Calibri"/>
              </a:rPr>
              <a:t>ROC-AUC</a:t>
            </a:r>
            <a:r>
              <a:rPr lang="en-US" sz="1100">
                <a:solidFill>
                  <a:schemeClr val="lt1"/>
                </a:solidFill>
                <a:latin typeface="Calibri"/>
                <a:ea typeface="Calibri"/>
                <a:cs typeface="Calibri"/>
                <a:sym typeface="Calibri"/>
              </a:rPr>
              <a:t> to ensure strong </a:t>
            </a:r>
            <a:r>
              <a:rPr lang="en-US" sz="1100" b="1">
                <a:solidFill>
                  <a:schemeClr val="lt1"/>
                </a:solidFill>
                <a:latin typeface="Calibri"/>
                <a:ea typeface="Calibri"/>
                <a:cs typeface="Calibri"/>
                <a:sym typeface="Calibri"/>
              </a:rPr>
              <a:t>ranking performance</a:t>
            </a:r>
            <a:r>
              <a:rPr lang="en-US" sz="1100">
                <a:solidFill>
                  <a:schemeClr val="lt1"/>
                </a:solidFill>
                <a:latin typeface="Calibri"/>
                <a:ea typeface="Calibri"/>
                <a:cs typeface="Calibri"/>
                <a:sym typeface="Calibri"/>
              </a:rPr>
              <a:t> between approved (1) and denied (0) mortgage applications</a:t>
            </a:r>
            <a:endParaRPr sz="1100">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Use </a:t>
            </a:r>
            <a:r>
              <a:rPr lang="en-US" sz="1100" b="1">
                <a:solidFill>
                  <a:schemeClr val="lt1"/>
                </a:solidFill>
                <a:latin typeface="Calibri"/>
                <a:ea typeface="Calibri"/>
                <a:cs typeface="Calibri"/>
                <a:sym typeface="Calibri"/>
              </a:rPr>
              <a:t>decision threshold = 0.7</a:t>
            </a:r>
            <a:r>
              <a:rPr lang="en-US" sz="1100">
                <a:solidFill>
                  <a:schemeClr val="lt1"/>
                </a:solidFill>
                <a:latin typeface="Calibri"/>
                <a:ea typeface="Calibri"/>
                <a:cs typeface="Calibri"/>
                <a:sym typeface="Calibri"/>
              </a:rPr>
              <a:t> for final classification</a:t>
            </a:r>
            <a:endParaRPr sz="1100">
              <a:solidFill>
                <a:schemeClr val="lt1"/>
              </a:solidFill>
              <a:latin typeface="Calibri"/>
              <a:ea typeface="Calibri"/>
              <a:cs typeface="Calibri"/>
              <a:sym typeface="Calibri"/>
            </a:endParaRPr>
          </a:p>
          <a:p>
            <a:pPr marL="0" marR="0" lvl="0" indent="0" algn="l" rtl="0">
              <a:spcBef>
                <a:spcPts val="1200"/>
              </a:spcBef>
              <a:spcAft>
                <a:spcPts val="0"/>
              </a:spcAft>
              <a:buClr>
                <a:srgbClr val="FFFFFF"/>
              </a:buClr>
              <a:buSzPts val="1200"/>
              <a:buFont typeface="Calibri"/>
              <a:buNone/>
            </a:pPr>
            <a:endParaRPr sz="1200">
              <a:solidFill>
                <a:schemeClr val="dk1"/>
              </a:solidFill>
              <a:latin typeface="Calibri"/>
              <a:ea typeface="Calibri"/>
              <a:cs typeface="Calibri"/>
              <a:sym typeface="Calibri"/>
            </a:endParaRPr>
          </a:p>
        </p:txBody>
      </p:sp>
      <p:sp>
        <p:nvSpPr>
          <p:cNvPr id="41" name="Google Shape;41;p4"/>
          <p:cNvSpPr/>
          <p:nvPr/>
        </p:nvSpPr>
        <p:spPr>
          <a:xfrm>
            <a:off x="2512755" y="2034332"/>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endParaRPr sz="1600" i="0" u="none" strike="noStrike" cap="none">
              <a:solidFill>
                <a:schemeClr val="dk1"/>
              </a:solidFill>
              <a:latin typeface="Calibri"/>
              <a:ea typeface="Calibri"/>
              <a:cs typeface="Calibri"/>
              <a:sym typeface="Calibri"/>
            </a:endParaRPr>
          </a:p>
        </p:txBody>
      </p:sp>
      <p:sp>
        <p:nvSpPr>
          <p:cNvPr id="42" name="Google Shape;42;p4"/>
          <p:cNvSpPr/>
          <p:nvPr/>
        </p:nvSpPr>
        <p:spPr>
          <a:xfrm>
            <a:off x="2512755" y="2381804"/>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endParaRPr sz="1200" i="0" u="none" strike="noStrike" cap="none">
              <a:solidFill>
                <a:schemeClr val="dk1"/>
              </a:solidFill>
              <a:latin typeface="Calibri"/>
              <a:ea typeface="Calibri"/>
              <a:cs typeface="Calibri"/>
              <a:sym typeface="Calibri"/>
            </a:endParaRPr>
          </a:p>
        </p:txBody>
      </p:sp>
      <p:sp>
        <p:nvSpPr>
          <p:cNvPr id="43" name="Google Shape;43;p4"/>
          <p:cNvSpPr/>
          <p:nvPr/>
        </p:nvSpPr>
        <p:spPr>
          <a:xfrm>
            <a:off x="4634163" y="2034332"/>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endParaRPr sz="1600" b="0" i="0" u="none" strike="noStrike" cap="none">
              <a:solidFill>
                <a:schemeClr val="dk1"/>
              </a:solidFill>
              <a:latin typeface="Calibri"/>
              <a:ea typeface="Calibri"/>
              <a:cs typeface="Calibri"/>
              <a:sym typeface="Calibri"/>
            </a:endParaRPr>
          </a:p>
        </p:txBody>
      </p:sp>
      <p:sp>
        <p:nvSpPr>
          <p:cNvPr id="44" name="Google Shape;44;p4"/>
          <p:cNvSpPr/>
          <p:nvPr/>
        </p:nvSpPr>
        <p:spPr>
          <a:xfrm>
            <a:off x="4634163" y="2381804"/>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45" name="Google Shape;45;p4"/>
          <p:cNvSpPr/>
          <p:nvPr/>
        </p:nvSpPr>
        <p:spPr>
          <a:xfrm>
            <a:off x="6755571" y="2381804"/>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endParaRPr sz="1200" b="0" i="0" u="none" strike="noStrike" cap="none">
              <a:solidFill>
                <a:schemeClr val="dk1"/>
              </a:solidFill>
              <a:latin typeface="Calibri"/>
              <a:ea typeface="Calibri"/>
              <a:cs typeface="Calibri"/>
              <a:sym typeface="Calibri"/>
            </a:endParaRPr>
          </a:p>
        </p:txBody>
      </p:sp>
      <p:pic>
        <p:nvPicPr>
          <p:cNvPr id="46" name="Google Shape;46;p4"/>
          <p:cNvPicPr preferRelativeResize="0"/>
          <p:nvPr/>
        </p:nvPicPr>
        <p:blipFill rotWithShape="1">
          <a:blip r:embed="rId3">
            <a:alphaModFix/>
          </a:blip>
          <a:srcRect l="-53956" t="13375" r="-3351"/>
          <a:stretch/>
        </p:blipFill>
        <p:spPr>
          <a:xfrm>
            <a:off x="4158900" y="1931428"/>
            <a:ext cx="4462100" cy="2885681"/>
          </a:xfrm>
          <a:prstGeom prst="rect">
            <a:avLst/>
          </a:prstGeom>
          <a:noFill/>
          <a:ln>
            <a:noFill/>
          </a:ln>
        </p:spPr>
      </p:pic>
      <p:sp>
        <p:nvSpPr>
          <p:cNvPr id="47" name="Google Shape;47;p4"/>
          <p:cNvSpPr txBox="1"/>
          <p:nvPr/>
        </p:nvSpPr>
        <p:spPr>
          <a:xfrm>
            <a:off x="419977" y="3287159"/>
            <a:ext cx="4679700" cy="109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100" b="1">
                <a:solidFill>
                  <a:schemeClr val="lt1"/>
                </a:solidFill>
                <a:latin typeface="Calibri"/>
                <a:ea typeface="Calibri"/>
                <a:cs typeface="Calibri"/>
                <a:sym typeface="Calibri"/>
              </a:rPr>
              <a:t>Key Insight</a:t>
            </a:r>
            <a:endParaRPr sz="1100" b="1">
              <a:solidFill>
                <a:schemeClr val="lt1"/>
              </a:solidFill>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Significant improvement in </a:t>
            </a:r>
            <a:r>
              <a:rPr lang="en-US" sz="1100" b="1">
                <a:solidFill>
                  <a:schemeClr val="lt1"/>
                </a:solidFill>
                <a:latin typeface="Calibri"/>
                <a:ea typeface="Calibri"/>
                <a:cs typeface="Calibri"/>
                <a:sym typeface="Calibri"/>
              </a:rPr>
              <a:t>ranking ability (AUC)</a:t>
            </a:r>
            <a:endParaRPr sz="1100" b="1">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Smaller gain in </a:t>
            </a:r>
            <a:r>
              <a:rPr lang="en-US" sz="1100" b="1">
                <a:solidFill>
                  <a:schemeClr val="lt1"/>
                </a:solidFill>
                <a:latin typeface="Calibri"/>
                <a:ea typeface="Calibri"/>
                <a:cs typeface="Calibri"/>
                <a:sym typeface="Calibri"/>
              </a:rPr>
              <a:t>threshold-based performance (F1)</a:t>
            </a:r>
            <a:br>
              <a:rPr lang="en-US" sz="1100" b="1">
                <a:solidFill>
                  <a:schemeClr val="lt1"/>
                </a:solidFill>
                <a:latin typeface="Calibri"/>
                <a:ea typeface="Calibri"/>
                <a:cs typeface="Calibri"/>
                <a:sym typeface="Calibri"/>
              </a:rPr>
            </a:br>
            <a:r>
              <a:rPr lang="en-US" sz="1100">
                <a:solidFill>
                  <a:schemeClr val="lt1"/>
                </a:solidFill>
                <a:latin typeface="Calibri"/>
                <a:ea typeface="Calibri"/>
                <a:cs typeface="Calibri"/>
                <a:sym typeface="Calibri"/>
              </a:rPr>
              <a:t> → Indicates </a:t>
            </a:r>
            <a:r>
              <a:rPr lang="en-US" sz="1100" b="1">
                <a:solidFill>
                  <a:schemeClr val="lt1"/>
                </a:solidFill>
                <a:latin typeface="Calibri"/>
                <a:ea typeface="Calibri"/>
                <a:cs typeface="Calibri"/>
                <a:sym typeface="Calibri"/>
              </a:rPr>
              <a:t>non-linear relationships captured by XGBoost</a:t>
            </a:r>
            <a:endParaRPr sz="1100" b="1">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23355"/>
        </a:solidFill>
        <a:effectLst/>
      </p:bgPr>
    </p:bg>
    <p:spTree>
      <p:nvGrpSpPr>
        <p:cNvPr id="1" name="Shape 52"/>
        <p:cNvGrpSpPr/>
        <p:nvPr/>
      </p:nvGrpSpPr>
      <p:grpSpPr>
        <a:xfrm>
          <a:off x="0" y="0"/>
          <a:ext cx="0" cy="0"/>
          <a:chOff x="0" y="0"/>
          <a:chExt cx="0" cy="0"/>
        </a:xfrm>
      </p:grpSpPr>
      <p:sp>
        <p:nvSpPr>
          <p:cNvPr id="53" name="Google Shape;53;p5"/>
          <p:cNvSpPr txBox="1"/>
          <p:nvPr/>
        </p:nvSpPr>
        <p:spPr>
          <a:xfrm>
            <a:off x="186798" y="66944"/>
            <a:ext cx="78846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u="sng">
                <a:solidFill>
                  <a:schemeClr val="lt1"/>
                </a:solidFill>
                <a:latin typeface="Georgia"/>
                <a:ea typeface="Georgia"/>
                <a:cs typeface="Georgia"/>
                <a:sym typeface="Georgia"/>
              </a:rPr>
              <a:t>Why AUC + Why Threshold = 0.7?</a:t>
            </a:r>
            <a:endParaRPr sz="2600" b="1" u="sng">
              <a:solidFill>
                <a:schemeClr val="lt1"/>
              </a:solidFill>
              <a:latin typeface="Georgia"/>
              <a:ea typeface="Georgia"/>
              <a:cs typeface="Georgia"/>
              <a:sym typeface="Georgia"/>
            </a:endParaRPr>
          </a:p>
        </p:txBody>
      </p:sp>
      <p:sp>
        <p:nvSpPr>
          <p:cNvPr id="54" name="Google Shape;54;p5"/>
          <p:cNvSpPr txBox="1"/>
          <p:nvPr/>
        </p:nvSpPr>
        <p:spPr>
          <a:xfrm>
            <a:off x="186799" y="685626"/>
            <a:ext cx="9005100" cy="169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200" b="1" i="1" u="sng">
                <a:solidFill>
                  <a:srgbClr val="C49A22"/>
                </a:solidFill>
                <a:latin typeface="Calibri"/>
                <a:ea typeface="Calibri"/>
                <a:cs typeface="Calibri"/>
                <a:sym typeface="Calibri"/>
              </a:rPr>
              <a:t>Why ROC-AUC?</a:t>
            </a:r>
            <a:endParaRPr sz="1200" b="1" i="1" u="sng">
              <a:solidFill>
                <a:srgbClr val="C49A22"/>
              </a:solidFill>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Measures model performance </a:t>
            </a:r>
            <a:r>
              <a:rPr lang="en-US" sz="1100" b="1">
                <a:solidFill>
                  <a:schemeClr val="lt1"/>
                </a:solidFill>
                <a:latin typeface="Calibri"/>
                <a:ea typeface="Calibri"/>
                <a:cs typeface="Calibri"/>
                <a:sym typeface="Calibri"/>
              </a:rPr>
              <a:t>across all thresholds</a:t>
            </a:r>
            <a:r>
              <a:rPr lang="en-US" sz="1100">
                <a:solidFill>
                  <a:schemeClr val="lt1"/>
                </a:solidFill>
                <a:latin typeface="Calibri"/>
                <a:ea typeface="Calibri"/>
                <a:cs typeface="Calibri"/>
                <a:sym typeface="Calibri"/>
              </a:rPr>
              <a:t>, not just one</a:t>
            </a:r>
            <a:endParaRPr sz="1100">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Captures </a:t>
            </a:r>
            <a:r>
              <a:rPr lang="en-US" sz="1100" b="1">
                <a:solidFill>
                  <a:schemeClr val="lt1"/>
                </a:solidFill>
                <a:latin typeface="Calibri"/>
                <a:ea typeface="Calibri"/>
                <a:cs typeface="Calibri"/>
                <a:sym typeface="Calibri"/>
              </a:rPr>
              <a:t>global ranking quality</a:t>
            </a:r>
            <a:r>
              <a:rPr lang="en-US" sz="1100">
                <a:solidFill>
                  <a:schemeClr val="lt1"/>
                </a:solidFill>
                <a:latin typeface="Calibri"/>
                <a:ea typeface="Calibri"/>
                <a:cs typeface="Calibri"/>
                <a:sym typeface="Calibri"/>
              </a:rPr>
              <a:t>, critical in lending decisions</a:t>
            </a:r>
            <a:endParaRPr sz="1100">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More robust than accuracy under </a:t>
            </a:r>
            <a:r>
              <a:rPr lang="en-US" sz="1100" b="1">
                <a:solidFill>
                  <a:schemeClr val="lt1"/>
                </a:solidFill>
                <a:latin typeface="Calibri"/>
                <a:ea typeface="Calibri"/>
                <a:cs typeface="Calibri"/>
                <a:sym typeface="Calibri"/>
              </a:rPr>
              <a:t>class imbalance</a:t>
            </a:r>
            <a:endParaRPr sz="1100" b="1">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Aligns with regulatory expectations:</a:t>
            </a:r>
            <a:endParaRPr sz="1100">
              <a:solidFill>
                <a:schemeClr val="lt1"/>
              </a:solidFill>
              <a:latin typeface="Calibri"/>
              <a:ea typeface="Calibri"/>
              <a:cs typeface="Calibri"/>
              <a:sym typeface="Calibri"/>
            </a:endParaRPr>
          </a:p>
          <a:p>
            <a:pPr marL="914400" lvl="1"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Evaluates whether the model </a:t>
            </a:r>
            <a:r>
              <a:rPr lang="en-US" sz="1100" b="1">
                <a:solidFill>
                  <a:schemeClr val="lt1"/>
                </a:solidFill>
                <a:latin typeface="Calibri"/>
                <a:ea typeface="Calibri"/>
                <a:cs typeface="Calibri"/>
                <a:sym typeface="Calibri"/>
              </a:rPr>
              <a:t>systematically separates groups</a:t>
            </a:r>
            <a:r>
              <a:rPr lang="en-US" sz="1100">
                <a:solidFill>
                  <a:schemeClr val="lt1"/>
                </a:solidFill>
                <a:latin typeface="Calibri"/>
                <a:ea typeface="Calibri"/>
                <a:cs typeface="Calibri"/>
                <a:sym typeface="Calibri"/>
              </a:rPr>
              <a:t> before thresholding</a:t>
            </a:r>
            <a:endParaRPr sz="1100">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From results: </a:t>
            </a:r>
            <a:r>
              <a:rPr lang="en-US" sz="1100" b="1">
                <a:solidFill>
                  <a:schemeClr val="lt1"/>
                </a:solidFill>
                <a:latin typeface="Calibri"/>
                <a:ea typeface="Calibri"/>
                <a:cs typeface="Calibri"/>
                <a:sym typeface="Calibri"/>
              </a:rPr>
              <a:t>+0.1163 AUC gain</a:t>
            </a:r>
            <a:r>
              <a:rPr lang="en-US" sz="1100">
                <a:solidFill>
                  <a:schemeClr val="lt1"/>
                </a:solidFill>
                <a:latin typeface="Calibri"/>
                <a:ea typeface="Calibri"/>
                <a:cs typeface="Calibri"/>
                <a:sym typeface="Calibri"/>
              </a:rPr>
              <a:t> shows strong improvement in predictive ordering</a:t>
            </a:r>
            <a:endParaRPr sz="1100">
              <a:solidFill>
                <a:schemeClr val="lt1"/>
              </a:solidFill>
              <a:latin typeface="Calibri"/>
              <a:ea typeface="Calibri"/>
              <a:cs typeface="Calibri"/>
              <a:sym typeface="Calibri"/>
            </a:endParaRPr>
          </a:p>
        </p:txBody>
      </p:sp>
      <p:sp>
        <p:nvSpPr>
          <p:cNvPr id="55" name="Google Shape;55;p5"/>
          <p:cNvSpPr txBox="1"/>
          <p:nvPr/>
        </p:nvSpPr>
        <p:spPr>
          <a:xfrm>
            <a:off x="186800" y="2379441"/>
            <a:ext cx="8395200" cy="149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200" b="1" i="1" u="sng">
                <a:solidFill>
                  <a:srgbClr val="C49A22"/>
                </a:solidFill>
                <a:latin typeface="Calibri"/>
                <a:ea typeface="Calibri"/>
                <a:cs typeface="Calibri"/>
                <a:sym typeface="Calibri"/>
              </a:rPr>
              <a:t>Why Threshold = 0.7?</a:t>
            </a:r>
            <a:endParaRPr sz="1200" b="1" i="1" u="sng">
              <a:solidFill>
                <a:srgbClr val="C49A22"/>
              </a:solidFill>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Conservative cutoff → reduces </a:t>
            </a:r>
            <a:r>
              <a:rPr lang="en-US" sz="1100" b="1">
                <a:solidFill>
                  <a:schemeClr val="lt1"/>
                </a:solidFill>
                <a:latin typeface="Calibri"/>
                <a:ea typeface="Calibri"/>
                <a:cs typeface="Calibri"/>
                <a:sym typeface="Calibri"/>
              </a:rPr>
              <a:t>false approvals (risk exposure)</a:t>
            </a:r>
            <a:endParaRPr sz="1100" b="1">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Aligns with </a:t>
            </a:r>
            <a:r>
              <a:rPr lang="en-US" sz="1100" b="1">
                <a:solidFill>
                  <a:schemeClr val="lt1"/>
                </a:solidFill>
                <a:latin typeface="Calibri"/>
                <a:ea typeface="Calibri"/>
                <a:cs typeface="Calibri"/>
                <a:sym typeface="Calibri"/>
              </a:rPr>
              <a:t>risk-sensitive lending policy</a:t>
            </a:r>
            <a:endParaRPr sz="1100" b="1">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Moves decision boundary to favor </a:t>
            </a:r>
            <a:r>
              <a:rPr lang="en-US" sz="1100" b="1">
                <a:solidFill>
                  <a:schemeClr val="lt1"/>
                </a:solidFill>
                <a:latin typeface="Calibri"/>
                <a:ea typeface="Calibri"/>
                <a:cs typeface="Calibri"/>
                <a:sym typeface="Calibri"/>
              </a:rPr>
              <a:t>precision over recall</a:t>
            </a:r>
            <a:endParaRPr sz="1100" b="1">
              <a:solidFill>
                <a:schemeClr val="lt1"/>
              </a:solidFill>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Reflects business need:</a:t>
            </a:r>
            <a:endParaRPr sz="1100">
              <a:solidFill>
                <a:schemeClr val="lt1"/>
              </a:solidFill>
              <a:latin typeface="Calibri"/>
              <a:ea typeface="Calibri"/>
              <a:cs typeface="Calibri"/>
              <a:sym typeface="Calibri"/>
            </a:endParaRPr>
          </a:p>
          <a:p>
            <a:pPr marL="914400" lvl="1" indent="-298450" algn="l" rtl="0">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Cost of approving a bad loan &gt; denying a good loan</a:t>
            </a:r>
            <a:endParaRPr sz="1100">
              <a:solidFill>
                <a:schemeClr val="lt1"/>
              </a:solidFill>
              <a:latin typeface="Calibri"/>
              <a:ea typeface="Calibri"/>
              <a:cs typeface="Calibri"/>
              <a:sym typeface="Calibri"/>
            </a:endParaRPr>
          </a:p>
        </p:txBody>
      </p:sp>
      <p:sp>
        <p:nvSpPr>
          <p:cNvPr id="56" name="Google Shape;56;p5"/>
          <p:cNvSpPr txBox="1"/>
          <p:nvPr/>
        </p:nvSpPr>
        <p:spPr>
          <a:xfrm>
            <a:off x="186800" y="3747081"/>
            <a:ext cx="7759500" cy="110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200" b="1" i="1" u="sng">
                <a:solidFill>
                  <a:srgbClr val="C49A22"/>
                </a:solidFill>
                <a:latin typeface="Calibri"/>
                <a:ea typeface="Calibri"/>
                <a:cs typeface="Calibri"/>
                <a:sym typeface="Calibri"/>
              </a:rPr>
              <a:t>Trade-off </a:t>
            </a:r>
            <a:endParaRPr sz="1200" b="1" i="1" u="sng">
              <a:solidFill>
                <a:srgbClr val="C49A22"/>
              </a:solidFill>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Higher threshold →</a:t>
            </a:r>
            <a:endParaRPr sz="1100">
              <a:solidFill>
                <a:schemeClr val="lt1"/>
              </a:solidFill>
              <a:latin typeface="Calibri"/>
              <a:ea typeface="Calibri"/>
              <a:cs typeface="Calibri"/>
              <a:sym typeface="Calibri"/>
            </a:endParaRPr>
          </a:p>
          <a:p>
            <a:pPr marL="914400" lvl="1" indent="-298450" algn="l" rtl="0">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 False positives (good for lender risk)</a:t>
            </a:r>
            <a:endParaRPr sz="1100">
              <a:solidFill>
                <a:schemeClr val="lt1"/>
              </a:solidFill>
              <a:latin typeface="Calibri"/>
              <a:ea typeface="Calibri"/>
              <a:cs typeface="Calibri"/>
              <a:sym typeface="Calibri"/>
            </a:endParaRPr>
          </a:p>
          <a:p>
            <a:pPr marL="914400" lvl="1" indent="-298450" algn="l" rtl="0">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 False negatives (potential fairness concern)</a:t>
            </a:r>
            <a:endParaRPr sz="11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61"/>
        <p:cNvGrpSpPr/>
        <p:nvPr/>
      </p:nvGrpSpPr>
      <p:grpSpPr>
        <a:xfrm>
          <a:off x="0" y="0"/>
          <a:ext cx="0" cy="0"/>
          <a:chOff x="0" y="0"/>
          <a:chExt cx="0" cy="0"/>
        </a:xfrm>
      </p:grpSpPr>
      <p:sp>
        <p:nvSpPr>
          <p:cNvPr id="62" name="Google Shape;62;p6"/>
          <p:cNvSpPr/>
          <p:nvPr/>
        </p:nvSpPr>
        <p:spPr>
          <a:xfrm>
            <a:off x="0" y="0"/>
            <a:ext cx="164700" cy="51435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411480" y="640080"/>
            <a:ext cx="8321100" cy="731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Georgia"/>
                <a:ea typeface="Georgia"/>
                <a:cs typeface="Georgia"/>
                <a:sym typeface="Georgia"/>
              </a:rPr>
              <a:t>Q2: Known Failure Modes</a:t>
            </a:r>
            <a:endParaRPr sz="3800" i="0" u="none" strike="noStrike" cap="none">
              <a:solidFill>
                <a:schemeClr val="dk1"/>
              </a:solidFill>
              <a:latin typeface="Georgia"/>
              <a:ea typeface="Georgia"/>
              <a:cs typeface="Georgia"/>
              <a:sym typeface="Georgia"/>
            </a:endParaRPr>
          </a:p>
        </p:txBody>
      </p:sp>
      <p:sp>
        <p:nvSpPr>
          <p:cNvPr id="64" name="Google Shape;64;p6"/>
          <p:cNvSpPr/>
          <p:nvPr/>
        </p:nvSpPr>
        <p:spPr>
          <a:xfrm>
            <a:off x="411480" y="1389888"/>
            <a:ext cx="83211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700"/>
              <a:buFont typeface="Calibri"/>
              <a:buNone/>
            </a:pPr>
            <a:r>
              <a:rPr lang="en-US" sz="1700" b="0" i="1" u="none" strike="noStrike" cap="none">
                <a:solidFill>
                  <a:srgbClr val="F0C878"/>
                </a:solidFill>
                <a:latin typeface="Calibri"/>
                <a:ea typeface="Calibri"/>
                <a:cs typeface="Calibri"/>
                <a:sym typeface="Calibri"/>
              </a:rPr>
              <a:t>Where does the model break down — and who is harmed when it does?</a:t>
            </a:r>
            <a:endParaRPr sz="1700" b="0" i="0" u="none" strike="noStrike" cap="none">
              <a:solidFill>
                <a:schemeClr val="dk1"/>
              </a:solidFill>
              <a:latin typeface="Calibri"/>
              <a:ea typeface="Calibri"/>
              <a:cs typeface="Calibri"/>
              <a:sym typeface="Calibri"/>
            </a:endParaRPr>
          </a:p>
        </p:txBody>
      </p:sp>
      <p:sp>
        <p:nvSpPr>
          <p:cNvPr id="65" name="Google Shape;65;p6"/>
          <p:cNvSpPr/>
          <p:nvPr/>
        </p:nvSpPr>
        <p:spPr>
          <a:xfrm>
            <a:off x="411480" y="1901952"/>
            <a:ext cx="8321100" cy="273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411480" y="2148840"/>
            <a:ext cx="1965900" cy="1234500"/>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502920" y="2212848"/>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SHAP</a:t>
            </a:r>
            <a:endParaRPr sz="1600" b="0" i="0" u="none" strike="noStrike" cap="none">
              <a:solidFill>
                <a:schemeClr val="dk1"/>
              </a:solidFill>
              <a:latin typeface="Calibri"/>
              <a:ea typeface="Calibri"/>
              <a:cs typeface="Calibri"/>
              <a:sym typeface="Calibri"/>
            </a:endParaRPr>
          </a:p>
        </p:txBody>
      </p:sp>
      <p:sp>
        <p:nvSpPr>
          <p:cNvPr id="68" name="Google Shape;68;p6"/>
          <p:cNvSpPr/>
          <p:nvPr/>
        </p:nvSpPr>
        <p:spPr>
          <a:xfrm>
            <a:off x="502920" y="2560320"/>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Global &amp; Local Importance</a:t>
            </a:r>
            <a:endParaRPr sz="1200" b="0" i="0" u="none" strike="noStrike" cap="none">
              <a:solidFill>
                <a:schemeClr val="dk1"/>
              </a:solidFill>
              <a:latin typeface="Calibri"/>
              <a:ea typeface="Calibri"/>
              <a:cs typeface="Calibri"/>
              <a:sym typeface="Calibri"/>
            </a:endParaRPr>
          </a:p>
        </p:txBody>
      </p:sp>
      <p:sp>
        <p:nvSpPr>
          <p:cNvPr id="69" name="Google Shape;69;p6"/>
          <p:cNvSpPr/>
          <p:nvPr/>
        </p:nvSpPr>
        <p:spPr>
          <a:xfrm>
            <a:off x="2532888" y="2148840"/>
            <a:ext cx="1965900" cy="1234500"/>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2624328" y="2212848"/>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a:t>
            </a:r>
            <a:r>
              <a:rPr lang="en-US" sz="1600" b="1">
                <a:solidFill>
                  <a:srgbClr val="F0C878"/>
                </a:solidFill>
                <a:latin typeface="Calibri"/>
                <a:ea typeface="Calibri"/>
                <a:cs typeface="Calibri"/>
                <a:sym typeface="Calibri"/>
              </a:rPr>
              <a:t>SHAP</a:t>
            </a:r>
            <a:endParaRPr sz="1600" b="0" i="0" u="none" strike="noStrike" cap="none">
              <a:solidFill>
                <a:schemeClr val="dk1"/>
              </a:solidFill>
              <a:latin typeface="Calibri"/>
              <a:ea typeface="Calibri"/>
              <a:cs typeface="Calibri"/>
              <a:sym typeface="Calibri"/>
            </a:endParaRPr>
          </a:p>
        </p:txBody>
      </p:sp>
      <p:sp>
        <p:nvSpPr>
          <p:cNvPr id="71" name="Google Shape;71;p6"/>
          <p:cNvSpPr/>
          <p:nvPr/>
        </p:nvSpPr>
        <p:spPr>
          <a:xfrm>
            <a:off x="2624328" y="2560320"/>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Waterfall Explanations</a:t>
            </a:r>
            <a:endParaRPr sz="1200" b="0" i="0" u="none" strike="noStrike" cap="none">
              <a:solidFill>
                <a:schemeClr val="dk1"/>
              </a:solidFill>
              <a:latin typeface="Calibri"/>
              <a:ea typeface="Calibri"/>
              <a:cs typeface="Calibri"/>
              <a:sym typeface="Calibri"/>
            </a:endParaRPr>
          </a:p>
        </p:txBody>
      </p:sp>
      <p:sp>
        <p:nvSpPr>
          <p:cNvPr id="72" name="Google Shape;72;p6"/>
          <p:cNvSpPr/>
          <p:nvPr/>
        </p:nvSpPr>
        <p:spPr>
          <a:xfrm>
            <a:off x="4654296" y="2148840"/>
            <a:ext cx="1965900" cy="1234500"/>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4745736" y="2212848"/>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DiCE</a:t>
            </a:r>
            <a:endParaRPr sz="1600" b="0" i="0" u="none" strike="noStrike" cap="none">
              <a:solidFill>
                <a:schemeClr val="dk1"/>
              </a:solidFill>
              <a:latin typeface="Calibri"/>
              <a:ea typeface="Calibri"/>
              <a:cs typeface="Calibri"/>
              <a:sym typeface="Calibri"/>
            </a:endParaRPr>
          </a:p>
        </p:txBody>
      </p:sp>
      <p:sp>
        <p:nvSpPr>
          <p:cNvPr id="74" name="Google Shape;74;p6"/>
          <p:cNvSpPr/>
          <p:nvPr/>
        </p:nvSpPr>
        <p:spPr>
          <a:xfrm>
            <a:off x="4745736" y="2560320"/>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Counterfactual Analysis</a:t>
            </a:r>
            <a:endParaRPr sz="1200" b="0" i="0" u="none" strike="noStrike" cap="none">
              <a:solidFill>
                <a:schemeClr val="dk1"/>
              </a:solidFill>
              <a:latin typeface="Calibri"/>
              <a:ea typeface="Calibri"/>
              <a:cs typeface="Calibri"/>
              <a:sym typeface="Calibri"/>
            </a:endParaRPr>
          </a:p>
        </p:txBody>
      </p:sp>
      <p:sp>
        <p:nvSpPr>
          <p:cNvPr id="75" name="Google Shape;75;p6"/>
          <p:cNvSpPr/>
          <p:nvPr/>
        </p:nvSpPr>
        <p:spPr>
          <a:xfrm>
            <a:off x="6775704" y="2148840"/>
            <a:ext cx="1965900" cy="1234500"/>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6867144" y="2212848"/>
            <a:ext cx="17832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PSI</a:t>
            </a:r>
            <a:endParaRPr sz="1600" b="0" i="0" u="none" strike="noStrike" cap="none">
              <a:solidFill>
                <a:schemeClr val="dk1"/>
              </a:solidFill>
              <a:latin typeface="Calibri"/>
              <a:ea typeface="Calibri"/>
              <a:cs typeface="Calibri"/>
              <a:sym typeface="Calibri"/>
            </a:endParaRPr>
          </a:p>
        </p:txBody>
      </p:sp>
      <p:sp>
        <p:nvSpPr>
          <p:cNvPr id="77" name="Google Shape;77;p6"/>
          <p:cNvSpPr/>
          <p:nvPr/>
        </p:nvSpPr>
        <p:spPr>
          <a:xfrm>
            <a:off x="6867144" y="2560320"/>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Feature Drift Testing</a:t>
            </a:r>
            <a:endParaRPr sz="1200" b="0" i="0" u="none" strike="noStrike" cap="none">
              <a:solidFill>
                <a:schemeClr val="dk1"/>
              </a:solidFill>
              <a:latin typeface="Calibri"/>
              <a:ea typeface="Calibri"/>
              <a:cs typeface="Calibri"/>
              <a:sym typeface="Calibri"/>
            </a:endParaRPr>
          </a:p>
        </p:txBody>
      </p:sp>
      <p:sp>
        <p:nvSpPr>
          <p:cNvPr id="78" name="Google Shape;78;p6"/>
          <p:cNvSpPr/>
          <p:nvPr/>
        </p:nvSpPr>
        <p:spPr>
          <a:xfrm>
            <a:off x="365760" y="3593592"/>
            <a:ext cx="164700" cy="255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612648" y="3566160"/>
            <a:ext cx="3840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Failure Mode 1  →  Proxy Bias</a:t>
            </a:r>
            <a:endParaRPr sz="1300" b="0" i="0" u="none" strike="noStrike" cap="none">
              <a:solidFill>
                <a:schemeClr val="dk1"/>
              </a:solidFill>
              <a:latin typeface="Calibri"/>
              <a:ea typeface="Calibri"/>
              <a:cs typeface="Calibri"/>
              <a:sym typeface="Calibri"/>
            </a:endParaRPr>
          </a:p>
        </p:txBody>
      </p:sp>
      <p:sp>
        <p:nvSpPr>
          <p:cNvPr id="80" name="Google Shape;80;p6"/>
          <p:cNvSpPr/>
          <p:nvPr/>
        </p:nvSpPr>
        <p:spPr>
          <a:xfrm>
            <a:off x="4572000" y="3593592"/>
            <a:ext cx="164700" cy="255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a:off x="4818888" y="3566160"/>
            <a:ext cx="3840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Failure Mode 2  →  Risk Override</a:t>
            </a:r>
            <a:endParaRPr sz="1300" b="0" i="0" u="none" strike="noStrike" cap="none">
              <a:solidFill>
                <a:schemeClr val="dk1"/>
              </a:solidFill>
              <a:latin typeface="Calibri"/>
              <a:ea typeface="Calibri"/>
              <a:cs typeface="Calibri"/>
              <a:sym typeface="Calibri"/>
            </a:endParaRPr>
          </a:p>
        </p:txBody>
      </p:sp>
      <p:sp>
        <p:nvSpPr>
          <p:cNvPr id="82" name="Google Shape;82;p6"/>
          <p:cNvSpPr/>
          <p:nvPr/>
        </p:nvSpPr>
        <p:spPr>
          <a:xfrm>
            <a:off x="365760" y="4050792"/>
            <a:ext cx="164700" cy="255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a:off x="612648" y="4023360"/>
            <a:ext cx="3840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Failure Mode 3  →  Recourse Failure</a:t>
            </a:r>
            <a:endParaRPr sz="1300" b="0" i="0" u="none" strike="noStrike" cap="none">
              <a:solidFill>
                <a:schemeClr val="dk1"/>
              </a:solidFill>
              <a:latin typeface="Calibri"/>
              <a:ea typeface="Calibri"/>
              <a:cs typeface="Calibri"/>
              <a:sym typeface="Calibri"/>
            </a:endParaRPr>
          </a:p>
        </p:txBody>
      </p:sp>
      <p:sp>
        <p:nvSpPr>
          <p:cNvPr id="84" name="Google Shape;84;p6"/>
          <p:cNvSpPr/>
          <p:nvPr/>
        </p:nvSpPr>
        <p:spPr>
          <a:xfrm>
            <a:off x="4572000" y="4050792"/>
            <a:ext cx="164700" cy="255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4818888" y="4023360"/>
            <a:ext cx="3840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0" i="0" u="none" strike="noStrike" cap="none">
                <a:solidFill>
                  <a:srgbClr val="FFFFFF"/>
                </a:solidFill>
                <a:latin typeface="Calibri"/>
                <a:ea typeface="Calibri"/>
                <a:cs typeface="Calibri"/>
                <a:sym typeface="Calibri"/>
              </a:rPr>
              <a:t>Failure Mode 4  →  Feature Drift</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Shape 90"/>
        <p:cNvGrpSpPr/>
        <p:nvPr/>
      </p:nvGrpSpPr>
      <p:grpSpPr>
        <a:xfrm>
          <a:off x="0" y="0"/>
          <a:ext cx="0" cy="0"/>
          <a:chOff x="0" y="0"/>
          <a:chExt cx="0" cy="0"/>
        </a:xfrm>
      </p:grpSpPr>
      <p:sp>
        <p:nvSpPr>
          <p:cNvPr id="91" name="Google Shape;91;p7"/>
          <p:cNvSpPr/>
          <p:nvPr/>
        </p:nvSpPr>
        <p:spPr>
          <a:xfrm>
            <a:off x="0" y="0"/>
            <a:ext cx="164700" cy="5143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a:off x="320040" y="320040"/>
            <a:ext cx="1005900" cy="3657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320040" y="320040"/>
            <a:ext cx="10059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MODE 01</a:t>
            </a:r>
            <a:endParaRPr sz="1000" b="0" i="0" u="none" strike="noStrike" cap="none">
              <a:solidFill>
                <a:schemeClr val="dk1"/>
              </a:solidFill>
              <a:latin typeface="Calibri"/>
              <a:ea typeface="Calibri"/>
              <a:cs typeface="Calibri"/>
              <a:sym typeface="Calibri"/>
            </a:endParaRPr>
          </a:p>
        </p:txBody>
      </p:sp>
      <p:sp>
        <p:nvSpPr>
          <p:cNvPr id="94" name="Google Shape;94;p7"/>
          <p:cNvSpPr/>
          <p:nvPr/>
        </p:nvSpPr>
        <p:spPr>
          <a:xfrm>
            <a:off x="320040" y="777240"/>
            <a:ext cx="53034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B4A"/>
              </a:buClr>
              <a:buSzPts val="2400"/>
              <a:buFont typeface="Georgia"/>
              <a:buNone/>
            </a:pPr>
            <a:r>
              <a:rPr lang="en-US" sz="2400" b="1" i="0" u="none" strike="noStrike" cap="none">
                <a:solidFill>
                  <a:srgbClr val="1C2B4A"/>
                </a:solidFill>
                <a:latin typeface="Georgia"/>
                <a:ea typeface="Georgia"/>
                <a:cs typeface="Georgia"/>
                <a:sym typeface="Georgia"/>
              </a:rPr>
              <a:t>Proxy Discrimination via Neighborhood Income</a:t>
            </a:r>
            <a:endParaRPr sz="2400" b="0" i="0" u="none" strike="noStrike" cap="none">
              <a:solidFill>
                <a:schemeClr val="dk1"/>
              </a:solidFill>
              <a:latin typeface="Calibri"/>
              <a:ea typeface="Calibri"/>
              <a:cs typeface="Calibri"/>
              <a:sym typeface="Calibri"/>
            </a:endParaRPr>
          </a:p>
        </p:txBody>
      </p:sp>
      <p:sp>
        <p:nvSpPr>
          <p:cNvPr id="95" name="Google Shape;95;p7"/>
          <p:cNvSpPr/>
          <p:nvPr/>
        </p:nvSpPr>
        <p:spPr>
          <a:xfrm>
            <a:off x="320040" y="1600200"/>
            <a:ext cx="5303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WHAT HAPPENS</a:t>
            </a:r>
            <a:endParaRPr sz="1000" b="0" i="0" u="none" strike="noStrike" cap="none">
              <a:solidFill>
                <a:schemeClr val="dk1"/>
              </a:solidFill>
              <a:latin typeface="Calibri"/>
              <a:ea typeface="Calibri"/>
              <a:cs typeface="Calibri"/>
              <a:sym typeface="Calibri"/>
            </a:endParaRPr>
          </a:p>
        </p:txBody>
      </p:sp>
      <p:sp>
        <p:nvSpPr>
          <p:cNvPr id="96" name="Google Shape;96;p7"/>
          <p:cNvSpPr/>
          <p:nvPr/>
        </p:nvSpPr>
        <p:spPr>
          <a:xfrm>
            <a:off x="320040" y="1920240"/>
            <a:ext cx="5212200" cy="82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1300"/>
              <a:buFont typeface="Calibri"/>
              <a:buNone/>
            </a:pPr>
            <a:r>
              <a:rPr lang="en-US" sz="1300" b="0" i="0" u="none" strike="noStrike" cap="none">
                <a:solidFill>
                  <a:srgbClr val="2C2C2C"/>
                </a:solidFill>
                <a:latin typeface="Calibri"/>
                <a:ea typeface="Calibri"/>
                <a:cs typeface="Calibri"/>
                <a:sym typeface="Calibri"/>
              </a:rPr>
              <a:t>The model uses ffiec_msa_md_median_family_income</a:t>
            </a:r>
            <a:r>
              <a:rPr lang="en-US" sz="1300">
                <a:solidFill>
                  <a:srgbClr val="2C2C2C"/>
                </a:solidFill>
                <a:latin typeface="Calibri"/>
                <a:ea typeface="Calibri"/>
                <a:cs typeface="Calibri"/>
                <a:sym typeface="Calibri"/>
              </a:rPr>
              <a:t>, which is </a:t>
            </a:r>
            <a:r>
              <a:rPr lang="en-US" sz="1300" b="0" i="0" u="none" strike="noStrike" cap="none">
                <a:solidFill>
                  <a:srgbClr val="2C2C2C"/>
                </a:solidFill>
                <a:latin typeface="Calibri"/>
                <a:ea typeface="Calibri"/>
                <a:cs typeface="Calibri"/>
                <a:sym typeface="Calibri"/>
              </a:rPr>
              <a:t>the median income of the applicant's census tract</a:t>
            </a:r>
            <a:r>
              <a:rPr lang="en-US" sz="1300">
                <a:solidFill>
                  <a:srgbClr val="2C2C2C"/>
                </a:solidFill>
                <a:latin typeface="Calibri"/>
                <a:ea typeface="Calibri"/>
                <a:cs typeface="Calibri"/>
                <a:sym typeface="Calibri"/>
              </a:rPr>
              <a:t>, </a:t>
            </a:r>
            <a:r>
              <a:rPr lang="en-US" sz="1300" b="0" i="0" u="none" strike="noStrike" cap="none">
                <a:solidFill>
                  <a:srgbClr val="2C2C2C"/>
                </a:solidFill>
                <a:latin typeface="Calibri"/>
                <a:ea typeface="Calibri"/>
                <a:cs typeface="Calibri"/>
                <a:sym typeface="Calibri"/>
              </a:rPr>
              <a:t>as an input feature. Because of residential segregation, this penalizes applicants for where they live </a:t>
            </a:r>
            <a:r>
              <a:rPr lang="en-US" sz="1300">
                <a:solidFill>
                  <a:srgbClr val="2C2C2C"/>
                </a:solidFill>
                <a:latin typeface="Calibri"/>
                <a:ea typeface="Calibri"/>
                <a:cs typeface="Calibri"/>
                <a:sym typeface="Calibri"/>
              </a:rPr>
              <a:t>rather than</a:t>
            </a:r>
            <a:r>
              <a:rPr lang="en-US" sz="1300" b="0" i="0" u="none" strike="noStrike" cap="none">
                <a:solidFill>
                  <a:srgbClr val="2C2C2C"/>
                </a:solidFill>
                <a:latin typeface="Calibri"/>
                <a:ea typeface="Calibri"/>
                <a:cs typeface="Calibri"/>
                <a:sym typeface="Calibri"/>
              </a:rPr>
              <a:t> their personal financial profile.</a:t>
            </a:r>
            <a:endParaRPr sz="1300" b="0" i="0" u="none" strike="noStrike" cap="none">
              <a:solidFill>
                <a:schemeClr val="dk1"/>
              </a:solidFill>
              <a:latin typeface="Calibri"/>
              <a:ea typeface="Calibri"/>
              <a:cs typeface="Calibri"/>
              <a:sym typeface="Calibri"/>
            </a:endParaRPr>
          </a:p>
        </p:txBody>
      </p:sp>
      <p:sp>
        <p:nvSpPr>
          <p:cNvPr id="97" name="Google Shape;97;p7"/>
          <p:cNvSpPr/>
          <p:nvPr/>
        </p:nvSpPr>
        <p:spPr>
          <a:xfrm>
            <a:off x="320040" y="2834640"/>
            <a:ext cx="5303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WHO IS HARMED</a:t>
            </a:r>
            <a:endParaRPr sz="1000" b="0" i="0" u="none" strike="noStrike" cap="none">
              <a:solidFill>
                <a:schemeClr val="dk1"/>
              </a:solidFill>
              <a:latin typeface="Calibri"/>
              <a:ea typeface="Calibri"/>
              <a:cs typeface="Calibri"/>
              <a:sym typeface="Calibri"/>
            </a:endParaRPr>
          </a:p>
        </p:txBody>
      </p:sp>
      <p:sp>
        <p:nvSpPr>
          <p:cNvPr id="98" name="Google Shape;98;p7"/>
          <p:cNvSpPr/>
          <p:nvPr/>
        </p:nvSpPr>
        <p:spPr>
          <a:xfrm>
            <a:off x="320040" y="3154680"/>
            <a:ext cx="52122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1300"/>
              <a:buFont typeface="Calibri"/>
              <a:buNone/>
            </a:pPr>
            <a:r>
              <a:rPr lang="en-US" sz="1300" b="0" i="0" u="none" strike="noStrike" cap="none">
                <a:solidFill>
                  <a:srgbClr val="2C2C2C"/>
                </a:solidFill>
                <a:latin typeface="Calibri"/>
                <a:ea typeface="Calibri"/>
                <a:cs typeface="Calibri"/>
                <a:sym typeface="Calibri"/>
              </a:rPr>
              <a:t>African-American applicants, who are disproportionately and systemically located in lower-income census tracts due to historical redlining. Race never enters the model </a:t>
            </a:r>
            <a:r>
              <a:rPr lang="en-US" sz="1300">
                <a:solidFill>
                  <a:srgbClr val="2C2C2C"/>
                </a:solidFill>
                <a:latin typeface="Calibri"/>
                <a:ea typeface="Calibri"/>
                <a:cs typeface="Calibri"/>
                <a:sym typeface="Calibri"/>
              </a:rPr>
              <a:t>explicitly but </a:t>
            </a:r>
            <a:r>
              <a:rPr lang="en-US" sz="1300" b="0" i="0" u="none" strike="noStrike" cap="none">
                <a:solidFill>
                  <a:srgbClr val="2C2C2C"/>
                </a:solidFill>
                <a:latin typeface="Calibri"/>
                <a:ea typeface="Calibri"/>
                <a:cs typeface="Calibri"/>
                <a:sym typeface="Calibri"/>
              </a:rPr>
              <a:t>it enters through the zip code.</a:t>
            </a:r>
            <a:endParaRPr sz="1300" b="0" i="0" u="none" strike="noStrike" cap="none">
              <a:solidFill>
                <a:schemeClr val="dk1"/>
              </a:solidFill>
              <a:latin typeface="Calibri"/>
              <a:ea typeface="Calibri"/>
              <a:cs typeface="Calibri"/>
              <a:sym typeface="Calibri"/>
            </a:endParaRPr>
          </a:p>
        </p:txBody>
      </p:sp>
      <p:sp>
        <p:nvSpPr>
          <p:cNvPr id="99" name="Google Shape;99;p7"/>
          <p:cNvSpPr/>
          <p:nvPr/>
        </p:nvSpPr>
        <p:spPr>
          <a:xfrm>
            <a:off x="320040" y="3977640"/>
            <a:ext cx="1371600" cy="292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7"/>
          <p:cNvSpPr/>
          <p:nvPr/>
        </p:nvSpPr>
        <p:spPr>
          <a:xfrm>
            <a:off x="320040" y="3977640"/>
            <a:ext cx="13716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SEVERITY: HIGH</a:t>
            </a:r>
            <a:endParaRPr sz="1000" b="0" i="0" u="none" strike="noStrike" cap="none">
              <a:solidFill>
                <a:schemeClr val="dk1"/>
              </a:solidFill>
              <a:latin typeface="Calibri"/>
              <a:ea typeface="Calibri"/>
              <a:cs typeface="Calibri"/>
              <a:sym typeface="Calibri"/>
            </a:endParaRPr>
          </a:p>
        </p:txBody>
      </p:sp>
      <p:sp>
        <p:nvSpPr>
          <p:cNvPr id="101" name="Google Shape;101;p7"/>
          <p:cNvSpPr/>
          <p:nvPr/>
        </p:nvSpPr>
        <p:spPr>
          <a:xfrm>
            <a:off x="1783080" y="3977640"/>
            <a:ext cx="32004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6A8"/>
              </a:buClr>
              <a:buSzPts val="1100"/>
              <a:buFont typeface="Calibri"/>
              <a:buNone/>
            </a:pPr>
            <a:r>
              <a:rPr lang="en-US" sz="1100" b="0" i="0" u="none" strike="noStrike" cap="none">
                <a:solidFill>
                  <a:srgbClr val="8A96A8"/>
                </a:solidFill>
                <a:latin typeface="Calibri"/>
                <a:ea typeface="Calibri"/>
                <a:cs typeface="Calibri"/>
                <a:sym typeface="Calibri"/>
              </a:rPr>
              <a:t>Potential ECOA violation</a:t>
            </a:r>
            <a:endParaRPr sz="1100" b="0" i="0" u="none" strike="noStrike" cap="none">
              <a:solidFill>
                <a:schemeClr val="dk1"/>
              </a:solidFill>
              <a:latin typeface="Calibri"/>
              <a:ea typeface="Calibri"/>
              <a:cs typeface="Calibri"/>
              <a:sym typeface="Calibri"/>
            </a:endParaRPr>
          </a:p>
        </p:txBody>
      </p:sp>
      <p:pic>
        <p:nvPicPr>
          <p:cNvPr id="102" name="Google Shape;102;p7" title="Screenshot 2569-05-04 at 01.29.25.png"/>
          <p:cNvPicPr preferRelativeResize="0"/>
          <p:nvPr/>
        </p:nvPicPr>
        <p:blipFill rotWithShape="1">
          <a:blip r:embed="rId3">
            <a:alphaModFix/>
          </a:blip>
          <a:srcRect l="2788" r="19777"/>
          <a:stretch/>
        </p:blipFill>
        <p:spPr>
          <a:xfrm>
            <a:off x="5778801" y="2847494"/>
            <a:ext cx="2958375" cy="2073407"/>
          </a:xfrm>
          <a:prstGeom prst="rect">
            <a:avLst/>
          </a:prstGeom>
          <a:noFill/>
          <a:ln>
            <a:noFill/>
          </a:ln>
        </p:spPr>
      </p:pic>
      <p:sp>
        <p:nvSpPr>
          <p:cNvPr id="103" name="Google Shape;103;p7"/>
          <p:cNvSpPr/>
          <p:nvPr/>
        </p:nvSpPr>
        <p:spPr>
          <a:xfrm>
            <a:off x="5778800" y="320054"/>
            <a:ext cx="2958300" cy="2473200"/>
          </a:xfrm>
          <a:prstGeom prst="rect">
            <a:avLst/>
          </a:prstGeom>
          <a:solidFill>
            <a:srgbClr val="FFFFFF"/>
          </a:solidFill>
          <a:ln w="9200" cap="flat" cmpd="sng">
            <a:solidFill>
              <a:srgbClr val="D8DDE8"/>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04" name="Google Shape;104;p7"/>
          <p:cNvSpPr/>
          <p:nvPr/>
        </p:nvSpPr>
        <p:spPr>
          <a:xfrm>
            <a:off x="5778806" y="320050"/>
            <a:ext cx="2958300" cy="277500"/>
          </a:xfrm>
          <a:prstGeom prst="rect">
            <a:avLst/>
          </a:prstGeom>
          <a:solidFill>
            <a:srgbClr val="1B2A4A"/>
          </a:solidFill>
          <a:ln w="9200" cap="flat" cmpd="sng">
            <a:solidFill>
              <a:srgbClr val="1B2A4A"/>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05" name="Google Shape;105;p7"/>
          <p:cNvSpPr/>
          <p:nvPr/>
        </p:nvSpPr>
        <p:spPr>
          <a:xfrm>
            <a:off x="5846812" y="335469"/>
            <a:ext cx="2822100" cy="246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68"/>
              <a:buFont typeface="Calibri"/>
              <a:buNone/>
            </a:pPr>
            <a:r>
              <a:rPr lang="en-US" sz="868" b="1" i="0" u="none" strike="noStrike" cap="none">
                <a:solidFill>
                  <a:srgbClr val="FFFFFF"/>
                </a:solidFill>
                <a:latin typeface="Calibri"/>
                <a:ea typeface="Calibri"/>
                <a:cs typeface="Calibri"/>
                <a:sym typeface="Calibri"/>
              </a:rPr>
              <a:t>Evidence from Our SHAP Analysis</a:t>
            </a:r>
            <a:endParaRPr sz="868" b="0" i="0" u="none" strike="noStrike" cap="none">
              <a:solidFill>
                <a:schemeClr val="dk1"/>
              </a:solidFill>
              <a:latin typeface="Calibri"/>
              <a:ea typeface="Calibri"/>
              <a:cs typeface="Calibri"/>
              <a:sym typeface="Calibri"/>
            </a:endParaRPr>
          </a:p>
        </p:txBody>
      </p:sp>
      <p:sp>
        <p:nvSpPr>
          <p:cNvPr id="106" name="Google Shape;106;p7"/>
          <p:cNvSpPr/>
          <p:nvPr/>
        </p:nvSpPr>
        <p:spPr>
          <a:xfrm>
            <a:off x="5846812" y="666966"/>
            <a:ext cx="2788200" cy="192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723"/>
              <a:buFont typeface="Calibri"/>
              <a:buNone/>
            </a:pPr>
            <a:r>
              <a:rPr lang="en-US" sz="723" b="0" i="1" u="none" strike="noStrike" cap="none">
                <a:solidFill>
                  <a:srgbClr val="8A9BB0"/>
                </a:solidFill>
                <a:latin typeface="Calibri"/>
                <a:ea typeface="Calibri"/>
                <a:cs typeface="Calibri"/>
                <a:sym typeface="Calibri"/>
              </a:rPr>
              <a:t>Top Features by Mean |SHAP| Value</a:t>
            </a:r>
            <a:endParaRPr sz="723" b="0" i="0" u="none" strike="noStrike" cap="none">
              <a:solidFill>
                <a:schemeClr val="dk1"/>
              </a:solidFill>
              <a:latin typeface="Calibri"/>
              <a:ea typeface="Calibri"/>
              <a:cs typeface="Calibri"/>
              <a:sym typeface="Calibri"/>
            </a:endParaRPr>
          </a:p>
        </p:txBody>
      </p:sp>
      <p:sp>
        <p:nvSpPr>
          <p:cNvPr id="107" name="Google Shape;107;p7"/>
          <p:cNvSpPr/>
          <p:nvPr/>
        </p:nvSpPr>
        <p:spPr>
          <a:xfrm>
            <a:off x="5846812" y="913662"/>
            <a:ext cx="2788200" cy="17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687"/>
              <a:buFont typeface="Calibri"/>
              <a:buNone/>
            </a:pPr>
            <a:r>
              <a:rPr lang="en-US" sz="687" b="1" i="0" u="none" strike="noStrike" cap="none">
                <a:solidFill>
                  <a:srgbClr val="C0392B"/>
                </a:solidFill>
                <a:latin typeface="Calibri"/>
                <a:ea typeface="Calibri"/>
                <a:cs typeface="Calibri"/>
                <a:sym typeface="Calibri"/>
              </a:rPr>
              <a:t>ffiec_msa_md_median_family_income</a:t>
            </a:r>
            <a:endParaRPr sz="687" b="0" i="0" u="none" strike="noStrike" cap="none">
              <a:solidFill>
                <a:schemeClr val="dk1"/>
              </a:solidFill>
              <a:latin typeface="Calibri"/>
              <a:ea typeface="Calibri"/>
              <a:cs typeface="Calibri"/>
              <a:sym typeface="Calibri"/>
            </a:endParaRPr>
          </a:p>
        </p:txBody>
      </p:sp>
      <p:sp>
        <p:nvSpPr>
          <p:cNvPr id="108" name="Google Shape;108;p7"/>
          <p:cNvSpPr/>
          <p:nvPr/>
        </p:nvSpPr>
        <p:spPr>
          <a:xfrm>
            <a:off x="5846812" y="1083266"/>
            <a:ext cx="1877100" cy="138900"/>
          </a:xfrm>
          <a:prstGeom prst="rect">
            <a:avLst/>
          </a:prstGeom>
          <a:solidFill>
            <a:srgbClr val="C0392B"/>
          </a:solidFill>
          <a:ln w="9200" cap="flat" cmpd="sng">
            <a:solidFill>
              <a:srgbClr val="C0392B"/>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09" name="Google Shape;109;p7"/>
          <p:cNvSpPr/>
          <p:nvPr/>
        </p:nvSpPr>
        <p:spPr>
          <a:xfrm>
            <a:off x="7744265" y="1056196"/>
            <a:ext cx="2721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51"/>
              <a:buFont typeface="Calibri"/>
              <a:buNone/>
            </a:pPr>
            <a:r>
              <a:rPr lang="en-US" sz="651" b="0" i="0" u="none" strike="noStrike" cap="none">
                <a:solidFill>
                  <a:srgbClr val="1A1A2E"/>
                </a:solidFill>
                <a:latin typeface="Calibri"/>
                <a:ea typeface="Calibri"/>
                <a:cs typeface="Calibri"/>
                <a:sym typeface="Calibri"/>
              </a:rPr>
              <a:t>0.92</a:t>
            </a:r>
            <a:endParaRPr sz="651" b="0" i="0" u="none" strike="noStrike" cap="none">
              <a:solidFill>
                <a:schemeClr val="dk1"/>
              </a:solidFill>
              <a:latin typeface="Calibri"/>
              <a:ea typeface="Calibri"/>
              <a:cs typeface="Calibri"/>
              <a:sym typeface="Calibri"/>
            </a:endParaRPr>
          </a:p>
        </p:txBody>
      </p:sp>
      <p:sp>
        <p:nvSpPr>
          <p:cNvPr id="110" name="Google Shape;110;p7"/>
          <p:cNvSpPr/>
          <p:nvPr/>
        </p:nvSpPr>
        <p:spPr>
          <a:xfrm>
            <a:off x="5846812" y="1283707"/>
            <a:ext cx="2788200" cy="17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687"/>
              <a:buFont typeface="Calibri"/>
              <a:buNone/>
            </a:pPr>
            <a:r>
              <a:rPr lang="en-US" sz="687" b="1" i="0" u="none" strike="noStrike" cap="none">
                <a:solidFill>
                  <a:srgbClr val="C0392B"/>
                </a:solidFill>
                <a:latin typeface="Calibri"/>
                <a:ea typeface="Calibri"/>
                <a:cs typeface="Calibri"/>
                <a:sym typeface="Calibri"/>
              </a:rPr>
              <a:t>relative_income</a:t>
            </a:r>
            <a:endParaRPr sz="687" b="0" i="0" u="none" strike="noStrike" cap="none">
              <a:solidFill>
                <a:schemeClr val="dk1"/>
              </a:solidFill>
              <a:latin typeface="Calibri"/>
              <a:ea typeface="Calibri"/>
              <a:cs typeface="Calibri"/>
              <a:sym typeface="Calibri"/>
            </a:endParaRPr>
          </a:p>
        </p:txBody>
      </p:sp>
      <p:sp>
        <p:nvSpPr>
          <p:cNvPr id="111" name="Google Shape;111;p7"/>
          <p:cNvSpPr/>
          <p:nvPr/>
        </p:nvSpPr>
        <p:spPr>
          <a:xfrm>
            <a:off x="5846812" y="1453310"/>
            <a:ext cx="1591200" cy="138900"/>
          </a:xfrm>
          <a:prstGeom prst="rect">
            <a:avLst/>
          </a:prstGeom>
          <a:solidFill>
            <a:srgbClr val="C0392B"/>
          </a:solidFill>
          <a:ln w="9200" cap="flat" cmpd="sng">
            <a:solidFill>
              <a:srgbClr val="C0392B"/>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12" name="Google Shape;112;p7"/>
          <p:cNvSpPr/>
          <p:nvPr/>
        </p:nvSpPr>
        <p:spPr>
          <a:xfrm>
            <a:off x="7472166" y="1453310"/>
            <a:ext cx="2721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51"/>
              <a:buFont typeface="Calibri"/>
              <a:buNone/>
            </a:pPr>
            <a:r>
              <a:rPr lang="en-US" sz="651" b="0" i="0" u="none" strike="noStrike" cap="none">
                <a:solidFill>
                  <a:srgbClr val="1A1A2E"/>
                </a:solidFill>
                <a:latin typeface="Calibri"/>
                <a:ea typeface="Calibri"/>
                <a:cs typeface="Calibri"/>
                <a:sym typeface="Calibri"/>
              </a:rPr>
              <a:t>0.78</a:t>
            </a:r>
            <a:endParaRPr sz="651" b="0" i="0" u="none" strike="noStrike" cap="none">
              <a:solidFill>
                <a:schemeClr val="dk1"/>
              </a:solidFill>
              <a:latin typeface="Calibri"/>
              <a:ea typeface="Calibri"/>
              <a:cs typeface="Calibri"/>
              <a:sym typeface="Calibri"/>
            </a:endParaRPr>
          </a:p>
        </p:txBody>
      </p:sp>
      <p:sp>
        <p:nvSpPr>
          <p:cNvPr id="113" name="Google Shape;113;p7"/>
          <p:cNvSpPr/>
          <p:nvPr/>
        </p:nvSpPr>
        <p:spPr>
          <a:xfrm>
            <a:off x="5846812" y="1653751"/>
            <a:ext cx="2788200" cy="17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687"/>
              <a:buFont typeface="Calibri"/>
              <a:buNone/>
            </a:pPr>
            <a:r>
              <a:rPr lang="en-US" sz="687" b="1" i="0" u="none" strike="noStrike" cap="none">
                <a:solidFill>
                  <a:srgbClr val="C0392B"/>
                </a:solidFill>
                <a:latin typeface="Calibri"/>
                <a:ea typeface="Calibri"/>
                <a:cs typeface="Calibri"/>
                <a:sym typeface="Calibri"/>
              </a:rPr>
              <a:t>loan_purpose</a:t>
            </a:r>
            <a:endParaRPr sz="687" b="0" i="0" u="none" strike="noStrike" cap="none">
              <a:solidFill>
                <a:schemeClr val="dk1"/>
              </a:solidFill>
              <a:latin typeface="Calibri"/>
              <a:ea typeface="Calibri"/>
              <a:cs typeface="Calibri"/>
              <a:sym typeface="Calibri"/>
            </a:endParaRPr>
          </a:p>
        </p:txBody>
      </p:sp>
      <p:sp>
        <p:nvSpPr>
          <p:cNvPr id="114" name="Google Shape;114;p7"/>
          <p:cNvSpPr/>
          <p:nvPr/>
        </p:nvSpPr>
        <p:spPr>
          <a:xfrm>
            <a:off x="5849386" y="1564335"/>
            <a:ext cx="1448700" cy="138900"/>
          </a:xfrm>
          <a:prstGeom prst="rect">
            <a:avLst/>
          </a:prstGeom>
          <a:solidFill>
            <a:srgbClr val="C0392B"/>
          </a:solidFill>
          <a:ln w="9200" cap="flat" cmpd="sng">
            <a:solidFill>
              <a:srgbClr val="C0392B"/>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15" name="Google Shape;115;p7"/>
          <p:cNvSpPr/>
          <p:nvPr/>
        </p:nvSpPr>
        <p:spPr>
          <a:xfrm>
            <a:off x="7346374" y="1586007"/>
            <a:ext cx="2721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51"/>
              <a:buFont typeface="Calibri"/>
              <a:buNone/>
            </a:pPr>
            <a:r>
              <a:rPr lang="en-US" sz="651" b="0" i="0" u="none" strike="noStrike" cap="none">
                <a:solidFill>
                  <a:srgbClr val="1A1A2E"/>
                </a:solidFill>
                <a:latin typeface="Calibri"/>
                <a:ea typeface="Calibri"/>
                <a:cs typeface="Calibri"/>
                <a:sym typeface="Calibri"/>
              </a:rPr>
              <a:t>0.71</a:t>
            </a:r>
            <a:endParaRPr sz="651" b="0" i="0" u="none" strike="noStrike" cap="none">
              <a:solidFill>
                <a:schemeClr val="dk1"/>
              </a:solidFill>
              <a:latin typeface="Calibri"/>
              <a:ea typeface="Calibri"/>
              <a:cs typeface="Calibri"/>
              <a:sym typeface="Calibri"/>
            </a:endParaRPr>
          </a:p>
        </p:txBody>
      </p:sp>
      <p:sp>
        <p:nvSpPr>
          <p:cNvPr id="116" name="Google Shape;116;p7"/>
          <p:cNvSpPr/>
          <p:nvPr/>
        </p:nvSpPr>
        <p:spPr>
          <a:xfrm>
            <a:off x="5863834" y="1764775"/>
            <a:ext cx="2788200" cy="17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87"/>
              <a:buFont typeface="Calibri"/>
              <a:buNone/>
            </a:pPr>
            <a:r>
              <a:rPr lang="en-US" sz="687" b="0" i="0" u="none" strike="noStrike" cap="none">
                <a:solidFill>
                  <a:srgbClr val="1A1A2E"/>
                </a:solidFill>
                <a:latin typeface="Calibri"/>
                <a:ea typeface="Calibri"/>
                <a:cs typeface="Calibri"/>
                <a:sym typeface="Calibri"/>
              </a:rPr>
              <a:t>debt_to_income_ratio</a:t>
            </a:r>
            <a:endParaRPr sz="687" b="0" i="0" u="none" strike="noStrike" cap="none">
              <a:solidFill>
                <a:schemeClr val="dk1"/>
              </a:solidFill>
              <a:latin typeface="Calibri"/>
              <a:ea typeface="Calibri"/>
              <a:cs typeface="Calibri"/>
              <a:sym typeface="Calibri"/>
            </a:endParaRPr>
          </a:p>
        </p:txBody>
      </p:sp>
      <p:sp>
        <p:nvSpPr>
          <p:cNvPr id="117" name="Google Shape;117;p7"/>
          <p:cNvSpPr/>
          <p:nvPr/>
        </p:nvSpPr>
        <p:spPr>
          <a:xfrm>
            <a:off x="5863834" y="1934379"/>
            <a:ext cx="897300" cy="138900"/>
          </a:xfrm>
          <a:prstGeom prst="rect">
            <a:avLst/>
          </a:prstGeom>
          <a:solidFill>
            <a:srgbClr val="7B9EC8"/>
          </a:solidFill>
          <a:ln w="9200" cap="flat" cmpd="sng">
            <a:solidFill>
              <a:srgbClr val="7B9EC8"/>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18" name="Google Shape;118;p7"/>
          <p:cNvSpPr/>
          <p:nvPr/>
        </p:nvSpPr>
        <p:spPr>
          <a:xfrm>
            <a:off x="6795522" y="1934379"/>
            <a:ext cx="2721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51"/>
              <a:buFont typeface="Calibri"/>
              <a:buNone/>
            </a:pPr>
            <a:r>
              <a:rPr lang="en-US" sz="651" b="0" i="0" u="none" strike="noStrike" cap="none">
                <a:solidFill>
                  <a:srgbClr val="1A1A2E"/>
                </a:solidFill>
                <a:latin typeface="Calibri"/>
                <a:ea typeface="Calibri"/>
                <a:cs typeface="Calibri"/>
                <a:sym typeface="Calibri"/>
              </a:rPr>
              <a:t>0.44</a:t>
            </a:r>
            <a:endParaRPr sz="651" b="0" i="0" u="none" strike="noStrike" cap="none">
              <a:solidFill>
                <a:schemeClr val="dk1"/>
              </a:solidFill>
              <a:latin typeface="Calibri"/>
              <a:ea typeface="Calibri"/>
              <a:cs typeface="Calibri"/>
              <a:sym typeface="Calibri"/>
            </a:endParaRPr>
          </a:p>
        </p:txBody>
      </p:sp>
      <p:sp>
        <p:nvSpPr>
          <p:cNvPr id="119" name="Google Shape;119;p7"/>
          <p:cNvSpPr/>
          <p:nvPr/>
        </p:nvSpPr>
        <p:spPr>
          <a:xfrm>
            <a:off x="5863834" y="2134819"/>
            <a:ext cx="2788200" cy="17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87"/>
              <a:buFont typeface="Calibri"/>
              <a:buNone/>
            </a:pPr>
            <a:r>
              <a:rPr lang="en-US" sz="687" b="0" i="0" u="none" strike="noStrike" cap="none">
                <a:solidFill>
                  <a:srgbClr val="1A1A2E"/>
                </a:solidFill>
                <a:latin typeface="Calibri"/>
                <a:ea typeface="Calibri"/>
                <a:cs typeface="Calibri"/>
                <a:sym typeface="Calibri"/>
              </a:rPr>
              <a:t>loan_amount</a:t>
            </a:r>
            <a:endParaRPr sz="687" b="0" i="0" u="none" strike="noStrike" cap="none">
              <a:solidFill>
                <a:schemeClr val="dk1"/>
              </a:solidFill>
              <a:latin typeface="Calibri"/>
              <a:ea typeface="Calibri"/>
              <a:cs typeface="Calibri"/>
              <a:sym typeface="Calibri"/>
            </a:endParaRPr>
          </a:p>
        </p:txBody>
      </p:sp>
      <p:sp>
        <p:nvSpPr>
          <p:cNvPr id="120" name="Google Shape;120;p7"/>
          <p:cNvSpPr/>
          <p:nvPr/>
        </p:nvSpPr>
        <p:spPr>
          <a:xfrm>
            <a:off x="5863834" y="2304423"/>
            <a:ext cx="632100" cy="138900"/>
          </a:xfrm>
          <a:prstGeom prst="rect">
            <a:avLst/>
          </a:prstGeom>
          <a:solidFill>
            <a:srgbClr val="7B9EC8"/>
          </a:solidFill>
          <a:ln w="9200" cap="flat" cmpd="sng">
            <a:solidFill>
              <a:srgbClr val="7B9EC8"/>
            </a:solidFill>
            <a:prstDash val="solid"/>
            <a:round/>
            <a:headEnd type="none" w="sm" len="sm"/>
            <a:tailEnd type="none" w="sm" len="sm"/>
          </a:ln>
        </p:spPr>
        <p:txBody>
          <a:bodyPr spcFirstLastPara="1" wrap="square" lIns="66100" tIns="66100" rIns="66100" bIns="66100" anchor="ctr" anchorCtr="0">
            <a:noAutofit/>
          </a:bodyPr>
          <a:lstStyle/>
          <a:p>
            <a:pPr marL="0" lvl="0" indent="0" algn="l" rtl="0">
              <a:spcBef>
                <a:spcPts val="0"/>
              </a:spcBef>
              <a:spcAft>
                <a:spcPts val="0"/>
              </a:spcAft>
              <a:buNone/>
            </a:pPr>
            <a:endParaRPr/>
          </a:p>
        </p:txBody>
      </p:sp>
      <p:sp>
        <p:nvSpPr>
          <p:cNvPr id="121" name="Google Shape;121;p7"/>
          <p:cNvSpPr/>
          <p:nvPr/>
        </p:nvSpPr>
        <p:spPr>
          <a:xfrm>
            <a:off x="6530297" y="2304423"/>
            <a:ext cx="2721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651"/>
              <a:buFont typeface="Calibri"/>
              <a:buNone/>
            </a:pPr>
            <a:r>
              <a:rPr lang="en-US" sz="651" b="0" i="0" u="none" strike="noStrike" cap="none">
                <a:solidFill>
                  <a:srgbClr val="1A1A2E"/>
                </a:solidFill>
                <a:latin typeface="Calibri"/>
                <a:ea typeface="Calibri"/>
                <a:cs typeface="Calibri"/>
                <a:sym typeface="Calibri"/>
              </a:rPr>
              <a:t>0.31</a:t>
            </a:r>
            <a:endParaRPr sz="651" b="0" i="0" u="none" strike="noStrike" cap="none">
              <a:solidFill>
                <a:schemeClr val="dk1"/>
              </a:solidFill>
              <a:latin typeface="Calibri"/>
              <a:ea typeface="Calibri"/>
              <a:cs typeface="Calibri"/>
              <a:sym typeface="Calibri"/>
            </a:endParaRPr>
          </a:p>
        </p:txBody>
      </p:sp>
      <p:sp>
        <p:nvSpPr>
          <p:cNvPr id="122" name="Google Shape;122;p7"/>
          <p:cNvSpPr/>
          <p:nvPr/>
        </p:nvSpPr>
        <p:spPr>
          <a:xfrm>
            <a:off x="5863834" y="2504864"/>
            <a:ext cx="2788200" cy="21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651"/>
              <a:buFont typeface="Calibri"/>
              <a:buNone/>
            </a:pPr>
            <a:r>
              <a:rPr lang="en-US" sz="651" b="0" i="1" u="none" strike="noStrike" cap="none">
                <a:solidFill>
                  <a:srgbClr val="C0392B"/>
                </a:solidFill>
                <a:latin typeface="Calibri"/>
                <a:ea typeface="Calibri"/>
                <a:cs typeface="Calibri"/>
                <a:sym typeface="Calibri"/>
              </a:rPr>
              <a:t>▲ Proxy features flagged in red — SHAP shows these drive predictions across most applicants</a:t>
            </a:r>
            <a:endParaRPr sz="651"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Shape 127"/>
        <p:cNvGrpSpPr/>
        <p:nvPr/>
      </p:nvGrpSpPr>
      <p:grpSpPr>
        <a:xfrm>
          <a:off x="0" y="0"/>
          <a:ext cx="0" cy="0"/>
          <a:chOff x="0" y="0"/>
          <a:chExt cx="0" cy="0"/>
        </a:xfrm>
      </p:grpSpPr>
      <p:sp>
        <p:nvSpPr>
          <p:cNvPr id="128" name="Google Shape;128;p8"/>
          <p:cNvSpPr/>
          <p:nvPr/>
        </p:nvSpPr>
        <p:spPr>
          <a:xfrm>
            <a:off x="0" y="0"/>
            <a:ext cx="164700" cy="5143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p:nvPr/>
        </p:nvSpPr>
        <p:spPr>
          <a:xfrm>
            <a:off x="320040" y="256032"/>
            <a:ext cx="1005900" cy="3474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320040" y="256032"/>
            <a:ext cx="10059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MODE 02</a:t>
            </a:r>
            <a:endParaRPr sz="1000" b="0" i="0" u="none" strike="noStrike" cap="none">
              <a:solidFill>
                <a:schemeClr val="dk1"/>
              </a:solidFill>
              <a:latin typeface="Calibri"/>
              <a:ea typeface="Calibri"/>
              <a:cs typeface="Calibri"/>
              <a:sym typeface="Calibri"/>
            </a:endParaRPr>
          </a:p>
        </p:txBody>
      </p:sp>
      <p:sp>
        <p:nvSpPr>
          <p:cNvPr id="131" name="Google Shape;131;p8"/>
          <p:cNvSpPr/>
          <p:nvPr/>
        </p:nvSpPr>
        <p:spPr>
          <a:xfrm>
            <a:off x="320040" y="685800"/>
            <a:ext cx="53949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B4A"/>
              </a:buClr>
              <a:buSzPts val="2600"/>
              <a:buFont typeface="Georgia"/>
              <a:buNone/>
            </a:pPr>
            <a:r>
              <a:rPr lang="en-US" sz="2600" b="1" i="0" u="none" strike="noStrike" cap="none">
                <a:solidFill>
                  <a:srgbClr val="1C2B4A"/>
                </a:solidFill>
                <a:latin typeface="Georgia"/>
                <a:ea typeface="Georgia"/>
                <a:cs typeface="Georgia"/>
                <a:sym typeface="Georgia"/>
              </a:rPr>
              <a:t>Risk Override  ·  DTI Bypass</a:t>
            </a:r>
            <a:endParaRPr sz="2600" b="0" i="0" u="none" strike="noStrike" cap="none">
              <a:solidFill>
                <a:schemeClr val="dk1"/>
              </a:solidFill>
              <a:latin typeface="Calibri"/>
              <a:ea typeface="Calibri"/>
              <a:cs typeface="Calibri"/>
              <a:sym typeface="Calibri"/>
            </a:endParaRPr>
          </a:p>
        </p:txBody>
      </p:sp>
      <p:sp>
        <p:nvSpPr>
          <p:cNvPr id="132" name="Google Shape;132;p8"/>
          <p:cNvSpPr/>
          <p:nvPr/>
        </p:nvSpPr>
        <p:spPr>
          <a:xfrm>
            <a:off x="320040" y="1371600"/>
            <a:ext cx="1691700" cy="292500"/>
          </a:xfrm>
          <a:prstGeom prst="rect">
            <a:avLst/>
          </a:prstGeom>
          <a:solidFill>
            <a:srgbClr val="C49A22"/>
          </a:solidFill>
          <a:ln w="12700" cap="flat" cmpd="sng">
            <a:solidFill>
              <a:srgbClr val="C49A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320040" y="1371600"/>
            <a:ext cx="16917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SHAP  ·  Local (Waterfall)</a:t>
            </a:r>
            <a:endParaRPr sz="1000" b="0" i="0" u="none" strike="noStrike" cap="none">
              <a:solidFill>
                <a:schemeClr val="dk1"/>
              </a:solidFill>
              <a:latin typeface="Calibri"/>
              <a:ea typeface="Calibri"/>
              <a:cs typeface="Calibri"/>
              <a:sym typeface="Calibri"/>
            </a:endParaRPr>
          </a:p>
        </p:txBody>
      </p:sp>
      <p:sp>
        <p:nvSpPr>
          <p:cNvPr id="134" name="Google Shape;134;p8"/>
          <p:cNvSpPr/>
          <p:nvPr/>
        </p:nvSpPr>
        <p:spPr>
          <a:xfrm>
            <a:off x="320040" y="1801368"/>
            <a:ext cx="5257800" cy="914400"/>
          </a:xfrm>
          <a:prstGeom prst="rect">
            <a:avLst/>
          </a:prstGeom>
          <a:solidFill>
            <a:srgbClr val="FFFFFF"/>
          </a:solidFill>
          <a:ln w="9525" cap="flat" cmpd="sng">
            <a:solidFill>
              <a:srgbClr val="E0E0E0"/>
            </a:solidFill>
            <a:prstDash val="solid"/>
            <a:round/>
            <a:headEnd type="none" w="sm" len="sm"/>
            <a:tailEnd type="none" w="sm" len="sm"/>
          </a:ln>
          <a:effectLst>
            <a:outerShdw blurRad="50800" dist="127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320040" y="1801368"/>
            <a:ext cx="63900" cy="9144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484632" y="1874520"/>
            <a:ext cx="49377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WHAT FAILS</a:t>
            </a:r>
            <a:endParaRPr sz="1000" b="0" i="0" u="none" strike="noStrike" cap="none">
              <a:solidFill>
                <a:schemeClr val="dk1"/>
              </a:solidFill>
              <a:latin typeface="Calibri"/>
              <a:ea typeface="Calibri"/>
              <a:cs typeface="Calibri"/>
              <a:sym typeface="Calibri"/>
            </a:endParaRPr>
          </a:p>
        </p:txBody>
      </p:sp>
      <p:sp>
        <p:nvSpPr>
          <p:cNvPr id="137" name="Google Shape;137;p8"/>
          <p:cNvSpPr/>
          <p:nvPr/>
        </p:nvSpPr>
        <p:spPr>
          <a:xfrm>
            <a:off x="484632" y="2130552"/>
            <a:ext cx="49377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1300"/>
              <a:buFont typeface="Calibri"/>
              <a:buNone/>
            </a:pPr>
            <a:r>
              <a:rPr lang="en-US" sz="1300" b="0" i="0" u="none" strike="noStrike" cap="none">
                <a:solidFill>
                  <a:srgbClr val="2C2C2C"/>
                </a:solidFill>
                <a:latin typeface="Calibri"/>
                <a:ea typeface="Calibri"/>
                <a:cs typeface="Calibri"/>
                <a:sym typeface="Calibri"/>
              </a:rPr>
              <a:t>Non-critical features override fundamental financial risk signals. A high-risk applicant with extreme DTI can still be approved.</a:t>
            </a:r>
            <a:endParaRPr sz="1300" b="0" i="0" u="none" strike="noStrike" cap="none">
              <a:solidFill>
                <a:schemeClr val="dk1"/>
              </a:solidFill>
              <a:latin typeface="Calibri"/>
              <a:ea typeface="Calibri"/>
              <a:cs typeface="Calibri"/>
              <a:sym typeface="Calibri"/>
            </a:endParaRPr>
          </a:p>
        </p:txBody>
      </p:sp>
      <p:sp>
        <p:nvSpPr>
          <p:cNvPr id="138" name="Google Shape;138;p8"/>
          <p:cNvSpPr/>
          <p:nvPr/>
        </p:nvSpPr>
        <p:spPr>
          <a:xfrm>
            <a:off x="320040" y="2816352"/>
            <a:ext cx="5257800" cy="868800"/>
          </a:xfrm>
          <a:prstGeom prst="rect">
            <a:avLst/>
          </a:prstGeom>
          <a:solidFill>
            <a:srgbClr val="FFFFFF"/>
          </a:solidFill>
          <a:ln w="9525" cap="flat" cmpd="sng">
            <a:solidFill>
              <a:srgbClr val="E0E0E0"/>
            </a:solidFill>
            <a:prstDash val="solid"/>
            <a:round/>
            <a:headEnd type="none" w="sm" len="sm"/>
            <a:tailEnd type="none" w="sm" len="sm"/>
          </a:ln>
          <a:effectLst>
            <a:outerShdw blurRad="50800" dist="127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320040" y="2816352"/>
            <a:ext cx="63900" cy="868800"/>
          </a:xfrm>
          <a:prstGeom prst="rect">
            <a:avLst/>
          </a:prstGeom>
          <a:solidFill>
            <a:srgbClr val="1C2B4A"/>
          </a:solidFill>
          <a:ln w="12700" cap="flat" cmpd="sng">
            <a:solidFill>
              <a:srgbClr val="1C2B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484632" y="2889504"/>
            <a:ext cx="49377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B4A"/>
              </a:buClr>
              <a:buSzPts val="1000"/>
              <a:buFont typeface="Calibri"/>
              <a:buNone/>
            </a:pPr>
            <a:r>
              <a:rPr lang="en-US" sz="1000" b="1" i="0" u="none" strike="noStrike" cap="none">
                <a:solidFill>
                  <a:srgbClr val="1C2B4A"/>
                </a:solidFill>
                <a:latin typeface="Calibri"/>
                <a:ea typeface="Calibri"/>
                <a:cs typeface="Calibri"/>
                <a:sym typeface="Calibri"/>
              </a:rPr>
              <a:t>WHY IT FAILS</a:t>
            </a:r>
            <a:endParaRPr sz="1000" b="0" i="0" u="none" strike="noStrike" cap="none">
              <a:solidFill>
                <a:schemeClr val="dk1"/>
              </a:solidFill>
              <a:latin typeface="Calibri"/>
              <a:ea typeface="Calibri"/>
              <a:cs typeface="Calibri"/>
              <a:sym typeface="Calibri"/>
            </a:endParaRPr>
          </a:p>
        </p:txBody>
      </p:sp>
      <p:sp>
        <p:nvSpPr>
          <p:cNvPr id="141" name="Google Shape;141;p8"/>
          <p:cNvSpPr/>
          <p:nvPr/>
        </p:nvSpPr>
        <p:spPr>
          <a:xfrm>
            <a:off x="484632" y="3136392"/>
            <a:ext cx="49377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1300"/>
              <a:buFont typeface="Calibri"/>
              <a:buNone/>
            </a:pPr>
            <a:r>
              <a:rPr lang="en-US" sz="1300" b="0" i="0" u="none" strike="noStrike" cap="none">
                <a:solidFill>
                  <a:srgbClr val="2C2C2C"/>
                </a:solidFill>
                <a:latin typeface="Calibri"/>
                <a:ea typeface="Calibri"/>
                <a:cs typeface="Calibri"/>
                <a:sym typeface="Calibri"/>
              </a:rPr>
              <a:t>No hard constraints on financial risk signals. The model treats all features as independently tradeable — loan purpose can cancel out a dangerous DTI.</a:t>
            </a:r>
            <a:endParaRPr sz="1300" b="0" i="0" u="none" strike="noStrike" cap="none">
              <a:solidFill>
                <a:schemeClr val="dk1"/>
              </a:solidFill>
              <a:latin typeface="Calibri"/>
              <a:ea typeface="Calibri"/>
              <a:cs typeface="Calibri"/>
              <a:sym typeface="Calibri"/>
            </a:endParaRPr>
          </a:p>
        </p:txBody>
      </p:sp>
      <p:sp>
        <p:nvSpPr>
          <p:cNvPr id="142" name="Google Shape;142;p8"/>
          <p:cNvSpPr/>
          <p:nvPr/>
        </p:nvSpPr>
        <p:spPr>
          <a:xfrm>
            <a:off x="320040" y="3785616"/>
            <a:ext cx="5257800" cy="822900"/>
          </a:xfrm>
          <a:prstGeom prst="rect">
            <a:avLst/>
          </a:prstGeom>
          <a:solidFill>
            <a:srgbClr val="FFFFFF"/>
          </a:solidFill>
          <a:ln w="9525" cap="flat" cmpd="sng">
            <a:solidFill>
              <a:srgbClr val="E0E0E0"/>
            </a:solidFill>
            <a:prstDash val="solid"/>
            <a:round/>
            <a:headEnd type="none" w="sm" len="sm"/>
            <a:tailEnd type="none" w="sm" len="sm"/>
          </a:ln>
          <a:effectLst>
            <a:outerShdw blurRad="50800" dist="127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320040" y="3785616"/>
            <a:ext cx="63900" cy="822900"/>
          </a:xfrm>
          <a:prstGeom prst="rect">
            <a:avLst/>
          </a:prstGeom>
          <a:solidFill>
            <a:srgbClr val="C49A22"/>
          </a:solidFill>
          <a:ln w="12700" cap="flat" cmpd="sng">
            <a:solidFill>
              <a:srgbClr val="C49A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484632" y="3858768"/>
            <a:ext cx="49377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1000"/>
              <a:buFont typeface="Calibri"/>
              <a:buNone/>
            </a:pPr>
            <a:r>
              <a:rPr lang="en-US" sz="1000" b="1" i="0" u="none" strike="noStrike" cap="none">
                <a:solidFill>
                  <a:srgbClr val="C49A22"/>
                </a:solidFill>
                <a:latin typeface="Calibri"/>
                <a:ea typeface="Calibri"/>
                <a:cs typeface="Calibri"/>
                <a:sym typeface="Calibri"/>
              </a:rPr>
              <a:t>WHO IS HARMED</a:t>
            </a:r>
            <a:endParaRPr sz="1000" b="0" i="0" u="none" strike="noStrike" cap="none">
              <a:solidFill>
                <a:schemeClr val="dk1"/>
              </a:solidFill>
              <a:latin typeface="Calibri"/>
              <a:ea typeface="Calibri"/>
              <a:cs typeface="Calibri"/>
              <a:sym typeface="Calibri"/>
            </a:endParaRPr>
          </a:p>
        </p:txBody>
      </p:sp>
      <p:sp>
        <p:nvSpPr>
          <p:cNvPr id="145" name="Google Shape;145;p8"/>
          <p:cNvSpPr/>
          <p:nvPr/>
        </p:nvSpPr>
        <p:spPr>
          <a:xfrm>
            <a:off x="484632" y="4105656"/>
            <a:ext cx="49377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1300"/>
              <a:buFont typeface="Calibri"/>
              <a:buNone/>
            </a:pPr>
            <a:r>
              <a:rPr lang="en-US" sz="1300" b="0" i="0" u="none" strike="noStrike" cap="none">
                <a:solidFill>
                  <a:srgbClr val="2C2C2C"/>
                </a:solidFill>
                <a:latin typeface="Calibri"/>
                <a:ea typeface="Calibri"/>
                <a:cs typeface="Calibri"/>
                <a:sym typeface="Calibri"/>
              </a:rPr>
              <a:t>Minority applicants receive inconsistent approvals; the fair lending system produces unreliable, legally indefensible decisions.</a:t>
            </a:r>
            <a:endParaRPr sz="1300" b="0" i="0" u="none" strike="noStrike" cap="none">
              <a:solidFill>
                <a:schemeClr val="dk1"/>
              </a:solidFill>
              <a:latin typeface="Calibri"/>
              <a:ea typeface="Calibri"/>
              <a:cs typeface="Calibri"/>
              <a:sym typeface="Calibri"/>
            </a:endParaRPr>
          </a:p>
        </p:txBody>
      </p:sp>
      <p:sp>
        <p:nvSpPr>
          <p:cNvPr id="146" name="Google Shape;146;p8"/>
          <p:cNvSpPr/>
          <p:nvPr/>
        </p:nvSpPr>
        <p:spPr>
          <a:xfrm>
            <a:off x="5806440" y="594360"/>
            <a:ext cx="3154800" cy="4343400"/>
          </a:xfrm>
          <a:prstGeom prst="rect">
            <a:avLst/>
          </a:prstGeom>
          <a:solidFill>
            <a:srgbClr val="1C2B4A"/>
          </a:solidFill>
          <a:ln w="12700" cap="flat" cmpd="sng">
            <a:solidFill>
              <a:srgbClr val="1C2B4A"/>
            </a:solidFill>
            <a:prstDash val="solid"/>
            <a:round/>
            <a:headEnd type="none" w="sm" len="sm"/>
            <a:tailEnd type="none" w="sm" len="sm"/>
          </a:ln>
          <a:effectLst>
            <a:outerShdw blurRad="101600" dist="254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5943600" y="713232"/>
            <a:ext cx="2834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900"/>
              <a:buFont typeface="Calibri"/>
              <a:buNone/>
            </a:pPr>
            <a:r>
              <a:rPr lang="en-US" sz="900" b="1" i="0" u="none" strike="noStrike" cap="none">
                <a:solidFill>
                  <a:srgbClr val="C49A22"/>
                </a:solidFill>
                <a:latin typeface="Calibri"/>
                <a:ea typeface="Calibri"/>
                <a:cs typeface="Calibri"/>
                <a:sym typeface="Calibri"/>
              </a:rPr>
              <a:t>SHAP WATERFALL  ·  CAUCASIAN APPLICANT</a:t>
            </a:r>
            <a:endParaRPr sz="900" b="0" i="0" u="none" strike="noStrike" cap="none">
              <a:solidFill>
                <a:schemeClr val="dk1"/>
              </a:solidFill>
              <a:latin typeface="Calibri"/>
              <a:ea typeface="Calibri"/>
              <a:cs typeface="Calibri"/>
              <a:sym typeface="Calibri"/>
            </a:endParaRPr>
          </a:p>
        </p:txBody>
      </p:sp>
      <p:sp>
        <p:nvSpPr>
          <p:cNvPr id="148" name="Google Shape;148;p8"/>
          <p:cNvSpPr/>
          <p:nvPr/>
        </p:nvSpPr>
        <p:spPr>
          <a:xfrm>
            <a:off x="5943600" y="987552"/>
            <a:ext cx="28803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1" u="none" strike="noStrike" cap="none">
                <a:solidFill>
                  <a:srgbClr val="D0D6E0"/>
                </a:solidFill>
                <a:latin typeface="Calibri"/>
                <a:ea typeface="Calibri"/>
                <a:cs typeface="Calibri"/>
                <a:sym typeface="Calibri"/>
              </a:rPr>
              <a:t>High-risk case approved via feature trade-off</a:t>
            </a:r>
            <a:endParaRPr sz="1000" b="0" i="0" u="none" strike="noStrike" cap="none">
              <a:solidFill>
                <a:schemeClr val="dk1"/>
              </a:solidFill>
              <a:latin typeface="Calibri"/>
              <a:ea typeface="Calibri"/>
              <a:cs typeface="Calibri"/>
              <a:sym typeface="Calibri"/>
            </a:endParaRPr>
          </a:p>
        </p:txBody>
      </p:sp>
      <p:sp>
        <p:nvSpPr>
          <p:cNvPr id="149" name="Google Shape;149;p8"/>
          <p:cNvSpPr/>
          <p:nvPr/>
        </p:nvSpPr>
        <p:spPr>
          <a:xfrm>
            <a:off x="5943600" y="1298448"/>
            <a:ext cx="2011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6A8"/>
              </a:buClr>
              <a:buSzPts val="1000"/>
              <a:buFont typeface="Calibri"/>
              <a:buNone/>
            </a:pPr>
            <a:r>
              <a:rPr lang="en-US" sz="1000" b="0" i="0" u="none" strike="noStrike" cap="none">
                <a:solidFill>
                  <a:srgbClr val="8A96A8"/>
                </a:solidFill>
                <a:latin typeface="Calibri"/>
                <a:ea typeface="Calibri"/>
                <a:cs typeface="Calibri"/>
                <a:sym typeface="Calibri"/>
              </a:rPr>
              <a:t>Base value  E[f(x)]</a:t>
            </a:r>
            <a:endParaRPr sz="1000" b="0" i="0" u="none" strike="noStrike" cap="none">
              <a:solidFill>
                <a:schemeClr val="dk1"/>
              </a:solidFill>
              <a:latin typeface="Calibri"/>
              <a:ea typeface="Calibri"/>
              <a:cs typeface="Calibri"/>
              <a:sym typeface="Calibri"/>
            </a:endParaRPr>
          </a:p>
        </p:txBody>
      </p:sp>
      <p:sp>
        <p:nvSpPr>
          <p:cNvPr id="150" name="Google Shape;150;p8"/>
          <p:cNvSpPr/>
          <p:nvPr/>
        </p:nvSpPr>
        <p:spPr>
          <a:xfrm>
            <a:off x="8229600" y="1298448"/>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6A8"/>
              </a:buClr>
              <a:buSzPts val="1000"/>
              <a:buFont typeface="Calibri"/>
              <a:buNone/>
            </a:pPr>
            <a:r>
              <a:rPr lang="en-US" sz="1000" b="0" i="0" u="none" strike="noStrike" cap="none">
                <a:solidFill>
                  <a:srgbClr val="8A96A8"/>
                </a:solidFill>
                <a:latin typeface="Calibri"/>
                <a:ea typeface="Calibri"/>
                <a:cs typeface="Calibri"/>
                <a:sym typeface="Calibri"/>
              </a:rPr>
              <a:t>−0.001</a:t>
            </a:r>
            <a:endParaRPr sz="1000" b="0" i="0" u="none" strike="noStrike" cap="none">
              <a:solidFill>
                <a:schemeClr val="dk1"/>
              </a:solidFill>
              <a:latin typeface="Calibri"/>
              <a:ea typeface="Calibri"/>
              <a:cs typeface="Calibri"/>
              <a:sym typeface="Calibri"/>
            </a:endParaRPr>
          </a:p>
        </p:txBody>
      </p:sp>
      <p:sp>
        <p:nvSpPr>
          <p:cNvPr id="151" name="Google Shape;151;p8"/>
          <p:cNvSpPr/>
          <p:nvPr/>
        </p:nvSpPr>
        <p:spPr>
          <a:xfrm>
            <a:off x="5943600" y="1664208"/>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loan_purpose</a:t>
            </a:r>
            <a:endParaRPr sz="1000" b="0" i="0" u="none" strike="noStrike" cap="none">
              <a:solidFill>
                <a:schemeClr val="dk1"/>
              </a:solidFill>
              <a:latin typeface="Calibri"/>
              <a:ea typeface="Calibri"/>
              <a:cs typeface="Calibri"/>
              <a:sym typeface="Calibri"/>
            </a:endParaRPr>
          </a:p>
        </p:txBody>
      </p:sp>
      <p:sp>
        <p:nvSpPr>
          <p:cNvPr id="152" name="Google Shape;152;p8"/>
          <p:cNvSpPr/>
          <p:nvPr/>
        </p:nvSpPr>
        <p:spPr>
          <a:xfrm>
            <a:off x="7602451" y="1664200"/>
            <a:ext cx="871500" cy="237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8229600" y="1664208"/>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+0.84</a:t>
            </a:r>
            <a:endParaRPr sz="1000" b="0" i="0" u="none" strike="noStrike" cap="none">
              <a:solidFill>
                <a:schemeClr val="dk1"/>
              </a:solidFill>
              <a:latin typeface="Calibri"/>
              <a:ea typeface="Calibri"/>
              <a:cs typeface="Calibri"/>
              <a:sym typeface="Calibri"/>
            </a:endParaRPr>
          </a:p>
        </p:txBody>
      </p:sp>
      <p:sp>
        <p:nvSpPr>
          <p:cNvPr id="154" name="Google Shape;154;p8"/>
          <p:cNvSpPr/>
          <p:nvPr/>
        </p:nvSpPr>
        <p:spPr>
          <a:xfrm>
            <a:off x="5943600" y="2011680"/>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dti_extreme_risk</a:t>
            </a:r>
            <a:endParaRPr sz="1000" b="0" i="0" u="none" strike="noStrike" cap="none">
              <a:solidFill>
                <a:schemeClr val="dk1"/>
              </a:solidFill>
              <a:latin typeface="Calibri"/>
              <a:ea typeface="Calibri"/>
              <a:cs typeface="Calibri"/>
              <a:sym typeface="Calibri"/>
            </a:endParaRPr>
          </a:p>
        </p:txBody>
      </p:sp>
      <p:sp>
        <p:nvSpPr>
          <p:cNvPr id="155" name="Google Shape;155;p8"/>
          <p:cNvSpPr/>
          <p:nvPr/>
        </p:nvSpPr>
        <p:spPr>
          <a:xfrm>
            <a:off x="6855600" y="2011675"/>
            <a:ext cx="746400" cy="2376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8229600" y="2011680"/>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2E86AB"/>
              </a:buClr>
              <a:buSzPts val="1000"/>
              <a:buFont typeface="Calibri"/>
              <a:buNone/>
            </a:pPr>
            <a:r>
              <a:rPr lang="en-US" sz="1000" b="1" i="0" u="none" strike="noStrike" cap="none">
                <a:solidFill>
                  <a:srgbClr val="2E86AB"/>
                </a:solidFill>
                <a:latin typeface="Calibri"/>
                <a:ea typeface="Calibri"/>
                <a:cs typeface="Calibri"/>
                <a:sym typeface="Calibri"/>
              </a:rPr>
              <a:t>−0.72</a:t>
            </a:r>
            <a:endParaRPr sz="1000" b="0" i="0" u="none" strike="noStrike" cap="none">
              <a:solidFill>
                <a:schemeClr val="dk1"/>
              </a:solidFill>
              <a:latin typeface="Calibri"/>
              <a:ea typeface="Calibri"/>
              <a:cs typeface="Calibri"/>
              <a:sym typeface="Calibri"/>
            </a:endParaRPr>
          </a:p>
        </p:txBody>
      </p:sp>
      <p:sp>
        <p:nvSpPr>
          <p:cNvPr id="157" name="Google Shape;157;p8"/>
          <p:cNvSpPr/>
          <p:nvPr/>
        </p:nvSpPr>
        <p:spPr>
          <a:xfrm>
            <a:off x="5943600" y="2359152"/>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ffiec_msa_income</a:t>
            </a:r>
            <a:endParaRPr sz="1000" b="0" i="0" u="none" strike="noStrike" cap="none">
              <a:solidFill>
                <a:schemeClr val="dk1"/>
              </a:solidFill>
              <a:latin typeface="Calibri"/>
              <a:ea typeface="Calibri"/>
              <a:cs typeface="Calibri"/>
              <a:sym typeface="Calibri"/>
            </a:endParaRPr>
          </a:p>
        </p:txBody>
      </p:sp>
      <p:sp>
        <p:nvSpPr>
          <p:cNvPr id="158" name="Google Shape;158;p8"/>
          <p:cNvSpPr/>
          <p:nvPr/>
        </p:nvSpPr>
        <p:spPr>
          <a:xfrm>
            <a:off x="7239398" y="2359150"/>
            <a:ext cx="363000" cy="2376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8229600" y="2359152"/>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2E86AB"/>
              </a:buClr>
              <a:buSzPts val="1000"/>
              <a:buFont typeface="Calibri"/>
              <a:buNone/>
            </a:pPr>
            <a:r>
              <a:rPr lang="en-US" sz="1000" b="1" i="0" u="none" strike="noStrike" cap="none">
                <a:solidFill>
                  <a:srgbClr val="2E86AB"/>
                </a:solidFill>
                <a:latin typeface="Calibri"/>
                <a:ea typeface="Calibri"/>
                <a:cs typeface="Calibri"/>
                <a:sym typeface="Calibri"/>
              </a:rPr>
              <a:t>−0.35</a:t>
            </a:r>
            <a:endParaRPr sz="1000" b="0" i="0" u="none" strike="noStrike" cap="none">
              <a:solidFill>
                <a:schemeClr val="dk1"/>
              </a:solidFill>
              <a:latin typeface="Calibri"/>
              <a:ea typeface="Calibri"/>
              <a:cs typeface="Calibri"/>
              <a:sym typeface="Calibri"/>
            </a:endParaRPr>
          </a:p>
        </p:txBody>
      </p:sp>
      <p:sp>
        <p:nvSpPr>
          <p:cNvPr id="160" name="Google Shape;160;p8"/>
          <p:cNvSpPr/>
          <p:nvPr/>
        </p:nvSpPr>
        <p:spPr>
          <a:xfrm>
            <a:off x="5943600" y="2706624"/>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loan_type</a:t>
            </a:r>
            <a:endParaRPr sz="1000" b="0" i="0" u="none" strike="noStrike" cap="none">
              <a:solidFill>
                <a:schemeClr val="dk1"/>
              </a:solidFill>
              <a:latin typeface="Calibri"/>
              <a:ea typeface="Calibri"/>
              <a:cs typeface="Calibri"/>
              <a:sym typeface="Calibri"/>
            </a:endParaRPr>
          </a:p>
        </p:txBody>
      </p:sp>
      <p:sp>
        <p:nvSpPr>
          <p:cNvPr id="161" name="Google Shape;161;p8"/>
          <p:cNvSpPr/>
          <p:nvPr/>
        </p:nvSpPr>
        <p:spPr>
          <a:xfrm>
            <a:off x="7602451" y="2706625"/>
            <a:ext cx="331800" cy="237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8229600" y="2706624"/>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+0.32</a:t>
            </a:r>
            <a:endParaRPr sz="1000" b="0" i="0" u="none" strike="noStrike" cap="none">
              <a:solidFill>
                <a:schemeClr val="dk1"/>
              </a:solidFill>
              <a:latin typeface="Calibri"/>
              <a:ea typeface="Calibri"/>
              <a:cs typeface="Calibri"/>
              <a:sym typeface="Calibri"/>
            </a:endParaRPr>
          </a:p>
        </p:txBody>
      </p:sp>
      <p:sp>
        <p:nvSpPr>
          <p:cNvPr id="163" name="Google Shape;163;p8"/>
          <p:cNvSpPr/>
          <p:nvPr/>
        </p:nvSpPr>
        <p:spPr>
          <a:xfrm>
            <a:off x="5943600" y="3054096"/>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relative_income</a:t>
            </a:r>
            <a:endParaRPr sz="1000" b="0" i="0" u="none" strike="noStrike" cap="none">
              <a:solidFill>
                <a:schemeClr val="dk1"/>
              </a:solidFill>
              <a:latin typeface="Calibri"/>
              <a:ea typeface="Calibri"/>
              <a:cs typeface="Calibri"/>
              <a:sym typeface="Calibri"/>
            </a:endParaRPr>
          </a:p>
        </p:txBody>
      </p:sp>
      <p:sp>
        <p:nvSpPr>
          <p:cNvPr id="164" name="Google Shape;164;p8"/>
          <p:cNvSpPr/>
          <p:nvPr/>
        </p:nvSpPr>
        <p:spPr>
          <a:xfrm>
            <a:off x="7602451" y="3054100"/>
            <a:ext cx="197400" cy="237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8229600" y="3054096"/>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+0.19</a:t>
            </a:r>
            <a:endParaRPr sz="1000" b="0" i="0" u="none" strike="noStrike" cap="none">
              <a:solidFill>
                <a:schemeClr val="dk1"/>
              </a:solidFill>
              <a:latin typeface="Calibri"/>
              <a:ea typeface="Calibri"/>
              <a:cs typeface="Calibri"/>
              <a:sym typeface="Calibri"/>
            </a:endParaRPr>
          </a:p>
        </p:txBody>
      </p:sp>
      <p:sp>
        <p:nvSpPr>
          <p:cNvPr id="166" name="Google Shape;166;p8"/>
          <p:cNvSpPr/>
          <p:nvPr/>
        </p:nvSpPr>
        <p:spPr>
          <a:xfrm>
            <a:off x="5943600" y="3401568"/>
            <a:ext cx="233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000"/>
              <a:buFont typeface="Calibri"/>
              <a:buNone/>
            </a:pPr>
            <a:r>
              <a:rPr lang="en-US" sz="1000" b="0" i="0" u="none" strike="noStrike" cap="none">
                <a:solidFill>
                  <a:srgbClr val="D0D6E0"/>
                </a:solidFill>
                <a:latin typeface="Calibri"/>
                <a:ea typeface="Calibri"/>
                <a:cs typeface="Calibri"/>
                <a:sym typeface="Calibri"/>
              </a:rPr>
              <a:t>applicant_credit_score</a:t>
            </a:r>
            <a:endParaRPr sz="1000" b="0" i="0" u="none" strike="noStrike" cap="none">
              <a:solidFill>
                <a:schemeClr val="dk1"/>
              </a:solidFill>
              <a:latin typeface="Calibri"/>
              <a:ea typeface="Calibri"/>
              <a:cs typeface="Calibri"/>
              <a:sym typeface="Calibri"/>
            </a:endParaRPr>
          </a:p>
        </p:txBody>
      </p:sp>
      <p:sp>
        <p:nvSpPr>
          <p:cNvPr id="167" name="Google Shape;167;p8"/>
          <p:cNvSpPr/>
          <p:nvPr/>
        </p:nvSpPr>
        <p:spPr>
          <a:xfrm>
            <a:off x="7602451" y="3401575"/>
            <a:ext cx="135000" cy="237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8229600" y="3401568"/>
            <a:ext cx="594300" cy="237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+0.13</a:t>
            </a:r>
            <a:endParaRPr sz="1000" b="0" i="0" u="none" strike="noStrike" cap="none">
              <a:solidFill>
                <a:schemeClr val="dk1"/>
              </a:solidFill>
              <a:latin typeface="Calibri"/>
              <a:ea typeface="Calibri"/>
              <a:cs typeface="Calibri"/>
              <a:sym typeface="Calibri"/>
            </a:endParaRPr>
          </a:p>
        </p:txBody>
      </p:sp>
      <p:sp>
        <p:nvSpPr>
          <p:cNvPr id="169" name="Google Shape;169;p8"/>
          <p:cNvSpPr/>
          <p:nvPr/>
        </p:nvSpPr>
        <p:spPr>
          <a:xfrm>
            <a:off x="5943600" y="3749040"/>
            <a:ext cx="2834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f(x) = 0.417  →  APPROVED</a:t>
            </a:r>
            <a:endParaRPr sz="1100" b="0" i="0" u="none" strike="noStrike" cap="none">
              <a:solidFill>
                <a:schemeClr val="dk1"/>
              </a:solidFill>
              <a:latin typeface="Calibri"/>
              <a:ea typeface="Calibri"/>
              <a:cs typeface="Calibri"/>
              <a:sym typeface="Calibri"/>
            </a:endParaRPr>
          </a:p>
        </p:txBody>
      </p:sp>
      <p:sp>
        <p:nvSpPr>
          <p:cNvPr id="170" name="Google Shape;170;p8"/>
          <p:cNvSpPr/>
          <p:nvPr/>
        </p:nvSpPr>
        <p:spPr>
          <a:xfrm>
            <a:off x="5943600" y="4069080"/>
            <a:ext cx="2834700" cy="530400"/>
          </a:xfrm>
          <a:prstGeom prst="rect">
            <a:avLst/>
          </a:prstGeom>
          <a:solidFill>
            <a:srgbClr val="C49A22">
              <a:alpha val="20000"/>
            </a:srgbClr>
          </a:solidFill>
          <a:ln w="12700" cap="flat" cmpd="sng">
            <a:solidFill>
              <a:srgbClr val="C49A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5989320" y="4096512"/>
            <a:ext cx="27432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1000"/>
              <a:buFont typeface="Calibri"/>
              <a:buNone/>
            </a:pPr>
            <a:r>
              <a:rPr lang="en-US" sz="1000" b="1" i="0" u="none" strike="noStrike" cap="none">
                <a:solidFill>
                  <a:srgbClr val="C49A22"/>
                </a:solidFill>
                <a:latin typeface="Calibri"/>
                <a:ea typeface="Calibri"/>
                <a:cs typeface="Calibri"/>
                <a:sym typeface="Calibri"/>
              </a:rPr>
              <a:t>⚠ </a:t>
            </a:r>
            <a:r>
              <a:rPr lang="en-US" sz="1000" b="0" i="0" u="none" strike="noStrike" cap="none">
                <a:solidFill>
                  <a:srgbClr val="FFFFFF"/>
                </a:solidFill>
                <a:latin typeface="Calibri"/>
                <a:ea typeface="Calibri"/>
                <a:cs typeface="Calibri"/>
                <a:sym typeface="Calibri"/>
              </a:rPr>
              <a:t>loan_purpose (+0.84) overrides extreme DTI risk (−0.72) → net </a:t>
            </a:r>
            <a:r>
              <a:rPr lang="en-US" sz="1000" b="1" i="0" u="none" strike="noStrike" cap="none">
                <a:solidFill>
                  <a:srgbClr val="C49A22"/>
                </a:solidFill>
                <a:latin typeface="Calibri"/>
                <a:ea typeface="Calibri"/>
                <a:cs typeface="Calibri"/>
                <a:sym typeface="Calibri"/>
              </a:rPr>
              <a:t>APPROVED</a:t>
            </a:r>
            <a:endParaRPr sz="1000" b="0" i="0" u="none" strike="noStrike" cap="none">
              <a:solidFill>
                <a:schemeClr val="dk1"/>
              </a:solidFill>
              <a:latin typeface="Calibri"/>
              <a:ea typeface="Calibri"/>
              <a:cs typeface="Calibri"/>
              <a:sym typeface="Calibri"/>
            </a:endParaRPr>
          </a:p>
        </p:txBody>
      </p:sp>
      <p:sp>
        <p:nvSpPr>
          <p:cNvPr id="172" name="Google Shape;172;p8"/>
          <p:cNvSpPr/>
          <p:nvPr/>
        </p:nvSpPr>
        <p:spPr>
          <a:xfrm>
            <a:off x="7726680" y="201168"/>
            <a:ext cx="1234500" cy="3201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7726680" y="201168"/>
            <a:ext cx="12345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SEVERITY: HIGH</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178"/>
        <p:cNvGrpSpPr/>
        <p:nvPr/>
      </p:nvGrpSpPr>
      <p:grpSpPr>
        <a:xfrm>
          <a:off x="0" y="0"/>
          <a:ext cx="0" cy="0"/>
          <a:chOff x="0" y="0"/>
          <a:chExt cx="0" cy="0"/>
        </a:xfrm>
      </p:grpSpPr>
      <p:sp>
        <p:nvSpPr>
          <p:cNvPr id="179" name="Google Shape;179;p9"/>
          <p:cNvSpPr/>
          <p:nvPr/>
        </p:nvSpPr>
        <p:spPr>
          <a:xfrm>
            <a:off x="0" y="0"/>
            <a:ext cx="9144000" cy="8229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0" y="822960"/>
            <a:ext cx="9144000" cy="54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320040" y="91440"/>
            <a:ext cx="71322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000" b="1" i="0" u="none" strike="noStrike" cap="none">
                <a:solidFill>
                  <a:srgbClr val="FFFFFF"/>
                </a:solidFill>
                <a:latin typeface="Georgia"/>
                <a:ea typeface="Georgia"/>
                <a:cs typeface="Georgia"/>
                <a:sym typeface="Georgia"/>
              </a:rPr>
              <a:t>Recourse Failure (Counterfactuals)</a:t>
            </a:r>
            <a:endParaRPr sz="2000" i="0" u="none" strike="noStrike" cap="none">
              <a:solidFill>
                <a:schemeClr val="dk1"/>
              </a:solidFill>
              <a:latin typeface="Georgia"/>
              <a:ea typeface="Georgia"/>
              <a:cs typeface="Georgia"/>
              <a:sym typeface="Georgia"/>
            </a:endParaRPr>
          </a:p>
        </p:txBody>
      </p:sp>
      <p:sp>
        <p:nvSpPr>
          <p:cNvPr id="182" name="Google Shape;182;p9"/>
          <p:cNvSpPr/>
          <p:nvPr/>
        </p:nvSpPr>
        <p:spPr>
          <a:xfrm>
            <a:off x="320040" y="1005840"/>
            <a:ext cx="1280100" cy="2559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320040" y="1005840"/>
            <a:ext cx="1280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DiCE · Counterfactual</a:t>
            </a:r>
            <a:endParaRPr sz="1000" b="0" i="0" u="none" strike="noStrike" cap="none">
              <a:solidFill>
                <a:schemeClr val="dk1"/>
              </a:solidFill>
              <a:latin typeface="Calibri"/>
              <a:ea typeface="Calibri"/>
              <a:cs typeface="Calibri"/>
              <a:sym typeface="Calibri"/>
            </a:endParaRPr>
          </a:p>
        </p:txBody>
      </p:sp>
      <p:sp>
        <p:nvSpPr>
          <p:cNvPr id="184" name="Google Shape;184;p9"/>
          <p:cNvSpPr/>
          <p:nvPr/>
        </p:nvSpPr>
        <p:spPr>
          <a:xfrm>
            <a:off x="320040" y="1417320"/>
            <a:ext cx="109728" cy="86868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9"/>
          <p:cNvSpPr/>
          <p:nvPr/>
        </p:nvSpPr>
        <p:spPr>
          <a:xfrm>
            <a:off x="429768" y="1417320"/>
            <a:ext cx="4206240" cy="86868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a:off x="521208" y="1472184"/>
            <a:ext cx="3931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WHAT FAILS</a:t>
            </a:r>
            <a:endParaRPr sz="1000" b="0" i="0" u="none" strike="noStrike" cap="none">
              <a:solidFill>
                <a:schemeClr val="dk1"/>
              </a:solidFill>
              <a:latin typeface="Calibri"/>
              <a:ea typeface="Calibri"/>
              <a:cs typeface="Calibri"/>
              <a:sym typeface="Calibri"/>
            </a:endParaRPr>
          </a:p>
        </p:txBody>
      </p:sp>
      <p:sp>
        <p:nvSpPr>
          <p:cNvPr id="187" name="Google Shape;187;p9"/>
          <p:cNvSpPr/>
          <p:nvPr/>
        </p:nvSpPr>
        <p:spPr>
          <a:xfrm>
            <a:off x="521208" y="1673352"/>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The model generates counterfactual recourse suggestions that are mathematically valid but completely unrealistic for real applicants to act on.</a:t>
            </a:r>
            <a:endParaRPr sz="1100" b="0" i="0" u="none" strike="noStrike" cap="none">
              <a:solidFill>
                <a:schemeClr val="dk1"/>
              </a:solidFill>
              <a:latin typeface="Calibri"/>
              <a:ea typeface="Calibri"/>
              <a:cs typeface="Calibri"/>
              <a:sym typeface="Calibri"/>
            </a:endParaRPr>
          </a:p>
        </p:txBody>
      </p:sp>
      <p:sp>
        <p:nvSpPr>
          <p:cNvPr id="188" name="Google Shape;188;p9"/>
          <p:cNvSpPr/>
          <p:nvPr/>
        </p:nvSpPr>
        <p:spPr>
          <a:xfrm>
            <a:off x="329153" y="2365968"/>
            <a:ext cx="109800" cy="8688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438881" y="2365968"/>
            <a:ext cx="4206300" cy="86880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a:off x="530321" y="2420832"/>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WHY IT FAILS</a:t>
            </a:r>
            <a:endParaRPr sz="1000" b="0" i="0" u="none" strike="noStrike" cap="none">
              <a:solidFill>
                <a:schemeClr val="dk1"/>
              </a:solidFill>
              <a:latin typeface="Calibri"/>
              <a:ea typeface="Calibri"/>
              <a:cs typeface="Calibri"/>
              <a:sym typeface="Calibri"/>
            </a:endParaRPr>
          </a:p>
        </p:txBody>
      </p:sp>
      <p:sp>
        <p:nvSpPr>
          <p:cNvPr id="191" name="Google Shape;191;p9"/>
          <p:cNvSpPr/>
          <p:nvPr/>
        </p:nvSpPr>
        <p:spPr>
          <a:xfrm>
            <a:off x="530321" y="2622000"/>
            <a:ext cx="3931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No real-world constraints enforced. Assumes all features are independent and freely adjustable — ignores causal structure and human limits.</a:t>
            </a:r>
            <a:endParaRPr sz="1100" b="0" i="0" u="none" strike="noStrike" cap="none">
              <a:solidFill>
                <a:schemeClr val="dk1"/>
              </a:solidFill>
              <a:latin typeface="Calibri"/>
              <a:ea typeface="Calibri"/>
              <a:cs typeface="Calibri"/>
              <a:sym typeface="Calibri"/>
            </a:endParaRPr>
          </a:p>
        </p:txBody>
      </p:sp>
      <p:sp>
        <p:nvSpPr>
          <p:cNvPr id="192" name="Google Shape;192;p9"/>
          <p:cNvSpPr/>
          <p:nvPr/>
        </p:nvSpPr>
        <p:spPr>
          <a:xfrm>
            <a:off x="329153" y="3287104"/>
            <a:ext cx="109800" cy="8688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438881" y="3287104"/>
            <a:ext cx="4206300" cy="86880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530321" y="3341968"/>
            <a:ext cx="3931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7010"/>
              </a:buClr>
              <a:buSzPts val="1000"/>
              <a:buFont typeface="Calibri"/>
              <a:buNone/>
            </a:pPr>
            <a:r>
              <a:rPr lang="en-US" sz="1000" b="1" i="0" u="none" strike="noStrike" cap="none">
                <a:solidFill>
                  <a:srgbClr val="A07010"/>
                </a:solidFill>
                <a:latin typeface="Calibri"/>
                <a:ea typeface="Calibri"/>
                <a:cs typeface="Calibri"/>
                <a:sym typeface="Calibri"/>
              </a:rPr>
              <a:t>WHO IS HARMED</a:t>
            </a:r>
            <a:endParaRPr sz="1000" b="0" i="0" u="none" strike="noStrike" cap="none">
              <a:solidFill>
                <a:schemeClr val="dk1"/>
              </a:solidFill>
              <a:latin typeface="Calibri"/>
              <a:ea typeface="Calibri"/>
              <a:cs typeface="Calibri"/>
              <a:sym typeface="Calibri"/>
            </a:endParaRPr>
          </a:p>
        </p:txBody>
      </p:sp>
      <p:sp>
        <p:nvSpPr>
          <p:cNvPr id="195" name="Google Shape;195;p9"/>
          <p:cNvSpPr/>
          <p:nvPr/>
        </p:nvSpPr>
        <p:spPr>
          <a:xfrm>
            <a:off x="530321" y="3543136"/>
            <a:ext cx="3931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Rejected applicants — especially disadvantaged groups — receive guidance they cannot follow, denying them meaningful recourse.</a:t>
            </a:r>
            <a:endParaRPr sz="1100" b="0" i="0" u="none" strike="noStrike" cap="none">
              <a:solidFill>
                <a:schemeClr val="dk1"/>
              </a:solidFill>
              <a:latin typeface="Calibri"/>
              <a:ea typeface="Calibri"/>
              <a:cs typeface="Calibri"/>
              <a:sym typeface="Calibri"/>
            </a:endParaRPr>
          </a:p>
        </p:txBody>
      </p:sp>
      <p:sp>
        <p:nvSpPr>
          <p:cNvPr id="196" name="Google Shape;196;p9"/>
          <p:cNvSpPr/>
          <p:nvPr/>
        </p:nvSpPr>
        <p:spPr>
          <a:xfrm>
            <a:off x="4846320" y="1417320"/>
            <a:ext cx="3977640" cy="320040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4846320" y="1417320"/>
            <a:ext cx="3977640" cy="329184"/>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4937760" y="1435608"/>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DiCE Counterfactual Output · Example Case</a:t>
            </a:r>
            <a:endParaRPr sz="1150" b="0" i="0" u="none" strike="noStrike" cap="none">
              <a:solidFill>
                <a:schemeClr val="dk1"/>
              </a:solidFill>
              <a:latin typeface="Calibri"/>
              <a:ea typeface="Calibri"/>
              <a:cs typeface="Calibri"/>
              <a:sym typeface="Calibri"/>
            </a:endParaRPr>
          </a:p>
        </p:txBody>
      </p:sp>
      <p:graphicFrame>
        <p:nvGraphicFramePr>
          <p:cNvPr id="199" name="Google Shape;199;p9"/>
          <p:cNvGraphicFramePr/>
          <p:nvPr/>
        </p:nvGraphicFramePr>
        <p:xfrm>
          <a:off x="4892040" y="1828800"/>
          <a:ext cx="3840500" cy="1438675"/>
        </p:xfrm>
        <a:graphic>
          <a:graphicData uri="http://schemas.openxmlformats.org/drawingml/2006/table">
            <a:tbl>
              <a:tblPr>
                <a:noFill/>
                <a:tableStyleId>{7AE50B99-0EE5-4D77-ACAF-0EF031F8B03B}</a:tableStyleId>
              </a:tblPr>
              <a:tblGrid>
                <a:gridCol w="1371600">
                  <a:extLst>
                    <a:ext uri="{9D8B030D-6E8A-4147-A177-3AD203B41FA5}">
                      <a16:colId xmlns:a16="http://schemas.microsoft.com/office/drawing/2014/main" val="20000"/>
                    </a:ext>
                  </a:extLst>
                </a:gridCol>
                <a:gridCol w="7772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50">
                  <a:extLst>
                    <a:ext uri="{9D8B030D-6E8A-4147-A177-3AD203B41FA5}">
                      <a16:colId xmlns:a16="http://schemas.microsoft.com/office/drawing/2014/main" val="20003"/>
                    </a:ext>
                  </a:extLst>
                </a:gridCol>
              </a:tblGrid>
              <a:tr h="347475">
                <a:tc>
                  <a:txBody>
                    <a:bodyPr/>
                    <a:lstStyle/>
                    <a:p>
                      <a:pPr marL="0" marR="0" lvl="0" indent="0" algn="l" rtl="0">
                        <a:spcBef>
                          <a:spcPts val="0"/>
                        </a:spcBef>
                        <a:spcAft>
                          <a:spcPts val="0"/>
                        </a:spcAft>
                        <a:buClr>
                          <a:srgbClr val="FFFFFF"/>
                        </a:buClr>
                        <a:buSzPts val="1050"/>
                        <a:buFont typeface="Calibri"/>
                        <a:buNone/>
                      </a:pPr>
                      <a:r>
                        <a:rPr lang="en-US" sz="1050" b="1" u="none" strike="noStrike" cap="none">
                          <a:solidFill>
                            <a:srgbClr val="FFFFFF"/>
                          </a:solidFill>
                          <a:latin typeface="Calibri"/>
                          <a:ea typeface="Calibri"/>
                          <a:cs typeface="Calibri"/>
                          <a:sym typeface="Calibri"/>
                        </a:rPr>
                        <a:t>Feature</a:t>
                      </a:r>
                      <a:endParaRPr sz="105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344870"/>
                    </a:solidFill>
                  </a:tcPr>
                </a:tc>
                <a:tc>
                  <a:txBody>
                    <a:bodyPr/>
                    <a:lstStyle/>
                    <a:p>
                      <a:pPr marL="0" marR="0" lvl="0" indent="0" algn="l" rtl="0">
                        <a:spcBef>
                          <a:spcPts val="0"/>
                        </a:spcBef>
                        <a:spcAft>
                          <a:spcPts val="0"/>
                        </a:spcAft>
                        <a:buClr>
                          <a:srgbClr val="FFFFFF"/>
                        </a:buClr>
                        <a:buSzPts val="1050"/>
                        <a:buFont typeface="Calibri"/>
                        <a:buNone/>
                      </a:pPr>
                      <a:r>
                        <a:rPr lang="en-US" sz="1050" b="1" u="none" strike="noStrike" cap="none">
                          <a:solidFill>
                            <a:srgbClr val="FFFFFF"/>
                          </a:solidFill>
                          <a:latin typeface="Calibri"/>
                          <a:ea typeface="Calibri"/>
                          <a:cs typeface="Calibri"/>
                          <a:sym typeface="Calibri"/>
                        </a:rPr>
                        <a:t>Original</a:t>
                      </a:r>
                      <a:endParaRPr sz="105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344870"/>
                    </a:solidFill>
                  </a:tcPr>
                </a:tc>
                <a:tc>
                  <a:txBody>
                    <a:bodyPr/>
                    <a:lstStyle/>
                    <a:p>
                      <a:pPr marL="0" marR="0" lvl="0" indent="0" algn="l" rtl="0">
                        <a:spcBef>
                          <a:spcPts val="0"/>
                        </a:spcBef>
                        <a:spcAft>
                          <a:spcPts val="0"/>
                        </a:spcAft>
                        <a:buClr>
                          <a:srgbClr val="FFFFFF"/>
                        </a:buClr>
                        <a:buSzPts val="1050"/>
                        <a:buFont typeface="Calibri"/>
                        <a:buNone/>
                      </a:pPr>
                      <a:r>
                        <a:rPr lang="en-US" sz="1050" b="1" u="none" strike="noStrike" cap="none">
                          <a:solidFill>
                            <a:srgbClr val="FFFFFF"/>
                          </a:solidFill>
                          <a:latin typeface="Calibri"/>
                          <a:ea typeface="Calibri"/>
                          <a:cs typeface="Calibri"/>
                          <a:sym typeface="Calibri"/>
                        </a:rPr>
                        <a:t>Suggested</a:t>
                      </a:r>
                      <a:endParaRPr sz="105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344870"/>
                    </a:solidFill>
                  </a:tcPr>
                </a:tc>
                <a:tc>
                  <a:txBody>
                    <a:bodyPr/>
                    <a:lstStyle/>
                    <a:p>
                      <a:pPr marL="0" marR="0" lvl="0" indent="0" algn="l" rtl="0">
                        <a:spcBef>
                          <a:spcPts val="0"/>
                        </a:spcBef>
                        <a:spcAft>
                          <a:spcPts val="0"/>
                        </a:spcAft>
                        <a:buClr>
                          <a:srgbClr val="FFFFFF"/>
                        </a:buClr>
                        <a:buSzPts val="1050"/>
                        <a:buFont typeface="Calibri"/>
                        <a:buNone/>
                      </a:pPr>
                      <a:r>
                        <a:rPr lang="en-US" sz="1050" b="1" u="none" strike="noStrike" cap="none">
                          <a:solidFill>
                            <a:srgbClr val="FFFFFF"/>
                          </a:solidFill>
                          <a:latin typeface="Calibri"/>
                          <a:ea typeface="Calibri"/>
                          <a:cs typeface="Calibri"/>
                          <a:sym typeface="Calibri"/>
                        </a:rPr>
                        <a:t>Feasible?</a:t>
                      </a:r>
                      <a:endParaRPr sz="105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344870"/>
                    </a:solidFill>
                  </a:tcPr>
                </a:tc>
                <a:extLst>
                  <a:ext uri="{0D108BD9-81ED-4DB2-BD59-A6C34878D82A}">
                    <a16:rowId xmlns:a16="http://schemas.microsoft.com/office/drawing/2014/main" val="10000"/>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credit_score</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620</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C0392B"/>
                        </a:buClr>
                        <a:buSzPts val="1000"/>
                        <a:buFont typeface="Calibri"/>
                        <a:buNone/>
                      </a:pPr>
                      <a:r>
                        <a:rPr lang="en-US" sz="1000" b="1" u="none" strike="noStrike" cap="none">
                          <a:solidFill>
                            <a:srgbClr val="C0392B"/>
                          </a:solidFill>
                          <a:latin typeface="Calibri"/>
                          <a:ea typeface="Calibri"/>
                          <a:cs typeface="Calibri"/>
                          <a:sym typeface="Calibri"/>
                        </a:rPr>
                        <a:t>1,028</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C0392B"/>
                        </a:buClr>
                        <a:buSzPts val="1000"/>
                        <a:buFont typeface="Calibri"/>
                        <a:buNone/>
                      </a:pPr>
                      <a:r>
                        <a:rPr lang="en-US" sz="1000" b="1" u="none" strike="noStrike" cap="none">
                          <a:solidFill>
                            <a:srgbClr val="C0392B"/>
                          </a:solidFill>
                          <a:latin typeface="Calibri"/>
                          <a:ea typeface="Calibri"/>
                          <a:cs typeface="Calibri"/>
                          <a:sym typeface="Calibri"/>
                        </a:rPr>
                        <a:t>✗  No</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extLst>
                  <a:ext uri="{0D108BD9-81ED-4DB2-BD59-A6C34878D82A}">
                    <a16:rowId xmlns:a16="http://schemas.microsoft.com/office/drawing/2014/main" val="10001"/>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relative_income</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0.24</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C0392B"/>
                        </a:buClr>
                        <a:buSzPts val="1000"/>
                        <a:buFont typeface="Calibri"/>
                        <a:buNone/>
                      </a:pPr>
                      <a:r>
                        <a:rPr lang="en-US" sz="1000" b="1" u="none" strike="noStrike" cap="none">
                          <a:solidFill>
                            <a:srgbClr val="C0392B"/>
                          </a:solidFill>
                          <a:latin typeface="Calibri"/>
                          <a:ea typeface="Calibri"/>
                          <a:cs typeface="Calibri"/>
                          <a:sym typeface="Calibri"/>
                        </a:rPr>
                        <a:t>14.3</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C0392B"/>
                        </a:buClr>
                        <a:buSzPts val="1000"/>
                        <a:buFont typeface="Calibri"/>
                        <a:buNone/>
                      </a:pPr>
                      <a:r>
                        <a:rPr lang="en-US" sz="1000" b="1" u="none" strike="noStrike" cap="none">
                          <a:solidFill>
                            <a:srgbClr val="C0392B"/>
                          </a:solidFill>
                          <a:latin typeface="Calibri"/>
                          <a:ea typeface="Calibri"/>
                          <a:cs typeface="Calibri"/>
                          <a:sym typeface="Calibri"/>
                        </a:rPr>
                        <a:t>✗  No</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extLst>
                  <a:ext uri="{0D108BD9-81ED-4DB2-BD59-A6C34878D82A}">
                    <a16:rowId xmlns:a16="http://schemas.microsoft.com/office/drawing/2014/main" val="10002"/>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loan_purpose</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refinance</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D35400"/>
                        </a:buClr>
                        <a:buSzPts val="1000"/>
                        <a:buFont typeface="Calibri"/>
                        <a:buNone/>
                      </a:pPr>
                      <a:r>
                        <a:rPr lang="en-US" sz="1000" b="1" u="none" strike="noStrike" cap="none">
                          <a:solidFill>
                            <a:srgbClr val="D35400"/>
                          </a:solidFill>
                          <a:latin typeface="Calibri"/>
                          <a:ea typeface="Calibri"/>
                          <a:cs typeface="Calibri"/>
                          <a:sym typeface="Calibri"/>
                        </a:rPr>
                        <a:t>home_improv.</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tc>
                  <a:txBody>
                    <a:bodyPr/>
                    <a:lstStyle/>
                    <a:p>
                      <a:pPr marL="0" marR="0" lvl="0" indent="0" algn="l" rtl="0">
                        <a:spcBef>
                          <a:spcPts val="0"/>
                        </a:spcBef>
                        <a:spcAft>
                          <a:spcPts val="0"/>
                        </a:spcAft>
                        <a:buClr>
                          <a:srgbClr val="D35400"/>
                        </a:buClr>
                        <a:buSzPts val="1000"/>
                        <a:buFont typeface="Calibri"/>
                        <a:buNone/>
                      </a:pPr>
                      <a:r>
                        <a:rPr lang="en-US" sz="1000" u="none" strike="noStrike" cap="none">
                          <a:solidFill>
                            <a:srgbClr val="D35400"/>
                          </a:solidFill>
                          <a:latin typeface="Calibri"/>
                          <a:ea typeface="Calibri"/>
                          <a:cs typeface="Calibri"/>
                          <a:sym typeface="Calibri"/>
                        </a:rPr>
                        <a:t>~  Maybe</a:t>
                      </a:r>
                      <a:endParaRPr sz="1000" u="none" strike="noStrike" cap="none">
                        <a:latin typeface="Calibri"/>
                        <a:ea typeface="Calibri"/>
                        <a:cs typeface="Calibri"/>
                        <a:sym typeface="Calibri"/>
                      </a:endParaRPr>
                    </a:p>
                  </a:txBody>
                  <a:tcPr marL="91450" marR="91450" marT="45725" marB="45725">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0" name="Google Shape;200;p9"/>
          <p:cNvSpPr/>
          <p:nvPr/>
        </p:nvSpPr>
        <p:spPr>
          <a:xfrm>
            <a:off x="4892040" y="3703320"/>
            <a:ext cx="3840480" cy="658368"/>
          </a:xfrm>
          <a:prstGeom prst="rect">
            <a:avLst/>
          </a:prstGeom>
          <a:solidFill>
            <a:srgbClr val="FEF3CD"/>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4983480" y="3730752"/>
            <a:ext cx="3657600" cy="60350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A4F00"/>
              </a:buClr>
              <a:buSzPts val="1000"/>
              <a:buFont typeface="Calibri"/>
              <a:buNone/>
            </a:pPr>
            <a:r>
              <a:rPr lang="en-US" sz="1000" b="1" i="0" u="none" strike="noStrike" cap="none">
                <a:solidFill>
                  <a:srgbClr val="7A4F00"/>
                </a:solidFill>
                <a:latin typeface="Calibri"/>
                <a:ea typeface="Calibri"/>
                <a:cs typeface="Calibri"/>
                <a:sym typeface="Calibri"/>
              </a:rPr>
              <a:t>Key Insight: </a:t>
            </a:r>
            <a:r>
              <a:rPr lang="en-US" sz="1000" b="0" i="0" u="none" strike="noStrike" cap="none">
                <a:solidFill>
                  <a:srgbClr val="7A4F00"/>
                </a:solidFill>
                <a:latin typeface="Calibri"/>
                <a:ea typeface="Calibri"/>
                <a:cs typeface="Calibri"/>
                <a:sym typeface="Calibri"/>
              </a:rPr>
              <a:t>DiCE found no feasible counterfactuals. Every valid flip required changes beyond human reach — exposing that the model provides no real recourse to rejected applicants.</a:t>
            </a:r>
            <a:endParaRPr sz="1000" b="0" i="0" u="none" strike="noStrike" cap="none">
              <a:solidFill>
                <a:schemeClr val="dk1"/>
              </a:solidFill>
              <a:latin typeface="Calibri"/>
              <a:ea typeface="Calibri"/>
              <a:cs typeface="Calibri"/>
              <a:sym typeface="Calibri"/>
            </a:endParaRPr>
          </a:p>
        </p:txBody>
      </p:sp>
      <p:sp>
        <p:nvSpPr>
          <p:cNvPr id="202" name="Google Shape;202;p9"/>
          <p:cNvSpPr/>
          <p:nvPr/>
        </p:nvSpPr>
        <p:spPr>
          <a:xfrm>
            <a:off x="7726680" y="201168"/>
            <a:ext cx="1234500" cy="3201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7726680" y="201168"/>
            <a:ext cx="12345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dirty="0">
                <a:solidFill>
                  <a:srgbClr val="FFFFFF"/>
                </a:solidFill>
                <a:latin typeface="Calibri"/>
                <a:ea typeface="Calibri"/>
                <a:cs typeface="Calibri"/>
                <a:sym typeface="Calibri"/>
              </a:rPr>
              <a:t>SEVERITY: MED-HIGH</a:t>
            </a:r>
            <a:endParaRPr sz="900" b="0" i="0" u="none" strike="noStrike" cap="none" dirty="0">
              <a:solidFill>
                <a:schemeClr val="dk1"/>
              </a:solidFill>
              <a:latin typeface="Calibri"/>
              <a:ea typeface="Calibri"/>
              <a:cs typeface="Calibri"/>
              <a:sym typeface="Calibri"/>
            </a:endParaRPr>
          </a:p>
        </p:txBody>
      </p:sp>
      <p:sp>
        <p:nvSpPr>
          <p:cNvPr id="204" name="Google Shape;204;p9"/>
          <p:cNvSpPr/>
          <p:nvPr/>
        </p:nvSpPr>
        <p:spPr>
          <a:xfrm>
            <a:off x="6446350" y="196532"/>
            <a:ext cx="1005900" cy="3201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6446350" y="196526"/>
            <a:ext cx="10059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MODE 0</a:t>
            </a:r>
            <a:r>
              <a:rPr lang="en-US" sz="1000" b="1">
                <a:solidFill>
                  <a:srgbClr val="FFFFFF"/>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210"/>
        <p:cNvGrpSpPr/>
        <p:nvPr/>
      </p:nvGrpSpPr>
      <p:grpSpPr>
        <a:xfrm>
          <a:off x="0" y="0"/>
          <a:ext cx="0" cy="0"/>
          <a:chOff x="0" y="0"/>
          <a:chExt cx="0" cy="0"/>
        </a:xfrm>
      </p:grpSpPr>
      <p:sp>
        <p:nvSpPr>
          <p:cNvPr id="211" name="Google Shape;211;p10"/>
          <p:cNvSpPr/>
          <p:nvPr/>
        </p:nvSpPr>
        <p:spPr>
          <a:xfrm>
            <a:off x="0" y="0"/>
            <a:ext cx="9144000" cy="8229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0"/>
          <p:cNvSpPr/>
          <p:nvPr/>
        </p:nvSpPr>
        <p:spPr>
          <a:xfrm>
            <a:off x="0" y="822960"/>
            <a:ext cx="9144000" cy="54864"/>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0"/>
          <p:cNvSpPr/>
          <p:nvPr/>
        </p:nvSpPr>
        <p:spPr>
          <a:xfrm>
            <a:off x="320047" y="91450"/>
            <a:ext cx="51471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100" b="1" i="0" u="none" strike="noStrike" cap="none">
                <a:solidFill>
                  <a:srgbClr val="FFFFFF"/>
                </a:solidFill>
                <a:latin typeface="Georgia"/>
                <a:ea typeface="Georgia"/>
                <a:cs typeface="Georgia"/>
                <a:sym typeface="Georgia"/>
              </a:rPr>
              <a:t>Feature Drift (relative_income)</a:t>
            </a:r>
            <a:endParaRPr sz="2100" i="0" u="none" strike="noStrike" cap="none">
              <a:solidFill>
                <a:schemeClr val="dk1"/>
              </a:solidFill>
              <a:latin typeface="Georgia"/>
              <a:ea typeface="Georgia"/>
              <a:cs typeface="Georgia"/>
              <a:sym typeface="Georgia"/>
            </a:endParaRPr>
          </a:p>
        </p:txBody>
      </p:sp>
      <p:sp>
        <p:nvSpPr>
          <p:cNvPr id="214" name="Google Shape;214;p10"/>
          <p:cNvSpPr/>
          <p:nvPr/>
        </p:nvSpPr>
        <p:spPr>
          <a:xfrm>
            <a:off x="320040" y="1005840"/>
            <a:ext cx="2011680" cy="256032"/>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0"/>
          <p:cNvSpPr/>
          <p:nvPr/>
        </p:nvSpPr>
        <p:spPr>
          <a:xfrm>
            <a:off x="320040" y="1005840"/>
            <a:ext cx="201168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PSI  +  KS Test  +  Stress Testing</a:t>
            </a:r>
            <a:endParaRPr sz="1000" b="0" i="0" u="none" strike="noStrike" cap="none">
              <a:solidFill>
                <a:schemeClr val="dk1"/>
              </a:solidFill>
              <a:latin typeface="Calibri"/>
              <a:ea typeface="Calibri"/>
              <a:cs typeface="Calibri"/>
              <a:sym typeface="Calibri"/>
            </a:endParaRPr>
          </a:p>
        </p:txBody>
      </p:sp>
      <p:sp>
        <p:nvSpPr>
          <p:cNvPr id="216" name="Google Shape;216;p10"/>
          <p:cNvSpPr/>
          <p:nvPr/>
        </p:nvSpPr>
        <p:spPr>
          <a:xfrm>
            <a:off x="320040" y="1417320"/>
            <a:ext cx="109728" cy="86868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429768" y="1417320"/>
            <a:ext cx="4206240" cy="86868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p:nvPr/>
        </p:nvSpPr>
        <p:spPr>
          <a:xfrm>
            <a:off x="521208" y="1472184"/>
            <a:ext cx="3931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000"/>
              <a:buFont typeface="Calibri"/>
              <a:buNone/>
            </a:pPr>
            <a:r>
              <a:rPr lang="en-US" sz="1000" b="1" i="0" u="none" strike="noStrike" cap="none">
                <a:solidFill>
                  <a:srgbClr val="C0392B"/>
                </a:solidFill>
                <a:latin typeface="Calibri"/>
                <a:ea typeface="Calibri"/>
                <a:cs typeface="Calibri"/>
                <a:sym typeface="Calibri"/>
              </a:rPr>
              <a:t>WHAT FAILS</a:t>
            </a:r>
            <a:endParaRPr sz="1000" b="0" i="0" u="none" strike="noStrike" cap="none">
              <a:solidFill>
                <a:schemeClr val="dk1"/>
              </a:solidFill>
              <a:latin typeface="Calibri"/>
              <a:ea typeface="Calibri"/>
              <a:cs typeface="Calibri"/>
              <a:sym typeface="Calibri"/>
            </a:endParaRPr>
          </a:p>
        </p:txBody>
      </p:sp>
      <p:sp>
        <p:nvSpPr>
          <p:cNvPr id="219" name="Google Shape;219;p10"/>
          <p:cNvSpPr/>
          <p:nvPr/>
        </p:nvSpPr>
        <p:spPr>
          <a:xfrm>
            <a:off x="521208" y="1673352"/>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The model assumes input distributions stay stable, but economic shocks can shift key features post-2024. Subgroup drift may not appear in global metrics.</a:t>
            </a:r>
            <a:endParaRPr sz="1100" b="0" i="0" u="none" strike="noStrike" cap="none">
              <a:solidFill>
                <a:schemeClr val="dk1"/>
              </a:solidFill>
              <a:latin typeface="Calibri"/>
              <a:ea typeface="Calibri"/>
              <a:cs typeface="Calibri"/>
              <a:sym typeface="Calibri"/>
            </a:endParaRPr>
          </a:p>
        </p:txBody>
      </p:sp>
      <p:sp>
        <p:nvSpPr>
          <p:cNvPr id="220" name="Google Shape;220;p10"/>
          <p:cNvSpPr/>
          <p:nvPr/>
        </p:nvSpPr>
        <p:spPr>
          <a:xfrm>
            <a:off x="320040" y="2487168"/>
            <a:ext cx="109728" cy="86868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0"/>
          <p:cNvSpPr/>
          <p:nvPr/>
        </p:nvSpPr>
        <p:spPr>
          <a:xfrm>
            <a:off x="429768" y="2487168"/>
            <a:ext cx="4206240" cy="86868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0"/>
          <p:cNvSpPr/>
          <p:nvPr/>
        </p:nvSpPr>
        <p:spPr>
          <a:xfrm>
            <a:off x="521208" y="2542032"/>
            <a:ext cx="3931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1000"/>
              <a:buFont typeface="Calibri"/>
              <a:buNone/>
            </a:pPr>
            <a:r>
              <a:rPr lang="en-US" sz="1000" b="1" i="0" u="none" strike="noStrike" cap="none">
                <a:solidFill>
                  <a:srgbClr val="1B2A4A"/>
                </a:solidFill>
                <a:latin typeface="Calibri"/>
                <a:ea typeface="Calibri"/>
                <a:cs typeface="Calibri"/>
                <a:sym typeface="Calibri"/>
              </a:rPr>
              <a:t>WHY IT FAILS</a:t>
            </a:r>
            <a:endParaRPr sz="1000" b="0" i="0" u="none" strike="noStrike" cap="none">
              <a:solidFill>
                <a:schemeClr val="dk1"/>
              </a:solidFill>
              <a:latin typeface="Calibri"/>
              <a:ea typeface="Calibri"/>
              <a:cs typeface="Calibri"/>
              <a:sym typeface="Calibri"/>
            </a:endParaRPr>
          </a:p>
        </p:txBody>
      </p:sp>
      <p:sp>
        <p:nvSpPr>
          <p:cNvPr id="223" name="Google Shape;223;p10"/>
          <p:cNvSpPr/>
          <p:nvPr/>
        </p:nvSpPr>
        <p:spPr>
          <a:xfrm>
            <a:off x="521208" y="2743200"/>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 Global PSI ≈ 0.00 → masks subgroup-level drift</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 KS test p = 0.139 → no global difference</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 But 15% income shock → accuracy drops ~1.3%</a:t>
            </a:r>
            <a:endParaRPr sz="1100" b="0" i="0" u="none" strike="noStrike" cap="none">
              <a:solidFill>
                <a:schemeClr val="dk1"/>
              </a:solidFill>
              <a:latin typeface="Calibri"/>
              <a:ea typeface="Calibri"/>
              <a:cs typeface="Calibri"/>
              <a:sym typeface="Calibri"/>
            </a:endParaRPr>
          </a:p>
        </p:txBody>
      </p:sp>
      <p:sp>
        <p:nvSpPr>
          <p:cNvPr id="224" name="Google Shape;224;p10"/>
          <p:cNvSpPr/>
          <p:nvPr/>
        </p:nvSpPr>
        <p:spPr>
          <a:xfrm>
            <a:off x="320040" y="3557016"/>
            <a:ext cx="109728" cy="86868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0"/>
          <p:cNvSpPr/>
          <p:nvPr/>
        </p:nvSpPr>
        <p:spPr>
          <a:xfrm>
            <a:off x="429768" y="3557016"/>
            <a:ext cx="4206240" cy="86868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0"/>
          <p:cNvSpPr/>
          <p:nvPr/>
        </p:nvSpPr>
        <p:spPr>
          <a:xfrm>
            <a:off x="521208" y="3611880"/>
            <a:ext cx="3931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7010"/>
              </a:buClr>
              <a:buSzPts val="1000"/>
              <a:buFont typeface="Calibri"/>
              <a:buNone/>
            </a:pPr>
            <a:r>
              <a:rPr lang="en-US" sz="1000" b="1" i="0" u="none" strike="noStrike" cap="none">
                <a:solidFill>
                  <a:srgbClr val="A07010"/>
                </a:solidFill>
                <a:latin typeface="Calibri"/>
                <a:ea typeface="Calibri"/>
                <a:cs typeface="Calibri"/>
                <a:sym typeface="Calibri"/>
              </a:rPr>
              <a:t>WHO IS HARMED</a:t>
            </a:r>
            <a:endParaRPr sz="1000" b="0" i="0" u="none" strike="noStrike" cap="none">
              <a:solidFill>
                <a:schemeClr val="dk1"/>
              </a:solidFill>
              <a:latin typeface="Calibri"/>
              <a:ea typeface="Calibri"/>
              <a:cs typeface="Calibri"/>
              <a:sym typeface="Calibri"/>
            </a:endParaRPr>
          </a:p>
        </p:txBody>
      </p:sp>
      <p:sp>
        <p:nvSpPr>
          <p:cNvPr id="227" name="Google Shape;227;p10"/>
          <p:cNvSpPr/>
          <p:nvPr/>
        </p:nvSpPr>
        <p:spPr>
          <a:xfrm>
            <a:off x="521208" y="3813048"/>
            <a:ext cx="3931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2E"/>
              </a:buClr>
              <a:buSzPts val="1100"/>
              <a:buFont typeface="Calibri"/>
              <a:buNone/>
            </a:pPr>
            <a:r>
              <a:rPr lang="en-US" sz="1100" b="0" i="0" u="none" strike="noStrike" cap="none">
                <a:solidFill>
                  <a:srgbClr val="1A1A2E"/>
                </a:solidFill>
                <a:latin typeface="Calibri"/>
                <a:ea typeface="Calibri"/>
                <a:cs typeface="Calibri"/>
                <a:sym typeface="Calibri"/>
              </a:rPr>
              <a:t>Borderline applicants near the decision threshold and minority groups — more sensitive to income distribution shifts — face disproportionate impact.</a:t>
            </a:r>
            <a:endParaRPr sz="1100" b="0" i="0" u="none" strike="noStrike" cap="none">
              <a:solidFill>
                <a:schemeClr val="dk1"/>
              </a:solidFill>
              <a:latin typeface="Calibri"/>
              <a:ea typeface="Calibri"/>
              <a:cs typeface="Calibri"/>
              <a:sym typeface="Calibri"/>
            </a:endParaRPr>
          </a:p>
        </p:txBody>
      </p:sp>
      <p:sp>
        <p:nvSpPr>
          <p:cNvPr id="228" name="Google Shape;228;p10"/>
          <p:cNvSpPr/>
          <p:nvPr/>
        </p:nvSpPr>
        <p:spPr>
          <a:xfrm>
            <a:off x="4846320" y="1417320"/>
            <a:ext cx="3977640" cy="3200400"/>
          </a:xfrm>
          <a:prstGeom prst="rect">
            <a:avLst/>
          </a:prstGeom>
          <a:solidFill>
            <a:srgbClr val="FFFFFF"/>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0"/>
          <p:cNvSpPr/>
          <p:nvPr/>
        </p:nvSpPr>
        <p:spPr>
          <a:xfrm>
            <a:off x="4846320" y="1417320"/>
            <a:ext cx="3977640" cy="329184"/>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0"/>
          <p:cNvSpPr/>
          <p:nvPr/>
        </p:nvSpPr>
        <p:spPr>
          <a:xfrm>
            <a:off x="4937760" y="1435608"/>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Drift Testing Results</a:t>
            </a:r>
            <a:endParaRPr sz="1200" b="0" i="0" u="none" strike="noStrike" cap="none">
              <a:solidFill>
                <a:schemeClr val="dk1"/>
              </a:solidFill>
              <a:latin typeface="Calibri"/>
              <a:ea typeface="Calibri"/>
              <a:cs typeface="Calibri"/>
              <a:sym typeface="Calibri"/>
            </a:endParaRPr>
          </a:p>
        </p:txBody>
      </p:sp>
      <p:sp>
        <p:nvSpPr>
          <p:cNvPr id="231" name="Google Shape;231;p10"/>
          <p:cNvSpPr/>
          <p:nvPr/>
        </p:nvSpPr>
        <p:spPr>
          <a:xfrm>
            <a:off x="4937760" y="1920240"/>
            <a:ext cx="1783080" cy="841248"/>
          </a:xfrm>
          <a:prstGeom prst="rect">
            <a:avLst/>
          </a:prstGeom>
          <a:solidFill>
            <a:srgbClr val="F8FAFE"/>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0"/>
          <p:cNvSpPr/>
          <p:nvPr/>
        </p:nvSpPr>
        <p:spPr>
          <a:xfrm>
            <a:off x="4937760" y="1920240"/>
            <a:ext cx="1783080" cy="64008"/>
          </a:xfrm>
          <a:prstGeom prst="rect">
            <a:avLst/>
          </a:prstGeom>
          <a:solidFill>
            <a:srgbClr val="2ECC71"/>
          </a:solidFill>
          <a:ln w="12700" cap="flat" cmpd="sng">
            <a:solidFill>
              <a:srgbClr val="2ECC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0"/>
          <p:cNvSpPr/>
          <p:nvPr/>
        </p:nvSpPr>
        <p:spPr>
          <a:xfrm>
            <a:off x="5010912" y="2011680"/>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50"/>
              <a:buFont typeface="Calibri"/>
              <a:buNone/>
            </a:pPr>
            <a:r>
              <a:rPr lang="en-US" sz="950" b="0" i="0" u="none" strike="noStrike" cap="none">
                <a:solidFill>
                  <a:srgbClr val="8A9BB0"/>
                </a:solidFill>
                <a:latin typeface="Calibri"/>
                <a:ea typeface="Calibri"/>
                <a:cs typeface="Calibri"/>
                <a:sym typeface="Calibri"/>
              </a:rPr>
              <a:t>PSI (global)</a:t>
            </a:r>
            <a:endParaRPr sz="950" b="0" i="0" u="none" strike="noStrike" cap="none">
              <a:solidFill>
                <a:schemeClr val="dk1"/>
              </a:solidFill>
              <a:latin typeface="Calibri"/>
              <a:ea typeface="Calibri"/>
              <a:cs typeface="Calibri"/>
              <a:sym typeface="Calibri"/>
            </a:endParaRPr>
          </a:p>
        </p:txBody>
      </p:sp>
      <p:sp>
        <p:nvSpPr>
          <p:cNvPr id="234" name="Google Shape;234;p10"/>
          <p:cNvSpPr/>
          <p:nvPr/>
        </p:nvSpPr>
        <p:spPr>
          <a:xfrm>
            <a:off x="5010912" y="2212848"/>
            <a:ext cx="1645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5276"/>
              </a:buClr>
              <a:buSzPts val="1600"/>
              <a:buFont typeface="Calibri"/>
              <a:buNone/>
            </a:pPr>
            <a:r>
              <a:rPr lang="en-US" sz="1600" b="1" i="0" u="none" strike="noStrike" cap="none">
                <a:solidFill>
                  <a:srgbClr val="1A5276"/>
                </a:solidFill>
                <a:latin typeface="Calibri"/>
                <a:ea typeface="Calibri"/>
                <a:cs typeface="Calibri"/>
                <a:sym typeface="Calibri"/>
              </a:rPr>
              <a:t>≈ 0.0000</a:t>
            </a:r>
            <a:endParaRPr sz="1600" b="0" i="0" u="none" strike="noStrike" cap="none">
              <a:solidFill>
                <a:schemeClr val="dk1"/>
              </a:solidFill>
              <a:latin typeface="Calibri"/>
              <a:ea typeface="Calibri"/>
              <a:cs typeface="Calibri"/>
              <a:sym typeface="Calibri"/>
            </a:endParaRPr>
          </a:p>
        </p:txBody>
      </p:sp>
      <p:sp>
        <p:nvSpPr>
          <p:cNvPr id="235" name="Google Shape;235;p10"/>
          <p:cNvSpPr/>
          <p:nvPr/>
        </p:nvSpPr>
        <p:spPr>
          <a:xfrm>
            <a:off x="5010912" y="2487168"/>
            <a:ext cx="16459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00"/>
              <a:buFont typeface="Calibri"/>
              <a:buNone/>
            </a:pPr>
            <a:r>
              <a:rPr lang="en-US" sz="900" b="0" i="1" u="none" strike="noStrike" cap="none">
                <a:solidFill>
                  <a:srgbClr val="8A9BB0"/>
                </a:solidFill>
                <a:latin typeface="Calibri"/>
                <a:ea typeface="Calibri"/>
                <a:cs typeface="Calibri"/>
                <a:sym typeface="Calibri"/>
              </a:rPr>
              <a:t>No global drift</a:t>
            </a:r>
            <a:endParaRPr sz="900" b="0" i="0" u="none" strike="noStrike" cap="none">
              <a:solidFill>
                <a:schemeClr val="dk1"/>
              </a:solidFill>
              <a:latin typeface="Calibri"/>
              <a:ea typeface="Calibri"/>
              <a:cs typeface="Calibri"/>
              <a:sym typeface="Calibri"/>
            </a:endParaRPr>
          </a:p>
        </p:txBody>
      </p:sp>
      <p:sp>
        <p:nvSpPr>
          <p:cNvPr id="236" name="Google Shape;236;p10"/>
          <p:cNvSpPr/>
          <p:nvPr/>
        </p:nvSpPr>
        <p:spPr>
          <a:xfrm>
            <a:off x="6858000" y="1920240"/>
            <a:ext cx="1783080" cy="841248"/>
          </a:xfrm>
          <a:prstGeom prst="rect">
            <a:avLst/>
          </a:prstGeom>
          <a:solidFill>
            <a:srgbClr val="F8FAFE"/>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0"/>
          <p:cNvSpPr/>
          <p:nvPr/>
        </p:nvSpPr>
        <p:spPr>
          <a:xfrm>
            <a:off x="6858000" y="1920240"/>
            <a:ext cx="1783080" cy="64008"/>
          </a:xfrm>
          <a:prstGeom prst="rect">
            <a:avLst/>
          </a:prstGeom>
          <a:solidFill>
            <a:srgbClr val="2ECC71"/>
          </a:solidFill>
          <a:ln w="12700" cap="flat" cmpd="sng">
            <a:solidFill>
              <a:srgbClr val="2ECC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0"/>
          <p:cNvSpPr/>
          <p:nvPr/>
        </p:nvSpPr>
        <p:spPr>
          <a:xfrm>
            <a:off x="6931152" y="2011680"/>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50"/>
              <a:buFont typeface="Calibri"/>
              <a:buNone/>
            </a:pPr>
            <a:r>
              <a:rPr lang="en-US" sz="950" b="0" i="0" u="none" strike="noStrike" cap="none">
                <a:solidFill>
                  <a:srgbClr val="8A9BB0"/>
                </a:solidFill>
                <a:latin typeface="Calibri"/>
                <a:ea typeface="Calibri"/>
                <a:cs typeface="Calibri"/>
                <a:sym typeface="Calibri"/>
              </a:rPr>
              <a:t>KS Test p-value</a:t>
            </a:r>
            <a:endParaRPr sz="950" b="0" i="0" u="none" strike="noStrike" cap="none">
              <a:solidFill>
                <a:schemeClr val="dk1"/>
              </a:solidFill>
              <a:latin typeface="Calibri"/>
              <a:ea typeface="Calibri"/>
              <a:cs typeface="Calibri"/>
              <a:sym typeface="Calibri"/>
            </a:endParaRPr>
          </a:p>
        </p:txBody>
      </p:sp>
      <p:sp>
        <p:nvSpPr>
          <p:cNvPr id="239" name="Google Shape;239;p10"/>
          <p:cNvSpPr/>
          <p:nvPr/>
        </p:nvSpPr>
        <p:spPr>
          <a:xfrm>
            <a:off x="6931152" y="2212848"/>
            <a:ext cx="1645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5276"/>
              </a:buClr>
              <a:buSzPts val="1600"/>
              <a:buFont typeface="Calibri"/>
              <a:buNone/>
            </a:pPr>
            <a:r>
              <a:rPr lang="en-US" sz="1600" b="1" i="0" u="none" strike="noStrike" cap="none">
                <a:solidFill>
                  <a:srgbClr val="1A5276"/>
                </a:solidFill>
                <a:latin typeface="Calibri"/>
                <a:ea typeface="Calibri"/>
                <a:cs typeface="Calibri"/>
                <a:sym typeface="Calibri"/>
              </a:rPr>
              <a:t>0.139</a:t>
            </a:r>
            <a:endParaRPr sz="1600" b="0" i="0" u="none" strike="noStrike" cap="none">
              <a:solidFill>
                <a:schemeClr val="dk1"/>
              </a:solidFill>
              <a:latin typeface="Calibri"/>
              <a:ea typeface="Calibri"/>
              <a:cs typeface="Calibri"/>
              <a:sym typeface="Calibri"/>
            </a:endParaRPr>
          </a:p>
        </p:txBody>
      </p:sp>
      <p:sp>
        <p:nvSpPr>
          <p:cNvPr id="240" name="Google Shape;240;p10"/>
          <p:cNvSpPr/>
          <p:nvPr/>
        </p:nvSpPr>
        <p:spPr>
          <a:xfrm>
            <a:off x="6931152" y="2487168"/>
            <a:ext cx="16459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00"/>
              <a:buFont typeface="Calibri"/>
              <a:buNone/>
            </a:pPr>
            <a:r>
              <a:rPr lang="en-US" sz="900" b="0" i="1" u="none" strike="noStrike" cap="none">
                <a:solidFill>
                  <a:srgbClr val="8A9BB0"/>
                </a:solidFill>
                <a:latin typeface="Calibri"/>
                <a:ea typeface="Calibri"/>
                <a:cs typeface="Calibri"/>
                <a:sym typeface="Calibri"/>
              </a:rPr>
              <a:t>Not significant</a:t>
            </a:r>
            <a:endParaRPr sz="900" b="0" i="0" u="none" strike="noStrike" cap="none">
              <a:solidFill>
                <a:schemeClr val="dk1"/>
              </a:solidFill>
              <a:latin typeface="Calibri"/>
              <a:ea typeface="Calibri"/>
              <a:cs typeface="Calibri"/>
              <a:sym typeface="Calibri"/>
            </a:endParaRPr>
          </a:p>
        </p:txBody>
      </p:sp>
      <p:sp>
        <p:nvSpPr>
          <p:cNvPr id="241" name="Google Shape;241;p10"/>
          <p:cNvSpPr/>
          <p:nvPr/>
        </p:nvSpPr>
        <p:spPr>
          <a:xfrm>
            <a:off x="4937760" y="2926080"/>
            <a:ext cx="1783080" cy="841248"/>
          </a:xfrm>
          <a:prstGeom prst="rect">
            <a:avLst/>
          </a:prstGeom>
          <a:solidFill>
            <a:srgbClr val="F8FAFE"/>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0"/>
          <p:cNvSpPr/>
          <p:nvPr/>
        </p:nvSpPr>
        <p:spPr>
          <a:xfrm>
            <a:off x="4937760" y="2926080"/>
            <a:ext cx="1783080" cy="64008"/>
          </a:xfrm>
          <a:prstGeom prst="rect">
            <a:avLst/>
          </a:prstGeom>
          <a:solidFill>
            <a:srgbClr val="D35400"/>
          </a:solidFill>
          <a:ln w="12700" cap="flat" cmpd="sng">
            <a:solidFill>
              <a:srgbClr val="D35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0"/>
          <p:cNvSpPr/>
          <p:nvPr/>
        </p:nvSpPr>
        <p:spPr>
          <a:xfrm>
            <a:off x="5010912" y="3017520"/>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50"/>
              <a:buFont typeface="Calibri"/>
              <a:buNone/>
            </a:pPr>
            <a:r>
              <a:rPr lang="en-US" sz="950" b="0" i="0" u="none" strike="noStrike" cap="none">
                <a:solidFill>
                  <a:srgbClr val="8A9BB0"/>
                </a:solidFill>
                <a:latin typeface="Calibri"/>
                <a:ea typeface="Calibri"/>
                <a:cs typeface="Calibri"/>
                <a:sym typeface="Calibri"/>
              </a:rPr>
              <a:t>Stress Test (−15% income)</a:t>
            </a:r>
            <a:endParaRPr sz="950" b="0" i="0" u="none" strike="noStrike" cap="none">
              <a:solidFill>
                <a:schemeClr val="dk1"/>
              </a:solidFill>
              <a:latin typeface="Calibri"/>
              <a:ea typeface="Calibri"/>
              <a:cs typeface="Calibri"/>
              <a:sym typeface="Calibri"/>
            </a:endParaRPr>
          </a:p>
        </p:txBody>
      </p:sp>
      <p:sp>
        <p:nvSpPr>
          <p:cNvPr id="244" name="Google Shape;244;p10"/>
          <p:cNvSpPr/>
          <p:nvPr/>
        </p:nvSpPr>
        <p:spPr>
          <a:xfrm>
            <a:off x="5010912" y="3218688"/>
            <a:ext cx="1645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35400"/>
              </a:buClr>
              <a:buSzPts val="1600"/>
              <a:buFont typeface="Calibri"/>
              <a:buNone/>
            </a:pPr>
            <a:r>
              <a:rPr lang="en-US" sz="1600" b="1" i="0" u="none" strike="noStrike" cap="none">
                <a:solidFill>
                  <a:srgbClr val="D35400"/>
                </a:solidFill>
                <a:latin typeface="Calibri"/>
                <a:ea typeface="Calibri"/>
                <a:cs typeface="Calibri"/>
                <a:sym typeface="Calibri"/>
              </a:rPr>
              <a:t>−1.3%</a:t>
            </a:r>
            <a:endParaRPr sz="1600" b="0" i="0" u="none" strike="noStrike" cap="none">
              <a:solidFill>
                <a:schemeClr val="dk1"/>
              </a:solidFill>
              <a:latin typeface="Calibri"/>
              <a:ea typeface="Calibri"/>
              <a:cs typeface="Calibri"/>
              <a:sym typeface="Calibri"/>
            </a:endParaRPr>
          </a:p>
        </p:txBody>
      </p:sp>
      <p:sp>
        <p:nvSpPr>
          <p:cNvPr id="245" name="Google Shape;245;p10"/>
          <p:cNvSpPr/>
          <p:nvPr/>
        </p:nvSpPr>
        <p:spPr>
          <a:xfrm>
            <a:off x="5010912" y="3493008"/>
            <a:ext cx="16459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00"/>
              <a:buFont typeface="Calibri"/>
              <a:buNone/>
            </a:pPr>
            <a:r>
              <a:rPr lang="en-US" sz="900" b="0" i="1" u="none" strike="noStrike" cap="none">
                <a:solidFill>
                  <a:srgbClr val="8A9BB0"/>
                </a:solidFill>
                <a:latin typeface="Calibri"/>
                <a:ea typeface="Calibri"/>
                <a:cs typeface="Calibri"/>
                <a:sym typeface="Calibri"/>
              </a:rPr>
              <a:t>Accuracy drop</a:t>
            </a:r>
            <a:endParaRPr sz="900" b="0" i="0" u="none" strike="noStrike" cap="none">
              <a:solidFill>
                <a:schemeClr val="dk1"/>
              </a:solidFill>
              <a:latin typeface="Calibri"/>
              <a:ea typeface="Calibri"/>
              <a:cs typeface="Calibri"/>
              <a:sym typeface="Calibri"/>
            </a:endParaRPr>
          </a:p>
        </p:txBody>
      </p:sp>
      <p:sp>
        <p:nvSpPr>
          <p:cNvPr id="246" name="Google Shape;246;p10"/>
          <p:cNvSpPr/>
          <p:nvPr/>
        </p:nvSpPr>
        <p:spPr>
          <a:xfrm>
            <a:off x="6858000" y="2926080"/>
            <a:ext cx="1783080" cy="841248"/>
          </a:xfrm>
          <a:prstGeom prst="rect">
            <a:avLst/>
          </a:prstGeom>
          <a:solidFill>
            <a:srgbClr val="F8FAFE"/>
          </a:solidFill>
          <a:ln w="12700" cap="flat" cmpd="sng">
            <a:solidFill>
              <a:srgbClr val="D8DD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0"/>
          <p:cNvSpPr/>
          <p:nvPr/>
        </p:nvSpPr>
        <p:spPr>
          <a:xfrm>
            <a:off x="6858000" y="2926080"/>
            <a:ext cx="1783080" cy="64008"/>
          </a:xfrm>
          <a:prstGeom prst="rect">
            <a:avLst/>
          </a:prstGeom>
          <a:solidFill>
            <a:srgbClr val="D35400"/>
          </a:solidFill>
          <a:ln w="12700" cap="flat" cmpd="sng">
            <a:solidFill>
              <a:srgbClr val="D35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0"/>
          <p:cNvSpPr/>
          <p:nvPr/>
        </p:nvSpPr>
        <p:spPr>
          <a:xfrm>
            <a:off x="6931152" y="3017520"/>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50"/>
              <a:buFont typeface="Calibri"/>
              <a:buNone/>
            </a:pPr>
            <a:r>
              <a:rPr lang="en-US" sz="950" b="0" i="0" u="none" strike="noStrike" cap="none">
                <a:solidFill>
                  <a:srgbClr val="8A9BB0"/>
                </a:solidFill>
                <a:latin typeface="Calibri"/>
                <a:ea typeface="Calibri"/>
                <a:cs typeface="Calibri"/>
                <a:sym typeface="Calibri"/>
              </a:rPr>
              <a:t>Subgroup Risk</a:t>
            </a:r>
            <a:endParaRPr sz="950" b="0" i="0" u="none" strike="noStrike" cap="none">
              <a:solidFill>
                <a:schemeClr val="dk1"/>
              </a:solidFill>
              <a:latin typeface="Calibri"/>
              <a:ea typeface="Calibri"/>
              <a:cs typeface="Calibri"/>
              <a:sym typeface="Calibri"/>
            </a:endParaRPr>
          </a:p>
        </p:txBody>
      </p:sp>
      <p:sp>
        <p:nvSpPr>
          <p:cNvPr id="249" name="Google Shape;249;p10"/>
          <p:cNvSpPr/>
          <p:nvPr/>
        </p:nvSpPr>
        <p:spPr>
          <a:xfrm>
            <a:off x="6931152" y="3218688"/>
            <a:ext cx="1645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35400"/>
              </a:buClr>
              <a:buSzPts val="1600"/>
              <a:buFont typeface="Calibri"/>
              <a:buNone/>
            </a:pPr>
            <a:r>
              <a:rPr lang="en-US" sz="1600" b="1" i="0" u="none" strike="noStrike" cap="none">
                <a:solidFill>
                  <a:srgbClr val="D35400"/>
                </a:solidFill>
                <a:latin typeface="Calibri"/>
                <a:ea typeface="Calibri"/>
                <a:cs typeface="Calibri"/>
                <a:sym typeface="Calibri"/>
              </a:rPr>
              <a:t>Hidden</a:t>
            </a:r>
            <a:endParaRPr sz="1600" b="0" i="0" u="none" strike="noStrike" cap="none">
              <a:solidFill>
                <a:schemeClr val="dk1"/>
              </a:solidFill>
              <a:latin typeface="Calibri"/>
              <a:ea typeface="Calibri"/>
              <a:cs typeface="Calibri"/>
              <a:sym typeface="Calibri"/>
            </a:endParaRPr>
          </a:p>
        </p:txBody>
      </p:sp>
      <p:sp>
        <p:nvSpPr>
          <p:cNvPr id="250" name="Google Shape;250;p10"/>
          <p:cNvSpPr/>
          <p:nvPr/>
        </p:nvSpPr>
        <p:spPr>
          <a:xfrm>
            <a:off x="6931152" y="3493008"/>
            <a:ext cx="164592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BB0"/>
              </a:buClr>
              <a:buSzPts val="900"/>
              <a:buFont typeface="Calibri"/>
              <a:buNone/>
            </a:pPr>
            <a:r>
              <a:rPr lang="en-US" sz="900" b="0" i="1" u="none" strike="noStrike" cap="none">
                <a:solidFill>
                  <a:srgbClr val="8A9BB0"/>
                </a:solidFill>
                <a:latin typeface="Calibri"/>
                <a:ea typeface="Calibri"/>
                <a:cs typeface="Calibri"/>
                <a:sym typeface="Calibri"/>
              </a:rPr>
              <a:t>Global masks local</a:t>
            </a:r>
            <a:endParaRPr sz="900" b="0" i="0" u="none" strike="noStrike" cap="none">
              <a:solidFill>
                <a:schemeClr val="dk1"/>
              </a:solidFill>
              <a:latin typeface="Calibri"/>
              <a:ea typeface="Calibri"/>
              <a:cs typeface="Calibri"/>
              <a:sym typeface="Calibri"/>
            </a:endParaRPr>
          </a:p>
        </p:txBody>
      </p:sp>
      <p:sp>
        <p:nvSpPr>
          <p:cNvPr id="251" name="Google Shape;251;p10"/>
          <p:cNvSpPr/>
          <p:nvPr/>
        </p:nvSpPr>
        <p:spPr>
          <a:xfrm>
            <a:off x="4937760" y="4023360"/>
            <a:ext cx="3749040" cy="457200"/>
          </a:xfrm>
          <a:prstGeom prst="rect">
            <a:avLst/>
          </a:prstGeom>
          <a:solidFill>
            <a:srgbClr val="FEF3CD"/>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0"/>
          <p:cNvSpPr/>
          <p:nvPr/>
        </p:nvSpPr>
        <p:spPr>
          <a:xfrm>
            <a:off x="5029200" y="4041648"/>
            <a:ext cx="3566160" cy="42062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A4F00"/>
              </a:buClr>
              <a:buSzPts val="1000"/>
              <a:buFont typeface="Calibri"/>
              <a:buNone/>
            </a:pPr>
            <a:r>
              <a:rPr lang="en-US" sz="1000" b="1" i="0" u="none" strike="noStrike" cap="none">
                <a:solidFill>
                  <a:srgbClr val="7A4F00"/>
                </a:solidFill>
                <a:latin typeface="Calibri"/>
                <a:ea typeface="Calibri"/>
                <a:cs typeface="Calibri"/>
                <a:sym typeface="Calibri"/>
              </a:rPr>
              <a:t>Key Insight: </a:t>
            </a:r>
            <a:r>
              <a:rPr lang="en-US" sz="1000" b="0" i="0" u="none" strike="noStrike" cap="none">
                <a:solidFill>
                  <a:srgbClr val="7A4F00"/>
                </a:solidFill>
                <a:latin typeface="Calibri"/>
                <a:ea typeface="Calibri"/>
                <a:cs typeface="Calibri"/>
                <a:sym typeface="Calibri"/>
              </a:rPr>
              <a:t>Global stability metrics can hide subgroup drift. Even small income distribution shifts disproportionately impact borderline and minority applicants.</a:t>
            </a:r>
            <a:endParaRPr sz="1000" b="0" i="0" u="none" strike="noStrike" cap="none">
              <a:solidFill>
                <a:schemeClr val="dk1"/>
              </a:solidFill>
              <a:latin typeface="Calibri"/>
              <a:ea typeface="Calibri"/>
              <a:cs typeface="Calibri"/>
              <a:sym typeface="Calibri"/>
            </a:endParaRPr>
          </a:p>
        </p:txBody>
      </p:sp>
      <p:pic>
        <p:nvPicPr>
          <p:cNvPr id="253" name="Google Shape;253;p10" title="Screenshot 2569-05-04 at 02.44.30.png"/>
          <p:cNvPicPr preferRelativeResize="0"/>
          <p:nvPr/>
        </p:nvPicPr>
        <p:blipFill>
          <a:blip r:embed="rId3">
            <a:alphaModFix/>
          </a:blip>
          <a:stretch>
            <a:fillRect/>
          </a:stretch>
        </p:blipFill>
        <p:spPr>
          <a:xfrm>
            <a:off x="492825" y="4462275"/>
            <a:ext cx="3749049" cy="614596"/>
          </a:xfrm>
          <a:prstGeom prst="rect">
            <a:avLst/>
          </a:prstGeom>
          <a:noFill/>
          <a:ln>
            <a:noFill/>
          </a:ln>
        </p:spPr>
      </p:pic>
      <p:sp>
        <p:nvSpPr>
          <p:cNvPr id="254" name="Google Shape;254;p10"/>
          <p:cNvSpPr/>
          <p:nvPr/>
        </p:nvSpPr>
        <p:spPr>
          <a:xfrm>
            <a:off x="7726680" y="201168"/>
            <a:ext cx="1234500" cy="3201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0"/>
          <p:cNvSpPr/>
          <p:nvPr/>
        </p:nvSpPr>
        <p:spPr>
          <a:xfrm>
            <a:off x="7726680" y="201168"/>
            <a:ext cx="12345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SEVERITY: MED - HIGH</a:t>
            </a:r>
            <a:endParaRPr sz="900" b="0" i="0" u="none" strike="noStrike" cap="none">
              <a:solidFill>
                <a:schemeClr val="dk1"/>
              </a:solidFill>
              <a:latin typeface="Calibri"/>
              <a:ea typeface="Calibri"/>
              <a:cs typeface="Calibri"/>
              <a:sym typeface="Calibri"/>
            </a:endParaRPr>
          </a:p>
        </p:txBody>
      </p:sp>
      <p:sp>
        <p:nvSpPr>
          <p:cNvPr id="256" name="Google Shape;256;p10"/>
          <p:cNvSpPr/>
          <p:nvPr/>
        </p:nvSpPr>
        <p:spPr>
          <a:xfrm>
            <a:off x="6563188" y="201182"/>
            <a:ext cx="1005900" cy="3201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0"/>
          <p:cNvSpPr/>
          <p:nvPr/>
        </p:nvSpPr>
        <p:spPr>
          <a:xfrm>
            <a:off x="6563200" y="201176"/>
            <a:ext cx="10059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MODE 0</a:t>
            </a:r>
            <a:r>
              <a:rPr lang="en-US" sz="1000" b="1">
                <a:solidFill>
                  <a:srgbClr val="FFFFFF"/>
                </a:solidFill>
                <a:latin typeface="Calibri"/>
                <a:ea typeface="Calibri"/>
                <a:cs typeface="Calibri"/>
                <a:sym typeface="Calibri"/>
              </a:rPr>
              <a:t>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262"/>
        <p:cNvGrpSpPr/>
        <p:nvPr/>
      </p:nvGrpSpPr>
      <p:grpSpPr>
        <a:xfrm>
          <a:off x="0" y="0"/>
          <a:ext cx="0" cy="0"/>
          <a:chOff x="0" y="0"/>
          <a:chExt cx="0" cy="0"/>
        </a:xfrm>
      </p:grpSpPr>
      <p:sp>
        <p:nvSpPr>
          <p:cNvPr id="263" name="Google Shape;263;p11"/>
          <p:cNvSpPr/>
          <p:nvPr/>
        </p:nvSpPr>
        <p:spPr>
          <a:xfrm>
            <a:off x="0" y="0"/>
            <a:ext cx="9144000" cy="82296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0" y="822960"/>
            <a:ext cx="9144000" cy="54864"/>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20040" y="91440"/>
            <a:ext cx="8229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Calibri"/>
              <a:buNone/>
            </a:pPr>
            <a:r>
              <a:rPr lang="en-US" sz="2600" b="1" i="0" u="none" strike="noStrike" cap="none">
                <a:solidFill>
                  <a:srgbClr val="FFFFFF"/>
                </a:solidFill>
                <a:latin typeface="Georgia"/>
                <a:ea typeface="Georgia"/>
                <a:cs typeface="Georgia"/>
                <a:sym typeface="Georgia"/>
              </a:rPr>
              <a:t>Q2 Summary  ·  Failure Mode Table</a:t>
            </a:r>
            <a:endParaRPr sz="2600" i="0" u="none" strike="noStrike" cap="none">
              <a:solidFill>
                <a:schemeClr val="dk1"/>
              </a:solidFill>
              <a:latin typeface="Georgia"/>
              <a:ea typeface="Georgia"/>
              <a:cs typeface="Georgia"/>
              <a:sym typeface="Georgia"/>
            </a:endParaRPr>
          </a:p>
        </p:txBody>
      </p:sp>
      <p:graphicFrame>
        <p:nvGraphicFramePr>
          <p:cNvPr id="266" name="Google Shape;266;p11"/>
          <p:cNvGraphicFramePr/>
          <p:nvPr/>
        </p:nvGraphicFramePr>
        <p:xfrm>
          <a:off x="320040" y="1024128"/>
          <a:ext cx="7909575" cy="3401525"/>
        </p:xfrm>
        <a:graphic>
          <a:graphicData uri="http://schemas.openxmlformats.org/drawingml/2006/table">
            <a:tbl>
              <a:tblPr>
                <a:noFill/>
                <a:tableStyleId>{7AE50B99-0EE5-4D77-ACAF-0EF031F8B03B}</a:tableStyleId>
              </a:tblPr>
              <a:tblGrid>
                <a:gridCol w="15087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1691650">
                  <a:extLst>
                    <a:ext uri="{9D8B030D-6E8A-4147-A177-3AD203B41FA5}">
                      <a16:colId xmlns:a16="http://schemas.microsoft.com/office/drawing/2014/main" val="20002"/>
                    </a:ext>
                  </a:extLst>
                </a:gridCol>
                <a:gridCol w="146305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02325">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Failure Type</a:t>
                      </a:r>
                      <a:endParaRPr sz="11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1B2A4A"/>
                    </a:solidFill>
                  </a:tcPr>
                </a:tc>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Trigger Condition</a:t>
                      </a:r>
                      <a:endParaRPr sz="11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1B2A4A"/>
                    </a:solidFill>
                  </a:tcPr>
                </a:tc>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Harmed Group</a:t>
                      </a:r>
                      <a:endParaRPr sz="11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1B2A4A"/>
                    </a:solidFill>
                  </a:tcPr>
                </a:tc>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Method</a:t>
                      </a:r>
                      <a:endParaRPr sz="11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1B2A4A"/>
                    </a:solidFill>
                  </a:tcPr>
                </a:tc>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Severity</a:t>
                      </a:r>
                      <a:endParaRPr sz="11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749800">
                <a:tc>
                  <a:txBody>
                    <a:bodyPr/>
                    <a:lstStyle/>
                    <a:p>
                      <a:pPr marL="0" marR="0" lvl="0" indent="0" algn="l" rtl="0">
                        <a:spcBef>
                          <a:spcPts val="0"/>
                        </a:spcBef>
                        <a:spcAft>
                          <a:spcPts val="0"/>
                        </a:spcAft>
                        <a:buClr>
                          <a:srgbClr val="000000"/>
                        </a:buClr>
                        <a:buSzPts val="1050"/>
                        <a:buFont typeface="Calibri"/>
                        <a:buNone/>
                      </a:pPr>
                      <a:r>
                        <a:rPr lang="en-US" sz="1050" b="1" u="none" strike="noStrike" cap="none">
                          <a:solidFill>
                            <a:srgbClr val="000000"/>
                          </a:solidFill>
                          <a:latin typeface="Calibri"/>
                          <a:ea typeface="Calibri"/>
                          <a:cs typeface="Calibri"/>
                          <a:sym typeface="Calibri"/>
                        </a:rPr>
                        <a:t>Proxy Bias</a:t>
                      </a:r>
                      <a:endParaRPr sz="105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Model uses FFIEC income &amp; loan_purpose as racial proxies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African-American applicants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5276"/>
                        </a:buClr>
                        <a:buSzPts val="1000"/>
                        <a:buFont typeface="Calibri"/>
                        <a:buNone/>
                      </a:pPr>
                      <a:r>
                        <a:rPr lang="en-US" sz="1000" u="none" strike="noStrike" cap="none">
                          <a:solidFill>
                            <a:srgbClr val="1A5276"/>
                          </a:solidFill>
                          <a:latin typeface="Calibri"/>
                          <a:ea typeface="Calibri"/>
                          <a:cs typeface="Calibri"/>
                          <a:sym typeface="Calibri"/>
                        </a:rPr>
                        <a:t>SHAP (global)</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HIGH</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C0392B"/>
                    </a:solidFill>
                  </a:tcPr>
                </a:tc>
                <a:extLst>
                  <a:ext uri="{0D108BD9-81ED-4DB2-BD59-A6C34878D82A}">
                    <a16:rowId xmlns:a16="http://schemas.microsoft.com/office/drawing/2014/main" val="10001"/>
                  </a:ext>
                </a:extLst>
              </a:tr>
              <a:tr h="749800">
                <a:tc>
                  <a:txBody>
                    <a:bodyPr/>
                    <a:lstStyle/>
                    <a:p>
                      <a:pPr marL="0" marR="0" lvl="0" indent="0" algn="l" rtl="0">
                        <a:spcBef>
                          <a:spcPts val="0"/>
                        </a:spcBef>
                        <a:spcAft>
                          <a:spcPts val="0"/>
                        </a:spcAft>
                        <a:buClr>
                          <a:srgbClr val="000000"/>
                        </a:buClr>
                        <a:buSzPts val="1050"/>
                        <a:buFont typeface="Calibri"/>
                        <a:buNone/>
                      </a:pPr>
                      <a:r>
                        <a:rPr lang="en-US" sz="1050" b="1" u="none" strike="noStrike" cap="none">
                          <a:solidFill>
                            <a:srgbClr val="000000"/>
                          </a:solidFill>
                          <a:latin typeface="Calibri"/>
                          <a:ea typeface="Calibri"/>
                          <a:cs typeface="Calibri"/>
                          <a:sym typeface="Calibri"/>
                        </a:rPr>
                        <a:t>Risk Override</a:t>
                      </a:r>
                      <a:endParaRPr sz="105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Loan purpose SHAP value overrides extreme DTI risk signal</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Minority applicants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5276"/>
                        </a:buClr>
                        <a:buSzPts val="1000"/>
                        <a:buFont typeface="Calibri"/>
                        <a:buNone/>
                      </a:pPr>
                      <a:r>
                        <a:rPr lang="en-US" sz="1000" u="none" strike="noStrike" cap="none">
                          <a:solidFill>
                            <a:srgbClr val="1A5276"/>
                          </a:solidFill>
                          <a:latin typeface="Calibri"/>
                          <a:ea typeface="Calibri"/>
                          <a:cs typeface="Calibri"/>
                          <a:sym typeface="Calibri"/>
                        </a:rPr>
                        <a:t>SHAP (waterfall)</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HIGH</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C0392B"/>
                    </a:solidFill>
                  </a:tcPr>
                </a:tc>
                <a:extLst>
                  <a:ext uri="{0D108BD9-81ED-4DB2-BD59-A6C34878D82A}">
                    <a16:rowId xmlns:a16="http://schemas.microsoft.com/office/drawing/2014/main" val="10002"/>
                  </a:ext>
                </a:extLst>
              </a:tr>
              <a:tr h="749800">
                <a:tc>
                  <a:txBody>
                    <a:bodyPr/>
                    <a:lstStyle/>
                    <a:p>
                      <a:pPr marL="0" marR="0" lvl="0" indent="0" algn="l" rtl="0">
                        <a:spcBef>
                          <a:spcPts val="0"/>
                        </a:spcBef>
                        <a:spcAft>
                          <a:spcPts val="0"/>
                        </a:spcAft>
                        <a:buClr>
                          <a:srgbClr val="000000"/>
                        </a:buClr>
                        <a:buSzPts val="1050"/>
                        <a:buFont typeface="Calibri"/>
                        <a:buNone/>
                      </a:pPr>
                      <a:r>
                        <a:rPr lang="en-US" sz="1050" b="1" u="none" strike="noStrike" cap="none">
                          <a:solidFill>
                            <a:srgbClr val="000000"/>
                          </a:solidFill>
                          <a:latin typeface="Calibri"/>
                          <a:ea typeface="Calibri"/>
                          <a:cs typeface="Calibri"/>
                          <a:sym typeface="Calibri"/>
                        </a:rPr>
                        <a:t>Recourse Failure</a:t>
                      </a:r>
                      <a:endParaRPr sz="105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DiCE counterfactuals require unrealistic changes (score &gt;1000, income 40–60×)</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Rejected applicants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5276"/>
                        </a:buClr>
                        <a:buSzPts val="1000"/>
                        <a:buFont typeface="Calibri"/>
                        <a:buNone/>
                      </a:pPr>
                      <a:r>
                        <a:rPr lang="en-US" sz="1000" u="none" strike="noStrike" cap="none">
                          <a:solidFill>
                            <a:srgbClr val="1A5276"/>
                          </a:solidFill>
                          <a:latin typeface="Calibri"/>
                          <a:ea typeface="Calibri"/>
                          <a:cs typeface="Calibri"/>
                          <a:sym typeface="Calibri"/>
                        </a:rPr>
                        <a:t>DiCE</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MED–HIGH</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D35400"/>
                    </a:solidFill>
                  </a:tcPr>
                </a:tc>
                <a:extLst>
                  <a:ext uri="{0D108BD9-81ED-4DB2-BD59-A6C34878D82A}">
                    <a16:rowId xmlns:a16="http://schemas.microsoft.com/office/drawing/2014/main" val="10003"/>
                  </a:ext>
                </a:extLst>
              </a:tr>
              <a:tr h="749800">
                <a:tc>
                  <a:txBody>
                    <a:bodyPr/>
                    <a:lstStyle/>
                    <a:p>
                      <a:pPr marL="0" marR="0" lvl="0" indent="0" algn="l" rtl="0">
                        <a:spcBef>
                          <a:spcPts val="0"/>
                        </a:spcBef>
                        <a:spcAft>
                          <a:spcPts val="0"/>
                        </a:spcAft>
                        <a:buClr>
                          <a:srgbClr val="000000"/>
                        </a:buClr>
                        <a:buSzPts val="1050"/>
                        <a:buFont typeface="Calibri"/>
                        <a:buNone/>
                      </a:pPr>
                      <a:r>
                        <a:rPr lang="en-US" sz="1050" b="1" u="none" strike="noStrike" cap="none">
                          <a:solidFill>
                            <a:srgbClr val="000000"/>
                          </a:solidFill>
                          <a:latin typeface="Calibri"/>
                          <a:ea typeface="Calibri"/>
                          <a:cs typeface="Calibri"/>
                          <a:sym typeface="Calibri"/>
                        </a:rPr>
                        <a:t>Feature Drift</a:t>
                      </a:r>
                      <a:endParaRPr sz="105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15% income shift post-2024 drops accuracy &amp; hits borderline cases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Borderline / minority applicants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5276"/>
                        </a:buClr>
                        <a:buSzPts val="1000"/>
                        <a:buFont typeface="Calibri"/>
                        <a:buNone/>
                      </a:pPr>
                      <a:r>
                        <a:rPr lang="en-US" sz="1000" u="none" strike="noStrike" cap="none">
                          <a:solidFill>
                            <a:srgbClr val="1A5276"/>
                          </a:solidFill>
                          <a:latin typeface="Calibri"/>
                          <a:ea typeface="Calibri"/>
                          <a:cs typeface="Calibri"/>
                          <a:sym typeface="Calibri"/>
                        </a:rPr>
                        <a:t>PSI + KS + Stress</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MED–HIGH</a:t>
                      </a:r>
                      <a:endParaRPr sz="1000" u="none" strike="noStrike" cap="none">
                        <a:latin typeface="Calibri"/>
                        <a:ea typeface="Calibri"/>
                        <a:cs typeface="Calibri"/>
                        <a:sym typeface="Calibri"/>
                      </a:endParaRPr>
                    </a:p>
                  </a:txBody>
                  <a:tcPr marL="91450" marR="91450" marT="45725" marB="45725" anchor="ctr">
                    <a:lnL w="9525" cap="flat" cmpd="sng">
                      <a:solidFill>
                        <a:srgbClr val="D8DDE8"/>
                      </a:solidFill>
                      <a:prstDash val="solid"/>
                      <a:round/>
                      <a:headEnd type="none" w="sm" len="sm"/>
                      <a:tailEnd type="none" w="sm" len="sm"/>
                    </a:lnL>
                    <a:lnR w="9525" cap="flat" cmpd="sng">
                      <a:solidFill>
                        <a:srgbClr val="D8DDE8"/>
                      </a:solidFill>
                      <a:prstDash val="solid"/>
                      <a:round/>
                      <a:headEnd type="none" w="sm" len="sm"/>
                      <a:tailEnd type="none" w="sm" len="sm"/>
                    </a:lnR>
                    <a:lnT w="9525" cap="flat" cmpd="sng">
                      <a:solidFill>
                        <a:srgbClr val="D8DDE8"/>
                      </a:solidFill>
                      <a:prstDash val="solid"/>
                      <a:round/>
                      <a:headEnd type="none" w="sm" len="sm"/>
                      <a:tailEnd type="none" w="sm" len="sm"/>
                    </a:lnT>
                    <a:lnB w="9525" cap="flat" cmpd="sng">
                      <a:solidFill>
                        <a:srgbClr val="D8DDE8"/>
                      </a:solidFill>
                      <a:prstDash val="solid"/>
                      <a:round/>
                      <a:headEnd type="none" w="sm" len="sm"/>
                      <a:tailEnd type="none" w="sm" len="sm"/>
                    </a:lnB>
                    <a:solidFill>
                      <a:srgbClr val="D3540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271"/>
        <p:cNvGrpSpPr/>
        <p:nvPr/>
      </p:nvGrpSpPr>
      <p:grpSpPr>
        <a:xfrm>
          <a:off x="0" y="0"/>
          <a:ext cx="0" cy="0"/>
          <a:chOff x="0" y="0"/>
          <a:chExt cx="0" cy="0"/>
        </a:xfrm>
      </p:grpSpPr>
      <p:sp>
        <p:nvSpPr>
          <p:cNvPr id="272" name="Google Shape;272;p12"/>
          <p:cNvSpPr/>
          <p:nvPr/>
        </p:nvSpPr>
        <p:spPr>
          <a:xfrm>
            <a:off x="0" y="0"/>
            <a:ext cx="164700" cy="51435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2"/>
          <p:cNvSpPr/>
          <p:nvPr/>
        </p:nvSpPr>
        <p:spPr>
          <a:xfrm>
            <a:off x="411480" y="640080"/>
            <a:ext cx="8321100" cy="73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Calibri"/>
              <a:buNone/>
            </a:pPr>
            <a:r>
              <a:rPr lang="en-US" sz="3600" b="1">
                <a:solidFill>
                  <a:schemeClr val="lt1"/>
                </a:solidFill>
                <a:latin typeface="Georgia"/>
                <a:ea typeface="Georgia"/>
                <a:cs typeface="Georgia"/>
                <a:sym typeface="Georgia"/>
              </a:rPr>
              <a:t>Q3: Subgroup Error Measurement</a:t>
            </a:r>
            <a:endParaRPr sz="4800" i="0" u="none" strike="noStrike" cap="none">
              <a:solidFill>
                <a:schemeClr val="dk1"/>
              </a:solidFill>
              <a:latin typeface="Georgia"/>
              <a:ea typeface="Georgia"/>
              <a:cs typeface="Georgia"/>
              <a:sym typeface="Georgia"/>
            </a:endParaRPr>
          </a:p>
        </p:txBody>
      </p:sp>
      <p:sp>
        <p:nvSpPr>
          <p:cNvPr id="274" name="Google Shape;274;p12"/>
          <p:cNvSpPr/>
          <p:nvPr/>
        </p:nvSpPr>
        <p:spPr>
          <a:xfrm>
            <a:off x="411480" y="1389888"/>
            <a:ext cx="83211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700"/>
              <a:buFont typeface="Calibri"/>
              <a:buNone/>
            </a:pPr>
            <a:r>
              <a:rPr lang="en-US" sz="1700" i="1">
                <a:solidFill>
                  <a:srgbClr val="F0C878"/>
                </a:solidFill>
                <a:latin typeface="Calibri"/>
                <a:ea typeface="Calibri"/>
                <a:cs typeface="Calibri"/>
                <a:sym typeface="Calibri"/>
              </a:rPr>
              <a:t>How Subgroup Errors Were Measured</a:t>
            </a:r>
            <a:r>
              <a:rPr lang="en-US" sz="1700" b="0" i="1" u="none" strike="noStrike" cap="none">
                <a:solidFill>
                  <a:srgbClr val="F0C878"/>
                </a:solidFill>
                <a:latin typeface="Calibri"/>
                <a:ea typeface="Calibri"/>
                <a:cs typeface="Calibri"/>
                <a:sym typeface="Calibri"/>
              </a:rPr>
              <a:t>?</a:t>
            </a:r>
            <a:r>
              <a:rPr lang="en-US" sz="1700" i="1">
                <a:solidFill>
                  <a:srgbClr val="F0C878"/>
                </a:solidFill>
                <a:latin typeface="Calibri"/>
                <a:ea typeface="Calibri"/>
                <a:cs typeface="Calibri"/>
                <a:sym typeface="Calibri"/>
              </a:rPr>
              <a:t> How Errors Were Measured Across Subgroups?</a:t>
            </a:r>
            <a:endParaRPr sz="1700" i="1">
              <a:solidFill>
                <a:srgbClr val="F0C878"/>
              </a:solidFill>
              <a:latin typeface="Calibri"/>
              <a:ea typeface="Calibri"/>
              <a:cs typeface="Calibri"/>
              <a:sym typeface="Calibri"/>
            </a:endParaRPr>
          </a:p>
        </p:txBody>
      </p:sp>
      <p:sp>
        <p:nvSpPr>
          <p:cNvPr id="275" name="Google Shape;275;p12"/>
          <p:cNvSpPr/>
          <p:nvPr/>
        </p:nvSpPr>
        <p:spPr>
          <a:xfrm>
            <a:off x="411480" y="1901952"/>
            <a:ext cx="8321100" cy="27300"/>
          </a:xfrm>
          <a:prstGeom prst="rect">
            <a:avLst/>
          </a:prstGeom>
          <a:solidFill>
            <a:srgbClr val="C8962E"/>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76;p12">
            <a:extLst>
              <a:ext uri="{FF2B5EF4-FFF2-40B4-BE49-F238E27FC236}">
                <a16:creationId xmlns:a16="http://schemas.microsoft.com/office/drawing/2014/main" id="{F8C3BE23-41F4-92ED-6355-3BBBE5F59772}"/>
              </a:ext>
            </a:extLst>
          </p:cNvPr>
          <p:cNvSpPr/>
          <p:nvPr/>
        </p:nvSpPr>
        <p:spPr>
          <a:xfrm>
            <a:off x="502920" y="2560320"/>
            <a:ext cx="17832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3" name="Google Shape;277;p12">
            <a:extLst>
              <a:ext uri="{FF2B5EF4-FFF2-40B4-BE49-F238E27FC236}">
                <a16:creationId xmlns:a16="http://schemas.microsoft.com/office/drawing/2014/main" id="{BB45AB9D-27D1-E8FE-11D6-B9C919FE16AF}"/>
              </a:ext>
            </a:extLst>
          </p:cNvPr>
          <p:cNvSpPr/>
          <p:nvPr/>
        </p:nvSpPr>
        <p:spPr>
          <a:xfrm>
            <a:off x="1786763" y="2459715"/>
            <a:ext cx="1965900" cy="1873746"/>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lvl="0">
              <a:buClr>
                <a:srgbClr val="FFFFFF"/>
              </a:buClr>
              <a:buSzPts val="1200"/>
            </a:pPr>
            <a:endParaRPr lang="en-US" dirty="0">
              <a:solidFill>
                <a:schemeClr val="dk1"/>
              </a:solidFill>
              <a:latin typeface="Calibri"/>
              <a:ea typeface="Calibri"/>
              <a:cs typeface="Calibri"/>
              <a:sym typeface="Calibri"/>
            </a:endParaRPr>
          </a:p>
        </p:txBody>
      </p:sp>
      <p:sp>
        <p:nvSpPr>
          <p:cNvPr id="4" name="Google Shape;278;p12">
            <a:extLst>
              <a:ext uri="{FF2B5EF4-FFF2-40B4-BE49-F238E27FC236}">
                <a16:creationId xmlns:a16="http://schemas.microsoft.com/office/drawing/2014/main" id="{8E2F7C36-A109-55F7-B7B0-4AD4221C926D}"/>
              </a:ext>
            </a:extLst>
          </p:cNvPr>
          <p:cNvSpPr/>
          <p:nvPr/>
        </p:nvSpPr>
        <p:spPr>
          <a:xfrm>
            <a:off x="1878113" y="2553937"/>
            <a:ext cx="1783200" cy="451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a:t>
            </a:r>
            <a:r>
              <a:rPr lang="en-US" sz="1600" b="1">
                <a:solidFill>
                  <a:srgbClr val="F0C878"/>
                </a:solidFill>
                <a:latin typeface="Calibri"/>
                <a:ea typeface="Calibri"/>
                <a:cs typeface="Calibri"/>
                <a:sym typeface="Calibri"/>
              </a:rPr>
              <a:t>Metrics  computed</a:t>
            </a:r>
            <a:endParaRPr sz="1600" b="0" i="0" u="none" strike="noStrike" cap="none">
              <a:solidFill>
                <a:schemeClr val="dk1"/>
              </a:solidFill>
              <a:latin typeface="Calibri"/>
              <a:ea typeface="Calibri"/>
              <a:cs typeface="Calibri"/>
              <a:sym typeface="Calibri"/>
            </a:endParaRPr>
          </a:p>
        </p:txBody>
      </p:sp>
      <p:sp>
        <p:nvSpPr>
          <p:cNvPr id="5" name="Google Shape;279;p12">
            <a:extLst>
              <a:ext uri="{FF2B5EF4-FFF2-40B4-BE49-F238E27FC236}">
                <a16:creationId xmlns:a16="http://schemas.microsoft.com/office/drawing/2014/main" id="{84B5DDDC-0206-C83E-3E0B-59E8C3477325}"/>
              </a:ext>
            </a:extLst>
          </p:cNvPr>
          <p:cNvSpPr/>
          <p:nvPr/>
        </p:nvSpPr>
        <p:spPr>
          <a:xfrm>
            <a:off x="1878113" y="3835770"/>
            <a:ext cx="1783200" cy="42661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dirty="0">
                <a:solidFill>
                  <a:srgbClr val="FFFFFF"/>
                </a:solidFill>
                <a:latin typeface="Calibri"/>
                <a:ea typeface="Calibri"/>
                <a:cs typeface="Calibri"/>
                <a:sym typeface="Calibri"/>
              </a:rPr>
              <a:t>AIR, ME and SMD</a:t>
            </a:r>
            <a:endParaRPr sz="1200" b="0" i="0" u="none" strike="noStrike" cap="none" dirty="0">
              <a:solidFill>
                <a:schemeClr val="dk1"/>
              </a:solidFill>
              <a:latin typeface="Calibri"/>
              <a:ea typeface="Calibri"/>
              <a:cs typeface="Calibri"/>
              <a:sym typeface="Calibri"/>
            </a:endParaRPr>
          </a:p>
        </p:txBody>
      </p:sp>
      <p:sp>
        <p:nvSpPr>
          <p:cNvPr id="6" name="Google Shape;280;p12">
            <a:extLst>
              <a:ext uri="{FF2B5EF4-FFF2-40B4-BE49-F238E27FC236}">
                <a16:creationId xmlns:a16="http://schemas.microsoft.com/office/drawing/2014/main" id="{68B3528B-9B19-14DF-F60F-E0D4B6C71B66}"/>
              </a:ext>
            </a:extLst>
          </p:cNvPr>
          <p:cNvSpPr/>
          <p:nvPr/>
        </p:nvSpPr>
        <p:spPr>
          <a:xfrm>
            <a:off x="4980971" y="2459715"/>
            <a:ext cx="1965900" cy="1846446"/>
          </a:xfrm>
          <a:prstGeom prst="rect">
            <a:avLst/>
          </a:prstGeom>
          <a:solidFill>
            <a:srgbClr val="223355"/>
          </a:solidFill>
          <a:ln w="12700" cap="flat" cmpd="sng">
            <a:solidFill>
              <a:srgbClr val="C896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81;p12">
            <a:extLst>
              <a:ext uri="{FF2B5EF4-FFF2-40B4-BE49-F238E27FC236}">
                <a16:creationId xmlns:a16="http://schemas.microsoft.com/office/drawing/2014/main" id="{6DF9AECE-B3DB-E1F1-23EA-358F01C057F1}"/>
              </a:ext>
            </a:extLst>
          </p:cNvPr>
          <p:cNvSpPr/>
          <p:nvPr/>
        </p:nvSpPr>
        <p:spPr>
          <a:xfrm>
            <a:off x="5072400" y="2523725"/>
            <a:ext cx="1783200" cy="489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0C878"/>
              </a:buClr>
              <a:buSzPts val="1600"/>
              <a:buFont typeface="Calibri"/>
              <a:buNone/>
            </a:pPr>
            <a:r>
              <a:rPr lang="en-US" sz="1600" b="1" i="0" u="none" strike="noStrike" cap="none">
                <a:solidFill>
                  <a:srgbClr val="F0C878"/>
                </a:solidFill>
                <a:latin typeface="Calibri"/>
                <a:ea typeface="Calibri"/>
                <a:cs typeface="Calibri"/>
                <a:sym typeface="Calibri"/>
              </a:rPr>
              <a:t>◆  </a:t>
            </a:r>
            <a:r>
              <a:rPr lang="en-US" sz="1600" b="1">
                <a:solidFill>
                  <a:srgbClr val="F0C878"/>
                </a:solidFill>
                <a:latin typeface="Calibri"/>
                <a:ea typeface="Calibri"/>
                <a:cs typeface="Calibri"/>
                <a:sym typeface="Calibri"/>
              </a:rPr>
              <a:t>Groups examined</a:t>
            </a:r>
            <a:endParaRPr sz="1600" b="0" i="0" u="none" strike="noStrike" cap="none">
              <a:solidFill>
                <a:schemeClr val="dk1"/>
              </a:solidFill>
              <a:latin typeface="Calibri"/>
              <a:ea typeface="Calibri"/>
              <a:cs typeface="Calibri"/>
              <a:sym typeface="Calibri"/>
            </a:endParaRPr>
          </a:p>
        </p:txBody>
      </p:sp>
      <p:sp>
        <p:nvSpPr>
          <p:cNvPr id="8" name="Google Shape;282;p12">
            <a:extLst>
              <a:ext uri="{FF2B5EF4-FFF2-40B4-BE49-F238E27FC236}">
                <a16:creationId xmlns:a16="http://schemas.microsoft.com/office/drawing/2014/main" id="{850DFF3F-E256-3DC1-7AC4-BF7F6C6168E6}"/>
              </a:ext>
            </a:extLst>
          </p:cNvPr>
          <p:cNvSpPr/>
          <p:nvPr/>
        </p:nvSpPr>
        <p:spPr>
          <a:xfrm>
            <a:off x="5072400" y="3762376"/>
            <a:ext cx="1201243"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dirty="0">
                <a:solidFill>
                  <a:srgbClr val="FFFFFF"/>
                </a:solidFill>
                <a:latin typeface="Calibri"/>
                <a:ea typeface="Calibri"/>
                <a:cs typeface="Calibri"/>
                <a:sym typeface="Calibri"/>
              </a:rPr>
              <a:t>Race + Gender</a:t>
            </a:r>
          </a:p>
        </p:txBody>
      </p:sp>
      <p:sp>
        <p:nvSpPr>
          <p:cNvPr id="9" name="Google Shape;279;p12">
            <a:extLst>
              <a:ext uri="{FF2B5EF4-FFF2-40B4-BE49-F238E27FC236}">
                <a16:creationId xmlns:a16="http://schemas.microsoft.com/office/drawing/2014/main" id="{A9820AAC-0E94-E512-D74E-4E7DF3D4D890}"/>
              </a:ext>
            </a:extLst>
          </p:cNvPr>
          <p:cNvSpPr/>
          <p:nvPr/>
        </p:nvSpPr>
        <p:spPr>
          <a:xfrm>
            <a:off x="1874257" y="3459987"/>
            <a:ext cx="1783200" cy="42661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dirty="0">
                <a:solidFill>
                  <a:srgbClr val="FFFFFF"/>
                </a:solidFill>
                <a:latin typeface="Calibri"/>
                <a:ea typeface="Calibri"/>
                <a:cs typeface="Calibri"/>
                <a:sym typeface="Calibri"/>
              </a:rPr>
              <a:t>FPR and FNR</a:t>
            </a:r>
            <a:endParaRPr sz="1200" b="0" i="0" u="none" strike="noStrike" cap="none" dirty="0">
              <a:solidFill>
                <a:schemeClr val="dk1"/>
              </a:solidFill>
              <a:latin typeface="Calibri"/>
              <a:ea typeface="Calibri"/>
              <a:cs typeface="Calibri"/>
              <a:sym typeface="Calibri"/>
            </a:endParaRPr>
          </a:p>
        </p:txBody>
      </p:sp>
      <p:sp>
        <p:nvSpPr>
          <p:cNvPr id="10" name="Google Shape;282;p12">
            <a:extLst>
              <a:ext uri="{FF2B5EF4-FFF2-40B4-BE49-F238E27FC236}">
                <a16:creationId xmlns:a16="http://schemas.microsoft.com/office/drawing/2014/main" id="{88B5FE16-A741-11A8-8323-69FC5B10DD7F}"/>
              </a:ext>
            </a:extLst>
          </p:cNvPr>
          <p:cNvSpPr/>
          <p:nvPr/>
        </p:nvSpPr>
        <p:spPr>
          <a:xfrm>
            <a:off x="5072400" y="3424074"/>
            <a:ext cx="1201243"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dirty="0">
                <a:solidFill>
                  <a:srgbClr val="FFFFFF"/>
                </a:solidFill>
                <a:latin typeface="Calibri"/>
                <a:ea typeface="Calibri"/>
                <a:cs typeface="Calibri"/>
                <a:sym typeface="Calibri"/>
              </a:rPr>
              <a:t>Gender</a:t>
            </a:r>
          </a:p>
        </p:txBody>
      </p:sp>
      <p:sp>
        <p:nvSpPr>
          <p:cNvPr id="11" name="Google Shape;282;p12">
            <a:extLst>
              <a:ext uri="{FF2B5EF4-FFF2-40B4-BE49-F238E27FC236}">
                <a16:creationId xmlns:a16="http://schemas.microsoft.com/office/drawing/2014/main" id="{C101D039-5709-ABE8-EA71-C6F4D4E1873E}"/>
              </a:ext>
            </a:extLst>
          </p:cNvPr>
          <p:cNvSpPr/>
          <p:nvPr/>
        </p:nvSpPr>
        <p:spPr>
          <a:xfrm>
            <a:off x="5072400" y="3094287"/>
            <a:ext cx="1201243"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dirty="0">
                <a:solidFill>
                  <a:srgbClr val="FFFFFF"/>
                </a:solidFill>
                <a:latin typeface="Calibri"/>
                <a:ea typeface="Calibri"/>
                <a:cs typeface="Calibri"/>
                <a:sym typeface="Calibri"/>
              </a:rPr>
              <a:t>Race</a:t>
            </a:r>
          </a:p>
        </p:txBody>
      </p:sp>
      <p:sp>
        <p:nvSpPr>
          <p:cNvPr id="12" name="Google Shape;279;p12">
            <a:extLst>
              <a:ext uri="{FF2B5EF4-FFF2-40B4-BE49-F238E27FC236}">
                <a16:creationId xmlns:a16="http://schemas.microsoft.com/office/drawing/2014/main" id="{13C0B422-031C-704C-5E6B-65A821171A7F}"/>
              </a:ext>
            </a:extLst>
          </p:cNvPr>
          <p:cNvSpPr/>
          <p:nvPr/>
        </p:nvSpPr>
        <p:spPr>
          <a:xfrm>
            <a:off x="1874257" y="3119966"/>
            <a:ext cx="1783200" cy="42661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0" i="0" u="none" strike="noStrike" cap="none" dirty="0">
                <a:solidFill>
                  <a:srgbClr val="FFFFFF"/>
                </a:solidFill>
                <a:latin typeface="Calibri"/>
                <a:ea typeface="Calibri"/>
                <a:cs typeface="Calibri"/>
                <a:sym typeface="Calibri"/>
              </a:rPr>
              <a:t>Accuracy and AUC</a:t>
            </a:r>
            <a:endParaRPr sz="1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7"/>
        <p:cNvGrpSpPr/>
        <p:nvPr/>
      </p:nvGrpSpPr>
      <p:grpSpPr>
        <a:xfrm>
          <a:off x="0" y="0"/>
          <a:ext cx="0" cy="0"/>
          <a:chOff x="0" y="0"/>
          <a:chExt cx="0" cy="0"/>
        </a:xfrm>
      </p:grpSpPr>
      <p:sp>
        <p:nvSpPr>
          <p:cNvPr id="288" name="Google Shape;288;p13"/>
          <p:cNvSpPr/>
          <p:nvPr/>
        </p:nvSpPr>
        <p:spPr>
          <a:xfrm>
            <a:off x="1749287" y="-91664"/>
            <a:ext cx="5958300" cy="877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US" sz="2000" b="1" dirty="0">
                <a:solidFill>
                  <a:srgbClr val="1C2B4A"/>
                </a:solidFill>
                <a:latin typeface="Georgia"/>
                <a:ea typeface="Georgia"/>
                <a:cs typeface="Georgia"/>
                <a:sym typeface="Georgia"/>
              </a:rPr>
              <a:t>Q3: How Subgroup Errors Were</a:t>
            </a:r>
            <a:r>
              <a:rPr lang="en-US" sz="2000" b="1" i="0" u="none" strike="noStrike" cap="none" dirty="0">
                <a:solidFill>
                  <a:srgbClr val="344870"/>
                </a:solidFill>
                <a:latin typeface="Georgia"/>
                <a:ea typeface="Georgia"/>
                <a:cs typeface="Georgia"/>
                <a:sym typeface="Georgia"/>
              </a:rPr>
              <a:t> </a:t>
            </a:r>
            <a:r>
              <a:rPr lang="en-US" sz="2000" b="1" dirty="0">
                <a:solidFill>
                  <a:srgbClr val="1C2B4A"/>
                </a:solidFill>
                <a:latin typeface="Georgia"/>
                <a:ea typeface="Georgia"/>
                <a:cs typeface="Georgia"/>
                <a:sym typeface="Georgia"/>
              </a:rPr>
              <a:t>Measured</a:t>
            </a:r>
            <a:endParaRPr sz="2000" i="0" u="none" strike="noStrike" cap="none" dirty="0">
              <a:solidFill>
                <a:srgbClr val="344870"/>
              </a:solidFill>
              <a:latin typeface="Georgia"/>
              <a:ea typeface="Georgia"/>
              <a:cs typeface="Georgia"/>
              <a:sym typeface="Georgia"/>
            </a:endParaRPr>
          </a:p>
        </p:txBody>
      </p:sp>
      <p:sp>
        <p:nvSpPr>
          <p:cNvPr id="289" name="Google Shape;289;p13"/>
          <p:cNvSpPr/>
          <p:nvPr/>
        </p:nvSpPr>
        <p:spPr>
          <a:xfrm>
            <a:off x="35060" y="749825"/>
            <a:ext cx="10974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800"/>
              <a:buFont typeface="Calibri"/>
              <a:buNone/>
            </a:pPr>
            <a:endParaRPr sz="800" b="0" i="0" u="none" strike="noStrike" cap="none">
              <a:solidFill>
                <a:schemeClr val="dk1"/>
              </a:solidFill>
              <a:latin typeface="Calibri"/>
              <a:ea typeface="Calibri"/>
              <a:cs typeface="Calibri"/>
              <a:sym typeface="Calibri"/>
            </a:endParaRPr>
          </a:p>
        </p:txBody>
      </p:sp>
      <p:sp>
        <p:nvSpPr>
          <p:cNvPr id="290" name="Google Shape;290;p13"/>
          <p:cNvSpPr/>
          <p:nvPr/>
        </p:nvSpPr>
        <p:spPr>
          <a:xfrm>
            <a:off x="1276179" y="552896"/>
            <a:ext cx="6591641" cy="512100"/>
          </a:xfrm>
          <a:prstGeom prst="rect">
            <a:avLst/>
          </a:prstGeom>
          <a:solidFill>
            <a:srgbClr val="1C2E44"/>
          </a:solidFill>
          <a:ln w="12700" cap="flat" cmpd="sng">
            <a:solidFill>
              <a:srgbClr val="1C2E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13"/>
          <p:cNvSpPr/>
          <p:nvPr/>
        </p:nvSpPr>
        <p:spPr>
          <a:xfrm>
            <a:off x="1183712" y="552896"/>
            <a:ext cx="6838132" cy="5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C8E3"/>
              </a:buClr>
              <a:buSzPts val="900"/>
              <a:buFont typeface="Calibri"/>
              <a:buNone/>
            </a:pPr>
            <a:r>
              <a:rPr lang="en-US" sz="900" i="1" dirty="0">
                <a:solidFill>
                  <a:srgbClr val="7EC8E3"/>
                </a:solidFill>
                <a:latin typeface="Calibri"/>
                <a:ea typeface="Calibri"/>
                <a:cs typeface="Calibri"/>
                <a:sym typeface="Calibri"/>
              </a:rPr>
              <a:t>Disparity Metrics were applied to the 2024 HMDA dataset to measure how the model treated each racial group</a:t>
            </a:r>
            <a:endParaRPr sz="900"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F45B14A5-7BA4-073F-8EE6-916163B95F14}"/>
              </a:ext>
            </a:extLst>
          </p:cNvPr>
          <p:cNvPicPr>
            <a:picLocks noChangeAspect="1"/>
          </p:cNvPicPr>
          <p:nvPr/>
        </p:nvPicPr>
        <p:blipFill>
          <a:blip r:embed="rId3"/>
          <a:stretch>
            <a:fillRect/>
          </a:stretch>
        </p:blipFill>
        <p:spPr>
          <a:xfrm>
            <a:off x="4602778" y="1177124"/>
            <a:ext cx="3886200" cy="1082040"/>
          </a:xfrm>
          <a:prstGeom prst="rect">
            <a:avLst/>
          </a:prstGeom>
        </p:spPr>
      </p:pic>
      <p:pic>
        <p:nvPicPr>
          <p:cNvPr id="3" name="Picture 2">
            <a:extLst>
              <a:ext uri="{FF2B5EF4-FFF2-40B4-BE49-F238E27FC236}">
                <a16:creationId xmlns:a16="http://schemas.microsoft.com/office/drawing/2014/main" id="{91BA6FFB-F78A-8B2A-F6AA-1010431AB333}"/>
              </a:ext>
            </a:extLst>
          </p:cNvPr>
          <p:cNvPicPr>
            <a:picLocks noChangeAspect="1"/>
          </p:cNvPicPr>
          <p:nvPr/>
        </p:nvPicPr>
        <p:blipFill>
          <a:blip r:embed="rId4"/>
          <a:stretch>
            <a:fillRect/>
          </a:stretch>
        </p:blipFill>
        <p:spPr>
          <a:xfrm>
            <a:off x="4602778" y="2359509"/>
            <a:ext cx="3916045" cy="1049655"/>
          </a:xfrm>
          <a:prstGeom prst="rect">
            <a:avLst/>
          </a:prstGeom>
        </p:spPr>
      </p:pic>
      <p:pic>
        <p:nvPicPr>
          <p:cNvPr id="4" name="Picture 3">
            <a:extLst>
              <a:ext uri="{FF2B5EF4-FFF2-40B4-BE49-F238E27FC236}">
                <a16:creationId xmlns:a16="http://schemas.microsoft.com/office/drawing/2014/main" id="{FC553214-25A8-EA24-900B-A4F7F7F1191C}"/>
              </a:ext>
            </a:extLst>
          </p:cNvPr>
          <p:cNvPicPr>
            <a:picLocks noChangeAspect="1"/>
          </p:cNvPicPr>
          <p:nvPr/>
        </p:nvPicPr>
        <p:blipFill>
          <a:blip r:embed="rId5"/>
          <a:stretch>
            <a:fillRect/>
          </a:stretch>
        </p:blipFill>
        <p:spPr>
          <a:xfrm>
            <a:off x="523403" y="1177124"/>
            <a:ext cx="3898900" cy="3057525"/>
          </a:xfrm>
          <a:prstGeom prst="rect">
            <a:avLst/>
          </a:prstGeom>
        </p:spPr>
      </p:pic>
      <p:sp>
        <p:nvSpPr>
          <p:cNvPr id="6" name="TextBox 5">
            <a:extLst>
              <a:ext uri="{FF2B5EF4-FFF2-40B4-BE49-F238E27FC236}">
                <a16:creationId xmlns:a16="http://schemas.microsoft.com/office/drawing/2014/main" id="{7E0C6EDA-C3BE-352B-914D-19AB85BA9D32}"/>
              </a:ext>
            </a:extLst>
          </p:cNvPr>
          <p:cNvSpPr txBox="1"/>
          <p:nvPr/>
        </p:nvSpPr>
        <p:spPr>
          <a:xfrm>
            <a:off x="4728437" y="3558303"/>
            <a:ext cx="3898900" cy="359266"/>
          </a:xfrm>
          <a:prstGeom prst="rect">
            <a:avLst/>
          </a:prstGeom>
          <a:noFill/>
        </p:spPr>
        <p:txBody>
          <a:bodyPr wrap="square">
            <a:spAutoFit/>
          </a:bodyPr>
          <a:lstStyle/>
          <a:p>
            <a:pPr marL="0" marR="0">
              <a:lnSpc>
                <a:spcPct val="115000"/>
              </a:lnSpc>
              <a:spcAft>
                <a:spcPts val="800"/>
              </a:spcAft>
              <a:buNone/>
            </a:pPr>
            <a:r>
              <a:rPr lang="en-US" sz="1600" b="1"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Strategic Actions &amp; Opportunity Cost</a:t>
            </a:r>
            <a:endParaRPr lang="en-US"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FBBAC91-1D4F-92D5-1865-F436E178FA94}"/>
              </a:ext>
            </a:extLst>
          </p:cNvPr>
          <p:cNvSpPr txBox="1"/>
          <p:nvPr/>
        </p:nvSpPr>
        <p:spPr>
          <a:xfrm>
            <a:off x="4777356" y="3947440"/>
            <a:ext cx="3445504" cy="261610"/>
          </a:xfrm>
          <a:prstGeom prst="rect">
            <a:avLst/>
          </a:prstGeom>
          <a:noFill/>
        </p:spPr>
        <p:txBody>
          <a:bodyPr wrap="square">
            <a:spAutoFit/>
          </a:bodyPr>
          <a:lstStyle/>
          <a:p>
            <a:pPr algn="ctr"/>
            <a:r>
              <a:rPr lang="en-US" sz="1100" b="1" kern="0" dirty="0">
                <a:solidFill>
                  <a:srgbClr val="1F1F1F"/>
                </a:solidFill>
                <a:effectLst/>
                <a:latin typeface="Arial" panose="020B0604020202020204" pitchFamily="34" charset="0"/>
                <a:ea typeface="Times New Roman" panose="02020603050405020304" pitchFamily="18" charset="0"/>
              </a:rPr>
              <a:t>Threshold Optimization &amp; Fairness Constraints</a:t>
            </a:r>
            <a:r>
              <a:rPr lang="en-US" sz="1100" dirty="0">
                <a:effectLst/>
              </a:rPr>
              <a:t> </a:t>
            </a:r>
            <a:endParaRPr lang="en-US" sz="1100" dirty="0"/>
          </a:p>
        </p:txBody>
      </p:sp>
      <p:sp>
        <p:nvSpPr>
          <p:cNvPr id="10" name="TextBox 9">
            <a:extLst>
              <a:ext uri="{FF2B5EF4-FFF2-40B4-BE49-F238E27FC236}">
                <a16:creationId xmlns:a16="http://schemas.microsoft.com/office/drawing/2014/main" id="{94424D22-8B7D-92FA-F4EE-09BC9DFEF70B}"/>
              </a:ext>
            </a:extLst>
          </p:cNvPr>
          <p:cNvSpPr txBox="1"/>
          <p:nvPr/>
        </p:nvSpPr>
        <p:spPr>
          <a:xfrm>
            <a:off x="5500231" y="4209050"/>
            <a:ext cx="2207356" cy="276999"/>
          </a:xfrm>
          <a:prstGeom prst="rect">
            <a:avLst/>
          </a:prstGeom>
          <a:noFill/>
        </p:spPr>
        <p:txBody>
          <a:bodyPr wrap="square">
            <a:spAutoFit/>
          </a:bodyPr>
          <a:lstStyle/>
          <a:p>
            <a:pPr algn="ctr"/>
            <a:r>
              <a:rPr lang="en-US" sz="1200" b="1" kern="0" dirty="0">
                <a:solidFill>
                  <a:srgbClr val="1F1F1F"/>
                </a:solidFill>
                <a:effectLst/>
                <a:latin typeface="Arial" panose="020B0604020202020204" pitchFamily="34" charset="0"/>
                <a:ea typeface="Times New Roman" panose="02020603050405020304" pitchFamily="18" charset="0"/>
              </a:rPr>
              <a:t>Proxy Variable De-biasing</a:t>
            </a:r>
            <a:r>
              <a:rPr lang="en-US" sz="1200" dirty="0">
                <a:effectLst/>
              </a:rPr>
              <a:t> </a:t>
            </a:r>
            <a:endParaRPr lang="en-US" sz="1200" dirty="0"/>
          </a:p>
        </p:txBody>
      </p:sp>
      <p:sp>
        <p:nvSpPr>
          <p:cNvPr id="12" name="TextBox 11">
            <a:extLst>
              <a:ext uri="{FF2B5EF4-FFF2-40B4-BE49-F238E27FC236}">
                <a16:creationId xmlns:a16="http://schemas.microsoft.com/office/drawing/2014/main" id="{54C903BA-DC5E-8A13-442A-31F5D5A65954}"/>
              </a:ext>
            </a:extLst>
          </p:cNvPr>
          <p:cNvSpPr txBox="1"/>
          <p:nvPr/>
        </p:nvSpPr>
        <p:spPr>
          <a:xfrm>
            <a:off x="4808297" y="4486049"/>
            <a:ext cx="3591224" cy="261610"/>
          </a:xfrm>
          <a:prstGeom prst="rect">
            <a:avLst/>
          </a:prstGeom>
          <a:noFill/>
        </p:spPr>
        <p:txBody>
          <a:bodyPr wrap="square">
            <a:spAutoFit/>
          </a:bodyPr>
          <a:lstStyle/>
          <a:p>
            <a:pPr algn="ctr"/>
            <a:r>
              <a:rPr lang="en-US" sz="1100" b="1" kern="0" dirty="0">
                <a:solidFill>
                  <a:srgbClr val="1F1F1F"/>
                </a:solidFill>
                <a:effectLst/>
                <a:latin typeface="Arial" panose="020B0604020202020204" pitchFamily="34" charset="0"/>
                <a:ea typeface="Times New Roman" panose="02020603050405020304" pitchFamily="18" charset="0"/>
              </a:rPr>
              <a:t>Regulatory Compliance &amp; Intergenerational Wealth</a:t>
            </a:r>
            <a:r>
              <a:rPr lang="en-US" sz="1100" kern="0" dirty="0">
                <a:solidFill>
                  <a:srgbClr val="1F1F1F"/>
                </a:solidFill>
                <a:effectLst/>
                <a:latin typeface="Arial" panose="020B0604020202020204" pitchFamily="34" charset="0"/>
                <a:ea typeface="Times New Roman" panose="02020603050405020304" pitchFamily="18" charset="0"/>
              </a:rPr>
              <a:t> </a:t>
            </a:r>
            <a:endParaRPr lang="en-US" sz="1100" dirty="0"/>
          </a:p>
        </p:txBody>
      </p:sp>
      <p:sp>
        <p:nvSpPr>
          <p:cNvPr id="13" name="Oval 12">
            <a:extLst>
              <a:ext uri="{FF2B5EF4-FFF2-40B4-BE49-F238E27FC236}">
                <a16:creationId xmlns:a16="http://schemas.microsoft.com/office/drawing/2014/main" id="{0E72E733-4728-0CB7-EB57-E8825CFB093C}"/>
              </a:ext>
            </a:extLst>
          </p:cNvPr>
          <p:cNvSpPr/>
          <p:nvPr/>
        </p:nvSpPr>
        <p:spPr>
          <a:xfrm>
            <a:off x="7508815" y="1570765"/>
            <a:ext cx="513029" cy="147379"/>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0BDF4BD0-DFF3-0413-2D91-73112068B528}"/>
              </a:ext>
            </a:extLst>
          </p:cNvPr>
          <p:cNvSpPr/>
          <p:nvPr/>
        </p:nvSpPr>
        <p:spPr>
          <a:xfrm>
            <a:off x="7011688" y="1740064"/>
            <a:ext cx="513029" cy="147379"/>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730E0D72-7C0A-D938-82CA-951FA3C922DB}"/>
              </a:ext>
            </a:extLst>
          </p:cNvPr>
          <p:cNvSpPr/>
          <p:nvPr/>
        </p:nvSpPr>
        <p:spPr>
          <a:xfrm>
            <a:off x="6755528" y="2656672"/>
            <a:ext cx="528222"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Oval 15">
            <a:extLst>
              <a:ext uri="{FF2B5EF4-FFF2-40B4-BE49-F238E27FC236}">
                <a16:creationId xmlns:a16="http://schemas.microsoft.com/office/drawing/2014/main" id="{9F7D6259-E556-83F0-751D-A1F631C1A56F}"/>
              </a:ext>
            </a:extLst>
          </p:cNvPr>
          <p:cNvSpPr/>
          <p:nvPr/>
        </p:nvSpPr>
        <p:spPr>
          <a:xfrm>
            <a:off x="7323506" y="3070416"/>
            <a:ext cx="528222"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83AC8195-D79B-2BCC-BF0B-698F401B945D}"/>
              </a:ext>
            </a:extLst>
          </p:cNvPr>
          <p:cNvSpPr/>
          <p:nvPr/>
        </p:nvSpPr>
        <p:spPr>
          <a:xfrm>
            <a:off x="2998181" y="2680689"/>
            <a:ext cx="528222"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Oval 17">
            <a:extLst>
              <a:ext uri="{FF2B5EF4-FFF2-40B4-BE49-F238E27FC236}">
                <a16:creationId xmlns:a16="http://schemas.microsoft.com/office/drawing/2014/main" id="{483C575B-32E2-5B83-0A7A-30579A162B66}"/>
              </a:ext>
            </a:extLst>
          </p:cNvPr>
          <p:cNvSpPr/>
          <p:nvPr/>
        </p:nvSpPr>
        <p:spPr>
          <a:xfrm>
            <a:off x="3077155" y="1350637"/>
            <a:ext cx="449248"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CCDF6344-3160-0EB5-4565-2095D51855A4}"/>
              </a:ext>
            </a:extLst>
          </p:cNvPr>
          <p:cNvSpPr/>
          <p:nvPr/>
        </p:nvSpPr>
        <p:spPr>
          <a:xfrm>
            <a:off x="3526403" y="1725259"/>
            <a:ext cx="449248"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0C0D3EEF-4B6A-9358-3D12-AD59492E7415}"/>
              </a:ext>
            </a:extLst>
          </p:cNvPr>
          <p:cNvSpPr/>
          <p:nvPr/>
        </p:nvSpPr>
        <p:spPr>
          <a:xfrm>
            <a:off x="3526403" y="2102420"/>
            <a:ext cx="449248" cy="203647"/>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5FB11A16-92E4-1E80-7847-2EBB0C3712F3}"/>
            </a:ext>
          </a:extLst>
        </p:cNvPr>
        <p:cNvGrpSpPr/>
        <p:nvPr/>
      </p:nvGrpSpPr>
      <p:grpSpPr>
        <a:xfrm>
          <a:off x="0" y="0"/>
          <a:ext cx="0" cy="0"/>
          <a:chOff x="0" y="0"/>
          <a:chExt cx="0" cy="0"/>
        </a:xfrm>
      </p:grpSpPr>
      <p:sp>
        <p:nvSpPr>
          <p:cNvPr id="288" name="Google Shape;288;p13">
            <a:extLst>
              <a:ext uri="{FF2B5EF4-FFF2-40B4-BE49-F238E27FC236}">
                <a16:creationId xmlns:a16="http://schemas.microsoft.com/office/drawing/2014/main" id="{FED3C8F2-86BB-5FB7-55FC-4EBD35CAC637}"/>
              </a:ext>
            </a:extLst>
          </p:cNvPr>
          <p:cNvSpPr/>
          <p:nvPr/>
        </p:nvSpPr>
        <p:spPr>
          <a:xfrm>
            <a:off x="0" y="0"/>
            <a:ext cx="5958300" cy="877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400"/>
              <a:buFont typeface="Calibri"/>
              <a:buNone/>
            </a:pPr>
            <a:r>
              <a:rPr lang="en-US" sz="2000" b="1">
                <a:solidFill>
                  <a:srgbClr val="1C2B4A"/>
                </a:solidFill>
                <a:latin typeface="Georgia"/>
                <a:ea typeface="Georgia"/>
                <a:cs typeface="Georgia"/>
                <a:sym typeface="Georgia"/>
              </a:rPr>
              <a:t>Q3: How Subgroup Errors Were</a:t>
            </a:r>
            <a:r>
              <a:rPr lang="en-US" sz="2000" b="1" i="0" u="none" strike="noStrike" cap="none">
                <a:solidFill>
                  <a:srgbClr val="344870"/>
                </a:solidFill>
                <a:latin typeface="Georgia"/>
                <a:ea typeface="Georgia"/>
                <a:cs typeface="Georgia"/>
                <a:sym typeface="Georgia"/>
              </a:rPr>
              <a:t> </a:t>
            </a:r>
            <a:r>
              <a:rPr lang="en-US" sz="2000" b="1">
                <a:solidFill>
                  <a:srgbClr val="1C2B4A"/>
                </a:solidFill>
                <a:latin typeface="Georgia"/>
                <a:ea typeface="Georgia"/>
                <a:cs typeface="Georgia"/>
                <a:sym typeface="Georgia"/>
              </a:rPr>
              <a:t>Measured</a:t>
            </a:r>
            <a:endParaRPr sz="2000" i="0" u="none" strike="noStrike" cap="none">
              <a:solidFill>
                <a:srgbClr val="344870"/>
              </a:solidFill>
              <a:latin typeface="Georgia"/>
              <a:ea typeface="Georgia"/>
              <a:cs typeface="Georgia"/>
              <a:sym typeface="Georgia"/>
            </a:endParaRPr>
          </a:p>
        </p:txBody>
      </p:sp>
      <p:sp>
        <p:nvSpPr>
          <p:cNvPr id="289" name="Google Shape;289;p13">
            <a:extLst>
              <a:ext uri="{FF2B5EF4-FFF2-40B4-BE49-F238E27FC236}">
                <a16:creationId xmlns:a16="http://schemas.microsoft.com/office/drawing/2014/main" id="{519320CA-660D-4FB7-8507-2591284BEE9D}"/>
              </a:ext>
            </a:extLst>
          </p:cNvPr>
          <p:cNvSpPr/>
          <p:nvPr/>
        </p:nvSpPr>
        <p:spPr>
          <a:xfrm>
            <a:off x="35060" y="749825"/>
            <a:ext cx="10974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800"/>
              <a:buFont typeface="Calibri"/>
              <a:buNone/>
            </a:pPr>
            <a:endParaRPr sz="800" b="0" i="0" u="none" strike="noStrike" cap="none">
              <a:solidFill>
                <a:schemeClr val="dk1"/>
              </a:solidFill>
              <a:latin typeface="Calibri"/>
              <a:ea typeface="Calibri"/>
              <a:cs typeface="Calibri"/>
              <a:sym typeface="Calibri"/>
            </a:endParaRPr>
          </a:p>
        </p:txBody>
      </p:sp>
      <p:sp>
        <p:nvSpPr>
          <p:cNvPr id="290" name="Google Shape;290;p13">
            <a:extLst>
              <a:ext uri="{FF2B5EF4-FFF2-40B4-BE49-F238E27FC236}">
                <a16:creationId xmlns:a16="http://schemas.microsoft.com/office/drawing/2014/main" id="{9DADE360-01F9-DA30-333D-C518F5834D35}"/>
              </a:ext>
            </a:extLst>
          </p:cNvPr>
          <p:cNvSpPr/>
          <p:nvPr/>
        </p:nvSpPr>
        <p:spPr>
          <a:xfrm>
            <a:off x="365750" y="877901"/>
            <a:ext cx="4572000" cy="512100"/>
          </a:xfrm>
          <a:prstGeom prst="rect">
            <a:avLst/>
          </a:prstGeom>
          <a:solidFill>
            <a:srgbClr val="1C2E44"/>
          </a:solidFill>
          <a:ln w="12700" cap="flat" cmpd="sng">
            <a:solidFill>
              <a:srgbClr val="1C2E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13">
            <a:extLst>
              <a:ext uri="{FF2B5EF4-FFF2-40B4-BE49-F238E27FC236}">
                <a16:creationId xmlns:a16="http://schemas.microsoft.com/office/drawing/2014/main" id="{13B4690F-F7DF-6A31-974E-BBF25D7FCD68}"/>
              </a:ext>
            </a:extLst>
          </p:cNvPr>
          <p:cNvSpPr/>
          <p:nvPr/>
        </p:nvSpPr>
        <p:spPr>
          <a:xfrm>
            <a:off x="365750" y="877672"/>
            <a:ext cx="4572000" cy="5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C8E3"/>
              </a:buClr>
              <a:buSzPts val="900"/>
              <a:buFont typeface="Calibri"/>
              <a:buNone/>
            </a:pPr>
            <a:r>
              <a:rPr lang="en-US" sz="900" i="1">
                <a:solidFill>
                  <a:srgbClr val="7EC8E3"/>
                </a:solidFill>
                <a:latin typeface="Calibri"/>
                <a:ea typeface="Calibri"/>
                <a:cs typeface="Calibri"/>
                <a:sym typeface="Calibri"/>
              </a:rPr>
              <a:t>Disparity Metrics were applied to the 2024 HMDA dataset to measure how the model treated each racial group</a:t>
            </a:r>
            <a:endParaRPr sz="900">
              <a:solidFill>
                <a:schemeClr val="dk1"/>
              </a:solidFill>
              <a:latin typeface="Calibri"/>
              <a:ea typeface="Calibri"/>
              <a:cs typeface="Calibri"/>
              <a:sym typeface="Calibri"/>
            </a:endParaRPr>
          </a:p>
        </p:txBody>
      </p:sp>
      <p:sp>
        <p:nvSpPr>
          <p:cNvPr id="292" name="Google Shape;292;p13">
            <a:extLst>
              <a:ext uri="{FF2B5EF4-FFF2-40B4-BE49-F238E27FC236}">
                <a16:creationId xmlns:a16="http://schemas.microsoft.com/office/drawing/2014/main" id="{659EC9E0-2876-3574-2126-4002DD71F6A4}"/>
              </a:ext>
            </a:extLst>
          </p:cNvPr>
          <p:cNvSpPr/>
          <p:nvPr/>
        </p:nvSpPr>
        <p:spPr>
          <a:xfrm>
            <a:off x="365760" y="1517904"/>
            <a:ext cx="2011800" cy="219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3">
            <a:extLst>
              <a:ext uri="{FF2B5EF4-FFF2-40B4-BE49-F238E27FC236}">
                <a16:creationId xmlns:a16="http://schemas.microsoft.com/office/drawing/2014/main" id="{A4AB4ADA-91AB-CDC3-FF19-42297B6200C2}"/>
              </a:ext>
            </a:extLst>
          </p:cNvPr>
          <p:cNvSpPr/>
          <p:nvPr/>
        </p:nvSpPr>
        <p:spPr>
          <a:xfrm>
            <a:off x="365760" y="1517904"/>
            <a:ext cx="20118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① MEASURING THE APPROVAL GAP (AIR)</a:t>
            </a:r>
            <a:endParaRPr sz="750">
              <a:solidFill>
                <a:schemeClr val="dk1"/>
              </a:solidFill>
              <a:latin typeface="Calibri"/>
              <a:ea typeface="Calibri"/>
              <a:cs typeface="Calibri"/>
              <a:sym typeface="Calibri"/>
            </a:endParaRPr>
          </a:p>
        </p:txBody>
      </p:sp>
      <p:sp>
        <p:nvSpPr>
          <p:cNvPr id="294" name="Google Shape;294;p13">
            <a:extLst>
              <a:ext uri="{FF2B5EF4-FFF2-40B4-BE49-F238E27FC236}">
                <a16:creationId xmlns:a16="http://schemas.microsoft.com/office/drawing/2014/main" id="{0A1B665C-D2EC-8820-EDCF-6DD65EEE70CC}"/>
              </a:ext>
            </a:extLst>
          </p:cNvPr>
          <p:cNvSpPr/>
          <p:nvPr/>
        </p:nvSpPr>
        <p:spPr>
          <a:xfrm>
            <a:off x="365760" y="1792224"/>
            <a:ext cx="5029200" cy="768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highlight>
                  <a:schemeClr val="lt1"/>
                </a:highlight>
                <a:latin typeface="Calibri"/>
                <a:ea typeface="Calibri"/>
                <a:cs typeface="Calibri"/>
                <a:sym typeface="Calibri"/>
              </a:rPr>
              <a:t>How: </a:t>
            </a:r>
            <a:r>
              <a:rPr lang="en-US" sz="1050">
                <a:solidFill>
                  <a:schemeClr val="dk1"/>
                </a:solidFill>
                <a:latin typeface="Calibri"/>
                <a:ea typeface="Calibri"/>
                <a:cs typeface="Calibri"/>
                <a:sym typeface="Calibri"/>
              </a:rPr>
              <a:t>Each group's approval rate was divided by the Caucasian approval rate  the reference baseline under EEOC fair lending guidelines.</a:t>
            </a:r>
            <a:br>
              <a:rPr lang="en-US" sz="1050">
                <a:solidFill>
                  <a:schemeClr val="dk1"/>
                </a:solidFill>
                <a:latin typeface="Calibri"/>
                <a:ea typeface="Calibri"/>
                <a:cs typeface="Calibri"/>
                <a:sym typeface="Calibri"/>
              </a:rPr>
            </a:br>
            <a:r>
              <a:rPr lang="en-US" sz="1050" b="1">
                <a:solidFill>
                  <a:srgbClr val="FF0000"/>
                </a:solidFill>
                <a:latin typeface="Calibri"/>
                <a:ea typeface="Calibri"/>
                <a:cs typeface="Calibri"/>
                <a:sym typeface="Calibri"/>
              </a:rPr>
              <a:t>What the model showed: </a:t>
            </a:r>
            <a:r>
              <a:rPr lang="en-US" sz="1050">
                <a:solidFill>
                  <a:schemeClr val="dk1"/>
                </a:solidFill>
                <a:latin typeface="Calibri"/>
                <a:ea typeface="Calibri"/>
                <a:cs typeface="Calibri"/>
                <a:sym typeface="Calibri"/>
              </a:rPr>
              <a:t>The model approved African-American applicants at 0.716 vs. 0.839 for Caucasians, producing an</a:t>
            </a:r>
            <a:r>
              <a:rPr lang="en-US" sz="1050">
                <a:solidFill>
                  <a:srgbClr val="D0D5DD"/>
                </a:solidFill>
                <a:latin typeface="Calibri"/>
                <a:ea typeface="Calibri"/>
                <a:cs typeface="Calibri"/>
                <a:sym typeface="Calibri"/>
              </a:rPr>
              <a:t> </a:t>
            </a:r>
            <a:r>
              <a:rPr lang="en-US" sz="1050" b="1">
                <a:solidFill>
                  <a:srgbClr val="F4A261"/>
                </a:solidFill>
                <a:latin typeface="Calibri"/>
                <a:ea typeface="Calibri"/>
                <a:cs typeface="Calibri"/>
                <a:sym typeface="Calibri"/>
              </a:rPr>
              <a:t>AIR of 0.854</a:t>
            </a:r>
            <a:r>
              <a:rPr lang="en-US" sz="1050">
                <a:solidFill>
                  <a:schemeClr val="dk1"/>
                </a:solidFill>
                <a:latin typeface="Calibri"/>
                <a:ea typeface="Calibri"/>
                <a:cs typeface="Calibri"/>
                <a:sym typeface="Calibri"/>
              </a:rPr>
              <a:t>. The model clears the legal 0.80 threshold  but still applies a 14.6% lower approval rate to this group.</a:t>
            </a:r>
            <a:endParaRPr sz="1050">
              <a:solidFill>
                <a:schemeClr val="dk1"/>
              </a:solidFill>
              <a:latin typeface="Calibri"/>
              <a:ea typeface="Calibri"/>
              <a:cs typeface="Calibri"/>
              <a:sym typeface="Calibri"/>
            </a:endParaRPr>
          </a:p>
        </p:txBody>
      </p:sp>
      <p:sp>
        <p:nvSpPr>
          <p:cNvPr id="295" name="Google Shape;295;p13">
            <a:extLst>
              <a:ext uri="{FF2B5EF4-FFF2-40B4-BE49-F238E27FC236}">
                <a16:creationId xmlns:a16="http://schemas.microsoft.com/office/drawing/2014/main" id="{B9FF18CE-3EC5-9138-3A14-48E8CAC0294A}"/>
              </a:ext>
            </a:extLst>
          </p:cNvPr>
          <p:cNvSpPr/>
          <p:nvPr/>
        </p:nvSpPr>
        <p:spPr>
          <a:xfrm>
            <a:off x="365760" y="2651760"/>
            <a:ext cx="2011800" cy="219600"/>
          </a:xfrm>
          <a:prstGeom prst="rect">
            <a:avLst/>
          </a:prstGeom>
          <a:solidFill>
            <a:srgbClr val="8B6914"/>
          </a:solidFill>
          <a:ln w="12700" cap="flat" cmpd="sng">
            <a:solidFill>
              <a:srgbClr val="8B691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3">
            <a:extLst>
              <a:ext uri="{FF2B5EF4-FFF2-40B4-BE49-F238E27FC236}">
                <a16:creationId xmlns:a16="http://schemas.microsoft.com/office/drawing/2014/main" id="{F44253F4-50B4-DF3C-6C81-EED56DC71FCA}"/>
              </a:ext>
            </a:extLst>
          </p:cNvPr>
          <p:cNvSpPr/>
          <p:nvPr/>
        </p:nvSpPr>
        <p:spPr>
          <a:xfrm>
            <a:off x="365760" y="2651760"/>
            <a:ext cx="20118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② MEASURING THE SCALE OF HARM (ME)</a:t>
            </a:r>
            <a:endParaRPr sz="750">
              <a:solidFill>
                <a:schemeClr val="dk1"/>
              </a:solidFill>
              <a:latin typeface="Calibri"/>
              <a:ea typeface="Calibri"/>
              <a:cs typeface="Calibri"/>
              <a:sym typeface="Calibri"/>
            </a:endParaRPr>
          </a:p>
        </p:txBody>
      </p:sp>
      <p:sp>
        <p:nvSpPr>
          <p:cNvPr id="297" name="Google Shape;297;p13">
            <a:extLst>
              <a:ext uri="{FF2B5EF4-FFF2-40B4-BE49-F238E27FC236}">
                <a16:creationId xmlns:a16="http://schemas.microsoft.com/office/drawing/2014/main" id="{055641E0-265B-0DD7-BAD4-EB2F2E0A947D}"/>
              </a:ext>
            </a:extLst>
          </p:cNvPr>
          <p:cNvSpPr/>
          <p:nvPr/>
        </p:nvSpPr>
        <p:spPr>
          <a:xfrm>
            <a:off x="365760" y="2926080"/>
            <a:ext cx="5029200" cy="768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latin typeface="Calibri"/>
                <a:ea typeface="Calibri"/>
                <a:cs typeface="Calibri"/>
                <a:sym typeface="Calibri"/>
              </a:rPr>
              <a:t>How:</a:t>
            </a:r>
            <a:r>
              <a:rPr lang="en-US" sz="1050" b="1">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Caucasian approval rate was subtracted from each group's rate because AIR as a ratio conceals how many people the model's decisions actually affect</a:t>
            </a:r>
            <a:r>
              <a:rPr lang="en-US" sz="1050">
                <a:solidFill>
                  <a:srgbClr val="D0D5DD"/>
                </a:solidFill>
                <a:latin typeface="Calibri"/>
                <a:ea typeface="Calibri"/>
                <a:cs typeface="Calibri"/>
                <a:sym typeface="Calibri"/>
              </a:rPr>
              <a:t>.</a:t>
            </a:r>
            <a:br>
              <a:rPr lang="en-US" sz="1050">
                <a:solidFill>
                  <a:srgbClr val="D0D5DD"/>
                </a:solidFill>
                <a:latin typeface="Calibri"/>
                <a:ea typeface="Calibri"/>
                <a:cs typeface="Calibri"/>
                <a:sym typeface="Calibri"/>
              </a:rPr>
            </a:br>
            <a:r>
              <a:rPr lang="en-US" sz="1050" b="1">
                <a:solidFill>
                  <a:srgbClr val="FF0000"/>
                </a:solidFill>
                <a:latin typeface="Calibri"/>
                <a:ea typeface="Calibri"/>
                <a:cs typeface="Calibri"/>
                <a:sym typeface="Calibri"/>
              </a:rPr>
              <a:t>What the model showed: </a:t>
            </a:r>
            <a:r>
              <a:rPr lang="en-US" sz="1050">
                <a:solidFill>
                  <a:schemeClr val="dk1"/>
                </a:solidFill>
                <a:latin typeface="Calibri"/>
                <a:ea typeface="Calibri"/>
                <a:cs typeface="Calibri"/>
                <a:sym typeface="Calibri"/>
              </a:rPr>
              <a:t>The model produced an African-American ME o</a:t>
            </a:r>
            <a:r>
              <a:rPr lang="en-US" sz="1050">
                <a:solidFill>
                  <a:srgbClr val="D0D5DD"/>
                </a:solidFill>
                <a:latin typeface="Calibri"/>
                <a:ea typeface="Calibri"/>
                <a:cs typeface="Calibri"/>
                <a:sym typeface="Calibri"/>
              </a:rPr>
              <a:t>f </a:t>
            </a:r>
            <a:r>
              <a:rPr lang="en-US" sz="1050" b="1">
                <a:solidFill>
                  <a:srgbClr val="E07070"/>
                </a:solidFill>
                <a:latin typeface="Calibri"/>
                <a:ea typeface="Calibri"/>
                <a:cs typeface="Calibri"/>
                <a:sym typeface="Calibri"/>
              </a:rPr>
              <a:t>−0.123</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Across 607,746 African-American applicants in this dataset, that gap represents tens of thousands of additional denials.</a:t>
            </a:r>
            <a:endParaRPr sz="1050">
              <a:solidFill>
                <a:schemeClr val="dk1"/>
              </a:solidFill>
              <a:latin typeface="Calibri"/>
              <a:ea typeface="Calibri"/>
              <a:cs typeface="Calibri"/>
              <a:sym typeface="Calibri"/>
            </a:endParaRPr>
          </a:p>
        </p:txBody>
      </p:sp>
      <p:sp>
        <p:nvSpPr>
          <p:cNvPr id="298" name="Google Shape;298;p13">
            <a:extLst>
              <a:ext uri="{FF2B5EF4-FFF2-40B4-BE49-F238E27FC236}">
                <a16:creationId xmlns:a16="http://schemas.microsoft.com/office/drawing/2014/main" id="{4574948B-8522-AA8E-AFD5-6A4C00B7040A}"/>
              </a:ext>
            </a:extLst>
          </p:cNvPr>
          <p:cNvSpPr/>
          <p:nvPr/>
        </p:nvSpPr>
        <p:spPr>
          <a:xfrm>
            <a:off x="365760" y="3785616"/>
            <a:ext cx="2377500" cy="219600"/>
          </a:xfrm>
          <a:prstGeom prst="rect">
            <a:avLst/>
          </a:prstGeom>
          <a:solidFill>
            <a:srgbClr val="2E6B3E"/>
          </a:solidFill>
          <a:ln w="12700" cap="flat" cmpd="sng">
            <a:solidFill>
              <a:srgbClr val="2E6B3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13">
            <a:extLst>
              <a:ext uri="{FF2B5EF4-FFF2-40B4-BE49-F238E27FC236}">
                <a16:creationId xmlns:a16="http://schemas.microsoft.com/office/drawing/2014/main" id="{747721BD-A380-254E-9E63-34753ABB1FC4}"/>
              </a:ext>
            </a:extLst>
          </p:cNvPr>
          <p:cNvSpPr/>
          <p:nvPr/>
        </p:nvSpPr>
        <p:spPr>
          <a:xfrm>
            <a:off x="365760" y="3785616"/>
            <a:ext cx="23775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③ TRACING THE ERROR SOURCE (SMD)</a:t>
            </a:r>
            <a:endParaRPr sz="750">
              <a:solidFill>
                <a:schemeClr val="dk1"/>
              </a:solidFill>
              <a:latin typeface="Calibri"/>
              <a:ea typeface="Calibri"/>
              <a:cs typeface="Calibri"/>
              <a:sym typeface="Calibri"/>
            </a:endParaRPr>
          </a:p>
        </p:txBody>
      </p:sp>
      <p:sp>
        <p:nvSpPr>
          <p:cNvPr id="300" name="Google Shape;300;p13">
            <a:extLst>
              <a:ext uri="{FF2B5EF4-FFF2-40B4-BE49-F238E27FC236}">
                <a16:creationId xmlns:a16="http://schemas.microsoft.com/office/drawing/2014/main" id="{6FE04A08-96A5-85CE-8281-FE4A5B01D051}"/>
              </a:ext>
            </a:extLst>
          </p:cNvPr>
          <p:cNvSpPr/>
          <p:nvPr/>
        </p:nvSpPr>
        <p:spPr>
          <a:xfrm>
            <a:off x="365760" y="4059936"/>
            <a:ext cx="5029200" cy="896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latin typeface="Calibri"/>
                <a:ea typeface="Calibri"/>
                <a:cs typeface="Calibri"/>
                <a:sym typeface="Calibri"/>
              </a:rPr>
              <a:t>How: </a:t>
            </a:r>
            <a:r>
              <a:rPr lang="en-US" sz="1050" b="1">
                <a:solidFill>
                  <a:schemeClr val="dk1"/>
                </a:solidFill>
                <a:latin typeface="Calibri"/>
                <a:ea typeface="Calibri"/>
                <a:cs typeface="Calibri"/>
                <a:sym typeface="Calibri"/>
              </a:rPr>
              <a:t>SMD</a:t>
            </a:r>
            <a:r>
              <a:rPr lang="en-US" sz="1050">
                <a:solidFill>
                  <a:schemeClr val="dk1"/>
                </a:solidFill>
                <a:latin typeface="Calibri"/>
                <a:ea typeface="Calibri"/>
                <a:cs typeface="Calibri"/>
                <a:sym typeface="Calibri"/>
              </a:rPr>
              <a:t> (Group Mean − Caucasian Mean) ÷ Pooled SD  was computed for each feature to test whether the model was using it as a racial proxy.</a:t>
            </a:r>
            <a:br>
              <a:rPr lang="en-US" sz="1050">
                <a:solidFill>
                  <a:srgbClr val="D0D5DD"/>
                </a:solidFill>
                <a:latin typeface="Calibri"/>
                <a:ea typeface="Calibri"/>
                <a:cs typeface="Calibri"/>
                <a:sym typeface="Calibri"/>
              </a:rPr>
            </a:br>
            <a:r>
              <a:rPr lang="en-US" sz="1050" b="1">
                <a:solidFill>
                  <a:srgbClr val="FF0000"/>
                </a:solidFill>
                <a:latin typeface="Calibri"/>
                <a:ea typeface="Calibri"/>
                <a:cs typeface="Calibri"/>
                <a:sym typeface="Calibri"/>
              </a:rPr>
              <a:t>What the model showed:</a:t>
            </a:r>
            <a:r>
              <a:rPr lang="en-US" sz="1050" b="1">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model scored relative_income at SMD 0.001–0.008 across all groups </a:t>
            </a:r>
            <a:r>
              <a:rPr lang="en-US" sz="1050">
                <a:solidFill>
                  <a:srgbClr val="2E6B3E"/>
                </a:solidFill>
                <a:latin typeface="Calibri"/>
                <a:ea typeface="Calibri"/>
                <a:cs typeface="Calibri"/>
                <a:sym typeface="Calibri"/>
              </a:rPr>
              <a:t> </a:t>
            </a:r>
            <a:r>
              <a:rPr lang="en-US" sz="1050">
                <a:solidFill>
                  <a:srgbClr val="6AA84F"/>
                </a:solidFill>
                <a:latin typeface="Calibri"/>
                <a:ea typeface="Calibri"/>
                <a:cs typeface="Calibri"/>
                <a:sym typeface="Calibri"/>
              </a:rPr>
              <a:t>(</a:t>
            </a:r>
            <a:r>
              <a:rPr lang="en-US" sz="1050" b="1">
                <a:solidFill>
                  <a:srgbClr val="6AA84F"/>
                </a:solidFill>
                <a:latin typeface="Calibri"/>
                <a:ea typeface="Calibri"/>
                <a:cs typeface="Calibri"/>
                <a:sym typeface="Calibri"/>
              </a:rPr>
              <a:t>negligible)</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This feature is not the source; the model's bias enters through interactions with other variables.</a:t>
            </a:r>
            <a:endParaRPr sz="1050">
              <a:solidFill>
                <a:schemeClr val="dk1"/>
              </a:solidFill>
              <a:latin typeface="Calibri"/>
              <a:ea typeface="Calibri"/>
              <a:cs typeface="Calibri"/>
              <a:sym typeface="Calibri"/>
            </a:endParaRPr>
          </a:p>
        </p:txBody>
      </p:sp>
      <p:sp>
        <p:nvSpPr>
          <p:cNvPr id="301" name="Google Shape;301;p13">
            <a:extLst>
              <a:ext uri="{FF2B5EF4-FFF2-40B4-BE49-F238E27FC236}">
                <a16:creationId xmlns:a16="http://schemas.microsoft.com/office/drawing/2014/main" id="{318B17AF-87D2-D607-93F1-BA2B30F27F79}"/>
              </a:ext>
            </a:extLst>
          </p:cNvPr>
          <p:cNvSpPr/>
          <p:nvPr/>
        </p:nvSpPr>
        <p:spPr>
          <a:xfrm>
            <a:off x="5914250" y="0"/>
            <a:ext cx="3272400" cy="51435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13">
            <a:extLst>
              <a:ext uri="{FF2B5EF4-FFF2-40B4-BE49-F238E27FC236}">
                <a16:creationId xmlns:a16="http://schemas.microsoft.com/office/drawing/2014/main" id="{BBDD2FF2-6F4A-C0A4-533B-E3451F72D4E1}"/>
              </a:ext>
            </a:extLst>
          </p:cNvPr>
          <p:cNvSpPr/>
          <p:nvPr/>
        </p:nvSpPr>
        <p:spPr>
          <a:xfrm>
            <a:off x="7377285" y="201168"/>
            <a:ext cx="1691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850"/>
              <a:buFont typeface="Calibri"/>
              <a:buNone/>
            </a:pPr>
            <a:endParaRPr sz="850">
              <a:solidFill>
                <a:schemeClr val="dk1"/>
              </a:solidFill>
              <a:latin typeface="Calibri"/>
              <a:ea typeface="Calibri"/>
              <a:cs typeface="Calibri"/>
              <a:sym typeface="Calibri"/>
            </a:endParaRPr>
          </a:p>
        </p:txBody>
      </p:sp>
      <p:sp>
        <p:nvSpPr>
          <p:cNvPr id="303" name="Google Shape;303;p13">
            <a:extLst>
              <a:ext uri="{FF2B5EF4-FFF2-40B4-BE49-F238E27FC236}">
                <a16:creationId xmlns:a16="http://schemas.microsoft.com/office/drawing/2014/main" id="{19AC0072-5946-F785-BCF3-FFC018FCB09B}"/>
              </a:ext>
            </a:extLst>
          </p:cNvPr>
          <p:cNvSpPr/>
          <p:nvPr/>
        </p:nvSpPr>
        <p:spPr>
          <a:xfrm>
            <a:off x="5914245" y="256032"/>
            <a:ext cx="31548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EC8E3"/>
              </a:buClr>
              <a:buSzPts val="800"/>
              <a:buFont typeface="Calibri"/>
              <a:buNone/>
            </a:pPr>
            <a:r>
              <a:rPr lang="en-US" sz="800" b="1">
                <a:solidFill>
                  <a:srgbClr val="7EC8E3"/>
                </a:solidFill>
                <a:latin typeface="Calibri"/>
                <a:ea typeface="Calibri"/>
                <a:cs typeface="Calibri"/>
                <a:sym typeface="Calibri"/>
              </a:rPr>
              <a:t>SUBGROUP ERROR RESULTS · BY RACE</a:t>
            </a:r>
            <a:endParaRPr sz="800">
              <a:solidFill>
                <a:schemeClr val="dk1"/>
              </a:solidFill>
              <a:latin typeface="Calibri"/>
              <a:ea typeface="Calibri"/>
              <a:cs typeface="Calibri"/>
              <a:sym typeface="Calibri"/>
            </a:endParaRPr>
          </a:p>
        </p:txBody>
      </p:sp>
      <p:sp>
        <p:nvSpPr>
          <p:cNvPr id="304" name="Google Shape;304;p13">
            <a:extLst>
              <a:ext uri="{FF2B5EF4-FFF2-40B4-BE49-F238E27FC236}">
                <a16:creationId xmlns:a16="http://schemas.microsoft.com/office/drawing/2014/main" id="{23A30481-8D5A-7ED0-D973-63D898DBDCB7}"/>
              </a:ext>
            </a:extLst>
          </p:cNvPr>
          <p:cNvSpPr/>
          <p:nvPr/>
        </p:nvSpPr>
        <p:spPr>
          <a:xfrm>
            <a:off x="5914245" y="457200"/>
            <a:ext cx="3154800" cy="164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800"/>
              <a:buFont typeface="Calibri"/>
              <a:buNone/>
            </a:pPr>
            <a:r>
              <a:rPr lang="en-US" sz="800" i="1">
                <a:solidFill>
                  <a:srgbClr val="8899AA"/>
                </a:solidFill>
                <a:latin typeface="Calibri"/>
                <a:ea typeface="Calibri"/>
                <a:cs typeface="Calibri"/>
                <a:sym typeface="Calibri"/>
              </a:rPr>
              <a:t>2024 HMDA Data — Caucasian as reference baseline</a:t>
            </a:r>
            <a:endParaRPr sz="800">
              <a:solidFill>
                <a:schemeClr val="dk1"/>
              </a:solidFill>
              <a:latin typeface="Calibri"/>
              <a:ea typeface="Calibri"/>
              <a:cs typeface="Calibri"/>
              <a:sym typeface="Calibri"/>
            </a:endParaRPr>
          </a:p>
        </p:txBody>
      </p:sp>
      <p:cxnSp>
        <p:nvCxnSpPr>
          <p:cNvPr id="305" name="Google Shape;305;p13">
            <a:extLst>
              <a:ext uri="{FF2B5EF4-FFF2-40B4-BE49-F238E27FC236}">
                <a16:creationId xmlns:a16="http://schemas.microsoft.com/office/drawing/2014/main" id="{722A92D3-4DB6-AAA9-04C8-DA9F8AB0B2B7}"/>
              </a:ext>
            </a:extLst>
          </p:cNvPr>
          <p:cNvCxnSpPr/>
          <p:nvPr/>
        </p:nvCxnSpPr>
        <p:spPr>
          <a:xfrm>
            <a:off x="6051405" y="658368"/>
            <a:ext cx="2880300" cy="0"/>
          </a:xfrm>
          <a:prstGeom prst="straightConnector1">
            <a:avLst/>
          </a:prstGeom>
          <a:noFill/>
          <a:ln w="12700" cap="flat" cmpd="sng">
            <a:solidFill>
              <a:srgbClr val="2A3F58"/>
            </a:solidFill>
            <a:prstDash val="solid"/>
            <a:round/>
            <a:headEnd type="none" w="sm" len="sm"/>
            <a:tailEnd type="none" w="sm" len="sm"/>
          </a:ln>
        </p:spPr>
      </p:cxnSp>
      <p:sp>
        <p:nvSpPr>
          <p:cNvPr id="306" name="Google Shape;306;p13">
            <a:extLst>
              <a:ext uri="{FF2B5EF4-FFF2-40B4-BE49-F238E27FC236}">
                <a16:creationId xmlns:a16="http://schemas.microsoft.com/office/drawing/2014/main" id="{4F4A3F0C-080D-5DEF-6C62-AB99B8A75A7A}"/>
              </a:ext>
            </a:extLst>
          </p:cNvPr>
          <p:cNvSpPr/>
          <p:nvPr/>
        </p:nvSpPr>
        <p:spPr>
          <a:xfrm>
            <a:off x="5959965" y="713232"/>
            <a:ext cx="2926200" cy="365700"/>
          </a:xfrm>
          <a:prstGeom prst="rect">
            <a:avLst/>
          </a:prstGeom>
          <a:solidFill>
            <a:srgbClr val="0F1D2E"/>
          </a:solidFill>
          <a:ln w="12700" cap="flat" cmpd="sng">
            <a:solidFill>
              <a:srgbClr val="2A406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13">
            <a:extLst>
              <a:ext uri="{FF2B5EF4-FFF2-40B4-BE49-F238E27FC236}">
                <a16:creationId xmlns:a16="http://schemas.microsoft.com/office/drawing/2014/main" id="{5A5CBEB8-FBE9-9BB5-F387-A6BF1A4D7D14}"/>
              </a:ext>
            </a:extLst>
          </p:cNvPr>
          <p:cNvSpPr/>
          <p:nvPr/>
        </p:nvSpPr>
        <p:spPr>
          <a:xfrm>
            <a:off x="6005685" y="731520"/>
            <a:ext cx="28347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800"/>
              <a:buFont typeface="Calibri"/>
              <a:buNone/>
            </a:pPr>
            <a:r>
              <a:rPr lang="en-US" sz="800" b="1">
                <a:solidFill>
                  <a:srgbClr val="F4A261"/>
                </a:solidFill>
                <a:latin typeface="Calibri"/>
                <a:ea typeface="Calibri"/>
                <a:cs typeface="Calibri"/>
                <a:sym typeface="Calibri"/>
              </a:rPr>
              <a:t>AIR</a:t>
            </a:r>
            <a:r>
              <a:rPr lang="en-US" sz="800">
                <a:solidFill>
                  <a:srgbClr val="D0D5DD"/>
                </a:solidFill>
                <a:latin typeface="Calibri"/>
                <a:ea typeface="Calibri"/>
                <a:cs typeface="Calibri"/>
                <a:sym typeface="Calibri"/>
              </a:rPr>
              <a:t> = Rate ÷ Ref   </a:t>
            </a:r>
            <a:r>
              <a:rPr lang="en-US" sz="800" b="1">
                <a:solidFill>
                  <a:srgbClr val="E07070"/>
                </a:solidFill>
                <a:latin typeface="Calibri"/>
                <a:ea typeface="Calibri"/>
                <a:cs typeface="Calibri"/>
                <a:sym typeface="Calibri"/>
              </a:rPr>
              <a:t>ME</a:t>
            </a:r>
            <a:r>
              <a:rPr lang="en-US" sz="800">
                <a:solidFill>
                  <a:srgbClr val="D0D5DD"/>
                </a:solidFill>
                <a:latin typeface="Calibri"/>
                <a:ea typeface="Calibri"/>
                <a:cs typeface="Calibri"/>
                <a:sym typeface="Calibri"/>
              </a:rPr>
              <a:t> = Rate − Ref</a:t>
            </a:r>
            <a:br>
              <a:rPr lang="en-US" sz="800">
                <a:solidFill>
                  <a:srgbClr val="D0D5DD"/>
                </a:solidFill>
                <a:latin typeface="Calibri"/>
                <a:ea typeface="Calibri"/>
                <a:cs typeface="Calibri"/>
                <a:sym typeface="Calibri"/>
              </a:rPr>
            </a:br>
            <a:r>
              <a:rPr lang="en-US" sz="800" b="1">
                <a:solidFill>
                  <a:srgbClr val="52B788"/>
                </a:solidFill>
                <a:latin typeface="Calibri"/>
                <a:ea typeface="Calibri"/>
                <a:cs typeface="Calibri"/>
                <a:sym typeface="Calibri"/>
              </a:rPr>
              <a:t>SMD</a:t>
            </a:r>
            <a:r>
              <a:rPr lang="en-US" sz="800">
                <a:solidFill>
                  <a:srgbClr val="D0D5DD"/>
                </a:solidFill>
                <a:latin typeface="Calibri"/>
                <a:ea typeface="Calibri"/>
                <a:cs typeface="Calibri"/>
                <a:sym typeface="Calibri"/>
              </a:rPr>
              <a:t> = (μ_group − μ_ref) ÷ Pooled SD</a:t>
            </a:r>
            <a:endParaRPr sz="800">
              <a:solidFill>
                <a:schemeClr val="dk1"/>
              </a:solidFill>
              <a:latin typeface="Calibri"/>
              <a:ea typeface="Calibri"/>
              <a:cs typeface="Calibri"/>
              <a:sym typeface="Calibri"/>
            </a:endParaRPr>
          </a:p>
        </p:txBody>
      </p:sp>
      <p:sp>
        <p:nvSpPr>
          <p:cNvPr id="308" name="Google Shape;308;p13">
            <a:extLst>
              <a:ext uri="{FF2B5EF4-FFF2-40B4-BE49-F238E27FC236}">
                <a16:creationId xmlns:a16="http://schemas.microsoft.com/office/drawing/2014/main" id="{ECD0EF91-CD4C-BF32-FA07-8E512DD3426A}"/>
              </a:ext>
            </a:extLst>
          </p:cNvPr>
          <p:cNvSpPr/>
          <p:nvPr/>
        </p:nvSpPr>
        <p:spPr>
          <a:xfrm>
            <a:off x="5969109" y="1152144"/>
            <a:ext cx="1051500" cy="18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GROUP</a:t>
            </a:r>
            <a:endParaRPr sz="750">
              <a:solidFill>
                <a:schemeClr val="dk1"/>
              </a:solidFill>
              <a:latin typeface="Calibri"/>
              <a:ea typeface="Calibri"/>
              <a:cs typeface="Calibri"/>
              <a:sym typeface="Calibri"/>
            </a:endParaRPr>
          </a:p>
        </p:txBody>
      </p:sp>
      <p:sp>
        <p:nvSpPr>
          <p:cNvPr id="309" name="Google Shape;309;p13">
            <a:extLst>
              <a:ext uri="{FF2B5EF4-FFF2-40B4-BE49-F238E27FC236}">
                <a16:creationId xmlns:a16="http://schemas.microsoft.com/office/drawing/2014/main" id="{71A00381-320E-8C4B-7545-95B74827B6E9}"/>
              </a:ext>
            </a:extLst>
          </p:cNvPr>
          <p:cNvSpPr/>
          <p:nvPr/>
        </p:nvSpPr>
        <p:spPr>
          <a:xfrm>
            <a:off x="7029813" y="1152144"/>
            <a:ext cx="4572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RATE</a:t>
            </a:r>
            <a:endParaRPr sz="750">
              <a:solidFill>
                <a:schemeClr val="dk1"/>
              </a:solidFill>
              <a:latin typeface="Calibri"/>
              <a:ea typeface="Calibri"/>
              <a:cs typeface="Calibri"/>
              <a:sym typeface="Calibri"/>
            </a:endParaRPr>
          </a:p>
        </p:txBody>
      </p:sp>
      <p:sp>
        <p:nvSpPr>
          <p:cNvPr id="310" name="Google Shape;310;p13">
            <a:extLst>
              <a:ext uri="{FF2B5EF4-FFF2-40B4-BE49-F238E27FC236}">
                <a16:creationId xmlns:a16="http://schemas.microsoft.com/office/drawing/2014/main" id="{99107B8E-BAEA-0602-B0CB-DDF35AC484F4}"/>
              </a:ext>
            </a:extLst>
          </p:cNvPr>
          <p:cNvSpPr/>
          <p:nvPr/>
        </p:nvSpPr>
        <p:spPr>
          <a:xfrm>
            <a:off x="7496157" y="1152144"/>
            <a:ext cx="4572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AIR</a:t>
            </a:r>
            <a:endParaRPr sz="750">
              <a:solidFill>
                <a:schemeClr val="dk1"/>
              </a:solidFill>
              <a:latin typeface="Calibri"/>
              <a:ea typeface="Calibri"/>
              <a:cs typeface="Calibri"/>
              <a:sym typeface="Calibri"/>
            </a:endParaRPr>
          </a:p>
        </p:txBody>
      </p:sp>
      <p:sp>
        <p:nvSpPr>
          <p:cNvPr id="311" name="Google Shape;311;p13">
            <a:extLst>
              <a:ext uri="{FF2B5EF4-FFF2-40B4-BE49-F238E27FC236}">
                <a16:creationId xmlns:a16="http://schemas.microsoft.com/office/drawing/2014/main" id="{2D7CCC1E-E729-436D-3ED2-8860BF04CD29}"/>
              </a:ext>
            </a:extLst>
          </p:cNvPr>
          <p:cNvSpPr/>
          <p:nvPr/>
        </p:nvSpPr>
        <p:spPr>
          <a:xfrm>
            <a:off x="7962501" y="1152144"/>
            <a:ext cx="5028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ME</a:t>
            </a:r>
            <a:endParaRPr sz="750">
              <a:solidFill>
                <a:schemeClr val="dk1"/>
              </a:solidFill>
              <a:latin typeface="Calibri"/>
              <a:ea typeface="Calibri"/>
              <a:cs typeface="Calibri"/>
              <a:sym typeface="Calibri"/>
            </a:endParaRPr>
          </a:p>
        </p:txBody>
      </p:sp>
      <p:sp>
        <p:nvSpPr>
          <p:cNvPr id="312" name="Google Shape;312;p13">
            <a:extLst>
              <a:ext uri="{FF2B5EF4-FFF2-40B4-BE49-F238E27FC236}">
                <a16:creationId xmlns:a16="http://schemas.microsoft.com/office/drawing/2014/main" id="{3E4F7709-6CDA-9F22-363C-49CF4391508D}"/>
              </a:ext>
            </a:extLst>
          </p:cNvPr>
          <p:cNvSpPr/>
          <p:nvPr/>
        </p:nvSpPr>
        <p:spPr>
          <a:xfrm>
            <a:off x="8321040" y="1152144"/>
            <a:ext cx="5028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SMD</a:t>
            </a:r>
            <a:endParaRPr sz="750">
              <a:solidFill>
                <a:schemeClr val="dk1"/>
              </a:solidFill>
              <a:latin typeface="Calibri"/>
              <a:ea typeface="Calibri"/>
              <a:cs typeface="Calibri"/>
              <a:sym typeface="Calibri"/>
            </a:endParaRPr>
          </a:p>
        </p:txBody>
      </p:sp>
      <p:sp>
        <p:nvSpPr>
          <p:cNvPr id="313" name="Google Shape;313;p13">
            <a:extLst>
              <a:ext uri="{FF2B5EF4-FFF2-40B4-BE49-F238E27FC236}">
                <a16:creationId xmlns:a16="http://schemas.microsoft.com/office/drawing/2014/main" id="{5DBCA898-4A06-87B2-9E31-488BF1824F5B}"/>
              </a:ext>
            </a:extLst>
          </p:cNvPr>
          <p:cNvSpPr/>
          <p:nvPr/>
        </p:nvSpPr>
        <p:spPr>
          <a:xfrm>
            <a:off x="5941677" y="1335024"/>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13">
            <a:extLst>
              <a:ext uri="{FF2B5EF4-FFF2-40B4-BE49-F238E27FC236}">
                <a16:creationId xmlns:a16="http://schemas.microsoft.com/office/drawing/2014/main" id="{0C5A053C-2EE8-7756-8F4A-6B04121841A6}"/>
              </a:ext>
            </a:extLst>
          </p:cNvPr>
          <p:cNvSpPr/>
          <p:nvPr/>
        </p:nvSpPr>
        <p:spPr>
          <a:xfrm>
            <a:off x="5969109" y="1426464"/>
            <a:ext cx="10425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African-American</a:t>
            </a:r>
            <a:endParaRPr sz="900">
              <a:solidFill>
                <a:schemeClr val="dk1"/>
              </a:solidFill>
              <a:latin typeface="Calibri"/>
              <a:ea typeface="Calibri"/>
              <a:cs typeface="Calibri"/>
              <a:sym typeface="Calibri"/>
            </a:endParaRPr>
          </a:p>
        </p:txBody>
      </p:sp>
      <p:sp>
        <p:nvSpPr>
          <p:cNvPr id="315" name="Google Shape;315;p13">
            <a:extLst>
              <a:ext uri="{FF2B5EF4-FFF2-40B4-BE49-F238E27FC236}">
                <a16:creationId xmlns:a16="http://schemas.microsoft.com/office/drawing/2014/main" id="{2D0102FF-4E97-A8E5-FDAD-9452E5B1F5EC}"/>
              </a:ext>
            </a:extLst>
          </p:cNvPr>
          <p:cNvSpPr/>
          <p:nvPr/>
        </p:nvSpPr>
        <p:spPr>
          <a:xfrm>
            <a:off x="7029813" y="1426464"/>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0.716</a:t>
            </a:r>
            <a:endParaRPr sz="900">
              <a:solidFill>
                <a:schemeClr val="dk1"/>
              </a:solidFill>
              <a:latin typeface="Calibri"/>
              <a:ea typeface="Calibri"/>
              <a:cs typeface="Calibri"/>
              <a:sym typeface="Calibri"/>
            </a:endParaRPr>
          </a:p>
        </p:txBody>
      </p:sp>
      <p:sp>
        <p:nvSpPr>
          <p:cNvPr id="316" name="Google Shape;316;p13">
            <a:extLst>
              <a:ext uri="{FF2B5EF4-FFF2-40B4-BE49-F238E27FC236}">
                <a16:creationId xmlns:a16="http://schemas.microsoft.com/office/drawing/2014/main" id="{874238E5-BA03-0EAE-97B6-07E89DB2B7D3}"/>
              </a:ext>
            </a:extLst>
          </p:cNvPr>
          <p:cNvSpPr/>
          <p:nvPr/>
        </p:nvSpPr>
        <p:spPr>
          <a:xfrm>
            <a:off x="7496157" y="1426464"/>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0.854</a:t>
            </a:r>
            <a:endParaRPr sz="1000">
              <a:solidFill>
                <a:schemeClr val="dk1"/>
              </a:solidFill>
              <a:latin typeface="Calibri"/>
              <a:ea typeface="Calibri"/>
              <a:cs typeface="Calibri"/>
              <a:sym typeface="Calibri"/>
            </a:endParaRPr>
          </a:p>
        </p:txBody>
      </p:sp>
      <p:sp>
        <p:nvSpPr>
          <p:cNvPr id="317" name="Google Shape;317;p13">
            <a:extLst>
              <a:ext uri="{FF2B5EF4-FFF2-40B4-BE49-F238E27FC236}">
                <a16:creationId xmlns:a16="http://schemas.microsoft.com/office/drawing/2014/main" id="{A4F97347-9B1B-6DA8-40A2-44B1BB46E309}"/>
              </a:ext>
            </a:extLst>
          </p:cNvPr>
          <p:cNvSpPr/>
          <p:nvPr/>
        </p:nvSpPr>
        <p:spPr>
          <a:xfrm>
            <a:off x="7962501" y="1426464"/>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−0.123</a:t>
            </a:r>
            <a:endParaRPr sz="900">
              <a:solidFill>
                <a:schemeClr val="dk1"/>
              </a:solidFill>
              <a:latin typeface="Calibri"/>
              <a:ea typeface="Calibri"/>
              <a:cs typeface="Calibri"/>
              <a:sym typeface="Calibri"/>
            </a:endParaRPr>
          </a:p>
        </p:txBody>
      </p:sp>
      <p:sp>
        <p:nvSpPr>
          <p:cNvPr id="318" name="Google Shape;318;p13">
            <a:extLst>
              <a:ext uri="{FF2B5EF4-FFF2-40B4-BE49-F238E27FC236}">
                <a16:creationId xmlns:a16="http://schemas.microsoft.com/office/drawing/2014/main" id="{D56A84DD-97C6-D898-9285-80CD23F70855}"/>
              </a:ext>
            </a:extLst>
          </p:cNvPr>
          <p:cNvSpPr/>
          <p:nvPr/>
        </p:nvSpPr>
        <p:spPr>
          <a:xfrm>
            <a:off x="8321040" y="1426464"/>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0.001</a:t>
            </a:r>
            <a:endParaRPr sz="900">
              <a:solidFill>
                <a:schemeClr val="dk1"/>
              </a:solidFill>
              <a:latin typeface="Calibri"/>
              <a:ea typeface="Calibri"/>
              <a:cs typeface="Calibri"/>
              <a:sym typeface="Calibri"/>
            </a:endParaRPr>
          </a:p>
        </p:txBody>
      </p:sp>
      <p:sp>
        <p:nvSpPr>
          <p:cNvPr id="319" name="Google Shape;319;p13">
            <a:extLst>
              <a:ext uri="{FF2B5EF4-FFF2-40B4-BE49-F238E27FC236}">
                <a16:creationId xmlns:a16="http://schemas.microsoft.com/office/drawing/2014/main" id="{EFD14D45-0AEC-B439-2D0C-915E63D37D18}"/>
              </a:ext>
            </a:extLst>
          </p:cNvPr>
          <p:cNvSpPr/>
          <p:nvPr/>
        </p:nvSpPr>
        <p:spPr>
          <a:xfrm>
            <a:off x="5941677" y="1810512"/>
            <a:ext cx="2990100" cy="4389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13">
            <a:extLst>
              <a:ext uri="{FF2B5EF4-FFF2-40B4-BE49-F238E27FC236}">
                <a16:creationId xmlns:a16="http://schemas.microsoft.com/office/drawing/2014/main" id="{5F282817-5BDD-E44F-3AB3-EE6493F96FA4}"/>
              </a:ext>
            </a:extLst>
          </p:cNvPr>
          <p:cNvSpPr/>
          <p:nvPr/>
        </p:nvSpPr>
        <p:spPr>
          <a:xfrm>
            <a:off x="5969109" y="1901952"/>
            <a:ext cx="10425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Minority</a:t>
            </a:r>
            <a:endParaRPr sz="900">
              <a:solidFill>
                <a:schemeClr val="dk1"/>
              </a:solidFill>
              <a:latin typeface="Calibri"/>
              <a:ea typeface="Calibri"/>
              <a:cs typeface="Calibri"/>
              <a:sym typeface="Calibri"/>
            </a:endParaRPr>
          </a:p>
        </p:txBody>
      </p:sp>
      <p:sp>
        <p:nvSpPr>
          <p:cNvPr id="321" name="Google Shape;321;p13">
            <a:extLst>
              <a:ext uri="{FF2B5EF4-FFF2-40B4-BE49-F238E27FC236}">
                <a16:creationId xmlns:a16="http://schemas.microsoft.com/office/drawing/2014/main" id="{0B8966AC-B3C9-D1A2-99D7-A8B7838D3DA0}"/>
              </a:ext>
            </a:extLst>
          </p:cNvPr>
          <p:cNvSpPr/>
          <p:nvPr/>
        </p:nvSpPr>
        <p:spPr>
          <a:xfrm>
            <a:off x="7029813" y="1901952"/>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0.719</a:t>
            </a:r>
            <a:endParaRPr sz="900">
              <a:solidFill>
                <a:schemeClr val="dk1"/>
              </a:solidFill>
              <a:latin typeface="Calibri"/>
              <a:ea typeface="Calibri"/>
              <a:cs typeface="Calibri"/>
              <a:sym typeface="Calibri"/>
            </a:endParaRPr>
          </a:p>
        </p:txBody>
      </p:sp>
      <p:sp>
        <p:nvSpPr>
          <p:cNvPr id="322" name="Google Shape;322;p13">
            <a:extLst>
              <a:ext uri="{FF2B5EF4-FFF2-40B4-BE49-F238E27FC236}">
                <a16:creationId xmlns:a16="http://schemas.microsoft.com/office/drawing/2014/main" id="{0280A533-8C68-3AF7-889B-6A0595F0E5C0}"/>
              </a:ext>
            </a:extLst>
          </p:cNvPr>
          <p:cNvSpPr/>
          <p:nvPr/>
        </p:nvSpPr>
        <p:spPr>
          <a:xfrm>
            <a:off x="7496157" y="1901952"/>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0.856</a:t>
            </a:r>
            <a:endParaRPr sz="1000">
              <a:solidFill>
                <a:schemeClr val="dk1"/>
              </a:solidFill>
              <a:latin typeface="Calibri"/>
              <a:ea typeface="Calibri"/>
              <a:cs typeface="Calibri"/>
              <a:sym typeface="Calibri"/>
            </a:endParaRPr>
          </a:p>
        </p:txBody>
      </p:sp>
      <p:sp>
        <p:nvSpPr>
          <p:cNvPr id="323" name="Google Shape;323;p13">
            <a:extLst>
              <a:ext uri="{FF2B5EF4-FFF2-40B4-BE49-F238E27FC236}">
                <a16:creationId xmlns:a16="http://schemas.microsoft.com/office/drawing/2014/main" id="{A7399A1F-2C9E-580A-725D-6D9B99B87D09}"/>
              </a:ext>
            </a:extLst>
          </p:cNvPr>
          <p:cNvSpPr/>
          <p:nvPr/>
        </p:nvSpPr>
        <p:spPr>
          <a:xfrm>
            <a:off x="7962501" y="1901952"/>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−0.121</a:t>
            </a:r>
            <a:endParaRPr sz="900">
              <a:solidFill>
                <a:schemeClr val="dk1"/>
              </a:solidFill>
              <a:latin typeface="Calibri"/>
              <a:ea typeface="Calibri"/>
              <a:cs typeface="Calibri"/>
              <a:sym typeface="Calibri"/>
            </a:endParaRPr>
          </a:p>
        </p:txBody>
      </p:sp>
      <p:sp>
        <p:nvSpPr>
          <p:cNvPr id="324" name="Google Shape;324;p13">
            <a:extLst>
              <a:ext uri="{FF2B5EF4-FFF2-40B4-BE49-F238E27FC236}">
                <a16:creationId xmlns:a16="http://schemas.microsoft.com/office/drawing/2014/main" id="{65DAB7CB-BE58-3905-8A0D-62259A888331}"/>
              </a:ext>
            </a:extLst>
          </p:cNvPr>
          <p:cNvSpPr/>
          <p:nvPr/>
        </p:nvSpPr>
        <p:spPr>
          <a:xfrm>
            <a:off x="8321040" y="1901952"/>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0.008</a:t>
            </a:r>
            <a:endParaRPr sz="900">
              <a:solidFill>
                <a:schemeClr val="dk1"/>
              </a:solidFill>
              <a:latin typeface="Calibri"/>
              <a:ea typeface="Calibri"/>
              <a:cs typeface="Calibri"/>
              <a:sym typeface="Calibri"/>
            </a:endParaRPr>
          </a:p>
        </p:txBody>
      </p:sp>
      <p:sp>
        <p:nvSpPr>
          <p:cNvPr id="325" name="Google Shape;325;p13">
            <a:extLst>
              <a:ext uri="{FF2B5EF4-FFF2-40B4-BE49-F238E27FC236}">
                <a16:creationId xmlns:a16="http://schemas.microsoft.com/office/drawing/2014/main" id="{50B4F1B5-A649-DBA0-DCA0-F5509938DB84}"/>
              </a:ext>
            </a:extLst>
          </p:cNvPr>
          <p:cNvSpPr/>
          <p:nvPr/>
        </p:nvSpPr>
        <p:spPr>
          <a:xfrm>
            <a:off x="5941677" y="2286000"/>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13">
            <a:extLst>
              <a:ext uri="{FF2B5EF4-FFF2-40B4-BE49-F238E27FC236}">
                <a16:creationId xmlns:a16="http://schemas.microsoft.com/office/drawing/2014/main" id="{AB753285-1C9D-FEB6-0098-2B08C97D733F}"/>
              </a:ext>
            </a:extLst>
          </p:cNvPr>
          <p:cNvSpPr/>
          <p:nvPr/>
        </p:nvSpPr>
        <p:spPr>
          <a:xfrm>
            <a:off x="5969109" y="2377440"/>
            <a:ext cx="10425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a:t>
            </a:r>
            <a:endParaRPr sz="900">
              <a:solidFill>
                <a:schemeClr val="dk1"/>
              </a:solidFill>
              <a:latin typeface="Calibri"/>
              <a:ea typeface="Calibri"/>
              <a:cs typeface="Calibri"/>
              <a:sym typeface="Calibri"/>
            </a:endParaRPr>
          </a:p>
        </p:txBody>
      </p:sp>
      <p:sp>
        <p:nvSpPr>
          <p:cNvPr id="327" name="Google Shape;327;p13">
            <a:extLst>
              <a:ext uri="{FF2B5EF4-FFF2-40B4-BE49-F238E27FC236}">
                <a16:creationId xmlns:a16="http://schemas.microsoft.com/office/drawing/2014/main" id="{DA889F68-7532-40F9-61AC-D81D9631EDF7}"/>
              </a:ext>
            </a:extLst>
          </p:cNvPr>
          <p:cNvSpPr/>
          <p:nvPr/>
        </p:nvSpPr>
        <p:spPr>
          <a:xfrm>
            <a:off x="7029813" y="2377440"/>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0.839</a:t>
            </a:r>
            <a:endParaRPr sz="900">
              <a:solidFill>
                <a:schemeClr val="dk1"/>
              </a:solidFill>
              <a:latin typeface="Calibri"/>
              <a:ea typeface="Calibri"/>
              <a:cs typeface="Calibri"/>
              <a:sym typeface="Calibri"/>
            </a:endParaRPr>
          </a:p>
        </p:txBody>
      </p:sp>
      <p:sp>
        <p:nvSpPr>
          <p:cNvPr id="328" name="Google Shape;328;p13">
            <a:extLst>
              <a:ext uri="{FF2B5EF4-FFF2-40B4-BE49-F238E27FC236}">
                <a16:creationId xmlns:a16="http://schemas.microsoft.com/office/drawing/2014/main" id="{42E74D6E-3915-1C51-2177-10D6924C57AE}"/>
              </a:ext>
            </a:extLst>
          </p:cNvPr>
          <p:cNvSpPr/>
          <p:nvPr/>
        </p:nvSpPr>
        <p:spPr>
          <a:xfrm>
            <a:off x="7496157" y="2377440"/>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1000"/>
              <a:buFont typeface="Calibri"/>
              <a:buNone/>
            </a:pPr>
            <a:r>
              <a:rPr lang="en-US" sz="1000" b="1">
                <a:solidFill>
                  <a:srgbClr val="8899AA"/>
                </a:solidFill>
                <a:latin typeface="Calibri"/>
                <a:ea typeface="Calibri"/>
                <a:cs typeface="Calibri"/>
                <a:sym typeface="Calibri"/>
              </a:rPr>
              <a:t>1.000</a:t>
            </a:r>
            <a:endParaRPr sz="1000">
              <a:solidFill>
                <a:schemeClr val="dk1"/>
              </a:solidFill>
              <a:latin typeface="Calibri"/>
              <a:ea typeface="Calibri"/>
              <a:cs typeface="Calibri"/>
              <a:sym typeface="Calibri"/>
            </a:endParaRPr>
          </a:p>
        </p:txBody>
      </p:sp>
      <p:sp>
        <p:nvSpPr>
          <p:cNvPr id="329" name="Google Shape;329;p13">
            <a:extLst>
              <a:ext uri="{FF2B5EF4-FFF2-40B4-BE49-F238E27FC236}">
                <a16:creationId xmlns:a16="http://schemas.microsoft.com/office/drawing/2014/main" id="{A4D64C6B-08AB-1AFF-C74D-2AD068649F4F}"/>
              </a:ext>
            </a:extLst>
          </p:cNvPr>
          <p:cNvSpPr/>
          <p:nvPr/>
        </p:nvSpPr>
        <p:spPr>
          <a:xfrm>
            <a:off x="7962501" y="2377440"/>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0.000</a:t>
            </a:r>
            <a:endParaRPr sz="900">
              <a:solidFill>
                <a:schemeClr val="dk1"/>
              </a:solidFill>
              <a:latin typeface="Calibri"/>
              <a:ea typeface="Calibri"/>
              <a:cs typeface="Calibri"/>
              <a:sym typeface="Calibri"/>
            </a:endParaRPr>
          </a:p>
        </p:txBody>
      </p:sp>
      <p:sp>
        <p:nvSpPr>
          <p:cNvPr id="330" name="Google Shape;330;p13">
            <a:extLst>
              <a:ext uri="{FF2B5EF4-FFF2-40B4-BE49-F238E27FC236}">
                <a16:creationId xmlns:a16="http://schemas.microsoft.com/office/drawing/2014/main" id="{EDED7CDF-8CF6-0725-FD25-159A2D21C81B}"/>
              </a:ext>
            </a:extLst>
          </p:cNvPr>
          <p:cNvSpPr/>
          <p:nvPr/>
        </p:nvSpPr>
        <p:spPr>
          <a:xfrm>
            <a:off x="8321040" y="2377440"/>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a:t>
            </a:r>
            <a:endParaRPr sz="900">
              <a:solidFill>
                <a:schemeClr val="dk1"/>
              </a:solidFill>
              <a:latin typeface="Calibri"/>
              <a:ea typeface="Calibri"/>
              <a:cs typeface="Calibri"/>
              <a:sym typeface="Calibri"/>
            </a:endParaRPr>
          </a:p>
        </p:txBody>
      </p:sp>
      <p:sp>
        <p:nvSpPr>
          <p:cNvPr id="331" name="Google Shape;331;p13">
            <a:extLst>
              <a:ext uri="{FF2B5EF4-FFF2-40B4-BE49-F238E27FC236}">
                <a16:creationId xmlns:a16="http://schemas.microsoft.com/office/drawing/2014/main" id="{1A09C488-5542-2447-95D0-8609A2D64E22}"/>
              </a:ext>
            </a:extLst>
          </p:cNvPr>
          <p:cNvSpPr/>
          <p:nvPr/>
        </p:nvSpPr>
        <p:spPr>
          <a:xfrm>
            <a:off x="5941677" y="2761488"/>
            <a:ext cx="2990100" cy="4389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13">
            <a:extLst>
              <a:ext uri="{FF2B5EF4-FFF2-40B4-BE49-F238E27FC236}">
                <a16:creationId xmlns:a16="http://schemas.microsoft.com/office/drawing/2014/main" id="{A189128C-8798-405F-5337-0719E2F23FE3}"/>
              </a:ext>
            </a:extLst>
          </p:cNvPr>
          <p:cNvSpPr/>
          <p:nvPr/>
        </p:nvSpPr>
        <p:spPr>
          <a:xfrm>
            <a:off x="5969109" y="2852928"/>
            <a:ext cx="10425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Asian</a:t>
            </a:r>
            <a:endParaRPr sz="900">
              <a:solidFill>
                <a:schemeClr val="dk1"/>
              </a:solidFill>
              <a:latin typeface="Calibri"/>
              <a:ea typeface="Calibri"/>
              <a:cs typeface="Calibri"/>
              <a:sym typeface="Calibri"/>
            </a:endParaRPr>
          </a:p>
        </p:txBody>
      </p:sp>
      <p:sp>
        <p:nvSpPr>
          <p:cNvPr id="333" name="Google Shape;333;p13">
            <a:extLst>
              <a:ext uri="{FF2B5EF4-FFF2-40B4-BE49-F238E27FC236}">
                <a16:creationId xmlns:a16="http://schemas.microsoft.com/office/drawing/2014/main" id="{8CEEA2DF-AB92-F406-A8A2-1C4235A81887}"/>
              </a:ext>
            </a:extLst>
          </p:cNvPr>
          <p:cNvSpPr/>
          <p:nvPr/>
        </p:nvSpPr>
        <p:spPr>
          <a:xfrm>
            <a:off x="7029813" y="2852928"/>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0.858</a:t>
            </a:r>
            <a:endParaRPr sz="900">
              <a:solidFill>
                <a:schemeClr val="dk1"/>
              </a:solidFill>
              <a:latin typeface="Calibri"/>
              <a:ea typeface="Calibri"/>
              <a:cs typeface="Calibri"/>
              <a:sym typeface="Calibri"/>
            </a:endParaRPr>
          </a:p>
        </p:txBody>
      </p:sp>
      <p:sp>
        <p:nvSpPr>
          <p:cNvPr id="334" name="Google Shape;334;p13">
            <a:extLst>
              <a:ext uri="{FF2B5EF4-FFF2-40B4-BE49-F238E27FC236}">
                <a16:creationId xmlns:a16="http://schemas.microsoft.com/office/drawing/2014/main" id="{9C0FEA22-42C1-2969-ABEF-A08FB79A8F59}"/>
              </a:ext>
            </a:extLst>
          </p:cNvPr>
          <p:cNvSpPr/>
          <p:nvPr/>
        </p:nvSpPr>
        <p:spPr>
          <a:xfrm>
            <a:off x="7496157" y="2852928"/>
            <a:ext cx="4572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1000"/>
              <a:buFont typeface="Calibri"/>
              <a:buNone/>
            </a:pPr>
            <a:r>
              <a:rPr lang="en-US" sz="1000" b="1">
                <a:solidFill>
                  <a:srgbClr val="52B788"/>
                </a:solidFill>
                <a:latin typeface="Calibri"/>
                <a:ea typeface="Calibri"/>
                <a:cs typeface="Calibri"/>
                <a:sym typeface="Calibri"/>
              </a:rPr>
              <a:t>1.022</a:t>
            </a:r>
            <a:endParaRPr sz="1000">
              <a:solidFill>
                <a:schemeClr val="dk1"/>
              </a:solidFill>
              <a:latin typeface="Calibri"/>
              <a:ea typeface="Calibri"/>
              <a:cs typeface="Calibri"/>
              <a:sym typeface="Calibri"/>
            </a:endParaRPr>
          </a:p>
        </p:txBody>
      </p:sp>
      <p:sp>
        <p:nvSpPr>
          <p:cNvPr id="335" name="Google Shape;335;p13">
            <a:extLst>
              <a:ext uri="{FF2B5EF4-FFF2-40B4-BE49-F238E27FC236}">
                <a16:creationId xmlns:a16="http://schemas.microsoft.com/office/drawing/2014/main" id="{14A46FFC-B2B7-AF42-687F-31F5490C7F00}"/>
              </a:ext>
            </a:extLst>
          </p:cNvPr>
          <p:cNvSpPr/>
          <p:nvPr/>
        </p:nvSpPr>
        <p:spPr>
          <a:xfrm>
            <a:off x="7962501" y="2852928"/>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+0.018</a:t>
            </a:r>
            <a:endParaRPr sz="900">
              <a:solidFill>
                <a:schemeClr val="dk1"/>
              </a:solidFill>
              <a:latin typeface="Calibri"/>
              <a:ea typeface="Calibri"/>
              <a:cs typeface="Calibri"/>
              <a:sym typeface="Calibri"/>
            </a:endParaRPr>
          </a:p>
        </p:txBody>
      </p:sp>
      <p:sp>
        <p:nvSpPr>
          <p:cNvPr id="336" name="Google Shape;336;p13">
            <a:extLst>
              <a:ext uri="{FF2B5EF4-FFF2-40B4-BE49-F238E27FC236}">
                <a16:creationId xmlns:a16="http://schemas.microsoft.com/office/drawing/2014/main" id="{46C83DCB-6BAF-16F9-C0F9-28F8ACFBA0D7}"/>
              </a:ext>
            </a:extLst>
          </p:cNvPr>
          <p:cNvSpPr/>
          <p:nvPr/>
        </p:nvSpPr>
        <p:spPr>
          <a:xfrm>
            <a:off x="8321040" y="2852928"/>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0.004</a:t>
            </a:r>
            <a:endParaRPr sz="900">
              <a:solidFill>
                <a:schemeClr val="dk1"/>
              </a:solidFill>
              <a:latin typeface="Calibri"/>
              <a:ea typeface="Calibri"/>
              <a:cs typeface="Calibri"/>
              <a:sym typeface="Calibri"/>
            </a:endParaRPr>
          </a:p>
        </p:txBody>
      </p:sp>
      <p:sp>
        <p:nvSpPr>
          <p:cNvPr id="337" name="Google Shape;337;p13">
            <a:extLst>
              <a:ext uri="{FF2B5EF4-FFF2-40B4-BE49-F238E27FC236}">
                <a16:creationId xmlns:a16="http://schemas.microsoft.com/office/drawing/2014/main" id="{9399EFF8-4898-F87B-8687-E16176CE2A95}"/>
              </a:ext>
            </a:extLst>
          </p:cNvPr>
          <p:cNvSpPr/>
          <p:nvPr/>
        </p:nvSpPr>
        <p:spPr>
          <a:xfrm>
            <a:off x="5941677" y="3310128"/>
            <a:ext cx="2990100" cy="694800"/>
          </a:xfrm>
          <a:prstGeom prst="rect">
            <a:avLst/>
          </a:prstGeom>
          <a:solidFill>
            <a:srgbClr val="0F1D2E"/>
          </a:solidFill>
          <a:ln w="12700" cap="flat" cmpd="sng">
            <a:solidFill>
              <a:srgbClr val="2A406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13">
            <a:extLst>
              <a:ext uri="{FF2B5EF4-FFF2-40B4-BE49-F238E27FC236}">
                <a16:creationId xmlns:a16="http://schemas.microsoft.com/office/drawing/2014/main" id="{43D2CF05-31C5-9AF8-81EA-22B6EF8BFA83}"/>
              </a:ext>
            </a:extLst>
          </p:cNvPr>
          <p:cNvSpPr/>
          <p:nvPr/>
        </p:nvSpPr>
        <p:spPr>
          <a:xfrm>
            <a:off x="6005685" y="3310128"/>
            <a:ext cx="2853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850"/>
              <a:buFont typeface="Calibri"/>
              <a:buNone/>
            </a:pPr>
            <a:r>
              <a:rPr lang="en-US" sz="850" b="1">
                <a:solidFill>
                  <a:srgbClr val="F4A261"/>
                </a:solidFill>
                <a:latin typeface="Calibri"/>
                <a:ea typeface="Calibri"/>
                <a:cs typeface="Calibri"/>
                <a:sym typeface="Calibri"/>
              </a:rPr>
              <a:t>⚡ KEY TAKEAWAY</a:t>
            </a:r>
            <a:endParaRPr sz="850">
              <a:solidFill>
                <a:schemeClr val="dk1"/>
              </a:solidFill>
              <a:latin typeface="Calibri"/>
              <a:ea typeface="Calibri"/>
              <a:cs typeface="Calibri"/>
              <a:sym typeface="Calibri"/>
            </a:endParaRPr>
          </a:p>
        </p:txBody>
      </p:sp>
      <p:sp>
        <p:nvSpPr>
          <p:cNvPr id="339" name="Google Shape;339;p13">
            <a:extLst>
              <a:ext uri="{FF2B5EF4-FFF2-40B4-BE49-F238E27FC236}">
                <a16:creationId xmlns:a16="http://schemas.microsoft.com/office/drawing/2014/main" id="{93F62953-97DE-06BD-C4DF-FDA63134640F}"/>
              </a:ext>
            </a:extLst>
          </p:cNvPr>
          <p:cNvSpPr/>
          <p:nvPr/>
        </p:nvSpPr>
        <p:spPr>
          <a:xfrm>
            <a:off x="6005675" y="3529575"/>
            <a:ext cx="28530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0D5DD"/>
              </a:buClr>
              <a:buSzPts val="900"/>
              <a:buFont typeface="Calibri"/>
              <a:buNone/>
            </a:pPr>
            <a:r>
              <a:rPr lang="en-US" sz="900">
                <a:solidFill>
                  <a:srgbClr val="D0D5DD"/>
                </a:solidFill>
                <a:latin typeface="Calibri"/>
                <a:ea typeface="Calibri"/>
                <a:cs typeface="Calibri"/>
                <a:sym typeface="Calibri"/>
              </a:rPr>
              <a:t>AIR revealed the model's approval gap. ME exposed the real-world scale of the model's decisions. SMD confirmed this feature was not the source  the model's bias originates elsewhere.</a:t>
            </a:r>
            <a:endParaRPr sz="900">
              <a:solidFill>
                <a:schemeClr val="dk1"/>
              </a:solidFill>
              <a:latin typeface="Calibri"/>
              <a:ea typeface="Calibri"/>
              <a:cs typeface="Calibri"/>
              <a:sym typeface="Calibri"/>
            </a:endParaRPr>
          </a:p>
        </p:txBody>
      </p:sp>
      <p:sp>
        <p:nvSpPr>
          <p:cNvPr id="340" name="Google Shape;340;p13">
            <a:extLst>
              <a:ext uri="{FF2B5EF4-FFF2-40B4-BE49-F238E27FC236}">
                <a16:creationId xmlns:a16="http://schemas.microsoft.com/office/drawing/2014/main" id="{FD0DC14A-B4C7-986C-6807-0E19A2C14236}"/>
              </a:ext>
            </a:extLst>
          </p:cNvPr>
          <p:cNvSpPr/>
          <p:nvPr/>
        </p:nvSpPr>
        <p:spPr>
          <a:xfrm>
            <a:off x="5941677" y="4023360"/>
            <a:ext cx="2990100" cy="786300"/>
          </a:xfrm>
          <a:prstGeom prst="rect">
            <a:avLst/>
          </a:prstGeom>
          <a:solidFill>
            <a:srgbClr val="0A1628"/>
          </a:solidFill>
          <a:ln w="12700" cap="flat" cmpd="sng">
            <a:solidFill>
              <a:srgbClr val="2A406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13">
            <a:extLst>
              <a:ext uri="{FF2B5EF4-FFF2-40B4-BE49-F238E27FC236}">
                <a16:creationId xmlns:a16="http://schemas.microsoft.com/office/drawing/2014/main" id="{8D1221F9-C91C-EB31-5E58-328336880A53}"/>
              </a:ext>
            </a:extLst>
          </p:cNvPr>
          <p:cNvSpPr/>
          <p:nvPr/>
        </p:nvSpPr>
        <p:spPr>
          <a:xfrm>
            <a:off x="6005675" y="4132823"/>
            <a:ext cx="2853000" cy="18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750"/>
              <a:buFont typeface="Calibri"/>
              <a:buNone/>
            </a:pPr>
            <a:r>
              <a:rPr lang="en-US" sz="750" b="1">
                <a:solidFill>
                  <a:srgbClr val="7EC8E3"/>
                </a:solidFill>
                <a:latin typeface="Calibri"/>
                <a:ea typeface="Calibri"/>
                <a:cs typeface="Calibri"/>
                <a:sym typeface="Calibri"/>
              </a:rPr>
              <a:t>SMD INTERPRETATION </a:t>
            </a:r>
            <a:endParaRPr sz="750">
              <a:solidFill>
                <a:schemeClr val="dk1"/>
              </a:solidFill>
              <a:latin typeface="Calibri"/>
              <a:ea typeface="Calibri"/>
              <a:cs typeface="Calibri"/>
              <a:sym typeface="Calibri"/>
            </a:endParaRPr>
          </a:p>
        </p:txBody>
      </p:sp>
      <p:sp>
        <p:nvSpPr>
          <p:cNvPr id="342" name="Google Shape;342;p13">
            <a:extLst>
              <a:ext uri="{FF2B5EF4-FFF2-40B4-BE49-F238E27FC236}">
                <a16:creationId xmlns:a16="http://schemas.microsoft.com/office/drawing/2014/main" id="{4D2E441A-7C77-D0DE-3364-FA7B6F422A80}"/>
              </a:ext>
            </a:extLst>
          </p:cNvPr>
          <p:cNvSpPr/>
          <p:nvPr/>
        </p:nvSpPr>
        <p:spPr>
          <a:xfrm>
            <a:off x="6005685" y="4242816"/>
            <a:ext cx="28530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2B788"/>
              </a:buClr>
              <a:buSzPts val="900"/>
              <a:buFont typeface="Calibri"/>
              <a:buNone/>
            </a:pPr>
            <a:r>
              <a:rPr lang="en-US" sz="900" b="1">
                <a:solidFill>
                  <a:srgbClr val="52B788"/>
                </a:solidFill>
                <a:latin typeface="Calibri"/>
                <a:ea typeface="Calibri"/>
                <a:cs typeface="Calibri"/>
                <a:sym typeface="Calibri"/>
              </a:rPr>
              <a:t>&lt; 0.2  No proxy effect  </a:t>
            </a:r>
            <a:r>
              <a:rPr lang="en-US" sz="900">
                <a:solidFill>
                  <a:srgbClr val="F4A261"/>
                </a:solidFill>
                <a:latin typeface="Calibri"/>
                <a:ea typeface="Calibri"/>
                <a:cs typeface="Calibri"/>
                <a:sym typeface="Calibri"/>
              </a:rPr>
              <a:t>0.2–0.5  Mild</a:t>
            </a:r>
            <a:br>
              <a:rPr lang="en-US" sz="900">
                <a:solidFill>
                  <a:srgbClr val="F4A261"/>
                </a:solidFill>
                <a:latin typeface="Calibri"/>
                <a:ea typeface="Calibri"/>
                <a:cs typeface="Calibri"/>
                <a:sym typeface="Calibri"/>
              </a:rPr>
            </a:br>
            <a:r>
              <a:rPr lang="en-US" sz="900" b="1">
                <a:solidFill>
                  <a:srgbClr val="E07070"/>
                </a:solidFill>
                <a:latin typeface="Calibri"/>
                <a:ea typeface="Calibri"/>
                <a:cs typeface="Calibri"/>
                <a:sym typeface="Calibri"/>
              </a:rPr>
              <a:t>0.5–0.8  Moderate  </a:t>
            </a:r>
            <a:r>
              <a:rPr lang="en-US" sz="900" b="1">
                <a:solidFill>
                  <a:srgbClr val="CC3333"/>
                </a:solidFill>
                <a:latin typeface="Calibri"/>
                <a:ea typeface="Calibri"/>
                <a:cs typeface="Calibri"/>
                <a:sym typeface="Calibri"/>
              </a:rPr>
              <a:t>&gt; 0.8  Strong proxy → investigate</a:t>
            </a:r>
            <a:endParaRPr sz="9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00539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7"/>
        <p:cNvGrpSpPr/>
        <p:nvPr/>
      </p:nvGrpSpPr>
      <p:grpSpPr>
        <a:xfrm>
          <a:off x="0" y="0"/>
          <a:ext cx="0" cy="0"/>
          <a:chOff x="0" y="0"/>
          <a:chExt cx="0" cy="0"/>
        </a:xfrm>
      </p:grpSpPr>
      <p:sp>
        <p:nvSpPr>
          <p:cNvPr id="348" name="Google Shape;348;p14"/>
          <p:cNvSpPr/>
          <p:nvPr/>
        </p:nvSpPr>
        <p:spPr>
          <a:xfrm>
            <a:off x="0" y="-125"/>
            <a:ext cx="5760900" cy="1033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800"/>
              <a:buFont typeface="Calibri"/>
              <a:buNone/>
            </a:pPr>
            <a:r>
              <a:rPr lang="en-US" sz="2600" b="1">
                <a:solidFill>
                  <a:srgbClr val="1C2B4A"/>
                </a:solidFill>
                <a:latin typeface="Georgia"/>
                <a:ea typeface="Georgia"/>
                <a:cs typeface="Georgia"/>
                <a:sym typeface="Georgia"/>
              </a:rPr>
              <a:t>Q3:How Errors Were Measured Across Subgroups</a:t>
            </a:r>
            <a:endParaRPr sz="2600">
              <a:solidFill>
                <a:srgbClr val="1C2B4A"/>
              </a:solidFill>
              <a:latin typeface="Georgia"/>
              <a:ea typeface="Georgia"/>
              <a:cs typeface="Georgia"/>
              <a:sym typeface="Georgia"/>
            </a:endParaRPr>
          </a:p>
        </p:txBody>
      </p:sp>
      <p:sp>
        <p:nvSpPr>
          <p:cNvPr id="349" name="Google Shape;349;p14"/>
          <p:cNvSpPr/>
          <p:nvPr/>
        </p:nvSpPr>
        <p:spPr>
          <a:xfrm>
            <a:off x="365760" y="1024128"/>
            <a:ext cx="4755000" cy="365700"/>
          </a:xfrm>
          <a:prstGeom prst="rect">
            <a:avLst/>
          </a:prstGeom>
          <a:solidFill>
            <a:srgbClr val="1C2E44"/>
          </a:solidFill>
          <a:ln w="12700" cap="flat" cmpd="sng">
            <a:solidFill>
              <a:srgbClr val="1C2E4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14"/>
          <p:cNvSpPr/>
          <p:nvPr/>
        </p:nvSpPr>
        <p:spPr>
          <a:xfrm>
            <a:off x="365760" y="1024128"/>
            <a:ext cx="47550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C8E3"/>
              </a:buClr>
              <a:buSzPts val="900"/>
              <a:buFont typeface="Calibri"/>
              <a:buNone/>
            </a:pPr>
            <a:r>
              <a:rPr lang="en-US" sz="900" i="1">
                <a:solidFill>
                  <a:srgbClr val="7EC8E3"/>
                </a:solidFill>
                <a:latin typeface="Calibri"/>
                <a:ea typeface="Calibri"/>
                <a:cs typeface="Calibri"/>
                <a:sym typeface="Calibri"/>
              </a:rPr>
              <a:t>The dataset was split by Race × Gender to measure how the model's decisions varied across intersectional groups</a:t>
            </a:r>
            <a:endParaRPr sz="900">
              <a:solidFill>
                <a:schemeClr val="dk1"/>
              </a:solidFill>
              <a:latin typeface="Calibri"/>
              <a:ea typeface="Calibri"/>
              <a:cs typeface="Calibri"/>
              <a:sym typeface="Calibri"/>
            </a:endParaRPr>
          </a:p>
        </p:txBody>
      </p:sp>
      <p:sp>
        <p:nvSpPr>
          <p:cNvPr id="351" name="Google Shape;351;p14"/>
          <p:cNvSpPr/>
          <p:nvPr/>
        </p:nvSpPr>
        <p:spPr>
          <a:xfrm>
            <a:off x="365760" y="1517904"/>
            <a:ext cx="2103000" cy="219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14"/>
          <p:cNvSpPr/>
          <p:nvPr/>
        </p:nvSpPr>
        <p:spPr>
          <a:xfrm>
            <a:off x="365760" y="1517904"/>
            <a:ext cx="21030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① THE DATA WAS SPLIT INTO SUBGROUP CELLS</a:t>
            </a:r>
            <a:endParaRPr sz="750">
              <a:solidFill>
                <a:schemeClr val="dk1"/>
              </a:solidFill>
              <a:latin typeface="Calibri"/>
              <a:ea typeface="Calibri"/>
              <a:cs typeface="Calibri"/>
              <a:sym typeface="Calibri"/>
            </a:endParaRPr>
          </a:p>
        </p:txBody>
      </p:sp>
      <p:sp>
        <p:nvSpPr>
          <p:cNvPr id="353" name="Google Shape;353;p14"/>
          <p:cNvSpPr/>
          <p:nvPr/>
        </p:nvSpPr>
        <p:spPr>
          <a:xfrm>
            <a:off x="365760" y="1792224"/>
            <a:ext cx="5029200" cy="731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latin typeface="Calibri"/>
                <a:ea typeface="Calibri"/>
                <a:cs typeface="Calibri"/>
                <a:sym typeface="Calibri"/>
              </a:rPr>
              <a:t>How:</a:t>
            </a:r>
            <a:r>
              <a:rPr lang="en-US" sz="1050" b="1">
                <a:solidFill>
                  <a:schemeClr val="dk1"/>
                </a:solidFill>
                <a:latin typeface="Calibri"/>
                <a:ea typeface="Calibri"/>
                <a:cs typeface="Calibri"/>
                <a:sym typeface="Calibri"/>
              </a:rPr>
              <a:t> </a:t>
            </a:r>
            <a:r>
              <a:rPr lang="en-US" sz="1050">
                <a:solidFill>
                  <a:schemeClr val="dk1"/>
                </a:solidFill>
                <a:latin typeface="Calibri"/>
                <a:ea typeface="Calibri"/>
                <a:cs typeface="Calibri"/>
                <a:sym typeface="Calibri"/>
              </a:rPr>
              <a:t>Every applicant in the dataset was grouped by their Race × Gender combination. Cells with n &lt; 30 were excluded to ensure the model's patterns were statistically reliable.</a:t>
            </a:r>
            <a:br>
              <a:rPr lang="en-US" sz="1050">
                <a:solidFill>
                  <a:srgbClr val="D0D5DD"/>
                </a:solidFill>
                <a:latin typeface="Calibri"/>
                <a:ea typeface="Calibri"/>
                <a:cs typeface="Calibri"/>
                <a:sym typeface="Calibri"/>
              </a:rPr>
            </a:br>
            <a:r>
              <a:rPr lang="en-US" sz="1050" b="1">
                <a:solidFill>
                  <a:srgbClr val="FF0000"/>
                </a:solidFill>
                <a:latin typeface="Calibri"/>
                <a:ea typeface="Calibri"/>
                <a:cs typeface="Calibri"/>
                <a:sym typeface="Calibri"/>
              </a:rPr>
              <a:t>Baseline:</a:t>
            </a:r>
            <a:r>
              <a:rPr lang="en-US" sz="1050" b="1">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Caucasian Male  the industry-standard reference under EEOC fair lending guidelines. The model's AIR and ME for every other cell was measured against this group</a:t>
            </a:r>
            <a:r>
              <a:rPr lang="en-US" sz="1050">
                <a:solidFill>
                  <a:srgbClr val="D0D5DD"/>
                </a:solidFill>
                <a:latin typeface="Calibri"/>
                <a:ea typeface="Calibri"/>
                <a:cs typeface="Calibri"/>
                <a:sym typeface="Calibri"/>
              </a:rPr>
              <a:t>.</a:t>
            </a:r>
            <a:endParaRPr sz="1050">
              <a:solidFill>
                <a:schemeClr val="dk1"/>
              </a:solidFill>
              <a:latin typeface="Calibri"/>
              <a:ea typeface="Calibri"/>
              <a:cs typeface="Calibri"/>
              <a:sym typeface="Calibri"/>
            </a:endParaRPr>
          </a:p>
        </p:txBody>
      </p:sp>
      <p:sp>
        <p:nvSpPr>
          <p:cNvPr id="354" name="Google Shape;354;p14"/>
          <p:cNvSpPr/>
          <p:nvPr/>
        </p:nvSpPr>
        <p:spPr>
          <a:xfrm>
            <a:off x="365760" y="2615184"/>
            <a:ext cx="2103000" cy="219600"/>
          </a:xfrm>
          <a:prstGeom prst="rect">
            <a:avLst/>
          </a:prstGeom>
          <a:solidFill>
            <a:srgbClr val="8B6914"/>
          </a:solidFill>
          <a:ln w="12700" cap="flat" cmpd="sng">
            <a:solidFill>
              <a:srgbClr val="8B691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p14"/>
          <p:cNvSpPr/>
          <p:nvPr/>
        </p:nvSpPr>
        <p:spPr>
          <a:xfrm>
            <a:off x="365760" y="2615184"/>
            <a:ext cx="21030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② AIR &amp; ME RAN ON EACH CELL SEPARATELY</a:t>
            </a:r>
            <a:endParaRPr sz="750">
              <a:solidFill>
                <a:schemeClr val="dk1"/>
              </a:solidFill>
              <a:latin typeface="Calibri"/>
              <a:ea typeface="Calibri"/>
              <a:cs typeface="Calibri"/>
              <a:sym typeface="Calibri"/>
            </a:endParaRPr>
          </a:p>
        </p:txBody>
      </p:sp>
      <p:sp>
        <p:nvSpPr>
          <p:cNvPr id="356" name="Google Shape;356;p14"/>
          <p:cNvSpPr/>
          <p:nvPr/>
        </p:nvSpPr>
        <p:spPr>
          <a:xfrm>
            <a:off x="365750" y="2889500"/>
            <a:ext cx="5029200" cy="859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latin typeface="Calibri"/>
                <a:ea typeface="Calibri"/>
                <a:cs typeface="Calibri"/>
                <a:sym typeface="Calibri"/>
              </a:rPr>
              <a:t>How: </a:t>
            </a:r>
            <a:r>
              <a:rPr lang="en-US" sz="1050">
                <a:solidFill>
                  <a:schemeClr val="dk1"/>
                </a:solidFill>
                <a:latin typeface="Calibri"/>
                <a:ea typeface="Calibri"/>
                <a:cs typeface="Calibri"/>
                <a:sym typeface="Calibri"/>
              </a:rPr>
              <a:t>The same AIR and ME formulas were applied  but the model's outputs were computed per intersectional cell, not per race alone.</a:t>
            </a:r>
            <a:br>
              <a:rPr lang="en-US" sz="1050">
                <a:solidFill>
                  <a:srgbClr val="D0D5DD"/>
                </a:solidFill>
                <a:latin typeface="Calibri"/>
                <a:ea typeface="Calibri"/>
                <a:cs typeface="Calibri"/>
                <a:sym typeface="Calibri"/>
              </a:rPr>
            </a:br>
            <a:r>
              <a:rPr lang="en-US" sz="1050" b="1">
                <a:solidFill>
                  <a:srgbClr val="FF0000"/>
                </a:solidFill>
                <a:latin typeface="Calibri"/>
                <a:ea typeface="Calibri"/>
                <a:cs typeface="Calibri"/>
                <a:sym typeface="Calibri"/>
              </a:rPr>
              <a:t>What the model showed:</a:t>
            </a:r>
            <a:r>
              <a:rPr lang="en-US" sz="1050" b="1">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model produced Minority Female AIR</a:t>
            </a:r>
            <a:r>
              <a:rPr lang="en-US" sz="1050">
                <a:solidFill>
                  <a:srgbClr val="D0D5DD"/>
                </a:solidFill>
                <a:latin typeface="Calibri"/>
                <a:ea typeface="Calibri"/>
                <a:cs typeface="Calibri"/>
                <a:sym typeface="Calibri"/>
              </a:rPr>
              <a:t> </a:t>
            </a:r>
            <a:r>
              <a:rPr lang="en-US" sz="1050" b="1">
                <a:solidFill>
                  <a:srgbClr val="F4A261"/>
                </a:solidFill>
                <a:latin typeface="Calibri"/>
                <a:ea typeface="Calibri"/>
                <a:cs typeface="Calibri"/>
                <a:sym typeface="Calibri"/>
              </a:rPr>
              <a:t>0.854</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 , ME</a:t>
            </a:r>
            <a:r>
              <a:rPr lang="en-US" sz="1050">
                <a:solidFill>
                  <a:srgbClr val="D0D5DD"/>
                </a:solidFill>
                <a:latin typeface="Calibri"/>
                <a:ea typeface="Calibri"/>
                <a:cs typeface="Calibri"/>
                <a:sym typeface="Calibri"/>
              </a:rPr>
              <a:t> </a:t>
            </a:r>
            <a:r>
              <a:rPr lang="en-US" sz="1050" b="1">
                <a:solidFill>
                  <a:srgbClr val="E07070"/>
                </a:solidFill>
                <a:latin typeface="Calibri"/>
                <a:ea typeface="Calibri"/>
                <a:cs typeface="Calibri"/>
                <a:sym typeface="Calibri"/>
              </a:rPr>
              <a:t>−0.120</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Legally compliant  yet the model's decisions result in ≈3,200 minority women denied due to this gap.</a:t>
            </a:r>
            <a:endParaRPr sz="1050">
              <a:solidFill>
                <a:schemeClr val="dk1"/>
              </a:solidFill>
              <a:latin typeface="Calibri"/>
              <a:ea typeface="Calibri"/>
              <a:cs typeface="Calibri"/>
              <a:sym typeface="Calibri"/>
            </a:endParaRPr>
          </a:p>
        </p:txBody>
      </p:sp>
      <p:sp>
        <p:nvSpPr>
          <p:cNvPr id="357" name="Google Shape;357;p14"/>
          <p:cNvSpPr/>
          <p:nvPr/>
        </p:nvSpPr>
        <p:spPr>
          <a:xfrm>
            <a:off x="365760" y="3749040"/>
            <a:ext cx="2560200" cy="219600"/>
          </a:xfrm>
          <a:prstGeom prst="rect">
            <a:avLst/>
          </a:prstGeom>
          <a:solidFill>
            <a:srgbClr val="2E6B3E"/>
          </a:solidFill>
          <a:ln w="12700" cap="flat" cmpd="sng">
            <a:solidFill>
              <a:srgbClr val="2E6B3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8" name="Google Shape;358;p14"/>
          <p:cNvSpPr/>
          <p:nvPr/>
        </p:nvSpPr>
        <p:spPr>
          <a:xfrm>
            <a:off x="365760" y="3749040"/>
            <a:ext cx="25602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③ CELLS RANKED TO SIZE THE MODEL'S WORST ERROR</a:t>
            </a:r>
            <a:endParaRPr sz="750">
              <a:solidFill>
                <a:schemeClr val="dk1"/>
              </a:solidFill>
              <a:latin typeface="Calibri"/>
              <a:ea typeface="Calibri"/>
              <a:cs typeface="Calibri"/>
              <a:sym typeface="Calibri"/>
            </a:endParaRPr>
          </a:p>
        </p:txBody>
      </p:sp>
      <p:sp>
        <p:nvSpPr>
          <p:cNvPr id="359" name="Google Shape;359;p14"/>
          <p:cNvSpPr/>
          <p:nvPr/>
        </p:nvSpPr>
        <p:spPr>
          <a:xfrm>
            <a:off x="365760" y="4023360"/>
            <a:ext cx="5029200" cy="987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EC8E3"/>
              </a:buClr>
              <a:buSzPts val="1050"/>
              <a:buFont typeface="Calibri"/>
              <a:buNone/>
            </a:pPr>
            <a:r>
              <a:rPr lang="en-US" sz="1050" b="1">
                <a:solidFill>
                  <a:srgbClr val="FF0000"/>
                </a:solidFill>
                <a:latin typeface="Calibri"/>
                <a:ea typeface="Calibri"/>
                <a:cs typeface="Calibri"/>
                <a:sym typeface="Calibri"/>
              </a:rPr>
              <a:t>How: </a:t>
            </a:r>
            <a:r>
              <a:rPr lang="en-US" sz="1050">
                <a:solidFill>
                  <a:schemeClr val="dk1"/>
                </a:solidFill>
                <a:latin typeface="Calibri"/>
                <a:ea typeface="Calibri"/>
                <a:cs typeface="Calibri"/>
                <a:sym typeface="Calibri"/>
              </a:rPr>
              <a:t>All cells were sorted by AIR ascending. The lowest AIR identifies the subgroup the model penalises most.</a:t>
            </a:r>
            <a:br>
              <a:rPr lang="en-US" sz="1050">
                <a:solidFill>
                  <a:srgbClr val="D0D5DD"/>
                </a:solidFill>
                <a:latin typeface="Calibri"/>
                <a:ea typeface="Calibri"/>
                <a:cs typeface="Calibri"/>
                <a:sym typeface="Calibri"/>
              </a:rPr>
            </a:br>
            <a:r>
              <a:rPr lang="en-US" sz="1050" b="1">
                <a:solidFill>
                  <a:srgbClr val="FF0000"/>
                </a:solidFill>
                <a:latin typeface="Calibri"/>
                <a:ea typeface="Calibri"/>
                <a:cs typeface="Calibri"/>
                <a:sym typeface="Calibri"/>
              </a:rPr>
              <a:t>What the model showed:</a:t>
            </a:r>
            <a:r>
              <a:rPr lang="en-US" sz="1050" b="1">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Minority Female ranked worst (AIR 0.854). Critically, the model scored an African-American Joint application two incomes  lower than a solo Caucasian Male, revealing that the model discounts the co-borrower's risk benefit when both applicants are minority.</a:t>
            </a:r>
            <a:endParaRPr sz="1050">
              <a:solidFill>
                <a:schemeClr val="dk1"/>
              </a:solidFill>
              <a:latin typeface="Calibri"/>
              <a:ea typeface="Calibri"/>
              <a:cs typeface="Calibri"/>
              <a:sym typeface="Calibri"/>
            </a:endParaRPr>
          </a:p>
        </p:txBody>
      </p:sp>
      <p:sp>
        <p:nvSpPr>
          <p:cNvPr id="360" name="Google Shape;360;p14"/>
          <p:cNvSpPr/>
          <p:nvPr/>
        </p:nvSpPr>
        <p:spPr>
          <a:xfrm>
            <a:off x="5760725" y="-125"/>
            <a:ext cx="3383400" cy="51435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14"/>
          <p:cNvSpPr/>
          <p:nvPr/>
        </p:nvSpPr>
        <p:spPr>
          <a:xfrm>
            <a:off x="5760720" y="256032"/>
            <a:ext cx="31548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EC8E3"/>
              </a:buClr>
              <a:buSzPts val="700"/>
              <a:buFont typeface="Calibri"/>
              <a:buNone/>
            </a:pPr>
            <a:r>
              <a:rPr lang="en-US" sz="700" b="1">
                <a:solidFill>
                  <a:srgbClr val="7EC8E3"/>
                </a:solidFill>
                <a:latin typeface="Calibri"/>
                <a:ea typeface="Calibri"/>
                <a:cs typeface="Calibri"/>
                <a:sym typeface="Calibri"/>
              </a:rPr>
              <a:t>SUBGROUP ERROR MEASUREMENTS · RACE × GENDER</a:t>
            </a:r>
            <a:endParaRPr sz="700">
              <a:solidFill>
                <a:schemeClr val="dk1"/>
              </a:solidFill>
              <a:latin typeface="Calibri"/>
              <a:ea typeface="Calibri"/>
              <a:cs typeface="Calibri"/>
              <a:sym typeface="Calibri"/>
            </a:endParaRPr>
          </a:p>
        </p:txBody>
      </p:sp>
      <p:sp>
        <p:nvSpPr>
          <p:cNvPr id="362" name="Google Shape;362;p14"/>
          <p:cNvSpPr/>
          <p:nvPr/>
        </p:nvSpPr>
        <p:spPr>
          <a:xfrm>
            <a:off x="5760720" y="457200"/>
            <a:ext cx="3154800" cy="164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800"/>
              <a:buFont typeface="Calibri"/>
              <a:buNone/>
            </a:pPr>
            <a:r>
              <a:rPr lang="en-US" sz="800" i="1">
                <a:solidFill>
                  <a:srgbClr val="8899AA"/>
                </a:solidFill>
                <a:latin typeface="Calibri"/>
                <a:ea typeface="Calibri"/>
                <a:cs typeface="Calibri"/>
                <a:sym typeface="Calibri"/>
              </a:rPr>
              <a:t>Sorted by AIR ascending — lowest = model's largest error</a:t>
            </a:r>
            <a:endParaRPr sz="800">
              <a:solidFill>
                <a:schemeClr val="dk1"/>
              </a:solidFill>
              <a:latin typeface="Calibri"/>
              <a:ea typeface="Calibri"/>
              <a:cs typeface="Calibri"/>
              <a:sym typeface="Calibri"/>
            </a:endParaRPr>
          </a:p>
        </p:txBody>
      </p:sp>
      <p:cxnSp>
        <p:nvCxnSpPr>
          <p:cNvPr id="363" name="Google Shape;363;p14"/>
          <p:cNvCxnSpPr/>
          <p:nvPr/>
        </p:nvCxnSpPr>
        <p:spPr>
          <a:xfrm>
            <a:off x="5897880" y="658368"/>
            <a:ext cx="2880300" cy="0"/>
          </a:xfrm>
          <a:prstGeom prst="straightConnector1">
            <a:avLst/>
          </a:prstGeom>
          <a:noFill/>
          <a:ln w="12700" cap="flat" cmpd="sng">
            <a:solidFill>
              <a:srgbClr val="2A3F58"/>
            </a:solidFill>
            <a:prstDash val="solid"/>
            <a:round/>
            <a:headEnd type="none" w="sm" len="sm"/>
            <a:tailEnd type="none" w="sm" len="sm"/>
          </a:ln>
        </p:spPr>
      </p:cxnSp>
      <p:sp>
        <p:nvSpPr>
          <p:cNvPr id="364" name="Google Shape;364;p14"/>
          <p:cNvSpPr/>
          <p:nvPr/>
        </p:nvSpPr>
        <p:spPr>
          <a:xfrm>
            <a:off x="5788152" y="731520"/>
            <a:ext cx="1417200" cy="18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SUBGROUP</a:t>
            </a:r>
            <a:endParaRPr sz="750">
              <a:solidFill>
                <a:schemeClr val="dk1"/>
              </a:solidFill>
              <a:latin typeface="Calibri"/>
              <a:ea typeface="Calibri"/>
              <a:cs typeface="Calibri"/>
              <a:sym typeface="Calibri"/>
            </a:endParaRPr>
          </a:p>
        </p:txBody>
      </p:sp>
      <p:sp>
        <p:nvSpPr>
          <p:cNvPr id="365" name="Google Shape;365;p14"/>
          <p:cNvSpPr/>
          <p:nvPr/>
        </p:nvSpPr>
        <p:spPr>
          <a:xfrm>
            <a:off x="7214616" y="731520"/>
            <a:ext cx="5304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RATE</a:t>
            </a:r>
            <a:endParaRPr sz="750">
              <a:solidFill>
                <a:schemeClr val="dk1"/>
              </a:solidFill>
              <a:latin typeface="Calibri"/>
              <a:ea typeface="Calibri"/>
              <a:cs typeface="Calibri"/>
              <a:sym typeface="Calibri"/>
            </a:endParaRPr>
          </a:p>
        </p:txBody>
      </p:sp>
      <p:sp>
        <p:nvSpPr>
          <p:cNvPr id="366" name="Google Shape;366;p14"/>
          <p:cNvSpPr/>
          <p:nvPr/>
        </p:nvSpPr>
        <p:spPr>
          <a:xfrm>
            <a:off x="7754112" y="731520"/>
            <a:ext cx="4389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AIR</a:t>
            </a:r>
            <a:endParaRPr sz="750">
              <a:solidFill>
                <a:schemeClr val="dk1"/>
              </a:solidFill>
              <a:latin typeface="Calibri"/>
              <a:ea typeface="Calibri"/>
              <a:cs typeface="Calibri"/>
              <a:sym typeface="Calibri"/>
            </a:endParaRPr>
          </a:p>
        </p:txBody>
      </p:sp>
      <p:sp>
        <p:nvSpPr>
          <p:cNvPr id="367" name="Google Shape;367;p14"/>
          <p:cNvSpPr/>
          <p:nvPr/>
        </p:nvSpPr>
        <p:spPr>
          <a:xfrm>
            <a:off x="8202168" y="731520"/>
            <a:ext cx="5028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750"/>
              <a:buFont typeface="Calibri"/>
              <a:buNone/>
            </a:pPr>
            <a:r>
              <a:rPr lang="en-US" sz="750" b="1">
                <a:solidFill>
                  <a:srgbClr val="8899AA"/>
                </a:solidFill>
                <a:latin typeface="Calibri"/>
                <a:ea typeface="Calibri"/>
                <a:cs typeface="Calibri"/>
                <a:sym typeface="Calibri"/>
              </a:rPr>
              <a:t>ME</a:t>
            </a:r>
            <a:endParaRPr sz="750">
              <a:solidFill>
                <a:schemeClr val="dk1"/>
              </a:solidFill>
              <a:latin typeface="Calibri"/>
              <a:ea typeface="Calibri"/>
              <a:cs typeface="Calibri"/>
              <a:sym typeface="Calibri"/>
            </a:endParaRPr>
          </a:p>
        </p:txBody>
      </p:sp>
      <p:sp>
        <p:nvSpPr>
          <p:cNvPr id="368" name="Google Shape;368;p14"/>
          <p:cNvSpPr/>
          <p:nvPr/>
        </p:nvSpPr>
        <p:spPr>
          <a:xfrm>
            <a:off x="5788152" y="932688"/>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14"/>
          <p:cNvSpPr/>
          <p:nvPr/>
        </p:nvSpPr>
        <p:spPr>
          <a:xfrm>
            <a:off x="5815584" y="1024128"/>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Minority Female</a:t>
            </a:r>
            <a:endParaRPr sz="900">
              <a:solidFill>
                <a:schemeClr val="dk1"/>
              </a:solidFill>
              <a:latin typeface="Calibri"/>
              <a:ea typeface="Calibri"/>
              <a:cs typeface="Calibri"/>
              <a:sym typeface="Calibri"/>
            </a:endParaRPr>
          </a:p>
        </p:txBody>
      </p:sp>
      <p:sp>
        <p:nvSpPr>
          <p:cNvPr id="370" name="Google Shape;370;p14"/>
          <p:cNvSpPr/>
          <p:nvPr/>
        </p:nvSpPr>
        <p:spPr>
          <a:xfrm>
            <a:off x="7214616" y="1024128"/>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0.698</a:t>
            </a:r>
            <a:endParaRPr sz="900">
              <a:solidFill>
                <a:schemeClr val="dk1"/>
              </a:solidFill>
              <a:latin typeface="Calibri"/>
              <a:ea typeface="Calibri"/>
              <a:cs typeface="Calibri"/>
              <a:sym typeface="Calibri"/>
            </a:endParaRPr>
          </a:p>
        </p:txBody>
      </p:sp>
      <p:sp>
        <p:nvSpPr>
          <p:cNvPr id="371" name="Google Shape;371;p14"/>
          <p:cNvSpPr/>
          <p:nvPr/>
        </p:nvSpPr>
        <p:spPr>
          <a:xfrm>
            <a:off x="7754112" y="1024128"/>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0.854</a:t>
            </a:r>
            <a:endParaRPr sz="1000">
              <a:solidFill>
                <a:schemeClr val="dk1"/>
              </a:solidFill>
              <a:latin typeface="Calibri"/>
              <a:ea typeface="Calibri"/>
              <a:cs typeface="Calibri"/>
              <a:sym typeface="Calibri"/>
            </a:endParaRPr>
          </a:p>
        </p:txBody>
      </p:sp>
      <p:sp>
        <p:nvSpPr>
          <p:cNvPr id="372" name="Google Shape;372;p14"/>
          <p:cNvSpPr/>
          <p:nvPr/>
        </p:nvSpPr>
        <p:spPr>
          <a:xfrm>
            <a:off x="8202168" y="1024128"/>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−0.120</a:t>
            </a:r>
            <a:endParaRPr sz="900">
              <a:solidFill>
                <a:schemeClr val="dk1"/>
              </a:solidFill>
              <a:latin typeface="Calibri"/>
              <a:ea typeface="Calibri"/>
              <a:cs typeface="Calibri"/>
              <a:sym typeface="Calibri"/>
            </a:endParaRPr>
          </a:p>
        </p:txBody>
      </p:sp>
      <p:sp>
        <p:nvSpPr>
          <p:cNvPr id="373" name="Google Shape;373;p14"/>
          <p:cNvSpPr/>
          <p:nvPr/>
        </p:nvSpPr>
        <p:spPr>
          <a:xfrm>
            <a:off x="5788152" y="1408176"/>
            <a:ext cx="2990100" cy="4389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4" name="Google Shape;374;p14"/>
          <p:cNvSpPr/>
          <p:nvPr/>
        </p:nvSpPr>
        <p:spPr>
          <a:xfrm>
            <a:off x="5815584" y="1499616"/>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Afr.-Amer. Male</a:t>
            </a:r>
            <a:endParaRPr sz="900">
              <a:solidFill>
                <a:schemeClr val="dk1"/>
              </a:solidFill>
              <a:latin typeface="Calibri"/>
              <a:ea typeface="Calibri"/>
              <a:cs typeface="Calibri"/>
              <a:sym typeface="Calibri"/>
            </a:endParaRPr>
          </a:p>
        </p:txBody>
      </p:sp>
      <p:sp>
        <p:nvSpPr>
          <p:cNvPr id="375" name="Google Shape;375;p14"/>
          <p:cNvSpPr/>
          <p:nvPr/>
        </p:nvSpPr>
        <p:spPr>
          <a:xfrm>
            <a:off x="7214616" y="1499616"/>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0.706</a:t>
            </a:r>
            <a:endParaRPr sz="900">
              <a:solidFill>
                <a:schemeClr val="dk1"/>
              </a:solidFill>
              <a:latin typeface="Calibri"/>
              <a:ea typeface="Calibri"/>
              <a:cs typeface="Calibri"/>
              <a:sym typeface="Calibri"/>
            </a:endParaRPr>
          </a:p>
        </p:txBody>
      </p:sp>
      <p:sp>
        <p:nvSpPr>
          <p:cNvPr id="376" name="Google Shape;376;p14"/>
          <p:cNvSpPr/>
          <p:nvPr/>
        </p:nvSpPr>
        <p:spPr>
          <a:xfrm>
            <a:off x="7754112" y="1499616"/>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0.863</a:t>
            </a:r>
            <a:endParaRPr sz="1000">
              <a:solidFill>
                <a:schemeClr val="dk1"/>
              </a:solidFill>
              <a:latin typeface="Calibri"/>
              <a:ea typeface="Calibri"/>
              <a:cs typeface="Calibri"/>
              <a:sym typeface="Calibri"/>
            </a:endParaRPr>
          </a:p>
        </p:txBody>
      </p:sp>
      <p:sp>
        <p:nvSpPr>
          <p:cNvPr id="377" name="Google Shape;377;p14"/>
          <p:cNvSpPr/>
          <p:nvPr/>
        </p:nvSpPr>
        <p:spPr>
          <a:xfrm>
            <a:off x="8202168" y="1499616"/>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−0.112</a:t>
            </a:r>
            <a:endParaRPr sz="900">
              <a:solidFill>
                <a:schemeClr val="dk1"/>
              </a:solidFill>
              <a:latin typeface="Calibri"/>
              <a:ea typeface="Calibri"/>
              <a:cs typeface="Calibri"/>
              <a:sym typeface="Calibri"/>
            </a:endParaRPr>
          </a:p>
        </p:txBody>
      </p:sp>
      <p:sp>
        <p:nvSpPr>
          <p:cNvPr id="378" name="Google Shape;378;p14"/>
          <p:cNvSpPr/>
          <p:nvPr/>
        </p:nvSpPr>
        <p:spPr>
          <a:xfrm>
            <a:off x="5788152" y="1883664"/>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4"/>
          <p:cNvSpPr/>
          <p:nvPr/>
        </p:nvSpPr>
        <p:spPr>
          <a:xfrm>
            <a:off x="5815584" y="1975104"/>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Afr.-Amer. Female</a:t>
            </a:r>
            <a:endParaRPr sz="900">
              <a:solidFill>
                <a:schemeClr val="dk1"/>
              </a:solidFill>
              <a:latin typeface="Calibri"/>
              <a:ea typeface="Calibri"/>
              <a:cs typeface="Calibri"/>
              <a:sym typeface="Calibri"/>
            </a:endParaRPr>
          </a:p>
        </p:txBody>
      </p:sp>
      <p:sp>
        <p:nvSpPr>
          <p:cNvPr id="380" name="Google Shape;380;p14"/>
          <p:cNvSpPr/>
          <p:nvPr/>
        </p:nvSpPr>
        <p:spPr>
          <a:xfrm>
            <a:off x="7214616" y="1975104"/>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0.709</a:t>
            </a:r>
            <a:endParaRPr sz="900">
              <a:solidFill>
                <a:schemeClr val="dk1"/>
              </a:solidFill>
              <a:latin typeface="Calibri"/>
              <a:ea typeface="Calibri"/>
              <a:cs typeface="Calibri"/>
              <a:sym typeface="Calibri"/>
            </a:endParaRPr>
          </a:p>
        </p:txBody>
      </p:sp>
      <p:sp>
        <p:nvSpPr>
          <p:cNvPr id="381" name="Google Shape;381;p14"/>
          <p:cNvSpPr/>
          <p:nvPr/>
        </p:nvSpPr>
        <p:spPr>
          <a:xfrm>
            <a:off x="7754112" y="1975104"/>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0.867</a:t>
            </a:r>
            <a:endParaRPr sz="1000">
              <a:solidFill>
                <a:schemeClr val="dk1"/>
              </a:solidFill>
              <a:latin typeface="Calibri"/>
              <a:ea typeface="Calibri"/>
              <a:cs typeface="Calibri"/>
              <a:sym typeface="Calibri"/>
            </a:endParaRPr>
          </a:p>
        </p:txBody>
      </p:sp>
      <p:sp>
        <p:nvSpPr>
          <p:cNvPr id="382" name="Google Shape;382;p14"/>
          <p:cNvSpPr/>
          <p:nvPr/>
        </p:nvSpPr>
        <p:spPr>
          <a:xfrm>
            <a:off x="8202168" y="1975104"/>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−0.109</a:t>
            </a:r>
            <a:endParaRPr sz="900">
              <a:solidFill>
                <a:schemeClr val="dk1"/>
              </a:solidFill>
              <a:latin typeface="Calibri"/>
              <a:ea typeface="Calibri"/>
              <a:cs typeface="Calibri"/>
              <a:sym typeface="Calibri"/>
            </a:endParaRPr>
          </a:p>
        </p:txBody>
      </p:sp>
      <p:sp>
        <p:nvSpPr>
          <p:cNvPr id="383" name="Google Shape;383;p14"/>
          <p:cNvSpPr/>
          <p:nvPr/>
        </p:nvSpPr>
        <p:spPr>
          <a:xfrm>
            <a:off x="5788152" y="2359152"/>
            <a:ext cx="2990100" cy="4389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14"/>
          <p:cNvSpPr/>
          <p:nvPr/>
        </p:nvSpPr>
        <p:spPr>
          <a:xfrm>
            <a:off x="5815584" y="2450592"/>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Minority Male</a:t>
            </a:r>
            <a:endParaRPr sz="900">
              <a:solidFill>
                <a:schemeClr val="dk1"/>
              </a:solidFill>
              <a:latin typeface="Calibri"/>
              <a:ea typeface="Calibri"/>
              <a:cs typeface="Calibri"/>
              <a:sym typeface="Calibri"/>
            </a:endParaRPr>
          </a:p>
        </p:txBody>
      </p:sp>
      <p:sp>
        <p:nvSpPr>
          <p:cNvPr id="385" name="Google Shape;385;p14"/>
          <p:cNvSpPr/>
          <p:nvPr/>
        </p:nvSpPr>
        <p:spPr>
          <a:xfrm>
            <a:off x="7214616" y="2450592"/>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0.715</a:t>
            </a:r>
            <a:endParaRPr sz="900">
              <a:solidFill>
                <a:schemeClr val="dk1"/>
              </a:solidFill>
              <a:latin typeface="Calibri"/>
              <a:ea typeface="Calibri"/>
              <a:cs typeface="Calibri"/>
              <a:sym typeface="Calibri"/>
            </a:endParaRPr>
          </a:p>
        </p:txBody>
      </p:sp>
      <p:sp>
        <p:nvSpPr>
          <p:cNvPr id="386" name="Google Shape;386;p14"/>
          <p:cNvSpPr/>
          <p:nvPr/>
        </p:nvSpPr>
        <p:spPr>
          <a:xfrm>
            <a:off x="7754112" y="2450592"/>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4A261"/>
              </a:buClr>
              <a:buSzPts val="1000"/>
              <a:buFont typeface="Calibri"/>
              <a:buNone/>
            </a:pPr>
            <a:r>
              <a:rPr lang="en-US" sz="1000" b="1">
                <a:solidFill>
                  <a:srgbClr val="F4A261"/>
                </a:solidFill>
                <a:latin typeface="Calibri"/>
                <a:ea typeface="Calibri"/>
                <a:cs typeface="Calibri"/>
                <a:sym typeface="Calibri"/>
              </a:rPr>
              <a:t>0.874</a:t>
            </a:r>
            <a:endParaRPr sz="1000">
              <a:solidFill>
                <a:schemeClr val="dk1"/>
              </a:solidFill>
              <a:latin typeface="Calibri"/>
              <a:ea typeface="Calibri"/>
              <a:cs typeface="Calibri"/>
              <a:sym typeface="Calibri"/>
            </a:endParaRPr>
          </a:p>
        </p:txBody>
      </p:sp>
      <p:sp>
        <p:nvSpPr>
          <p:cNvPr id="387" name="Google Shape;387;p14"/>
          <p:cNvSpPr/>
          <p:nvPr/>
        </p:nvSpPr>
        <p:spPr>
          <a:xfrm>
            <a:off x="8202168" y="2450592"/>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−0.103</a:t>
            </a:r>
            <a:endParaRPr sz="900">
              <a:solidFill>
                <a:schemeClr val="dk1"/>
              </a:solidFill>
              <a:latin typeface="Calibri"/>
              <a:ea typeface="Calibri"/>
              <a:cs typeface="Calibri"/>
              <a:sym typeface="Calibri"/>
            </a:endParaRPr>
          </a:p>
        </p:txBody>
      </p:sp>
      <p:sp>
        <p:nvSpPr>
          <p:cNvPr id="388" name="Google Shape;388;p14"/>
          <p:cNvSpPr/>
          <p:nvPr/>
        </p:nvSpPr>
        <p:spPr>
          <a:xfrm>
            <a:off x="5788152" y="2834640"/>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14"/>
          <p:cNvSpPr/>
          <p:nvPr/>
        </p:nvSpPr>
        <p:spPr>
          <a:xfrm>
            <a:off x="5815584" y="2926080"/>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 Female</a:t>
            </a:r>
            <a:endParaRPr sz="900">
              <a:solidFill>
                <a:schemeClr val="dk1"/>
              </a:solidFill>
              <a:latin typeface="Calibri"/>
              <a:ea typeface="Calibri"/>
              <a:cs typeface="Calibri"/>
              <a:sym typeface="Calibri"/>
            </a:endParaRPr>
          </a:p>
        </p:txBody>
      </p:sp>
      <p:sp>
        <p:nvSpPr>
          <p:cNvPr id="390" name="Google Shape;390;p14"/>
          <p:cNvSpPr/>
          <p:nvPr/>
        </p:nvSpPr>
        <p:spPr>
          <a:xfrm>
            <a:off x="7214616" y="2926080"/>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0.813</a:t>
            </a:r>
            <a:endParaRPr sz="900">
              <a:solidFill>
                <a:schemeClr val="dk1"/>
              </a:solidFill>
              <a:latin typeface="Calibri"/>
              <a:ea typeface="Calibri"/>
              <a:cs typeface="Calibri"/>
              <a:sym typeface="Calibri"/>
            </a:endParaRPr>
          </a:p>
        </p:txBody>
      </p:sp>
      <p:sp>
        <p:nvSpPr>
          <p:cNvPr id="391" name="Google Shape;391;p14"/>
          <p:cNvSpPr/>
          <p:nvPr/>
        </p:nvSpPr>
        <p:spPr>
          <a:xfrm>
            <a:off x="7754112" y="2926080"/>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1000"/>
              <a:buFont typeface="Calibri"/>
              <a:buNone/>
            </a:pPr>
            <a:r>
              <a:rPr lang="en-US" sz="1000" b="1">
                <a:solidFill>
                  <a:srgbClr val="8899AA"/>
                </a:solidFill>
                <a:latin typeface="Calibri"/>
                <a:ea typeface="Calibri"/>
                <a:cs typeface="Calibri"/>
                <a:sym typeface="Calibri"/>
              </a:rPr>
              <a:t>0.994</a:t>
            </a:r>
            <a:endParaRPr sz="1000">
              <a:solidFill>
                <a:schemeClr val="dk1"/>
              </a:solidFill>
              <a:latin typeface="Calibri"/>
              <a:ea typeface="Calibri"/>
              <a:cs typeface="Calibri"/>
              <a:sym typeface="Calibri"/>
            </a:endParaRPr>
          </a:p>
        </p:txBody>
      </p:sp>
      <p:sp>
        <p:nvSpPr>
          <p:cNvPr id="392" name="Google Shape;392;p14"/>
          <p:cNvSpPr/>
          <p:nvPr/>
        </p:nvSpPr>
        <p:spPr>
          <a:xfrm>
            <a:off x="8202168" y="2926080"/>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−0.005</a:t>
            </a:r>
            <a:endParaRPr sz="900">
              <a:solidFill>
                <a:schemeClr val="dk1"/>
              </a:solidFill>
              <a:latin typeface="Calibri"/>
              <a:ea typeface="Calibri"/>
              <a:cs typeface="Calibri"/>
              <a:sym typeface="Calibri"/>
            </a:endParaRPr>
          </a:p>
        </p:txBody>
      </p:sp>
      <p:sp>
        <p:nvSpPr>
          <p:cNvPr id="393" name="Google Shape;393;p14"/>
          <p:cNvSpPr/>
          <p:nvPr/>
        </p:nvSpPr>
        <p:spPr>
          <a:xfrm>
            <a:off x="5788152" y="3310128"/>
            <a:ext cx="2990100" cy="438900"/>
          </a:xfrm>
          <a:prstGeom prst="rect">
            <a:avLst/>
          </a:prstGeom>
          <a:solidFill>
            <a:srgbClr val="162033"/>
          </a:solidFill>
          <a:ln w="12700" cap="flat" cmpd="sng">
            <a:solidFill>
              <a:srgbClr val="1620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14"/>
          <p:cNvSpPr/>
          <p:nvPr/>
        </p:nvSpPr>
        <p:spPr>
          <a:xfrm>
            <a:off x="5815584" y="3401568"/>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 Male (ref)</a:t>
            </a:r>
            <a:endParaRPr sz="900">
              <a:solidFill>
                <a:schemeClr val="dk1"/>
              </a:solidFill>
              <a:latin typeface="Calibri"/>
              <a:ea typeface="Calibri"/>
              <a:cs typeface="Calibri"/>
              <a:sym typeface="Calibri"/>
            </a:endParaRPr>
          </a:p>
        </p:txBody>
      </p:sp>
      <p:sp>
        <p:nvSpPr>
          <p:cNvPr id="395" name="Google Shape;395;p14"/>
          <p:cNvSpPr/>
          <p:nvPr/>
        </p:nvSpPr>
        <p:spPr>
          <a:xfrm>
            <a:off x="7214616" y="3401568"/>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0.818</a:t>
            </a:r>
            <a:endParaRPr sz="900">
              <a:solidFill>
                <a:schemeClr val="dk1"/>
              </a:solidFill>
              <a:latin typeface="Calibri"/>
              <a:ea typeface="Calibri"/>
              <a:cs typeface="Calibri"/>
              <a:sym typeface="Calibri"/>
            </a:endParaRPr>
          </a:p>
        </p:txBody>
      </p:sp>
      <p:sp>
        <p:nvSpPr>
          <p:cNvPr id="396" name="Google Shape;396;p14"/>
          <p:cNvSpPr/>
          <p:nvPr/>
        </p:nvSpPr>
        <p:spPr>
          <a:xfrm>
            <a:off x="7754112" y="3401568"/>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1000"/>
              <a:buFont typeface="Calibri"/>
              <a:buNone/>
            </a:pPr>
            <a:r>
              <a:rPr lang="en-US" sz="1000" b="1">
                <a:solidFill>
                  <a:srgbClr val="8899AA"/>
                </a:solidFill>
                <a:latin typeface="Calibri"/>
                <a:ea typeface="Calibri"/>
                <a:cs typeface="Calibri"/>
                <a:sym typeface="Calibri"/>
              </a:rPr>
              <a:t>1.000</a:t>
            </a:r>
            <a:endParaRPr sz="1000">
              <a:solidFill>
                <a:schemeClr val="dk1"/>
              </a:solidFill>
              <a:latin typeface="Calibri"/>
              <a:ea typeface="Calibri"/>
              <a:cs typeface="Calibri"/>
              <a:sym typeface="Calibri"/>
            </a:endParaRPr>
          </a:p>
        </p:txBody>
      </p:sp>
      <p:sp>
        <p:nvSpPr>
          <p:cNvPr id="397" name="Google Shape;397;p14"/>
          <p:cNvSpPr/>
          <p:nvPr/>
        </p:nvSpPr>
        <p:spPr>
          <a:xfrm>
            <a:off x="8202168" y="3401568"/>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0.000</a:t>
            </a:r>
            <a:endParaRPr sz="900">
              <a:solidFill>
                <a:schemeClr val="dk1"/>
              </a:solidFill>
              <a:latin typeface="Calibri"/>
              <a:ea typeface="Calibri"/>
              <a:cs typeface="Calibri"/>
              <a:sym typeface="Calibri"/>
            </a:endParaRPr>
          </a:p>
        </p:txBody>
      </p:sp>
      <p:sp>
        <p:nvSpPr>
          <p:cNvPr id="398" name="Google Shape;398;p14"/>
          <p:cNvSpPr/>
          <p:nvPr/>
        </p:nvSpPr>
        <p:spPr>
          <a:xfrm>
            <a:off x="5788152" y="3785616"/>
            <a:ext cx="2990100" cy="438900"/>
          </a:xfrm>
          <a:prstGeom prst="rect">
            <a:avLst/>
          </a:prstGeom>
          <a:solidFill>
            <a:srgbClr val="1A2B40"/>
          </a:solidFill>
          <a:ln w="12700" cap="flat" cmpd="sng">
            <a:solidFill>
              <a:srgbClr val="1A2B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14"/>
          <p:cNvSpPr/>
          <p:nvPr/>
        </p:nvSpPr>
        <p:spPr>
          <a:xfrm>
            <a:off x="5815584" y="3877056"/>
            <a:ext cx="13899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Asian Male</a:t>
            </a:r>
            <a:endParaRPr sz="900">
              <a:solidFill>
                <a:schemeClr val="dk1"/>
              </a:solidFill>
              <a:latin typeface="Calibri"/>
              <a:ea typeface="Calibri"/>
              <a:cs typeface="Calibri"/>
              <a:sym typeface="Calibri"/>
            </a:endParaRPr>
          </a:p>
        </p:txBody>
      </p:sp>
      <p:sp>
        <p:nvSpPr>
          <p:cNvPr id="400" name="Google Shape;400;p14"/>
          <p:cNvSpPr/>
          <p:nvPr/>
        </p:nvSpPr>
        <p:spPr>
          <a:xfrm>
            <a:off x="7214616" y="3877056"/>
            <a:ext cx="530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0.849</a:t>
            </a:r>
            <a:endParaRPr sz="900">
              <a:solidFill>
                <a:schemeClr val="dk1"/>
              </a:solidFill>
              <a:latin typeface="Calibri"/>
              <a:ea typeface="Calibri"/>
              <a:cs typeface="Calibri"/>
              <a:sym typeface="Calibri"/>
            </a:endParaRPr>
          </a:p>
        </p:txBody>
      </p:sp>
      <p:sp>
        <p:nvSpPr>
          <p:cNvPr id="401" name="Google Shape;401;p14"/>
          <p:cNvSpPr/>
          <p:nvPr/>
        </p:nvSpPr>
        <p:spPr>
          <a:xfrm>
            <a:off x="7754112" y="3877056"/>
            <a:ext cx="4389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1000"/>
              <a:buFont typeface="Calibri"/>
              <a:buNone/>
            </a:pPr>
            <a:r>
              <a:rPr lang="en-US" sz="1000" b="1">
                <a:solidFill>
                  <a:srgbClr val="52B788"/>
                </a:solidFill>
                <a:latin typeface="Calibri"/>
                <a:ea typeface="Calibri"/>
                <a:cs typeface="Calibri"/>
                <a:sym typeface="Calibri"/>
              </a:rPr>
              <a:t>1.038</a:t>
            </a:r>
            <a:endParaRPr sz="1000">
              <a:solidFill>
                <a:schemeClr val="dk1"/>
              </a:solidFill>
              <a:latin typeface="Calibri"/>
              <a:ea typeface="Calibri"/>
              <a:cs typeface="Calibri"/>
              <a:sym typeface="Calibri"/>
            </a:endParaRPr>
          </a:p>
        </p:txBody>
      </p:sp>
      <p:sp>
        <p:nvSpPr>
          <p:cNvPr id="402" name="Google Shape;402;p14"/>
          <p:cNvSpPr/>
          <p:nvPr/>
        </p:nvSpPr>
        <p:spPr>
          <a:xfrm>
            <a:off x="8202168" y="3877056"/>
            <a:ext cx="5028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+0.031</a:t>
            </a:r>
            <a:endParaRPr sz="900">
              <a:solidFill>
                <a:schemeClr val="dk1"/>
              </a:solidFill>
              <a:latin typeface="Calibri"/>
              <a:ea typeface="Calibri"/>
              <a:cs typeface="Calibri"/>
              <a:sym typeface="Calibri"/>
            </a:endParaRPr>
          </a:p>
        </p:txBody>
      </p:sp>
      <p:sp>
        <p:nvSpPr>
          <p:cNvPr id="403" name="Google Shape;403;p14"/>
          <p:cNvSpPr/>
          <p:nvPr/>
        </p:nvSpPr>
        <p:spPr>
          <a:xfrm>
            <a:off x="5788152" y="4315968"/>
            <a:ext cx="2990100" cy="694800"/>
          </a:xfrm>
          <a:prstGeom prst="rect">
            <a:avLst/>
          </a:prstGeom>
          <a:solidFill>
            <a:srgbClr val="0F1D2E"/>
          </a:solidFill>
          <a:ln w="12700" cap="flat" cmpd="sng">
            <a:solidFill>
              <a:srgbClr val="2A406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14"/>
          <p:cNvSpPr/>
          <p:nvPr/>
        </p:nvSpPr>
        <p:spPr>
          <a:xfrm>
            <a:off x="5852160" y="4261104"/>
            <a:ext cx="28530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4A261"/>
              </a:buClr>
              <a:buSzPts val="850"/>
              <a:buFont typeface="Calibri"/>
              <a:buNone/>
            </a:pPr>
            <a:r>
              <a:rPr lang="en-US" sz="850" b="1">
                <a:solidFill>
                  <a:srgbClr val="F4A261"/>
                </a:solidFill>
                <a:latin typeface="Calibri"/>
                <a:ea typeface="Calibri"/>
                <a:cs typeface="Calibri"/>
                <a:sym typeface="Calibri"/>
              </a:rPr>
              <a:t>⚡ KEY TAKEAWAY</a:t>
            </a:r>
            <a:endParaRPr sz="850">
              <a:solidFill>
                <a:schemeClr val="dk1"/>
              </a:solidFill>
              <a:latin typeface="Calibri"/>
              <a:ea typeface="Calibri"/>
              <a:cs typeface="Calibri"/>
              <a:sym typeface="Calibri"/>
            </a:endParaRPr>
          </a:p>
        </p:txBody>
      </p:sp>
      <p:sp>
        <p:nvSpPr>
          <p:cNvPr id="405" name="Google Shape;405;p14"/>
          <p:cNvSpPr/>
          <p:nvPr/>
        </p:nvSpPr>
        <p:spPr>
          <a:xfrm>
            <a:off x="5852160" y="4485132"/>
            <a:ext cx="2853000" cy="52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0D5DD"/>
              </a:buClr>
              <a:buSzPts val="850"/>
              <a:buFont typeface="Calibri"/>
              <a:buNone/>
            </a:pPr>
            <a:r>
              <a:rPr lang="en-US" sz="850">
                <a:solidFill>
                  <a:srgbClr val="D0D5DD"/>
                </a:solidFill>
                <a:latin typeface="Calibri"/>
                <a:ea typeface="Calibri"/>
                <a:cs typeface="Calibri"/>
                <a:sym typeface="Calibri"/>
              </a:rPr>
              <a:t>Race-only AIR masked the model's worst decisions. The Race × Gender split is what exposed Minority Female as the group the model penalises most  invisible in any single-variable view.</a:t>
            </a:r>
            <a:endParaRPr sz="8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C2B3A"/>
        </a:solidFill>
        <a:effectLst/>
      </p:bgPr>
    </p:bg>
    <p:spTree>
      <p:nvGrpSpPr>
        <p:cNvPr id="1" name="Shape 410"/>
        <p:cNvGrpSpPr/>
        <p:nvPr/>
      </p:nvGrpSpPr>
      <p:grpSpPr>
        <a:xfrm>
          <a:off x="0" y="0"/>
          <a:ext cx="0" cy="0"/>
          <a:chOff x="0" y="0"/>
          <a:chExt cx="0" cy="0"/>
        </a:xfrm>
      </p:grpSpPr>
      <p:sp>
        <p:nvSpPr>
          <p:cNvPr id="411" name="Google Shape;411;p15"/>
          <p:cNvSpPr/>
          <p:nvPr/>
        </p:nvSpPr>
        <p:spPr>
          <a:xfrm>
            <a:off x="322222" y="127431"/>
            <a:ext cx="8321100" cy="164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Georgia"/>
              <a:buNone/>
            </a:pPr>
            <a:r>
              <a:rPr lang="en-US" sz="3800" b="1" i="0" u="none" strike="noStrike" cap="none">
                <a:solidFill>
                  <a:srgbClr val="FFFFFF"/>
                </a:solidFill>
                <a:latin typeface="Georgia"/>
                <a:ea typeface="Georgia"/>
                <a:cs typeface="Georgia"/>
                <a:sym typeface="Georgia"/>
              </a:rPr>
              <a:t>Q4: Residual Risks</a:t>
            </a:r>
            <a:endParaRPr sz="3800" i="0" u="none" strike="noStrike" cap="none">
              <a:solidFill>
                <a:schemeClr val="dk1"/>
              </a:solidFill>
              <a:latin typeface="Georgia"/>
              <a:ea typeface="Georgia"/>
              <a:cs typeface="Georgia"/>
              <a:sym typeface="Georgia"/>
            </a:endParaRPr>
          </a:p>
          <a:p>
            <a:pPr marL="0" marR="0" lvl="0" indent="0" algn="l" rtl="0">
              <a:spcBef>
                <a:spcPts val="0"/>
              </a:spcBef>
              <a:spcAft>
                <a:spcPts val="0"/>
              </a:spcAft>
              <a:buClr>
                <a:srgbClr val="FFFFFF"/>
              </a:buClr>
              <a:buSzPts val="4000"/>
              <a:buFont typeface="Georgia"/>
              <a:buNone/>
            </a:pPr>
            <a:r>
              <a:rPr lang="en-US" sz="3800" b="1" i="0" u="none" strike="noStrike" cap="none">
                <a:solidFill>
                  <a:srgbClr val="FFFFFF"/>
                </a:solidFill>
                <a:latin typeface="Georgia"/>
                <a:ea typeface="Georgia"/>
                <a:cs typeface="Georgia"/>
                <a:sym typeface="Georgia"/>
              </a:rPr>
              <a:t>&amp; Deployment Defensibility</a:t>
            </a:r>
            <a:endParaRPr sz="3800" i="0" u="none" strike="noStrike" cap="none">
              <a:solidFill>
                <a:schemeClr val="dk1"/>
              </a:solidFill>
              <a:latin typeface="Georgia"/>
              <a:ea typeface="Georgia"/>
              <a:cs typeface="Georgia"/>
              <a:sym typeface="Georgia"/>
            </a:endParaRPr>
          </a:p>
        </p:txBody>
      </p:sp>
      <p:sp>
        <p:nvSpPr>
          <p:cNvPr id="412" name="Google Shape;412;p15"/>
          <p:cNvSpPr/>
          <p:nvPr/>
        </p:nvSpPr>
        <p:spPr>
          <a:xfrm>
            <a:off x="322222" y="1773351"/>
            <a:ext cx="83211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600"/>
              <a:buFont typeface="Georgia"/>
              <a:buNone/>
            </a:pPr>
            <a:r>
              <a:rPr lang="en-US" sz="1600" i="1" u="none" strike="noStrike" cap="none">
                <a:solidFill>
                  <a:srgbClr val="C8A84B"/>
                </a:solidFill>
                <a:latin typeface="Calibri"/>
                <a:ea typeface="Calibri"/>
                <a:cs typeface="Calibri"/>
                <a:sym typeface="Calibri"/>
              </a:rPr>
              <a:t>What risks remain after mitigation and is deployment defensible?</a:t>
            </a:r>
            <a:endParaRPr sz="1600" i="0" u="none" strike="noStrike" cap="none">
              <a:solidFill>
                <a:schemeClr val="dk1"/>
              </a:solidFill>
              <a:latin typeface="Calibri"/>
              <a:ea typeface="Calibri"/>
              <a:cs typeface="Calibri"/>
              <a:sym typeface="Calibri"/>
            </a:endParaRPr>
          </a:p>
        </p:txBody>
      </p:sp>
      <p:sp>
        <p:nvSpPr>
          <p:cNvPr id="413" name="Google Shape;413;p15"/>
          <p:cNvSpPr/>
          <p:nvPr/>
        </p:nvSpPr>
        <p:spPr>
          <a:xfrm>
            <a:off x="322222" y="2230551"/>
            <a:ext cx="8321100" cy="366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15"/>
          <p:cNvSpPr/>
          <p:nvPr/>
        </p:nvSpPr>
        <p:spPr>
          <a:xfrm>
            <a:off x="322222" y="2395143"/>
            <a:ext cx="2651700" cy="1371600"/>
          </a:xfrm>
          <a:prstGeom prst="rect">
            <a:avLst/>
          </a:prstGeom>
          <a:solidFill>
            <a:srgbClr val="162330"/>
          </a:solidFill>
          <a:ln w="1905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5" name="Google Shape;415;p15"/>
          <p:cNvSpPr/>
          <p:nvPr/>
        </p:nvSpPr>
        <p:spPr>
          <a:xfrm>
            <a:off x="431950" y="2440863"/>
            <a:ext cx="24324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AIR Metric</a:t>
            </a:r>
            <a:endParaRPr sz="13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Blindness</a:t>
            </a:r>
            <a:endParaRPr sz="1300">
              <a:solidFill>
                <a:schemeClr val="dk1"/>
              </a:solidFill>
              <a:latin typeface="Calibri"/>
              <a:ea typeface="Calibri"/>
              <a:cs typeface="Calibri"/>
              <a:sym typeface="Calibri"/>
            </a:endParaRPr>
          </a:p>
        </p:txBody>
      </p:sp>
      <p:sp>
        <p:nvSpPr>
          <p:cNvPr id="416" name="Google Shape;416;p15"/>
          <p:cNvSpPr/>
          <p:nvPr/>
        </p:nvSpPr>
        <p:spPr>
          <a:xfrm>
            <a:off x="431950" y="3218103"/>
            <a:ext cx="24324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Metric masking post-attack</a:t>
            </a:r>
            <a:endParaRPr sz="1000">
              <a:solidFill>
                <a:schemeClr val="dk1"/>
              </a:solidFill>
              <a:latin typeface="Calibri"/>
              <a:ea typeface="Calibri"/>
              <a:cs typeface="Calibri"/>
              <a:sym typeface="Calibri"/>
            </a:endParaRPr>
          </a:p>
        </p:txBody>
      </p:sp>
      <p:sp>
        <p:nvSpPr>
          <p:cNvPr id="417" name="Google Shape;417;p15"/>
          <p:cNvSpPr/>
          <p:nvPr/>
        </p:nvSpPr>
        <p:spPr>
          <a:xfrm>
            <a:off x="3156862" y="2395143"/>
            <a:ext cx="2651700" cy="1371600"/>
          </a:xfrm>
          <a:prstGeom prst="rect">
            <a:avLst/>
          </a:prstGeom>
          <a:solidFill>
            <a:srgbClr val="162330"/>
          </a:solidFill>
          <a:ln w="1905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p15"/>
          <p:cNvSpPr/>
          <p:nvPr/>
        </p:nvSpPr>
        <p:spPr>
          <a:xfrm>
            <a:off x="3266590" y="2440863"/>
            <a:ext cx="24324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Historical Bias</a:t>
            </a:r>
            <a:endParaRPr sz="13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Amplification</a:t>
            </a:r>
            <a:endParaRPr sz="1300">
              <a:solidFill>
                <a:schemeClr val="dk1"/>
              </a:solidFill>
              <a:latin typeface="Calibri"/>
              <a:ea typeface="Calibri"/>
              <a:cs typeface="Calibri"/>
              <a:sym typeface="Calibri"/>
            </a:endParaRPr>
          </a:p>
        </p:txBody>
      </p:sp>
      <p:sp>
        <p:nvSpPr>
          <p:cNvPr id="419" name="Google Shape;419;p15"/>
          <p:cNvSpPr/>
          <p:nvPr/>
        </p:nvSpPr>
        <p:spPr>
          <a:xfrm>
            <a:off x="3266590" y="3218103"/>
            <a:ext cx="24324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Training data structural gaps</a:t>
            </a:r>
            <a:endParaRPr sz="1000">
              <a:solidFill>
                <a:schemeClr val="dk1"/>
              </a:solidFill>
              <a:latin typeface="Calibri"/>
              <a:ea typeface="Calibri"/>
              <a:cs typeface="Calibri"/>
              <a:sym typeface="Calibri"/>
            </a:endParaRPr>
          </a:p>
        </p:txBody>
      </p:sp>
      <p:sp>
        <p:nvSpPr>
          <p:cNvPr id="420" name="Google Shape;420;p15"/>
          <p:cNvSpPr/>
          <p:nvPr/>
        </p:nvSpPr>
        <p:spPr>
          <a:xfrm>
            <a:off x="5991502" y="2395143"/>
            <a:ext cx="2651700" cy="1371600"/>
          </a:xfrm>
          <a:prstGeom prst="rect">
            <a:avLst/>
          </a:prstGeom>
          <a:solidFill>
            <a:srgbClr val="162330"/>
          </a:solidFill>
          <a:ln w="1905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15"/>
          <p:cNvSpPr/>
          <p:nvPr/>
        </p:nvSpPr>
        <p:spPr>
          <a:xfrm>
            <a:off x="6101230" y="2440863"/>
            <a:ext cx="24324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  Non-Recourse</a:t>
            </a:r>
            <a:endParaRPr sz="13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&amp; Privacy Gaps</a:t>
            </a:r>
            <a:endParaRPr sz="1300">
              <a:solidFill>
                <a:schemeClr val="dk1"/>
              </a:solidFill>
              <a:latin typeface="Calibri"/>
              <a:ea typeface="Calibri"/>
              <a:cs typeface="Calibri"/>
              <a:sym typeface="Calibri"/>
            </a:endParaRPr>
          </a:p>
        </p:txBody>
      </p:sp>
      <p:sp>
        <p:nvSpPr>
          <p:cNvPr id="422" name="Google Shape;422;p15"/>
          <p:cNvSpPr/>
          <p:nvPr/>
        </p:nvSpPr>
        <p:spPr>
          <a:xfrm>
            <a:off x="6101230" y="3218103"/>
            <a:ext cx="2432400" cy="41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Boundary rigidity · Outlier risk</a:t>
            </a:r>
            <a:endParaRPr sz="1000">
              <a:solidFill>
                <a:schemeClr val="dk1"/>
              </a:solidFill>
              <a:latin typeface="Calibri"/>
              <a:ea typeface="Calibri"/>
              <a:cs typeface="Calibri"/>
              <a:sym typeface="Calibri"/>
            </a:endParaRPr>
          </a:p>
        </p:txBody>
      </p:sp>
      <p:sp>
        <p:nvSpPr>
          <p:cNvPr id="423" name="Google Shape;423;p15"/>
          <p:cNvSpPr/>
          <p:nvPr/>
        </p:nvSpPr>
        <p:spPr>
          <a:xfrm>
            <a:off x="322222" y="4022775"/>
            <a:ext cx="109800" cy="2925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15"/>
          <p:cNvSpPr/>
          <p:nvPr/>
        </p:nvSpPr>
        <p:spPr>
          <a:xfrm>
            <a:off x="523390" y="3949623"/>
            <a:ext cx="40233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1  →  AIR Metric Blindness</a:t>
            </a:r>
            <a:endParaRPr sz="1300">
              <a:solidFill>
                <a:schemeClr val="dk1"/>
              </a:solidFill>
              <a:latin typeface="Calibri"/>
              <a:ea typeface="Calibri"/>
              <a:cs typeface="Calibri"/>
              <a:sym typeface="Calibri"/>
            </a:endParaRPr>
          </a:p>
        </p:txBody>
      </p:sp>
      <p:sp>
        <p:nvSpPr>
          <p:cNvPr id="425" name="Google Shape;425;p15"/>
          <p:cNvSpPr/>
          <p:nvPr/>
        </p:nvSpPr>
        <p:spPr>
          <a:xfrm>
            <a:off x="322222" y="4461687"/>
            <a:ext cx="109800" cy="2925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15"/>
          <p:cNvSpPr/>
          <p:nvPr/>
        </p:nvSpPr>
        <p:spPr>
          <a:xfrm>
            <a:off x="523390" y="4388535"/>
            <a:ext cx="40233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2  →  Historical Bias Amplification</a:t>
            </a:r>
            <a:endParaRPr sz="1300">
              <a:solidFill>
                <a:schemeClr val="dk1"/>
              </a:solidFill>
              <a:latin typeface="Calibri"/>
              <a:ea typeface="Calibri"/>
              <a:cs typeface="Calibri"/>
              <a:sym typeface="Calibri"/>
            </a:endParaRPr>
          </a:p>
        </p:txBody>
      </p:sp>
      <p:sp>
        <p:nvSpPr>
          <p:cNvPr id="427" name="Google Shape;427;p15"/>
          <p:cNvSpPr/>
          <p:nvPr/>
        </p:nvSpPr>
        <p:spPr>
          <a:xfrm>
            <a:off x="4574182" y="4022775"/>
            <a:ext cx="109800" cy="2925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15"/>
          <p:cNvSpPr/>
          <p:nvPr/>
        </p:nvSpPr>
        <p:spPr>
          <a:xfrm>
            <a:off x="4775350" y="3949623"/>
            <a:ext cx="40233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3  →  Non-Recourse &amp; Privacy Gaps</a:t>
            </a:r>
            <a:endParaRPr sz="1300">
              <a:solidFill>
                <a:schemeClr val="dk1"/>
              </a:solidFill>
              <a:latin typeface="Calibri"/>
              <a:ea typeface="Calibri"/>
              <a:cs typeface="Calibri"/>
              <a:sym typeface="Calibri"/>
            </a:endParaRPr>
          </a:p>
        </p:txBody>
      </p:sp>
      <p:sp>
        <p:nvSpPr>
          <p:cNvPr id="429" name="Google Shape;429;p15"/>
          <p:cNvSpPr/>
          <p:nvPr/>
        </p:nvSpPr>
        <p:spPr>
          <a:xfrm>
            <a:off x="4574182" y="4461687"/>
            <a:ext cx="109800" cy="2925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15"/>
          <p:cNvSpPr/>
          <p:nvPr/>
        </p:nvSpPr>
        <p:spPr>
          <a:xfrm>
            <a:off x="4775350" y="4388535"/>
            <a:ext cx="4023300" cy="438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Q5  →  Deployment: Conditionally Defensible</a:t>
            </a:r>
            <a:endParaRPr sz="13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2B3A"/>
        </a:solidFill>
        <a:effectLst/>
      </p:bgPr>
    </p:bg>
    <p:spTree>
      <p:nvGrpSpPr>
        <p:cNvPr id="1" name="Shape 435"/>
        <p:cNvGrpSpPr/>
        <p:nvPr/>
      </p:nvGrpSpPr>
      <p:grpSpPr>
        <a:xfrm>
          <a:off x="0" y="0"/>
          <a:ext cx="0" cy="0"/>
          <a:chOff x="0" y="0"/>
          <a:chExt cx="0" cy="0"/>
        </a:xfrm>
      </p:grpSpPr>
      <p:sp>
        <p:nvSpPr>
          <p:cNvPr id="436" name="Google Shape;436;p16"/>
          <p:cNvSpPr/>
          <p:nvPr/>
        </p:nvSpPr>
        <p:spPr>
          <a:xfrm>
            <a:off x="0" y="0"/>
            <a:ext cx="1188600" cy="3474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7" name="Google Shape;437;p16"/>
          <p:cNvSpPr/>
          <p:nvPr/>
        </p:nvSpPr>
        <p:spPr>
          <a:xfrm>
            <a:off x="0" y="0"/>
            <a:ext cx="11886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RISK 01</a:t>
            </a:r>
            <a:endParaRPr sz="1000">
              <a:solidFill>
                <a:schemeClr val="dk1"/>
              </a:solidFill>
              <a:latin typeface="Calibri"/>
              <a:ea typeface="Calibri"/>
              <a:cs typeface="Calibri"/>
              <a:sym typeface="Calibri"/>
            </a:endParaRPr>
          </a:p>
        </p:txBody>
      </p:sp>
      <p:sp>
        <p:nvSpPr>
          <p:cNvPr id="438" name="Google Shape;438;p16"/>
          <p:cNvSpPr/>
          <p:nvPr/>
        </p:nvSpPr>
        <p:spPr>
          <a:xfrm>
            <a:off x="307792" y="256369"/>
            <a:ext cx="4114800" cy="141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AIR Metric</a:t>
            </a:r>
            <a:endParaRPr sz="3400">
              <a:solidFill>
                <a:schemeClr val="dk1"/>
              </a:solidFill>
              <a:latin typeface="Georgia"/>
              <a:ea typeface="Georgia"/>
              <a:cs typeface="Georgia"/>
              <a:sym typeface="Georgia"/>
            </a:endParaRPr>
          </a:p>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Blindness</a:t>
            </a:r>
            <a:endParaRPr sz="3400">
              <a:solidFill>
                <a:schemeClr val="dk1"/>
              </a:solidFill>
              <a:latin typeface="Georgia"/>
              <a:ea typeface="Georgia"/>
              <a:cs typeface="Georgia"/>
              <a:sym typeface="Georgia"/>
            </a:endParaRPr>
          </a:p>
        </p:txBody>
      </p:sp>
      <p:sp>
        <p:nvSpPr>
          <p:cNvPr id="439" name="Google Shape;439;p16"/>
          <p:cNvSpPr/>
          <p:nvPr/>
        </p:nvSpPr>
        <p:spPr>
          <a:xfrm>
            <a:off x="307792" y="1765129"/>
            <a:ext cx="2194500" cy="3291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16"/>
          <p:cNvSpPr/>
          <p:nvPr/>
        </p:nvSpPr>
        <p:spPr>
          <a:xfrm>
            <a:off x="307792" y="1765129"/>
            <a:ext cx="21945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Poisoning Audit  ·  FPR/FNR</a:t>
            </a:r>
            <a:endParaRPr sz="1000">
              <a:solidFill>
                <a:schemeClr val="dk1"/>
              </a:solidFill>
              <a:latin typeface="Calibri"/>
              <a:ea typeface="Calibri"/>
              <a:cs typeface="Calibri"/>
              <a:sym typeface="Calibri"/>
            </a:endParaRPr>
          </a:p>
        </p:txBody>
      </p:sp>
      <p:sp>
        <p:nvSpPr>
          <p:cNvPr id="441" name="Google Shape;441;p16"/>
          <p:cNvSpPr/>
          <p:nvPr/>
        </p:nvSpPr>
        <p:spPr>
          <a:xfrm>
            <a:off x="307792" y="2222329"/>
            <a:ext cx="54900" cy="7497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16"/>
          <p:cNvSpPr/>
          <p:nvPr/>
        </p:nvSpPr>
        <p:spPr>
          <a:xfrm>
            <a:off x="444952" y="2222329"/>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00"/>
              <a:buFont typeface="Calibri"/>
              <a:buNone/>
            </a:pPr>
            <a:r>
              <a:rPr lang="en-US" sz="1000" b="1">
                <a:solidFill>
                  <a:srgbClr val="E05C3A"/>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443" name="Google Shape;443;p16"/>
          <p:cNvSpPr/>
          <p:nvPr/>
        </p:nvSpPr>
        <p:spPr>
          <a:xfrm>
            <a:off x="444952" y="2460073"/>
            <a:ext cx="3840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Even after a 25% label-flipping attack on African-American applicants, AIR stayed above 0.80, appearing legally compliant while minority-cohort accuracy silently collapsed.</a:t>
            </a:r>
            <a:endParaRPr sz="1050">
              <a:solidFill>
                <a:schemeClr val="dk1"/>
              </a:solidFill>
              <a:latin typeface="Calibri"/>
              <a:ea typeface="Calibri"/>
              <a:cs typeface="Calibri"/>
              <a:sym typeface="Calibri"/>
            </a:endParaRPr>
          </a:p>
        </p:txBody>
      </p:sp>
      <p:sp>
        <p:nvSpPr>
          <p:cNvPr id="444" name="Google Shape;444;p16"/>
          <p:cNvSpPr/>
          <p:nvPr/>
        </p:nvSpPr>
        <p:spPr>
          <a:xfrm>
            <a:off x="307792" y="3118441"/>
            <a:ext cx="54900" cy="7497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16"/>
          <p:cNvSpPr/>
          <p:nvPr/>
        </p:nvSpPr>
        <p:spPr>
          <a:xfrm>
            <a:off x="444952" y="3118441"/>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00"/>
              <a:buFont typeface="Calibri"/>
              <a:buNone/>
            </a:pPr>
            <a:r>
              <a:rPr lang="en-US" sz="1000" b="1">
                <a:solidFill>
                  <a:srgbClr val="E05C3A"/>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446" name="Google Shape;446;p16"/>
          <p:cNvSpPr/>
          <p:nvPr/>
        </p:nvSpPr>
        <p:spPr>
          <a:xfrm>
            <a:off x="444952" y="3356185"/>
            <a:ext cx="3840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AIR measures relative approval volumes, not predictive correctness. An attacker can destroy group-level accuracy without ever moving the ratio.</a:t>
            </a:r>
            <a:endParaRPr sz="1050">
              <a:solidFill>
                <a:schemeClr val="dk1"/>
              </a:solidFill>
              <a:latin typeface="Calibri"/>
              <a:ea typeface="Calibri"/>
              <a:cs typeface="Calibri"/>
              <a:sym typeface="Calibri"/>
            </a:endParaRPr>
          </a:p>
        </p:txBody>
      </p:sp>
      <p:sp>
        <p:nvSpPr>
          <p:cNvPr id="447" name="Google Shape;447;p16"/>
          <p:cNvSpPr/>
          <p:nvPr/>
        </p:nvSpPr>
        <p:spPr>
          <a:xfrm>
            <a:off x="307792" y="4014553"/>
            <a:ext cx="54900" cy="7497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16"/>
          <p:cNvSpPr/>
          <p:nvPr/>
        </p:nvSpPr>
        <p:spPr>
          <a:xfrm>
            <a:off x="444952" y="4014553"/>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00"/>
              <a:buFont typeface="Calibri"/>
              <a:buNone/>
            </a:pPr>
            <a:r>
              <a:rPr lang="en-US" sz="1000" b="1">
                <a:solidFill>
                  <a:srgbClr val="E05C3A"/>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449" name="Google Shape;449;p16"/>
          <p:cNvSpPr/>
          <p:nvPr/>
        </p:nvSpPr>
        <p:spPr>
          <a:xfrm>
            <a:off x="444952" y="4252297"/>
            <a:ext cx="3840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African-American applicants: accurately qualified applicants are denied and unqualified ones approved, but global metrics hide this completely.</a:t>
            </a:r>
            <a:endParaRPr sz="1050">
              <a:solidFill>
                <a:schemeClr val="dk1"/>
              </a:solidFill>
              <a:latin typeface="Calibri"/>
              <a:ea typeface="Calibri"/>
              <a:cs typeface="Calibri"/>
              <a:sym typeface="Calibri"/>
            </a:endParaRPr>
          </a:p>
        </p:txBody>
      </p:sp>
      <p:sp>
        <p:nvSpPr>
          <p:cNvPr id="450" name="Google Shape;450;p16"/>
          <p:cNvSpPr/>
          <p:nvPr/>
        </p:nvSpPr>
        <p:spPr>
          <a:xfrm>
            <a:off x="4553712" y="0"/>
            <a:ext cx="4590300" cy="5143500"/>
          </a:xfrm>
          <a:prstGeom prst="rect">
            <a:avLst/>
          </a:prstGeom>
          <a:solidFill>
            <a:srgbClr val="F5F4EF"/>
          </a:solidFill>
          <a:ln w="12700" cap="flat" cmpd="sng">
            <a:solidFill>
              <a:srgbClr val="F5F4E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16"/>
          <p:cNvSpPr/>
          <p:nvPr/>
        </p:nvSpPr>
        <p:spPr>
          <a:xfrm>
            <a:off x="4553712" y="0"/>
            <a:ext cx="4590300" cy="4755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16"/>
          <p:cNvSpPr/>
          <p:nvPr/>
        </p:nvSpPr>
        <p:spPr>
          <a:xfrm>
            <a:off x="4617720" y="0"/>
            <a:ext cx="44622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Poisoning Attack: Accuracy vs. AIR</a:t>
            </a:r>
            <a:endParaRPr sz="1200">
              <a:solidFill>
                <a:schemeClr val="dk1"/>
              </a:solidFill>
              <a:latin typeface="Calibri"/>
              <a:ea typeface="Calibri"/>
              <a:cs typeface="Calibri"/>
              <a:sym typeface="Calibri"/>
            </a:endParaRPr>
          </a:p>
        </p:txBody>
      </p:sp>
      <p:sp>
        <p:nvSpPr>
          <p:cNvPr id="453" name="Google Shape;453;p16"/>
          <p:cNvSpPr/>
          <p:nvPr/>
        </p:nvSpPr>
        <p:spPr>
          <a:xfrm>
            <a:off x="4617720" y="502920"/>
            <a:ext cx="44622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BAA"/>
              </a:buClr>
              <a:buSzPts val="1000"/>
              <a:buFont typeface="Calibri"/>
              <a:buNone/>
            </a:pPr>
            <a:r>
              <a:rPr lang="en-US" sz="1000" i="1">
                <a:solidFill>
                  <a:srgbClr val="8A9BAA"/>
                </a:solidFill>
                <a:latin typeface="Calibri"/>
                <a:ea typeface="Calibri"/>
                <a:cs typeface="Calibri"/>
                <a:sym typeface="Calibri"/>
              </a:rPr>
              <a:t>25% label-flip targeting African-American cohort</a:t>
            </a:r>
            <a:endParaRPr sz="1000">
              <a:solidFill>
                <a:schemeClr val="dk1"/>
              </a:solidFill>
              <a:latin typeface="Calibri"/>
              <a:ea typeface="Calibri"/>
              <a:cs typeface="Calibri"/>
              <a:sym typeface="Calibri"/>
            </a:endParaRPr>
          </a:p>
        </p:txBody>
      </p:sp>
      <p:sp>
        <p:nvSpPr>
          <p:cNvPr id="454" name="Google Shape;454;p16"/>
          <p:cNvSpPr/>
          <p:nvPr/>
        </p:nvSpPr>
        <p:spPr>
          <a:xfrm>
            <a:off x="4663440" y="868680"/>
            <a:ext cx="2057400" cy="1170300"/>
          </a:xfrm>
          <a:prstGeom prst="rect">
            <a:avLst/>
          </a:prstGeom>
          <a:solidFill>
            <a:srgbClr val="FFFFFF"/>
          </a:solidFill>
          <a:ln w="12700" cap="flat" cmpd="sng">
            <a:solidFill>
              <a:srgbClr val="E8E6E0"/>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16"/>
          <p:cNvSpPr/>
          <p:nvPr/>
        </p:nvSpPr>
        <p:spPr>
          <a:xfrm>
            <a:off x="4663440" y="868680"/>
            <a:ext cx="2057400" cy="549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16"/>
          <p:cNvSpPr/>
          <p:nvPr/>
        </p:nvSpPr>
        <p:spPr>
          <a:xfrm>
            <a:off x="4754880" y="978408"/>
            <a:ext cx="18744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2200"/>
              <a:buFont typeface="Georgia"/>
              <a:buNone/>
            </a:pPr>
            <a:r>
              <a:rPr lang="en-US" sz="2200" b="1">
                <a:solidFill>
                  <a:srgbClr val="1C2B3A"/>
                </a:solidFill>
                <a:latin typeface="Georgia"/>
                <a:ea typeface="Georgia"/>
                <a:cs typeface="Georgia"/>
                <a:sym typeface="Georgia"/>
              </a:rPr>
              <a:t>−0.5%</a:t>
            </a:r>
            <a:endParaRPr sz="2200">
              <a:solidFill>
                <a:schemeClr val="dk1"/>
              </a:solidFill>
              <a:latin typeface="Calibri"/>
              <a:ea typeface="Calibri"/>
              <a:cs typeface="Calibri"/>
              <a:sym typeface="Calibri"/>
            </a:endParaRPr>
          </a:p>
        </p:txBody>
      </p:sp>
      <p:sp>
        <p:nvSpPr>
          <p:cNvPr id="457" name="Google Shape;457;p16"/>
          <p:cNvSpPr/>
          <p:nvPr/>
        </p:nvSpPr>
        <p:spPr>
          <a:xfrm>
            <a:off x="4754880" y="1481328"/>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Accuracy Drop (global)</a:t>
            </a:r>
            <a:endParaRPr sz="950">
              <a:solidFill>
                <a:schemeClr val="dk1"/>
              </a:solidFill>
              <a:latin typeface="Calibri"/>
              <a:ea typeface="Calibri"/>
              <a:cs typeface="Calibri"/>
              <a:sym typeface="Calibri"/>
            </a:endParaRPr>
          </a:p>
        </p:txBody>
      </p:sp>
      <p:sp>
        <p:nvSpPr>
          <p:cNvPr id="458" name="Google Shape;458;p16"/>
          <p:cNvSpPr/>
          <p:nvPr/>
        </p:nvSpPr>
        <p:spPr>
          <a:xfrm>
            <a:off x="4754880" y="1737360"/>
            <a:ext cx="187440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0.8136 → 0.8082</a:t>
            </a:r>
            <a:endParaRPr sz="900">
              <a:solidFill>
                <a:schemeClr val="dk1"/>
              </a:solidFill>
              <a:latin typeface="Calibri"/>
              <a:ea typeface="Calibri"/>
              <a:cs typeface="Calibri"/>
              <a:sym typeface="Calibri"/>
            </a:endParaRPr>
          </a:p>
        </p:txBody>
      </p:sp>
      <p:sp>
        <p:nvSpPr>
          <p:cNvPr id="459" name="Google Shape;459;p16"/>
          <p:cNvSpPr/>
          <p:nvPr/>
        </p:nvSpPr>
        <p:spPr>
          <a:xfrm>
            <a:off x="6876288" y="868680"/>
            <a:ext cx="2057400" cy="1170300"/>
          </a:xfrm>
          <a:prstGeom prst="rect">
            <a:avLst/>
          </a:prstGeom>
          <a:solidFill>
            <a:srgbClr val="FFFFFF"/>
          </a:solidFill>
          <a:ln w="12700" cap="flat" cmpd="sng">
            <a:solidFill>
              <a:srgbClr val="E8E6E0"/>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0" name="Google Shape;460;p16"/>
          <p:cNvSpPr/>
          <p:nvPr/>
        </p:nvSpPr>
        <p:spPr>
          <a:xfrm>
            <a:off x="6876288" y="868680"/>
            <a:ext cx="2057400" cy="549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1" name="Google Shape;461;p16"/>
          <p:cNvSpPr/>
          <p:nvPr/>
        </p:nvSpPr>
        <p:spPr>
          <a:xfrm>
            <a:off x="6967728" y="978408"/>
            <a:ext cx="18744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2200"/>
              <a:buFont typeface="Georgia"/>
              <a:buNone/>
            </a:pPr>
            <a:r>
              <a:rPr lang="en-US" sz="2200" b="1">
                <a:solidFill>
                  <a:srgbClr val="1C2B3A"/>
                </a:solidFill>
                <a:latin typeface="Georgia"/>
                <a:ea typeface="Georgia"/>
                <a:cs typeface="Georgia"/>
                <a:sym typeface="Georgia"/>
              </a:rPr>
              <a:t>−0.008</a:t>
            </a:r>
            <a:endParaRPr sz="2200">
              <a:solidFill>
                <a:schemeClr val="dk1"/>
              </a:solidFill>
              <a:latin typeface="Calibri"/>
              <a:ea typeface="Calibri"/>
              <a:cs typeface="Calibri"/>
              <a:sym typeface="Calibri"/>
            </a:endParaRPr>
          </a:p>
        </p:txBody>
      </p:sp>
      <p:sp>
        <p:nvSpPr>
          <p:cNvPr id="462" name="Google Shape;462;p16"/>
          <p:cNvSpPr/>
          <p:nvPr/>
        </p:nvSpPr>
        <p:spPr>
          <a:xfrm>
            <a:off x="6967728" y="1481328"/>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AIR Shift (post-attack)</a:t>
            </a:r>
            <a:endParaRPr sz="950">
              <a:solidFill>
                <a:schemeClr val="dk1"/>
              </a:solidFill>
              <a:latin typeface="Calibri"/>
              <a:ea typeface="Calibri"/>
              <a:cs typeface="Calibri"/>
              <a:sym typeface="Calibri"/>
            </a:endParaRPr>
          </a:p>
        </p:txBody>
      </p:sp>
      <p:sp>
        <p:nvSpPr>
          <p:cNvPr id="463" name="Google Shape;463;p16"/>
          <p:cNvSpPr/>
          <p:nvPr/>
        </p:nvSpPr>
        <p:spPr>
          <a:xfrm>
            <a:off x="6967728" y="1737360"/>
            <a:ext cx="187440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0.9460 → 0.9387</a:t>
            </a:r>
            <a:endParaRPr sz="900">
              <a:solidFill>
                <a:schemeClr val="dk1"/>
              </a:solidFill>
              <a:latin typeface="Calibri"/>
              <a:ea typeface="Calibri"/>
              <a:cs typeface="Calibri"/>
              <a:sym typeface="Calibri"/>
            </a:endParaRPr>
          </a:p>
        </p:txBody>
      </p:sp>
      <p:sp>
        <p:nvSpPr>
          <p:cNvPr id="464" name="Google Shape;464;p16"/>
          <p:cNvSpPr/>
          <p:nvPr/>
        </p:nvSpPr>
        <p:spPr>
          <a:xfrm>
            <a:off x="4663440" y="2167128"/>
            <a:ext cx="2057400" cy="1170300"/>
          </a:xfrm>
          <a:prstGeom prst="rect">
            <a:avLst/>
          </a:prstGeom>
          <a:solidFill>
            <a:srgbClr val="FFFFFF"/>
          </a:solidFill>
          <a:ln w="12700" cap="flat" cmpd="sng">
            <a:solidFill>
              <a:srgbClr val="E8E6E0"/>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5" name="Google Shape;465;p16"/>
          <p:cNvSpPr/>
          <p:nvPr/>
        </p:nvSpPr>
        <p:spPr>
          <a:xfrm>
            <a:off x="4663440" y="2167128"/>
            <a:ext cx="2057400" cy="549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6" name="Google Shape;466;p16"/>
          <p:cNvSpPr/>
          <p:nvPr/>
        </p:nvSpPr>
        <p:spPr>
          <a:xfrm>
            <a:off x="4754880" y="2276856"/>
            <a:ext cx="18744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2200"/>
              <a:buFont typeface="Georgia"/>
              <a:buNone/>
            </a:pPr>
            <a:r>
              <a:rPr lang="en-US" sz="2200" b="1">
                <a:solidFill>
                  <a:srgbClr val="1C2B3A"/>
                </a:solidFill>
                <a:latin typeface="Georgia"/>
                <a:ea typeface="Georgia"/>
                <a:cs typeface="Georgia"/>
                <a:sym typeface="Georgia"/>
              </a:rPr>
              <a:t>ABOVE 0.80</a:t>
            </a:r>
            <a:endParaRPr sz="2200">
              <a:solidFill>
                <a:schemeClr val="dk1"/>
              </a:solidFill>
              <a:latin typeface="Calibri"/>
              <a:ea typeface="Calibri"/>
              <a:cs typeface="Calibri"/>
              <a:sym typeface="Calibri"/>
            </a:endParaRPr>
          </a:p>
        </p:txBody>
      </p:sp>
      <p:sp>
        <p:nvSpPr>
          <p:cNvPr id="467" name="Google Shape;467;p16"/>
          <p:cNvSpPr/>
          <p:nvPr/>
        </p:nvSpPr>
        <p:spPr>
          <a:xfrm>
            <a:off x="4754880" y="2779776"/>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AIR vs. Threshold</a:t>
            </a:r>
            <a:endParaRPr sz="950">
              <a:solidFill>
                <a:schemeClr val="dk1"/>
              </a:solidFill>
              <a:latin typeface="Calibri"/>
              <a:ea typeface="Calibri"/>
              <a:cs typeface="Calibri"/>
              <a:sym typeface="Calibri"/>
            </a:endParaRPr>
          </a:p>
        </p:txBody>
      </p:sp>
      <p:sp>
        <p:nvSpPr>
          <p:cNvPr id="468" name="Google Shape;468;p16"/>
          <p:cNvSpPr/>
          <p:nvPr/>
        </p:nvSpPr>
        <p:spPr>
          <a:xfrm>
            <a:off x="4754880" y="3035808"/>
            <a:ext cx="187440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Appears compliant</a:t>
            </a:r>
            <a:endParaRPr sz="900">
              <a:solidFill>
                <a:schemeClr val="dk1"/>
              </a:solidFill>
              <a:latin typeface="Calibri"/>
              <a:ea typeface="Calibri"/>
              <a:cs typeface="Calibri"/>
              <a:sym typeface="Calibri"/>
            </a:endParaRPr>
          </a:p>
        </p:txBody>
      </p:sp>
      <p:sp>
        <p:nvSpPr>
          <p:cNvPr id="469" name="Google Shape;469;p16"/>
          <p:cNvSpPr/>
          <p:nvPr/>
        </p:nvSpPr>
        <p:spPr>
          <a:xfrm>
            <a:off x="6876288" y="2167128"/>
            <a:ext cx="2057400" cy="1170300"/>
          </a:xfrm>
          <a:prstGeom prst="rect">
            <a:avLst/>
          </a:prstGeom>
          <a:solidFill>
            <a:srgbClr val="FFFFFF"/>
          </a:solidFill>
          <a:ln w="25400" cap="flat" cmpd="sng">
            <a:solidFill>
              <a:srgbClr val="E05C3A"/>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0" name="Google Shape;470;p16"/>
          <p:cNvSpPr/>
          <p:nvPr/>
        </p:nvSpPr>
        <p:spPr>
          <a:xfrm>
            <a:off x="6876288" y="2167128"/>
            <a:ext cx="2057400" cy="54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p16"/>
          <p:cNvSpPr/>
          <p:nvPr/>
        </p:nvSpPr>
        <p:spPr>
          <a:xfrm>
            <a:off x="6931152" y="2286000"/>
            <a:ext cx="20301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5C3A"/>
              </a:buClr>
              <a:buSzPts val="2200"/>
              <a:buFont typeface="Georgia"/>
              <a:buNone/>
            </a:pPr>
            <a:r>
              <a:rPr lang="en-US" sz="2200" b="1">
                <a:solidFill>
                  <a:srgbClr val="E05C3A"/>
                </a:solidFill>
                <a:latin typeface="Georgia"/>
                <a:ea typeface="Georgia"/>
                <a:cs typeface="Georgia"/>
                <a:sym typeface="Georgia"/>
              </a:rPr>
              <a:t>COLLAPSED</a:t>
            </a:r>
            <a:endParaRPr sz="2200">
              <a:solidFill>
                <a:schemeClr val="dk1"/>
              </a:solidFill>
              <a:latin typeface="Calibri"/>
              <a:ea typeface="Calibri"/>
              <a:cs typeface="Calibri"/>
              <a:sym typeface="Calibri"/>
            </a:endParaRPr>
          </a:p>
        </p:txBody>
      </p:sp>
      <p:sp>
        <p:nvSpPr>
          <p:cNvPr id="472" name="Google Shape;472;p16"/>
          <p:cNvSpPr/>
          <p:nvPr/>
        </p:nvSpPr>
        <p:spPr>
          <a:xfrm>
            <a:off x="6967728" y="2779776"/>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Minority Cohort Accuracy</a:t>
            </a:r>
            <a:endParaRPr sz="950">
              <a:solidFill>
                <a:schemeClr val="dk1"/>
              </a:solidFill>
              <a:latin typeface="Calibri"/>
              <a:ea typeface="Calibri"/>
              <a:cs typeface="Calibri"/>
              <a:sym typeface="Calibri"/>
            </a:endParaRPr>
          </a:p>
        </p:txBody>
      </p:sp>
      <p:sp>
        <p:nvSpPr>
          <p:cNvPr id="473" name="Google Shape;473;p16"/>
          <p:cNvSpPr/>
          <p:nvPr/>
        </p:nvSpPr>
        <p:spPr>
          <a:xfrm>
            <a:off x="6967728" y="3035808"/>
            <a:ext cx="187440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Hidden by global avg</a:t>
            </a:r>
            <a:endParaRPr sz="900">
              <a:solidFill>
                <a:schemeClr val="dk1"/>
              </a:solidFill>
              <a:latin typeface="Calibri"/>
              <a:ea typeface="Calibri"/>
              <a:cs typeface="Calibri"/>
              <a:sym typeface="Calibri"/>
            </a:endParaRPr>
          </a:p>
        </p:txBody>
      </p:sp>
      <p:sp>
        <p:nvSpPr>
          <p:cNvPr id="474" name="Google Shape;474;p16"/>
          <p:cNvSpPr/>
          <p:nvPr/>
        </p:nvSpPr>
        <p:spPr>
          <a:xfrm>
            <a:off x="4617720" y="3520440"/>
            <a:ext cx="4370700" cy="914400"/>
          </a:xfrm>
          <a:prstGeom prst="rect">
            <a:avLst/>
          </a:prstGeom>
          <a:solidFill>
            <a:srgbClr val="162330"/>
          </a:solidFill>
          <a:ln w="1905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16"/>
          <p:cNvSpPr/>
          <p:nvPr/>
        </p:nvSpPr>
        <p:spPr>
          <a:xfrm>
            <a:off x="4709160" y="3547872"/>
            <a:ext cx="4206300" cy="859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8A84B"/>
              </a:buClr>
              <a:buSzPts val="1050"/>
              <a:buFont typeface="Calibri"/>
              <a:buNone/>
            </a:pPr>
            <a:r>
              <a:rPr lang="en-US" sz="1050" b="1">
                <a:solidFill>
                  <a:srgbClr val="C8A84B"/>
                </a:solidFill>
                <a:latin typeface="Calibri"/>
                <a:ea typeface="Calibri"/>
                <a:cs typeface="Calibri"/>
                <a:sym typeface="Calibri"/>
              </a:rPr>
              <a:t>Key Insight: </a:t>
            </a:r>
            <a:r>
              <a:rPr lang="en-US" sz="1050">
                <a:solidFill>
                  <a:srgbClr val="FFFFFF"/>
                </a:solidFill>
                <a:latin typeface="Calibri"/>
                <a:ea typeface="Calibri"/>
                <a:cs typeface="Calibri"/>
                <a:sym typeface="Calibri"/>
              </a:rPr>
              <a:t>AIR is blind to targeted adversarial attacks. Global metrics must be replaced by per-group FPR/FNR dashboards — a monitoring gap that persists post-mitigation.</a:t>
            </a:r>
            <a:endParaRPr sz="1050">
              <a:solidFill>
                <a:schemeClr val="dk1"/>
              </a:solidFill>
              <a:latin typeface="Calibri"/>
              <a:ea typeface="Calibri"/>
              <a:cs typeface="Calibri"/>
              <a:sym typeface="Calibri"/>
            </a:endParaRPr>
          </a:p>
        </p:txBody>
      </p:sp>
      <p:sp>
        <p:nvSpPr>
          <p:cNvPr id="476" name="Google Shape;476;p16"/>
          <p:cNvSpPr/>
          <p:nvPr/>
        </p:nvSpPr>
        <p:spPr>
          <a:xfrm>
            <a:off x="7589520" y="0"/>
            <a:ext cx="1554600" cy="3474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7" name="Google Shape;477;p16"/>
          <p:cNvSpPr/>
          <p:nvPr/>
        </p:nvSpPr>
        <p:spPr>
          <a:xfrm>
            <a:off x="7589520" y="0"/>
            <a:ext cx="15546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SEVERITY: HIGH</a:t>
            </a:r>
            <a:endParaRPr sz="9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2B3A"/>
        </a:solidFill>
        <a:effectLst/>
      </p:bgPr>
    </p:bg>
    <p:spTree>
      <p:nvGrpSpPr>
        <p:cNvPr id="1" name="Shape 482"/>
        <p:cNvGrpSpPr/>
        <p:nvPr/>
      </p:nvGrpSpPr>
      <p:grpSpPr>
        <a:xfrm>
          <a:off x="0" y="0"/>
          <a:ext cx="0" cy="0"/>
          <a:chOff x="0" y="0"/>
          <a:chExt cx="0" cy="0"/>
        </a:xfrm>
      </p:grpSpPr>
      <p:sp>
        <p:nvSpPr>
          <p:cNvPr id="483" name="Google Shape;483;p17"/>
          <p:cNvSpPr/>
          <p:nvPr/>
        </p:nvSpPr>
        <p:spPr>
          <a:xfrm>
            <a:off x="0" y="0"/>
            <a:ext cx="1188600" cy="3474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4" name="Google Shape;484;p17"/>
          <p:cNvSpPr/>
          <p:nvPr/>
        </p:nvSpPr>
        <p:spPr>
          <a:xfrm>
            <a:off x="0" y="0"/>
            <a:ext cx="11886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RISK 02</a:t>
            </a:r>
            <a:endParaRPr sz="1000">
              <a:solidFill>
                <a:schemeClr val="dk1"/>
              </a:solidFill>
              <a:latin typeface="Calibri"/>
              <a:ea typeface="Calibri"/>
              <a:cs typeface="Calibri"/>
              <a:sym typeface="Calibri"/>
            </a:endParaRPr>
          </a:p>
        </p:txBody>
      </p:sp>
      <p:sp>
        <p:nvSpPr>
          <p:cNvPr id="485" name="Google Shape;485;p17"/>
          <p:cNvSpPr/>
          <p:nvPr/>
        </p:nvSpPr>
        <p:spPr>
          <a:xfrm>
            <a:off x="274320" y="289841"/>
            <a:ext cx="4114800" cy="141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Historical Bias</a:t>
            </a:r>
            <a:endParaRPr sz="3400">
              <a:solidFill>
                <a:schemeClr val="dk1"/>
              </a:solidFill>
              <a:latin typeface="Georgia"/>
              <a:ea typeface="Georgia"/>
              <a:cs typeface="Georgia"/>
              <a:sym typeface="Georgia"/>
            </a:endParaRPr>
          </a:p>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Amplification</a:t>
            </a:r>
            <a:endParaRPr sz="3400">
              <a:solidFill>
                <a:schemeClr val="dk1"/>
              </a:solidFill>
              <a:latin typeface="Georgia"/>
              <a:ea typeface="Georgia"/>
              <a:cs typeface="Georgia"/>
              <a:sym typeface="Georgia"/>
            </a:endParaRPr>
          </a:p>
        </p:txBody>
      </p:sp>
      <p:sp>
        <p:nvSpPr>
          <p:cNvPr id="486" name="Google Shape;486;p17"/>
          <p:cNvSpPr/>
          <p:nvPr/>
        </p:nvSpPr>
        <p:spPr>
          <a:xfrm>
            <a:off x="274320" y="1798601"/>
            <a:ext cx="2377500" cy="3291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7" name="Google Shape;487;p17"/>
          <p:cNvSpPr/>
          <p:nvPr/>
        </p:nvSpPr>
        <p:spPr>
          <a:xfrm>
            <a:off x="274320" y="1798601"/>
            <a:ext cx="23775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Training Data  ·  SHAP  ·  AIR</a:t>
            </a:r>
            <a:endParaRPr sz="1000">
              <a:solidFill>
                <a:schemeClr val="dk1"/>
              </a:solidFill>
              <a:latin typeface="Calibri"/>
              <a:ea typeface="Calibri"/>
              <a:cs typeface="Calibri"/>
              <a:sym typeface="Calibri"/>
            </a:endParaRPr>
          </a:p>
        </p:txBody>
      </p:sp>
      <p:sp>
        <p:nvSpPr>
          <p:cNvPr id="488" name="Google Shape;488;p17"/>
          <p:cNvSpPr/>
          <p:nvPr/>
        </p:nvSpPr>
        <p:spPr>
          <a:xfrm>
            <a:off x="274320" y="2255801"/>
            <a:ext cx="54900" cy="7314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17"/>
          <p:cNvSpPr/>
          <p:nvPr/>
        </p:nvSpPr>
        <p:spPr>
          <a:xfrm>
            <a:off x="411480" y="2255801"/>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000"/>
              <a:buFont typeface="Calibri"/>
              <a:buNone/>
            </a:pPr>
            <a:r>
              <a:rPr lang="en-US" sz="1000" b="1">
                <a:solidFill>
                  <a:srgbClr val="C8A84B"/>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490" name="Google Shape;490;p17"/>
          <p:cNvSpPr/>
          <p:nvPr/>
        </p:nvSpPr>
        <p:spPr>
          <a:xfrm>
            <a:off x="411480" y="2493545"/>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XGBoost trained on 2024 HMDA data inherits structural racial composition imbalances from decades of discriminatory lending. An applicant in a historically redlined zip code faces a harder boundary despite equal financial credentials.</a:t>
            </a:r>
            <a:endParaRPr sz="1050">
              <a:solidFill>
                <a:schemeClr val="dk1"/>
              </a:solidFill>
              <a:latin typeface="Calibri"/>
              <a:ea typeface="Calibri"/>
              <a:cs typeface="Calibri"/>
              <a:sym typeface="Calibri"/>
            </a:endParaRPr>
          </a:p>
        </p:txBody>
      </p:sp>
      <p:sp>
        <p:nvSpPr>
          <p:cNvPr id="491" name="Google Shape;491;p17"/>
          <p:cNvSpPr/>
          <p:nvPr/>
        </p:nvSpPr>
        <p:spPr>
          <a:xfrm>
            <a:off x="274320" y="3124481"/>
            <a:ext cx="54900" cy="7314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17"/>
          <p:cNvSpPr/>
          <p:nvPr/>
        </p:nvSpPr>
        <p:spPr>
          <a:xfrm>
            <a:off x="411480" y="3124481"/>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000"/>
              <a:buFont typeface="Calibri"/>
              <a:buNone/>
            </a:pPr>
            <a:r>
              <a:rPr lang="en-US" sz="1000" b="1">
                <a:solidFill>
                  <a:srgbClr val="C8A84B"/>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493" name="Google Shape;493;p17"/>
          <p:cNvSpPr/>
          <p:nvPr/>
        </p:nvSpPr>
        <p:spPr>
          <a:xfrm>
            <a:off x="411480" y="3362225"/>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Reweighting and fairness constraints were evaluated during the audit but never applied to the production model. The bias is learned, then silently scaled at inference time.</a:t>
            </a:r>
            <a:endParaRPr sz="1050">
              <a:solidFill>
                <a:schemeClr val="dk1"/>
              </a:solidFill>
              <a:latin typeface="Calibri"/>
              <a:ea typeface="Calibri"/>
              <a:cs typeface="Calibri"/>
              <a:sym typeface="Calibri"/>
            </a:endParaRPr>
          </a:p>
        </p:txBody>
      </p:sp>
      <p:sp>
        <p:nvSpPr>
          <p:cNvPr id="494" name="Google Shape;494;p17"/>
          <p:cNvSpPr/>
          <p:nvPr/>
        </p:nvSpPr>
        <p:spPr>
          <a:xfrm>
            <a:off x="274320" y="3993161"/>
            <a:ext cx="54900" cy="7314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17"/>
          <p:cNvSpPr/>
          <p:nvPr/>
        </p:nvSpPr>
        <p:spPr>
          <a:xfrm>
            <a:off x="411480" y="3993161"/>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000"/>
              <a:buFont typeface="Calibri"/>
              <a:buNone/>
            </a:pPr>
            <a:r>
              <a:rPr lang="en-US" sz="1000" b="1">
                <a:solidFill>
                  <a:srgbClr val="C8A84B"/>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496" name="Google Shape;496;p17"/>
          <p:cNvSpPr/>
          <p:nvPr/>
        </p:nvSpPr>
        <p:spPr>
          <a:xfrm>
            <a:off x="411480" y="4230905"/>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Minority applicants in lower-income MSA census tracts, the model penalizes geography, not personal risk.</a:t>
            </a:r>
            <a:endParaRPr sz="1050">
              <a:solidFill>
                <a:schemeClr val="dk1"/>
              </a:solidFill>
              <a:latin typeface="Calibri"/>
              <a:ea typeface="Calibri"/>
              <a:cs typeface="Calibri"/>
              <a:sym typeface="Calibri"/>
            </a:endParaRPr>
          </a:p>
        </p:txBody>
      </p:sp>
      <p:sp>
        <p:nvSpPr>
          <p:cNvPr id="497" name="Google Shape;497;p17"/>
          <p:cNvSpPr/>
          <p:nvPr/>
        </p:nvSpPr>
        <p:spPr>
          <a:xfrm>
            <a:off x="4553712" y="0"/>
            <a:ext cx="4590300" cy="5143500"/>
          </a:xfrm>
          <a:prstGeom prst="rect">
            <a:avLst/>
          </a:prstGeom>
          <a:solidFill>
            <a:srgbClr val="F5F4EF"/>
          </a:solidFill>
          <a:ln w="12700" cap="flat" cmpd="sng">
            <a:solidFill>
              <a:srgbClr val="F5F4E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17"/>
          <p:cNvSpPr/>
          <p:nvPr/>
        </p:nvSpPr>
        <p:spPr>
          <a:xfrm>
            <a:off x="4553712" y="0"/>
            <a:ext cx="4590300" cy="4755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17"/>
          <p:cNvSpPr/>
          <p:nvPr/>
        </p:nvSpPr>
        <p:spPr>
          <a:xfrm>
            <a:off x="4617720" y="0"/>
            <a:ext cx="44622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Fairness Audit  ·  Intersectional Results</a:t>
            </a:r>
            <a:endParaRPr sz="1200">
              <a:solidFill>
                <a:schemeClr val="dk1"/>
              </a:solidFill>
              <a:latin typeface="Calibri"/>
              <a:ea typeface="Calibri"/>
              <a:cs typeface="Calibri"/>
              <a:sym typeface="Calibri"/>
            </a:endParaRPr>
          </a:p>
        </p:txBody>
      </p:sp>
      <p:sp>
        <p:nvSpPr>
          <p:cNvPr id="500" name="Google Shape;500;p17"/>
          <p:cNvSpPr/>
          <p:nvPr/>
        </p:nvSpPr>
        <p:spPr>
          <a:xfrm>
            <a:off x="4617720" y="502920"/>
            <a:ext cx="44622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BAA"/>
              </a:buClr>
              <a:buSzPts val="1000"/>
              <a:buFont typeface="Calibri"/>
              <a:buNone/>
            </a:pPr>
            <a:r>
              <a:rPr lang="en-US" sz="1000" i="1">
                <a:solidFill>
                  <a:srgbClr val="8A9BAA"/>
                </a:solidFill>
                <a:latin typeface="Calibri"/>
                <a:ea typeface="Calibri"/>
                <a:cs typeface="Calibri"/>
                <a:sym typeface="Calibri"/>
              </a:rPr>
              <a:t>Race × Gender subgroup performance — post-mitigation snapshot</a:t>
            </a:r>
            <a:endParaRPr sz="1000">
              <a:solidFill>
                <a:schemeClr val="dk1"/>
              </a:solidFill>
              <a:latin typeface="Calibri"/>
              <a:ea typeface="Calibri"/>
              <a:cs typeface="Calibri"/>
              <a:sym typeface="Calibri"/>
            </a:endParaRPr>
          </a:p>
        </p:txBody>
      </p:sp>
      <p:sp>
        <p:nvSpPr>
          <p:cNvPr id="501" name="Google Shape;501;p17"/>
          <p:cNvSpPr/>
          <p:nvPr/>
        </p:nvSpPr>
        <p:spPr>
          <a:xfrm>
            <a:off x="4663440" y="822960"/>
            <a:ext cx="2194500" cy="3657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2" name="Google Shape;502;p17"/>
          <p:cNvSpPr/>
          <p:nvPr/>
        </p:nvSpPr>
        <p:spPr>
          <a:xfrm>
            <a:off x="4736592" y="822960"/>
            <a:ext cx="2103000"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Subgroup</a:t>
            </a:r>
            <a:endParaRPr sz="1100">
              <a:solidFill>
                <a:schemeClr val="dk1"/>
              </a:solidFill>
              <a:latin typeface="Calibri"/>
              <a:ea typeface="Calibri"/>
              <a:cs typeface="Calibri"/>
              <a:sym typeface="Calibri"/>
            </a:endParaRPr>
          </a:p>
        </p:txBody>
      </p:sp>
      <p:sp>
        <p:nvSpPr>
          <p:cNvPr id="503" name="Google Shape;503;p17"/>
          <p:cNvSpPr/>
          <p:nvPr/>
        </p:nvSpPr>
        <p:spPr>
          <a:xfrm>
            <a:off x="6858000" y="822960"/>
            <a:ext cx="914400" cy="3657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4" name="Google Shape;504;p17"/>
          <p:cNvSpPr/>
          <p:nvPr/>
        </p:nvSpPr>
        <p:spPr>
          <a:xfrm>
            <a:off x="6931152" y="822960"/>
            <a:ext cx="822900"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AIR</a:t>
            </a:r>
            <a:endParaRPr sz="1100">
              <a:solidFill>
                <a:schemeClr val="dk1"/>
              </a:solidFill>
              <a:latin typeface="Calibri"/>
              <a:ea typeface="Calibri"/>
              <a:cs typeface="Calibri"/>
              <a:sym typeface="Calibri"/>
            </a:endParaRPr>
          </a:p>
        </p:txBody>
      </p:sp>
      <p:sp>
        <p:nvSpPr>
          <p:cNvPr id="505" name="Google Shape;505;p17"/>
          <p:cNvSpPr/>
          <p:nvPr/>
        </p:nvSpPr>
        <p:spPr>
          <a:xfrm>
            <a:off x="7772400" y="822960"/>
            <a:ext cx="1079100" cy="3657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17"/>
          <p:cNvSpPr/>
          <p:nvPr/>
        </p:nvSpPr>
        <p:spPr>
          <a:xfrm>
            <a:off x="7845552" y="822960"/>
            <a:ext cx="987600" cy="365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507" name="Google Shape;507;p17"/>
          <p:cNvSpPr/>
          <p:nvPr/>
        </p:nvSpPr>
        <p:spPr>
          <a:xfrm>
            <a:off x="4663440" y="1188720"/>
            <a:ext cx="21945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17"/>
          <p:cNvSpPr/>
          <p:nvPr/>
        </p:nvSpPr>
        <p:spPr>
          <a:xfrm>
            <a:off x="4736592" y="1188720"/>
            <a:ext cx="21030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a:t>
            </a:r>
            <a:endParaRPr sz="1050">
              <a:solidFill>
                <a:schemeClr val="dk1"/>
              </a:solidFill>
              <a:latin typeface="Calibri"/>
              <a:ea typeface="Calibri"/>
              <a:cs typeface="Calibri"/>
              <a:sym typeface="Calibri"/>
            </a:endParaRPr>
          </a:p>
        </p:txBody>
      </p:sp>
      <p:sp>
        <p:nvSpPr>
          <p:cNvPr id="509" name="Google Shape;509;p17"/>
          <p:cNvSpPr/>
          <p:nvPr/>
        </p:nvSpPr>
        <p:spPr>
          <a:xfrm>
            <a:off x="6858000" y="1188720"/>
            <a:ext cx="9144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17"/>
          <p:cNvSpPr/>
          <p:nvPr/>
        </p:nvSpPr>
        <p:spPr>
          <a:xfrm>
            <a:off x="6931152" y="1188720"/>
            <a:ext cx="8229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50"/>
              <a:buFont typeface="Calibri"/>
              <a:buNone/>
            </a:pPr>
            <a:r>
              <a:rPr lang="en-US" sz="1050" b="1">
                <a:solidFill>
                  <a:srgbClr val="E05C3A"/>
                </a:solidFill>
                <a:latin typeface="Calibri"/>
                <a:ea typeface="Calibri"/>
                <a:cs typeface="Calibri"/>
                <a:sym typeface="Calibri"/>
              </a:rPr>
              <a:t>0.946</a:t>
            </a:r>
            <a:endParaRPr sz="1050">
              <a:solidFill>
                <a:schemeClr val="dk1"/>
              </a:solidFill>
              <a:latin typeface="Calibri"/>
              <a:ea typeface="Calibri"/>
              <a:cs typeface="Calibri"/>
              <a:sym typeface="Calibri"/>
            </a:endParaRPr>
          </a:p>
        </p:txBody>
      </p:sp>
      <p:sp>
        <p:nvSpPr>
          <p:cNvPr id="511" name="Google Shape;511;p17"/>
          <p:cNvSpPr/>
          <p:nvPr/>
        </p:nvSpPr>
        <p:spPr>
          <a:xfrm>
            <a:off x="7772400" y="1188720"/>
            <a:ext cx="10791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2" name="Google Shape;512;p17"/>
          <p:cNvSpPr/>
          <p:nvPr/>
        </p:nvSpPr>
        <p:spPr>
          <a:xfrm>
            <a:off x="7845552" y="1188720"/>
            <a:ext cx="9876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50"/>
              <a:buFont typeface="Calibri"/>
              <a:buNone/>
            </a:pPr>
            <a:r>
              <a:rPr lang="en-US" sz="1050" b="1">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13" name="Google Shape;513;p17"/>
          <p:cNvSpPr/>
          <p:nvPr/>
        </p:nvSpPr>
        <p:spPr>
          <a:xfrm>
            <a:off x="4663440" y="1572768"/>
            <a:ext cx="21945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4" name="Google Shape;514;p17"/>
          <p:cNvSpPr/>
          <p:nvPr/>
        </p:nvSpPr>
        <p:spPr>
          <a:xfrm>
            <a:off x="4736592" y="1572768"/>
            <a:ext cx="21030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 · Male</a:t>
            </a:r>
            <a:endParaRPr sz="1050">
              <a:solidFill>
                <a:schemeClr val="dk1"/>
              </a:solidFill>
              <a:latin typeface="Calibri"/>
              <a:ea typeface="Calibri"/>
              <a:cs typeface="Calibri"/>
              <a:sym typeface="Calibri"/>
            </a:endParaRPr>
          </a:p>
        </p:txBody>
      </p:sp>
      <p:sp>
        <p:nvSpPr>
          <p:cNvPr id="515" name="Google Shape;515;p17"/>
          <p:cNvSpPr/>
          <p:nvPr/>
        </p:nvSpPr>
        <p:spPr>
          <a:xfrm>
            <a:off x="6858000" y="1572768"/>
            <a:ext cx="9144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6" name="Google Shape;516;p17"/>
          <p:cNvSpPr/>
          <p:nvPr/>
        </p:nvSpPr>
        <p:spPr>
          <a:xfrm>
            <a:off x="6931152" y="1572768"/>
            <a:ext cx="8229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50"/>
              <a:buFont typeface="Calibri"/>
              <a:buNone/>
            </a:pPr>
            <a:r>
              <a:rPr lang="en-US" sz="1050" b="1">
                <a:solidFill>
                  <a:srgbClr val="E05C3A"/>
                </a:solidFill>
                <a:latin typeface="Calibri"/>
                <a:ea typeface="Calibri"/>
                <a:cs typeface="Calibri"/>
                <a:sym typeface="Calibri"/>
              </a:rPr>
              <a:t>0.941</a:t>
            </a:r>
            <a:endParaRPr sz="1050">
              <a:solidFill>
                <a:schemeClr val="dk1"/>
              </a:solidFill>
              <a:latin typeface="Calibri"/>
              <a:ea typeface="Calibri"/>
              <a:cs typeface="Calibri"/>
              <a:sym typeface="Calibri"/>
            </a:endParaRPr>
          </a:p>
        </p:txBody>
      </p:sp>
      <p:sp>
        <p:nvSpPr>
          <p:cNvPr id="517" name="Google Shape;517;p17"/>
          <p:cNvSpPr/>
          <p:nvPr/>
        </p:nvSpPr>
        <p:spPr>
          <a:xfrm>
            <a:off x="7772400" y="1572768"/>
            <a:ext cx="10791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8" name="Google Shape;518;p17"/>
          <p:cNvSpPr/>
          <p:nvPr/>
        </p:nvSpPr>
        <p:spPr>
          <a:xfrm>
            <a:off x="7845552" y="1572768"/>
            <a:ext cx="9876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50"/>
              <a:buFont typeface="Calibri"/>
              <a:buNone/>
            </a:pPr>
            <a:r>
              <a:rPr lang="en-US" sz="1050" b="1">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19" name="Google Shape;519;p17"/>
          <p:cNvSpPr/>
          <p:nvPr/>
        </p:nvSpPr>
        <p:spPr>
          <a:xfrm>
            <a:off x="4663440" y="1956816"/>
            <a:ext cx="21945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0" name="Google Shape;520;p17"/>
          <p:cNvSpPr/>
          <p:nvPr/>
        </p:nvSpPr>
        <p:spPr>
          <a:xfrm>
            <a:off x="4736592" y="1956816"/>
            <a:ext cx="21030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 · Female</a:t>
            </a:r>
            <a:endParaRPr sz="1050">
              <a:solidFill>
                <a:schemeClr val="dk1"/>
              </a:solidFill>
              <a:latin typeface="Calibri"/>
              <a:ea typeface="Calibri"/>
              <a:cs typeface="Calibri"/>
              <a:sym typeface="Calibri"/>
            </a:endParaRPr>
          </a:p>
        </p:txBody>
      </p:sp>
      <p:sp>
        <p:nvSpPr>
          <p:cNvPr id="521" name="Google Shape;521;p17"/>
          <p:cNvSpPr/>
          <p:nvPr/>
        </p:nvSpPr>
        <p:spPr>
          <a:xfrm>
            <a:off x="6858000" y="1956816"/>
            <a:ext cx="9144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2" name="Google Shape;522;p17"/>
          <p:cNvSpPr/>
          <p:nvPr/>
        </p:nvSpPr>
        <p:spPr>
          <a:xfrm>
            <a:off x="6931152" y="1956816"/>
            <a:ext cx="8229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50"/>
              <a:buFont typeface="Calibri"/>
              <a:buNone/>
            </a:pPr>
            <a:r>
              <a:rPr lang="en-US" sz="1050" b="1">
                <a:solidFill>
                  <a:srgbClr val="E05C3A"/>
                </a:solidFill>
                <a:latin typeface="Calibri"/>
                <a:ea typeface="Calibri"/>
                <a:cs typeface="Calibri"/>
                <a:sym typeface="Calibri"/>
              </a:rPr>
              <a:t>0.952</a:t>
            </a:r>
            <a:endParaRPr sz="1050">
              <a:solidFill>
                <a:schemeClr val="dk1"/>
              </a:solidFill>
              <a:latin typeface="Calibri"/>
              <a:ea typeface="Calibri"/>
              <a:cs typeface="Calibri"/>
              <a:sym typeface="Calibri"/>
            </a:endParaRPr>
          </a:p>
        </p:txBody>
      </p:sp>
      <p:sp>
        <p:nvSpPr>
          <p:cNvPr id="523" name="Google Shape;523;p17"/>
          <p:cNvSpPr/>
          <p:nvPr/>
        </p:nvSpPr>
        <p:spPr>
          <a:xfrm>
            <a:off x="7772400" y="1956816"/>
            <a:ext cx="10791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17"/>
          <p:cNvSpPr/>
          <p:nvPr/>
        </p:nvSpPr>
        <p:spPr>
          <a:xfrm>
            <a:off x="7845552" y="1956816"/>
            <a:ext cx="9876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50"/>
              <a:buFont typeface="Calibri"/>
              <a:buNone/>
            </a:pPr>
            <a:r>
              <a:rPr lang="en-US" sz="1050" b="1">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25" name="Google Shape;525;p17"/>
          <p:cNvSpPr/>
          <p:nvPr/>
        </p:nvSpPr>
        <p:spPr>
          <a:xfrm>
            <a:off x="4663440" y="2340864"/>
            <a:ext cx="21945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17"/>
          <p:cNvSpPr/>
          <p:nvPr/>
        </p:nvSpPr>
        <p:spPr>
          <a:xfrm>
            <a:off x="4736592" y="2340864"/>
            <a:ext cx="21030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Minority (aggregate)</a:t>
            </a:r>
            <a:endParaRPr sz="1050">
              <a:solidFill>
                <a:schemeClr val="dk1"/>
              </a:solidFill>
              <a:latin typeface="Calibri"/>
              <a:ea typeface="Calibri"/>
              <a:cs typeface="Calibri"/>
              <a:sym typeface="Calibri"/>
            </a:endParaRPr>
          </a:p>
        </p:txBody>
      </p:sp>
      <p:sp>
        <p:nvSpPr>
          <p:cNvPr id="527" name="Google Shape;527;p17"/>
          <p:cNvSpPr/>
          <p:nvPr/>
        </p:nvSpPr>
        <p:spPr>
          <a:xfrm>
            <a:off x="6858000" y="2340864"/>
            <a:ext cx="9144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17"/>
          <p:cNvSpPr/>
          <p:nvPr/>
        </p:nvSpPr>
        <p:spPr>
          <a:xfrm>
            <a:off x="6931152" y="2340864"/>
            <a:ext cx="8229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50"/>
              <a:buFont typeface="Calibri"/>
              <a:buNone/>
            </a:pPr>
            <a:r>
              <a:rPr lang="en-US" sz="1050" b="1">
                <a:solidFill>
                  <a:srgbClr val="E05C3A"/>
                </a:solidFill>
                <a:latin typeface="Calibri"/>
                <a:ea typeface="Calibri"/>
                <a:cs typeface="Calibri"/>
                <a:sym typeface="Calibri"/>
              </a:rPr>
              <a:t>0.938</a:t>
            </a:r>
            <a:endParaRPr sz="1050">
              <a:solidFill>
                <a:schemeClr val="dk1"/>
              </a:solidFill>
              <a:latin typeface="Calibri"/>
              <a:ea typeface="Calibri"/>
              <a:cs typeface="Calibri"/>
              <a:sym typeface="Calibri"/>
            </a:endParaRPr>
          </a:p>
        </p:txBody>
      </p:sp>
      <p:sp>
        <p:nvSpPr>
          <p:cNvPr id="529" name="Google Shape;529;p17"/>
          <p:cNvSpPr/>
          <p:nvPr/>
        </p:nvSpPr>
        <p:spPr>
          <a:xfrm>
            <a:off x="7772400" y="2340864"/>
            <a:ext cx="1079100" cy="3840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0" name="Google Shape;530;p17"/>
          <p:cNvSpPr/>
          <p:nvPr/>
        </p:nvSpPr>
        <p:spPr>
          <a:xfrm>
            <a:off x="7845552" y="2340864"/>
            <a:ext cx="9876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50"/>
              <a:buFont typeface="Calibri"/>
              <a:buNone/>
            </a:pPr>
            <a:r>
              <a:rPr lang="en-US" sz="1050" b="1">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31" name="Google Shape;531;p17"/>
          <p:cNvSpPr/>
          <p:nvPr/>
        </p:nvSpPr>
        <p:spPr>
          <a:xfrm>
            <a:off x="4663440" y="2724912"/>
            <a:ext cx="21945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2" name="Google Shape;532;p17"/>
          <p:cNvSpPr/>
          <p:nvPr/>
        </p:nvSpPr>
        <p:spPr>
          <a:xfrm>
            <a:off x="4736592" y="2724912"/>
            <a:ext cx="21030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Caucasian (baseline)</a:t>
            </a:r>
            <a:endParaRPr sz="1050">
              <a:solidFill>
                <a:schemeClr val="dk1"/>
              </a:solidFill>
              <a:latin typeface="Calibri"/>
              <a:ea typeface="Calibri"/>
              <a:cs typeface="Calibri"/>
              <a:sym typeface="Calibri"/>
            </a:endParaRPr>
          </a:p>
        </p:txBody>
      </p:sp>
      <p:sp>
        <p:nvSpPr>
          <p:cNvPr id="533" name="Google Shape;533;p17"/>
          <p:cNvSpPr/>
          <p:nvPr/>
        </p:nvSpPr>
        <p:spPr>
          <a:xfrm>
            <a:off x="6858000" y="2724912"/>
            <a:ext cx="9144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4" name="Google Shape;534;p17"/>
          <p:cNvSpPr/>
          <p:nvPr/>
        </p:nvSpPr>
        <p:spPr>
          <a:xfrm>
            <a:off x="6931152" y="2724912"/>
            <a:ext cx="8229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b="1">
                <a:solidFill>
                  <a:srgbClr val="1C2B3A"/>
                </a:solidFill>
                <a:latin typeface="Calibri"/>
                <a:ea typeface="Calibri"/>
                <a:cs typeface="Calibri"/>
                <a:sym typeface="Calibri"/>
              </a:rPr>
              <a:t>1.000</a:t>
            </a:r>
            <a:endParaRPr sz="1050">
              <a:solidFill>
                <a:schemeClr val="dk1"/>
              </a:solidFill>
              <a:latin typeface="Calibri"/>
              <a:ea typeface="Calibri"/>
              <a:cs typeface="Calibri"/>
              <a:sym typeface="Calibri"/>
            </a:endParaRPr>
          </a:p>
        </p:txBody>
      </p:sp>
      <p:sp>
        <p:nvSpPr>
          <p:cNvPr id="535" name="Google Shape;535;p17"/>
          <p:cNvSpPr/>
          <p:nvPr/>
        </p:nvSpPr>
        <p:spPr>
          <a:xfrm>
            <a:off x="7772400" y="2724912"/>
            <a:ext cx="1079100" cy="3840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6" name="Google Shape;536;p17"/>
          <p:cNvSpPr/>
          <p:nvPr/>
        </p:nvSpPr>
        <p:spPr>
          <a:xfrm>
            <a:off x="7845552" y="2724912"/>
            <a:ext cx="987600" cy="384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BAA"/>
              </a:buClr>
              <a:buSzPts val="1050"/>
              <a:buFont typeface="Calibri"/>
              <a:buNone/>
            </a:pPr>
            <a:r>
              <a:rPr lang="en-US" sz="1050" b="1">
                <a:solidFill>
                  <a:srgbClr val="8A9BAA"/>
                </a:solidFill>
                <a:latin typeface="Calibri"/>
                <a:ea typeface="Calibri"/>
                <a:cs typeface="Calibri"/>
                <a:sym typeface="Calibri"/>
              </a:rPr>
              <a:t>—</a:t>
            </a:r>
            <a:endParaRPr sz="1050">
              <a:solidFill>
                <a:schemeClr val="dk1"/>
              </a:solidFill>
              <a:latin typeface="Calibri"/>
              <a:ea typeface="Calibri"/>
              <a:cs typeface="Calibri"/>
              <a:sym typeface="Calibri"/>
            </a:endParaRPr>
          </a:p>
        </p:txBody>
      </p:sp>
      <p:sp>
        <p:nvSpPr>
          <p:cNvPr id="537" name="Google Shape;537;p17"/>
          <p:cNvSpPr/>
          <p:nvPr/>
        </p:nvSpPr>
        <p:spPr>
          <a:xfrm>
            <a:off x="4617720" y="2788920"/>
            <a:ext cx="4370700" cy="548700"/>
          </a:xfrm>
          <a:prstGeom prst="rect">
            <a:avLst/>
          </a:prstGeom>
          <a:solidFill>
            <a:srgbClr val="162330"/>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8" name="Google Shape;538;p17"/>
          <p:cNvSpPr/>
          <p:nvPr/>
        </p:nvSpPr>
        <p:spPr>
          <a:xfrm>
            <a:off x="4709160" y="2816352"/>
            <a:ext cx="4206300" cy="493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8A84B"/>
              </a:buClr>
              <a:buSzPts val="1000"/>
              <a:buFont typeface="Calibri"/>
              <a:buNone/>
            </a:pPr>
            <a:r>
              <a:rPr lang="en-US" sz="1000" b="1">
                <a:solidFill>
                  <a:srgbClr val="C8A84B"/>
                </a:solidFill>
                <a:latin typeface="Calibri"/>
                <a:ea typeface="Calibri"/>
                <a:cs typeface="Calibri"/>
                <a:sym typeface="Calibri"/>
              </a:rPr>
              <a:t>Unmitigated Gap: </a:t>
            </a:r>
            <a:r>
              <a:rPr lang="en-US" sz="1000">
                <a:solidFill>
                  <a:srgbClr val="FFFFFF"/>
                </a:solidFill>
                <a:latin typeface="Calibri"/>
                <a:ea typeface="Calibri"/>
                <a:cs typeface="Calibri"/>
                <a:sym typeface="Calibri"/>
              </a:rPr>
              <a:t>Fairness constraints were studied but never applied. The model remains in production without reweighting, resampling, or Exponentiated Gradient mitigation.</a:t>
            </a:r>
            <a:endParaRPr sz="1000">
              <a:solidFill>
                <a:schemeClr val="dk1"/>
              </a:solidFill>
              <a:latin typeface="Calibri"/>
              <a:ea typeface="Calibri"/>
              <a:cs typeface="Calibri"/>
              <a:sym typeface="Calibri"/>
            </a:endParaRPr>
          </a:p>
        </p:txBody>
      </p:sp>
      <p:sp>
        <p:nvSpPr>
          <p:cNvPr id="539" name="Google Shape;539;p17"/>
          <p:cNvSpPr/>
          <p:nvPr/>
        </p:nvSpPr>
        <p:spPr>
          <a:xfrm>
            <a:off x="4617720" y="3456432"/>
            <a:ext cx="4370700" cy="969300"/>
          </a:xfrm>
          <a:prstGeom prst="rect">
            <a:avLst/>
          </a:prstGeom>
          <a:solidFill>
            <a:srgbClr val="162330"/>
          </a:solidFill>
          <a:ln w="1905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0" name="Google Shape;540;p17"/>
          <p:cNvSpPr/>
          <p:nvPr/>
        </p:nvSpPr>
        <p:spPr>
          <a:xfrm>
            <a:off x="4709160" y="3493008"/>
            <a:ext cx="42063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8A84B"/>
              </a:buClr>
              <a:buSzPts val="1050"/>
              <a:buFont typeface="Calibri"/>
              <a:buNone/>
            </a:pPr>
            <a:r>
              <a:rPr lang="en-US" sz="1050" b="1">
                <a:solidFill>
                  <a:srgbClr val="C8A84B"/>
                </a:solidFill>
                <a:latin typeface="Calibri"/>
                <a:ea typeface="Calibri"/>
                <a:cs typeface="Calibri"/>
                <a:sym typeface="Calibri"/>
              </a:rPr>
              <a:t>Key Insight: </a:t>
            </a:r>
            <a:r>
              <a:rPr lang="en-US" sz="1050">
                <a:solidFill>
                  <a:srgbClr val="FFFFFF"/>
                </a:solidFill>
                <a:latin typeface="Calibri"/>
                <a:ea typeface="Calibri"/>
                <a:cs typeface="Calibri"/>
                <a:sym typeface="Calibri"/>
              </a:rPr>
              <a:t>All intersectional cohorts pass the 4/5ths AIR threshold, but AIR compliance does not mean the bias is gone. Historical imbalances are encoded into the model's decision boundary and will systematically disadvantage minority applicants in underserved geographies.</a:t>
            </a:r>
            <a:endParaRPr sz="1050">
              <a:solidFill>
                <a:schemeClr val="dk1"/>
              </a:solidFill>
              <a:latin typeface="Calibri"/>
              <a:ea typeface="Calibri"/>
              <a:cs typeface="Calibri"/>
              <a:sym typeface="Calibri"/>
            </a:endParaRPr>
          </a:p>
        </p:txBody>
      </p:sp>
      <p:sp>
        <p:nvSpPr>
          <p:cNvPr id="541" name="Google Shape;541;p17"/>
          <p:cNvSpPr/>
          <p:nvPr/>
        </p:nvSpPr>
        <p:spPr>
          <a:xfrm>
            <a:off x="7315200" y="0"/>
            <a:ext cx="1828800" cy="3474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2" name="Google Shape;542;p17"/>
          <p:cNvSpPr/>
          <p:nvPr/>
        </p:nvSpPr>
        <p:spPr>
          <a:xfrm>
            <a:off x="7315200" y="0"/>
            <a:ext cx="18288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SEVERITY: HIGH</a:t>
            </a:r>
            <a:endParaRPr sz="9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C2B3A"/>
        </a:solidFill>
        <a:effectLst/>
      </p:bgPr>
    </p:bg>
    <p:spTree>
      <p:nvGrpSpPr>
        <p:cNvPr id="1" name="Shape 547"/>
        <p:cNvGrpSpPr/>
        <p:nvPr/>
      </p:nvGrpSpPr>
      <p:grpSpPr>
        <a:xfrm>
          <a:off x="0" y="0"/>
          <a:ext cx="0" cy="0"/>
          <a:chOff x="0" y="0"/>
          <a:chExt cx="0" cy="0"/>
        </a:xfrm>
      </p:grpSpPr>
      <p:sp>
        <p:nvSpPr>
          <p:cNvPr id="548" name="Google Shape;548;p18"/>
          <p:cNvSpPr/>
          <p:nvPr/>
        </p:nvSpPr>
        <p:spPr>
          <a:xfrm>
            <a:off x="0" y="0"/>
            <a:ext cx="1188600" cy="3474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9" name="Google Shape;549;p18"/>
          <p:cNvSpPr/>
          <p:nvPr/>
        </p:nvSpPr>
        <p:spPr>
          <a:xfrm>
            <a:off x="0" y="0"/>
            <a:ext cx="11886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RISK 03</a:t>
            </a:r>
            <a:endParaRPr sz="1000">
              <a:solidFill>
                <a:schemeClr val="dk1"/>
              </a:solidFill>
              <a:latin typeface="Calibri"/>
              <a:ea typeface="Calibri"/>
              <a:cs typeface="Calibri"/>
              <a:sym typeface="Calibri"/>
            </a:endParaRPr>
          </a:p>
        </p:txBody>
      </p:sp>
      <p:sp>
        <p:nvSpPr>
          <p:cNvPr id="550" name="Google Shape;550;p18"/>
          <p:cNvSpPr/>
          <p:nvPr/>
        </p:nvSpPr>
        <p:spPr>
          <a:xfrm>
            <a:off x="274320" y="323313"/>
            <a:ext cx="4114800" cy="141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Non-Recourse</a:t>
            </a:r>
            <a:endParaRPr sz="3400">
              <a:solidFill>
                <a:schemeClr val="dk1"/>
              </a:solidFill>
              <a:latin typeface="Georgia"/>
              <a:ea typeface="Georgia"/>
              <a:cs typeface="Georgia"/>
              <a:sym typeface="Georgia"/>
            </a:endParaRPr>
          </a:p>
          <a:p>
            <a:pPr marL="0" marR="0" lvl="0" indent="0" algn="l"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&amp; Privacy Gaps</a:t>
            </a:r>
            <a:endParaRPr sz="3400">
              <a:solidFill>
                <a:schemeClr val="dk1"/>
              </a:solidFill>
              <a:latin typeface="Georgia"/>
              <a:ea typeface="Georgia"/>
              <a:cs typeface="Georgia"/>
              <a:sym typeface="Georgia"/>
            </a:endParaRPr>
          </a:p>
        </p:txBody>
      </p:sp>
      <p:sp>
        <p:nvSpPr>
          <p:cNvPr id="551" name="Google Shape;551;p18"/>
          <p:cNvSpPr/>
          <p:nvPr/>
        </p:nvSpPr>
        <p:spPr>
          <a:xfrm>
            <a:off x="274320" y="1832073"/>
            <a:ext cx="2651700" cy="3291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2" name="Google Shape;552;p18"/>
          <p:cNvSpPr/>
          <p:nvPr/>
        </p:nvSpPr>
        <p:spPr>
          <a:xfrm>
            <a:off x="274320" y="1832073"/>
            <a:ext cx="26517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HopSkipJump  ·  Boundary Attack  ·  MIA</a:t>
            </a:r>
            <a:endParaRPr sz="1000">
              <a:solidFill>
                <a:schemeClr val="dk1"/>
              </a:solidFill>
              <a:latin typeface="Calibri"/>
              <a:ea typeface="Calibri"/>
              <a:cs typeface="Calibri"/>
              <a:sym typeface="Calibri"/>
            </a:endParaRPr>
          </a:p>
        </p:txBody>
      </p:sp>
      <p:sp>
        <p:nvSpPr>
          <p:cNvPr id="553" name="Google Shape;553;p18"/>
          <p:cNvSpPr/>
          <p:nvPr/>
        </p:nvSpPr>
        <p:spPr>
          <a:xfrm>
            <a:off x="274320" y="2289273"/>
            <a:ext cx="54900" cy="7314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4" name="Google Shape;554;p18"/>
          <p:cNvSpPr/>
          <p:nvPr/>
        </p:nvSpPr>
        <p:spPr>
          <a:xfrm>
            <a:off x="411480" y="2289273"/>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b="1">
                <a:solidFill>
                  <a:srgbClr val="4A90A4"/>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555" name="Google Shape;555;p18"/>
          <p:cNvSpPr/>
          <p:nvPr/>
        </p:nvSpPr>
        <p:spPr>
          <a:xfrm>
            <a:off x="411480" y="2527017"/>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The model's sharp XGBoost boundary means applicants near the 0.51 threshold cannot be told which actions will flip their outcome. DiCE counterfactuals require a credit score &gt;1,000 and income 40–60× above current, humanly impossible.</a:t>
            </a:r>
            <a:endParaRPr sz="1050">
              <a:solidFill>
                <a:schemeClr val="dk1"/>
              </a:solidFill>
              <a:latin typeface="Calibri"/>
              <a:ea typeface="Calibri"/>
              <a:cs typeface="Calibri"/>
              <a:sym typeface="Calibri"/>
            </a:endParaRPr>
          </a:p>
        </p:txBody>
      </p:sp>
      <p:sp>
        <p:nvSpPr>
          <p:cNvPr id="556" name="Google Shape;556;p18"/>
          <p:cNvSpPr/>
          <p:nvPr/>
        </p:nvSpPr>
        <p:spPr>
          <a:xfrm>
            <a:off x="274320" y="3157953"/>
            <a:ext cx="54900" cy="7314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7" name="Google Shape;557;p18"/>
          <p:cNvSpPr/>
          <p:nvPr/>
        </p:nvSpPr>
        <p:spPr>
          <a:xfrm>
            <a:off x="411480" y="3157953"/>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b="1">
                <a:solidFill>
                  <a:srgbClr val="4A90A4"/>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558" name="Google Shape;558;p18"/>
          <p:cNvSpPr/>
          <p:nvPr/>
        </p:nvSpPr>
        <p:spPr>
          <a:xfrm>
            <a:off x="411480" y="3395697"/>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No monotonicity constraints enforced. All features are freely tradeable in the model, but not in real life. The boundary is secure from adversarial attacks but offers no actionable path for rejected consumers.</a:t>
            </a:r>
            <a:endParaRPr sz="1050">
              <a:solidFill>
                <a:schemeClr val="dk1"/>
              </a:solidFill>
              <a:latin typeface="Calibri"/>
              <a:ea typeface="Calibri"/>
              <a:cs typeface="Calibri"/>
              <a:sym typeface="Calibri"/>
            </a:endParaRPr>
          </a:p>
        </p:txBody>
      </p:sp>
      <p:sp>
        <p:nvSpPr>
          <p:cNvPr id="559" name="Google Shape;559;p18"/>
          <p:cNvSpPr/>
          <p:nvPr/>
        </p:nvSpPr>
        <p:spPr>
          <a:xfrm>
            <a:off x="274320" y="4026633"/>
            <a:ext cx="54900" cy="7314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0" name="Google Shape;560;p18"/>
          <p:cNvSpPr/>
          <p:nvPr/>
        </p:nvSpPr>
        <p:spPr>
          <a:xfrm>
            <a:off x="411480" y="4026633"/>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b="1">
                <a:solidFill>
                  <a:srgbClr val="4A90A4"/>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561" name="Google Shape;561;p18"/>
          <p:cNvSpPr/>
          <p:nvPr/>
        </p:nvSpPr>
        <p:spPr>
          <a:xfrm>
            <a:off x="411480" y="4264377"/>
            <a:ext cx="38406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Marginal applicants, disproportionately minority, and outlier individuals whose unique financial profile could expose them to attribute-inference privacy attacks not caught by aggregate metrics.</a:t>
            </a:r>
            <a:endParaRPr sz="1050">
              <a:solidFill>
                <a:schemeClr val="dk1"/>
              </a:solidFill>
              <a:latin typeface="Calibri"/>
              <a:ea typeface="Calibri"/>
              <a:cs typeface="Calibri"/>
              <a:sym typeface="Calibri"/>
            </a:endParaRPr>
          </a:p>
        </p:txBody>
      </p:sp>
      <p:sp>
        <p:nvSpPr>
          <p:cNvPr id="562" name="Google Shape;562;p18"/>
          <p:cNvSpPr/>
          <p:nvPr/>
        </p:nvSpPr>
        <p:spPr>
          <a:xfrm>
            <a:off x="4553712" y="0"/>
            <a:ext cx="4590300" cy="5143500"/>
          </a:xfrm>
          <a:prstGeom prst="rect">
            <a:avLst/>
          </a:prstGeom>
          <a:solidFill>
            <a:srgbClr val="F5F4EF"/>
          </a:solidFill>
          <a:ln w="12700" cap="flat" cmpd="sng">
            <a:solidFill>
              <a:srgbClr val="F5F4E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18"/>
          <p:cNvSpPr/>
          <p:nvPr/>
        </p:nvSpPr>
        <p:spPr>
          <a:xfrm>
            <a:off x="4553712" y="0"/>
            <a:ext cx="4590300" cy="4755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4" name="Google Shape;564;p18"/>
          <p:cNvSpPr/>
          <p:nvPr/>
        </p:nvSpPr>
        <p:spPr>
          <a:xfrm>
            <a:off x="4617720" y="0"/>
            <a:ext cx="44622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Security &amp; Privacy Audit Results</a:t>
            </a:r>
            <a:endParaRPr sz="1200">
              <a:solidFill>
                <a:schemeClr val="dk1"/>
              </a:solidFill>
              <a:latin typeface="Calibri"/>
              <a:ea typeface="Calibri"/>
              <a:cs typeface="Calibri"/>
              <a:sym typeface="Calibri"/>
            </a:endParaRPr>
          </a:p>
        </p:txBody>
      </p:sp>
      <p:sp>
        <p:nvSpPr>
          <p:cNvPr id="565" name="Google Shape;565;p18"/>
          <p:cNvSpPr/>
          <p:nvPr/>
        </p:nvSpPr>
        <p:spPr>
          <a:xfrm>
            <a:off x="4617720" y="502920"/>
            <a:ext cx="44622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A9BAA"/>
              </a:buClr>
              <a:buSzPts val="1000"/>
              <a:buFont typeface="Calibri"/>
              <a:buNone/>
            </a:pPr>
            <a:r>
              <a:rPr lang="en-US" sz="1000" i="1">
                <a:solidFill>
                  <a:srgbClr val="8A9BAA"/>
                </a:solidFill>
                <a:latin typeface="Calibri"/>
                <a:ea typeface="Calibri"/>
                <a:cs typeface="Calibri"/>
                <a:sym typeface="Calibri"/>
              </a:rPr>
              <a:t>Evasion attacks + Membership Inference — combined findings</a:t>
            </a:r>
            <a:endParaRPr sz="1000">
              <a:solidFill>
                <a:schemeClr val="dk1"/>
              </a:solidFill>
              <a:latin typeface="Calibri"/>
              <a:ea typeface="Calibri"/>
              <a:cs typeface="Calibri"/>
              <a:sym typeface="Calibri"/>
            </a:endParaRPr>
          </a:p>
        </p:txBody>
      </p:sp>
      <p:sp>
        <p:nvSpPr>
          <p:cNvPr id="566" name="Google Shape;566;p18"/>
          <p:cNvSpPr/>
          <p:nvPr/>
        </p:nvSpPr>
        <p:spPr>
          <a:xfrm>
            <a:off x="4663440" y="868680"/>
            <a:ext cx="2057400" cy="1051500"/>
          </a:xfrm>
          <a:prstGeom prst="rect">
            <a:avLst/>
          </a:prstGeom>
          <a:solidFill>
            <a:srgbClr val="FFFFFF"/>
          </a:solidFill>
          <a:ln w="12700" cap="flat" cmpd="sng">
            <a:solidFill>
              <a:srgbClr val="2A7A4A"/>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7" name="Google Shape;567;p18"/>
          <p:cNvSpPr/>
          <p:nvPr/>
        </p:nvSpPr>
        <p:spPr>
          <a:xfrm>
            <a:off x="4663440" y="868680"/>
            <a:ext cx="2057400" cy="54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8" name="Google Shape;568;p18"/>
          <p:cNvSpPr/>
          <p:nvPr/>
        </p:nvSpPr>
        <p:spPr>
          <a:xfrm>
            <a:off x="4754880" y="960120"/>
            <a:ext cx="1874400" cy="43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A7A4A"/>
              </a:buClr>
              <a:buSzPts val="2200"/>
              <a:buFont typeface="Georgia"/>
              <a:buNone/>
            </a:pPr>
            <a:r>
              <a:rPr lang="en-US" sz="2200" b="1">
                <a:solidFill>
                  <a:srgbClr val="2A7A4A"/>
                </a:solidFill>
                <a:latin typeface="Georgia"/>
                <a:ea typeface="Georgia"/>
                <a:cs typeface="Georgia"/>
                <a:sym typeface="Georgia"/>
              </a:rPr>
              <a:t>FAILED</a:t>
            </a:r>
            <a:endParaRPr sz="2200">
              <a:solidFill>
                <a:schemeClr val="dk1"/>
              </a:solidFill>
              <a:latin typeface="Calibri"/>
              <a:ea typeface="Calibri"/>
              <a:cs typeface="Calibri"/>
              <a:sym typeface="Calibri"/>
            </a:endParaRPr>
          </a:p>
        </p:txBody>
      </p:sp>
      <p:sp>
        <p:nvSpPr>
          <p:cNvPr id="569" name="Google Shape;569;p18"/>
          <p:cNvSpPr/>
          <p:nvPr/>
        </p:nvSpPr>
        <p:spPr>
          <a:xfrm>
            <a:off x="4754880" y="1417320"/>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HopSkipJump Attack</a:t>
            </a:r>
            <a:endParaRPr sz="950">
              <a:solidFill>
                <a:schemeClr val="dk1"/>
              </a:solidFill>
              <a:latin typeface="Calibri"/>
              <a:ea typeface="Calibri"/>
              <a:cs typeface="Calibri"/>
              <a:sym typeface="Calibri"/>
            </a:endParaRPr>
          </a:p>
        </p:txBody>
      </p:sp>
      <p:sp>
        <p:nvSpPr>
          <p:cNvPr id="570" name="Google Shape;570;p18"/>
          <p:cNvSpPr/>
          <p:nvPr/>
        </p:nvSpPr>
        <p:spPr>
          <a:xfrm>
            <a:off x="4754880" y="1673352"/>
            <a:ext cx="18744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Model boundary not breached</a:t>
            </a:r>
            <a:endParaRPr sz="900">
              <a:solidFill>
                <a:schemeClr val="dk1"/>
              </a:solidFill>
              <a:latin typeface="Calibri"/>
              <a:ea typeface="Calibri"/>
              <a:cs typeface="Calibri"/>
              <a:sym typeface="Calibri"/>
            </a:endParaRPr>
          </a:p>
        </p:txBody>
      </p:sp>
      <p:sp>
        <p:nvSpPr>
          <p:cNvPr id="571" name="Google Shape;571;p18"/>
          <p:cNvSpPr/>
          <p:nvPr/>
        </p:nvSpPr>
        <p:spPr>
          <a:xfrm>
            <a:off x="6876288" y="868680"/>
            <a:ext cx="2057400" cy="1051500"/>
          </a:xfrm>
          <a:prstGeom prst="rect">
            <a:avLst/>
          </a:prstGeom>
          <a:solidFill>
            <a:srgbClr val="FFFFFF"/>
          </a:solidFill>
          <a:ln w="12700" cap="flat" cmpd="sng">
            <a:solidFill>
              <a:srgbClr val="2A7A4A"/>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2" name="Google Shape;572;p18"/>
          <p:cNvSpPr/>
          <p:nvPr/>
        </p:nvSpPr>
        <p:spPr>
          <a:xfrm>
            <a:off x="6876288" y="868680"/>
            <a:ext cx="2057400" cy="54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3" name="Google Shape;573;p18"/>
          <p:cNvSpPr/>
          <p:nvPr/>
        </p:nvSpPr>
        <p:spPr>
          <a:xfrm>
            <a:off x="6967728" y="960120"/>
            <a:ext cx="1874400" cy="43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A7A4A"/>
              </a:buClr>
              <a:buSzPts val="2200"/>
              <a:buFont typeface="Georgia"/>
              <a:buNone/>
            </a:pPr>
            <a:r>
              <a:rPr lang="en-US" sz="2200" b="1">
                <a:solidFill>
                  <a:srgbClr val="2A7A4A"/>
                </a:solidFill>
                <a:latin typeface="Georgia"/>
                <a:ea typeface="Georgia"/>
                <a:cs typeface="Georgia"/>
                <a:sym typeface="Georgia"/>
              </a:rPr>
              <a:t>FAILED</a:t>
            </a:r>
            <a:endParaRPr sz="2200">
              <a:solidFill>
                <a:schemeClr val="dk1"/>
              </a:solidFill>
              <a:latin typeface="Calibri"/>
              <a:ea typeface="Calibri"/>
              <a:cs typeface="Calibri"/>
              <a:sym typeface="Calibri"/>
            </a:endParaRPr>
          </a:p>
        </p:txBody>
      </p:sp>
      <p:sp>
        <p:nvSpPr>
          <p:cNvPr id="574" name="Google Shape;574;p18"/>
          <p:cNvSpPr/>
          <p:nvPr/>
        </p:nvSpPr>
        <p:spPr>
          <a:xfrm>
            <a:off x="6967728" y="1417320"/>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Boundary Attack</a:t>
            </a:r>
            <a:endParaRPr sz="950">
              <a:solidFill>
                <a:schemeClr val="dk1"/>
              </a:solidFill>
              <a:latin typeface="Calibri"/>
              <a:ea typeface="Calibri"/>
              <a:cs typeface="Calibri"/>
              <a:sym typeface="Calibri"/>
            </a:endParaRPr>
          </a:p>
        </p:txBody>
      </p:sp>
      <p:sp>
        <p:nvSpPr>
          <p:cNvPr id="575" name="Google Shape;575;p18"/>
          <p:cNvSpPr/>
          <p:nvPr/>
        </p:nvSpPr>
        <p:spPr>
          <a:xfrm>
            <a:off x="6967728" y="1673352"/>
            <a:ext cx="18744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Absolute boundary rigidity</a:t>
            </a:r>
            <a:endParaRPr sz="900">
              <a:solidFill>
                <a:schemeClr val="dk1"/>
              </a:solidFill>
              <a:latin typeface="Calibri"/>
              <a:ea typeface="Calibri"/>
              <a:cs typeface="Calibri"/>
              <a:sym typeface="Calibri"/>
            </a:endParaRPr>
          </a:p>
        </p:txBody>
      </p:sp>
      <p:sp>
        <p:nvSpPr>
          <p:cNvPr id="576" name="Google Shape;576;p18"/>
          <p:cNvSpPr/>
          <p:nvPr/>
        </p:nvSpPr>
        <p:spPr>
          <a:xfrm>
            <a:off x="4663440" y="2039112"/>
            <a:ext cx="2057400" cy="1051500"/>
          </a:xfrm>
          <a:prstGeom prst="rect">
            <a:avLst/>
          </a:prstGeom>
          <a:solidFill>
            <a:srgbClr val="FFFFFF"/>
          </a:solidFill>
          <a:ln w="12700" cap="flat" cmpd="sng">
            <a:solidFill>
              <a:srgbClr val="2A7A4A"/>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7" name="Google Shape;577;p18"/>
          <p:cNvSpPr/>
          <p:nvPr/>
        </p:nvSpPr>
        <p:spPr>
          <a:xfrm>
            <a:off x="4663440" y="2039112"/>
            <a:ext cx="2057400" cy="54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8" name="Google Shape;578;p18"/>
          <p:cNvSpPr/>
          <p:nvPr/>
        </p:nvSpPr>
        <p:spPr>
          <a:xfrm>
            <a:off x="4754880" y="2130552"/>
            <a:ext cx="1874400" cy="43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A7A4A"/>
              </a:buClr>
              <a:buSzPts val="2200"/>
              <a:buFont typeface="Georgia"/>
              <a:buNone/>
            </a:pPr>
            <a:r>
              <a:rPr lang="en-US" sz="2200" b="1">
                <a:solidFill>
                  <a:srgbClr val="2A7A4A"/>
                </a:solidFill>
                <a:latin typeface="Georgia"/>
                <a:ea typeface="Georgia"/>
                <a:cs typeface="Georgia"/>
                <a:sym typeface="Georgia"/>
              </a:rPr>
              <a:t>0.0000</a:t>
            </a:r>
            <a:endParaRPr sz="2200">
              <a:solidFill>
                <a:schemeClr val="dk1"/>
              </a:solidFill>
              <a:latin typeface="Calibri"/>
              <a:ea typeface="Calibri"/>
              <a:cs typeface="Calibri"/>
              <a:sym typeface="Calibri"/>
            </a:endParaRPr>
          </a:p>
        </p:txBody>
      </p:sp>
      <p:sp>
        <p:nvSpPr>
          <p:cNvPr id="579" name="Google Shape;579;p18"/>
          <p:cNvSpPr/>
          <p:nvPr/>
        </p:nvSpPr>
        <p:spPr>
          <a:xfrm>
            <a:off x="4754880" y="2587752"/>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Privacy Leakage Score</a:t>
            </a:r>
            <a:endParaRPr sz="950">
              <a:solidFill>
                <a:schemeClr val="dk1"/>
              </a:solidFill>
              <a:latin typeface="Calibri"/>
              <a:ea typeface="Calibri"/>
              <a:cs typeface="Calibri"/>
              <a:sym typeface="Calibri"/>
            </a:endParaRPr>
          </a:p>
        </p:txBody>
      </p:sp>
      <p:sp>
        <p:nvSpPr>
          <p:cNvPr id="580" name="Google Shape;580;p18"/>
          <p:cNvSpPr/>
          <p:nvPr/>
        </p:nvSpPr>
        <p:spPr>
          <a:xfrm>
            <a:off x="4754880" y="2843784"/>
            <a:ext cx="18744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No systemic memorisation</a:t>
            </a:r>
            <a:endParaRPr sz="900">
              <a:solidFill>
                <a:schemeClr val="dk1"/>
              </a:solidFill>
              <a:latin typeface="Calibri"/>
              <a:ea typeface="Calibri"/>
              <a:cs typeface="Calibri"/>
              <a:sym typeface="Calibri"/>
            </a:endParaRPr>
          </a:p>
        </p:txBody>
      </p:sp>
      <p:sp>
        <p:nvSpPr>
          <p:cNvPr id="581" name="Google Shape;581;p18"/>
          <p:cNvSpPr/>
          <p:nvPr/>
        </p:nvSpPr>
        <p:spPr>
          <a:xfrm>
            <a:off x="6876288" y="2039112"/>
            <a:ext cx="2057400" cy="1051500"/>
          </a:xfrm>
          <a:prstGeom prst="rect">
            <a:avLst/>
          </a:prstGeom>
          <a:solidFill>
            <a:srgbClr val="FFFFFF"/>
          </a:solidFill>
          <a:ln w="25400" cap="flat" cmpd="sng">
            <a:solidFill>
              <a:srgbClr val="E05C3A"/>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2" name="Google Shape;582;p18"/>
          <p:cNvSpPr/>
          <p:nvPr/>
        </p:nvSpPr>
        <p:spPr>
          <a:xfrm>
            <a:off x="6876288" y="2039112"/>
            <a:ext cx="2057400" cy="54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3" name="Google Shape;583;p18"/>
          <p:cNvSpPr/>
          <p:nvPr/>
        </p:nvSpPr>
        <p:spPr>
          <a:xfrm>
            <a:off x="6967728" y="2130552"/>
            <a:ext cx="1874400" cy="43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05C3A"/>
              </a:buClr>
              <a:buSzPts val="1600"/>
              <a:buFont typeface="Georgia"/>
              <a:buNone/>
            </a:pPr>
            <a:r>
              <a:rPr lang="en-US" sz="1600" b="1">
                <a:solidFill>
                  <a:srgbClr val="E05C3A"/>
                </a:solidFill>
                <a:latin typeface="Georgia"/>
                <a:ea typeface="Georgia"/>
                <a:cs typeface="Georgia"/>
                <a:sym typeface="Georgia"/>
              </a:rPr>
              <a:t>EXPOSED</a:t>
            </a:r>
            <a:endParaRPr sz="1600">
              <a:solidFill>
                <a:schemeClr val="dk1"/>
              </a:solidFill>
              <a:latin typeface="Calibri"/>
              <a:ea typeface="Calibri"/>
              <a:cs typeface="Calibri"/>
              <a:sym typeface="Calibri"/>
            </a:endParaRPr>
          </a:p>
        </p:txBody>
      </p:sp>
      <p:sp>
        <p:nvSpPr>
          <p:cNvPr id="584" name="Google Shape;584;p18"/>
          <p:cNvSpPr/>
          <p:nvPr/>
        </p:nvSpPr>
        <p:spPr>
          <a:xfrm>
            <a:off x="6967728" y="2587752"/>
            <a:ext cx="1874400" cy="255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C2B3A"/>
              </a:buClr>
              <a:buSzPts val="950"/>
              <a:buFont typeface="Calibri"/>
              <a:buNone/>
            </a:pPr>
            <a:r>
              <a:rPr lang="en-US" sz="950" b="1">
                <a:solidFill>
                  <a:srgbClr val="1C2B3A"/>
                </a:solidFill>
                <a:latin typeface="Calibri"/>
                <a:ea typeface="Calibri"/>
                <a:cs typeface="Calibri"/>
                <a:sym typeface="Calibri"/>
              </a:rPr>
              <a:t>Outlier Vulnerability</a:t>
            </a:r>
            <a:endParaRPr sz="950">
              <a:solidFill>
                <a:schemeClr val="dk1"/>
              </a:solidFill>
              <a:latin typeface="Calibri"/>
              <a:ea typeface="Calibri"/>
              <a:cs typeface="Calibri"/>
              <a:sym typeface="Calibri"/>
            </a:endParaRPr>
          </a:p>
        </p:txBody>
      </p:sp>
      <p:sp>
        <p:nvSpPr>
          <p:cNvPr id="585" name="Google Shape;585;p18"/>
          <p:cNvSpPr/>
          <p:nvPr/>
        </p:nvSpPr>
        <p:spPr>
          <a:xfrm>
            <a:off x="6967728" y="2843784"/>
            <a:ext cx="1874400" cy="201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BAA"/>
              </a:buClr>
              <a:buSzPts val="900"/>
              <a:buFont typeface="Calibri"/>
              <a:buNone/>
            </a:pPr>
            <a:r>
              <a:rPr lang="en-US" sz="900" i="1">
                <a:solidFill>
                  <a:srgbClr val="8A9BAA"/>
                </a:solidFill>
                <a:latin typeface="Calibri"/>
                <a:ea typeface="Calibri"/>
                <a:cs typeface="Calibri"/>
                <a:sym typeface="Calibri"/>
              </a:rPr>
              <a:t>Attribute inference not audited</a:t>
            </a:r>
            <a:endParaRPr sz="900">
              <a:solidFill>
                <a:schemeClr val="dk1"/>
              </a:solidFill>
              <a:latin typeface="Calibri"/>
              <a:ea typeface="Calibri"/>
              <a:cs typeface="Calibri"/>
              <a:sym typeface="Calibri"/>
            </a:endParaRPr>
          </a:p>
        </p:txBody>
      </p:sp>
      <p:sp>
        <p:nvSpPr>
          <p:cNvPr id="586" name="Google Shape;586;p18"/>
          <p:cNvSpPr/>
          <p:nvPr/>
        </p:nvSpPr>
        <p:spPr>
          <a:xfrm>
            <a:off x="4617720" y="3246120"/>
            <a:ext cx="4370700" cy="3474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7" name="Google Shape;587;p18"/>
          <p:cNvSpPr/>
          <p:nvPr/>
        </p:nvSpPr>
        <p:spPr>
          <a:xfrm>
            <a:off x="4663440" y="3246120"/>
            <a:ext cx="4279500" cy="347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DiCE Counterfactual  ·  Recourse Table</a:t>
            </a:r>
            <a:endParaRPr sz="1100">
              <a:solidFill>
                <a:schemeClr val="dk1"/>
              </a:solidFill>
              <a:latin typeface="Calibri"/>
              <a:ea typeface="Calibri"/>
              <a:cs typeface="Calibri"/>
              <a:sym typeface="Calibri"/>
            </a:endParaRPr>
          </a:p>
        </p:txBody>
      </p:sp>
      <p:sp>
        <p:nvSpPr>
          <p:cNvPr id="588" name="Google Shape;588;p18"/>
          <p:cNvSpPr/>
          <p:nvPr/>
        </p:nvSpPr>
        <p:spPr>
          <a:xfrm>
            <a:off x="4617720" y="3593592"/>
            <a:ext cx="1326000" cy="310800"/>
          </a:xfrm>
          <a:prstGeom prst="rect">
            <a:avLst/>
          </a:prstGeom>
          <a:solidFill>
            <a:srgbClr val="2A3F52"/>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9" name="Google Shape;589;p18"/>
          <p:cNvSpPr/>
          <p:nvPr/>
        </p:nvSpPr>
        <p:spPr>
          <a:xfrm>
            <a:off x="4663440" y="3593592"/>
            <a:ext cx="12528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Feature</a:t>
            </a:r>
            <a:endParaRPr sz="950">
              <a:solidFill>
                <a:schemeClr val="dk1"/>
              </a:solidFill>
              <a:latin typeface="Calibri"/>
              <a:ea typeface="Calibri"/>
              <a:cs typeface="Calibri"/>
              <a:sym typeface="Calibri"/>
            </a:endParaRPr>
          </a:p>
        </p:txBody>
      </p:sp>
      <p:sp>
        <p:nvSpPr>
          <p:cNvPr id="590" name="Google Shape;590;p18"/>
          <p:cNvSpPr/>
          <p:nvPr/>
        </p:nvSpPr>
        <p:spPr>
          <a:xfrm>
            <a:off x="5943600" y="3593592"/>
            <a:ext cx="777300" cy="310800"/>
          </a:xfrm>
          <a:prstGeom prst="rect">
            <a:avLst/>
          </a:prstGeom>
          <a:solidFill>
            <a:srgbClr val="2A3F52"/>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1" name="Google Shape;591;p18"/>
          <p:cNvSpPr/>
          <p:nvPr/>
        </p:nvSpPr>
        <p:spPr>
          <a:xfrm>
            <a:off x="5989320" y="3593592"/>
            <a:ext cx="7041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Original</a:t>
            </a:r>
            <a:endParaRPr sz="950">
              <a:solidFill>
                <a:schemeClr val="dk1"/>
              </a:solidFill>
              <a:latin typeface="Calibri"/>
              <a:ea typeface="Calibri"/>
              <a:cs typeface="Calibri"/>
              <a:sym typeface="Calibri"/>
            </a:endParaRPr>
          </a:p>
        </p:txBody>
      </p:sp>
      <p:sp>
        <p:nvSpPr>
          <p:cNvPr id="592" name="Google Shape;592;p18"/>
          <p:cNvSpPr/>
          <p:nvPr/>
        </p:nvSpPr>
        <p:spPr>
          <a:xfrm>
            <a:off x="6720840" y="3593592"/>
            <a:ext cx="1097400" cy="310800"/>
          </a:xfrm>
          <a:prstGeom prst="rect">
            <a:avLst/>
          </a:prstGeom>
          <a:solidFill>
            <a:srgbClr val="2A3F52"/>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3" name="Google Shape;593;p18"/>
          <p:cNvSpPr/>
          <p:nvPr/>
        </p:nvSpPr>
        <p:spPr>
          <a:xfrm>
            <a:off x="6766560" y="3593592"/>
            <a:ext cx="10242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Suggested</a:t>
            </a:r>
            <a:endParaRPr sz="950">
              <a:solidFill>
                <a:schemeClr val="dk1"/>
              </a:solidFill>
              <a:latin typeface="Calibri"/>
              <a:ea typeface="Calibri"/>
              <a:cs typeface="Calibri"/>
              <a:sym typeface="Calibri"/>
            </a:endParaRPr>
          </a:p>
        </p:txBody>
      </p:sp>
      <p:sp>
        <p:nvSpPr>
          <p:cNvPr id="594" name="Google Shape;594;p18"/>
          <p:cNvSpPr/>
          <p:nvPr/>
        </p:nvSpPr>
        <p:spPr>
          <a:xfrm>
            <a:off x="7818120" y="3593592"/>
            <a:ext cx="1079100" cy="310800"/>
          </a:xfrm>
          <a:prstGeom prst="rect">
            <a:avLst/>
          </a:prstGeom>
          <a:solidFill>
            <a:srgbClr val="2A3F52"/>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5" name="Google Shape;595;p18"/>
          <p:cNvSpPr/>
          <p:nvPr/>
        </p:nvSpPr>
        <p:spPr>
          <a:xfrm>
            <a:off x="7863840" y="3593592"/>
            <a:ext cx="10059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Feasible?</a:t>
            </a:r>
            <a:endParaRPr sz="950">
              <a:solidFill>
                <a:schemeClr val="dk1"/>
              </a:solidFill>
              <a:latin typeface="Calibri"/>
              <a:ea typeface="Calibri"/>
              <a:cs typeface="Calibri"/>
              <a:sym typeface="Calibri"/>
            </a:endParaRPr>
          </a:p>
        </p:txBody>
      </p:sp>
      <p:sp>
        <p:nvSpPr>
          <p:cNvPr id="596" name="Google Shape;596;p18"/>
          <p:cNvSpPr/>
          <p:nvPr/>
        </p:nvSpPr>
        <p:spPr>
          <a:xfrm>
            <a:off x="4617720" y="3904488"/>
            <a:ext cx="13260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7" name="Google Shape;597;p18"/>
          <p:cNvSpPr/>
          <p:nvPr/>
        </p:nvSpPr>
        <p:spPr>
          <a:xfrm>
            <a:off x="4663440" y="3904488"/>
            <a:ext cx="12528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credit_score</a:t>
            </a:r>
            <a:endParaRPr sz="950">
              <a:solidFill>
                <a:schemeClr val="dk1"/>
              </a:solidFill>
              <a:latin typeface="Calibri"/>
              <a:ea typeface="Calibri"/>
              <a:cs typeface="Calibri"/>
              <a:sym typeface="Calibri"/>
            </a:endParaRPr>
          </a:p>
        </p:txBody>
      </p:sp>
      <p:sp>
        <p:nvSpPr>
          <p:cNvPr id="598" name="Google Shape;598;p18"/>
          <p:cNvSpPr/>
          <p:nvPr/>
        </p:nvSpPr>
        <p:spPr>
          <a:xfrm>
            <a:off x="5943600" y="3904488"/>
            <a:ext cx="7773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9" name="Google Shape;599;p18"/>
          <p:cNvSpPr/>
          <p:nvPr/>
        </p:nvSpPr>
        <p:spPr>
          <a:xfrm>
            <a:off x="5989320" y="3904488"/>
            <a:ext cx="7041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620</a:t>
            </a:r>
            <a:endParaRPr sz="950">
              <a:solidFill>
                <a:schemeClr val="dk1"/>
              </a:solidFill>
              <a:latin typeface="Calibri"/>
              <a:ea typeface="Calibri"/>
              <a:cs typeface="Calibri"/>
              <a:sym typeface="Calibri"/>
            </a:endParaRPr>
          </a:p>
        </p:txBody>
      </p:sp>
      <p:sp>
        <p:nvSpPr>
          <p:cNvPr id="600" name="Google Shape;600;p18"/>
          <p:cNvSpPr/>
          <p:nvPr/>
        </p:nvSpPr>
        <p:spPr>
          <a:xfrm>
            <a:off x="6720840" y="3904488"/>
            <a:ext cx="10974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1" name="Google Shape;601;p18"/>
          <p:cNvSpPr/>
          <p:nvPr/>
        </p:nvSpPr>
        <p:spPr>
          <a:xfrm>
            <a:off x="6766560" y="3904488"/>
            <a:ext cx="10242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950"/>
              <a:buFont typeface="Calibri"/>
              <a:buNone/>
            </a:pPr>
            <a:r>
              <a:rPr lang="en-US" sz="950" b="1">
                <a:solidFill>
                  <a:srgbClr val="E05C3A"/>
                </a:solidFill>
                <a:latin typeface="Calibri"/>
                <a:ea typeface="Calibri"/>
                <a:cs typeface="Calibri"/>
                <a:sym typeface="Calibri"/>
              </a:rPr>
              <a:t>&gt;1,028</a:t>
            </a:r>
            <a:endParaRPr sz="950">
              <a:solidFill>
                <a:schemeClr val="dk1"/>
              </a:solidFill>
              <a:latin typeface="Calibri"/>
              <a:ea typeface="Calibri"/>
              <a:cs typeface="Calibri"/>
              <a:sym typeface="Calibri"/>
            </a:endParaRPr>
          </a:p>
        </p:txBody>
      </p:sp>
      <p:sp>
        <p:nvSpPr>
          <p:cNvPr id="602" name="Google Shape;602;p18"/>
          <p:cNvSpPr/>
          <p:nvPr/>
        </p:nvSpPr>
        <p:spPr>
          <a:xfrm>
            <a:off x="7818120" y="3904488"/>
            <a:ext cx="10791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3" name="Google Shape;603;p18"/>
          <p:cNvSpPr/>
          <p:nvPr/>
        </p:nvSpPr>
        <p:spPr>
          <a:xfrm>
            <a:off x="7863840" y="3904488"/>
            <a:ext cx="10059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950"/>
              <a:buFont typeface="Calibri"/>
              <a:buNone/>
            </a:pPr>
            <a:r>
              <a:rPr lang="en-US" sz="950" b="1">
                <a:solidFill>
                  <a:srgbClr val="E05C3A"/>
                </a:solidFill>
                <a:latin typeface="Calibri"/>
                <a:ea typeface="Calibri"/>
                <a:cs typeface="Calibri"/>
                <a:sym typeface="Calibri"/>
              </a:rPr>
              <a:t>✗  No</a:t>
            </a:r>
            <a:endParaRPr sz="950">
              <a:solidFill>
                <a:schemeClr val="dk1"/>
              </a:solidFill>
              <a:latin typeface="Calibri"/>
              <a:ea typeface="Calibri"/>
              <a:cs typeface="Calibri"/>
              <a:sym typeface="Calibri"/>
            </a:endParaRPr>
          </a:p>
        </p:txBody>
      </p:sp>
      <p:sp>
        <p:nvSpPr>
          <p:cNvPr id="604" name="Google Shape;604;p18"/>
          <p:cNvSpPr/>
          <p:nvPr/>
        </p:nvSpPr>
        <p:spPr>
          <a:xfrm>
            <a:off x="4617720" y="4215384"/>
            <a:ext cx="1326000" cy="3108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5" name="Google Shape;605;p18"/>
          <p:cNvSpPr/>
          <p:nvPr/>
        </p:nvSpPr>
        <p:spPr>
          <a:xfrm>
            <a:off x="4663440" y="4215384"/>
            <a:ext cx="12528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relative_income</a:t>
            </a:r>
            <a:endParaRPr sz="950">
              <a:solidFill>
                <a:schemeClr val="dk1"/>
              </a:solidFill>
              <a:latin typeface="Calibri"/>
              <a:ea typeface="Calibri"/>
              <a:cs typeface="Calibri"/>
              <a:sym typeface="Calibri"/>
            </a:endParaRPr>
          </a:p>
        </p:txBody>
      </p:sp>
      <p:sp>
        <p:nvSpPr>
          <p:cNvPr id="606" name="Google Shape;606;p18"/>
          <p:cNvSpPr/>
          <p:nvPr/>
        </p:nvSpPr>
        <p:spPr>
          <a:xfrm>
            <a:off x="5943600" y="4215384"/>
            <a:ext cx="777300" cy="3108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7" name="Google Shape;607;p18"/>
          <p:cNvSpPr/>
          <p:nvPr/>
        </p:nvSpPr>
        <p:spPr>
          <a:xfrm>
            <a:off x="5989320" y="4215384"/>
            <a:ext cx="7041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0.24</a:t>
            </a:r>
            <a:endParaRPr sz="950">
              <a:solidFill>
                <a:schemeClr val="dk1"/>
              </a:solidFill>
              <a:latin typeface="Calibri"/>
              <a:ea typeface="Calibri"/>
              <a:cs typeface="Calibri"/>
              <a:sym typeface="Calibri"/>
            </a:endParaRPr>
          </a:p>
        </p:txBody>
      </p:sp>
      <p:sp>
        <p:nvSpPr>
          <p:cNvPr id="608" name="Google Shape;608;p18"/>
          <p:cNvSpPr/>
          <p:nvPr/>
        </p:nvSpPr>
        <p:spPr>
          <a:xfrm>
            <a:off x="6720840" y="4215384"/>
            <a:ext cx="1097400" cy="3108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9" name="Google Shape;609;p18"/>
          <p:cNvSpPr/>
          <p:nvPr/>
        </p:nvSpPr>
        <p:spPr>
          <a:xfrm>
            <a:off x="6766560" y="4215384"/>
            <a:ext cx="10242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950"/>
              <a:buFont typeface="Calibri"/>
              <a:buNone/>
            </a:pPr>
            <a:r>
              <a:rPr lang="en-US" sz="950" b="1">
                <a:solidFill>
                  <a:srgbClr val="E05C3A"/>
                </a:solidFill>
                <a:latin typeface="Calibri"/>
                <a:ea typeface="Calibri"/>
                <a:cs typeface="Calibri"/>
                <a:sym typeface="Calibri"/>
              </a:rPr>
              <a:t>14.3×</a:t>
            </a:r>
            <a:endParaRPr sz="950">
              <a:solidFill>
                <a:schemeClr val="dk1"/>
              </a:solidFill>
              <a:latin typeface="Calibri"/>
              <a:ea typeface="Calibri"/>
              <a:cs typeface="Calibri"/>
              <a:sym typeface="Calibri"/>
            </a:endParaRPr>
          </a:p>
        </p:txBody>
      </p:sp>
      <p:sp>
        <p:nvSpPr>
          <p:cNvPr id="610" name="Google Shape;610;p18"/>
          <p:cNvSpPr/>
          <p:nvPr/>
        </p:nvSpPr>
        <p:spPr>
          <a:xfrm>
            <a:off x="7818120" y="4215384"/>
            <a:ext cx="1079100" cy="310800"/>
          </a:xfrm>
          <a:prstGeom prst="rect">
            <a:avLst/>
          </a:prstGeom>
          <a:solidFill>
            <a:srgbClr val="F5F4E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1" name="Google Shape;611;p18"/>
          <p:cNvSpPr/>
          <p:nvPr/>
        </p:nvSpPr>
        <p:spPr>
          <a:xfrm>
            <a:off x="7863840" y="4215384"/>
            <a:ext cx="10059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950"/>
              <a:buFont typeface="Calibri"/>
              <a:buNone/>
            </a:pPr>
            <a:r>
              <a:rPr lang="en-US" sz="950" b="1">
                <a:solidFill>
                  <a:srgbClr val="E05C3A"/>
                </a:solidFill>
                <a:latin typeface="Calibri"/>
                <a:ea typeface="Calibri"/>
                <a:cs typeface="Calibri"/>
                <a:sym typeface="Calibri"/>
              </a:rPr>
              <a:t>✗  No</a:t>
            </a:r>
            <a:endParaRPr sz="950">
              <a:solidFill>
                <a:schemeClr val="dk1"/>
              </a:solidFill>
              <a:latin typeface="Calibri"/>
              <a:ea typeface="Calibri"/>
              <a:cs typeface="Calibri"/>
              <a:sym typeface="Calibri"/>
            </a:endParaRPr>
          </a:p>
        </p:txBody>
      </p:sp>
      <p:sp>
        <p:nvSpPr>
          <p:cNvPr id="612" name="Google Shape;612;p18"/>
          <p:cNvSpPr/>
          <p:nvPr/>
        </p:nvSpPr>
        <p:spPr>
          <a:xfrm>
            <a:off x="4617720" y="4526280"/>
            <a:ext cx="13260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3" name="Google Shape;613;p18"/>
          <p:cNvSpPr/>
          <p:nvPr/>
        </p:nvSpPr>
        <p:spPr>
          <a:xfrm>
            <a:off x="4663440" y="4526280"/>
            <a:ext cx="12528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loan_purpose</a:t>
            </a:r>
            <a:endParaRPr sz="950">
              <a:solidFill>
                <a:schemeClr val="dk1"/>
              </a:solidFill>
              <a:latin typeface="Calibri"/>
              <a:ea typeface="Calibri"/>
              <a:cs typeface="Calibri"/>
              <a:sym typeface="Calibri"/>
            </a:endParaRPr>
          </a:p>
        </p:txBody>
      </p:sp>
      <p:sp>
        <p:nvSpPr>
          <p:cNvPr id="614" name="Google Shape;614;p18"/>
          <p:cNvSpPr/>
          <p:nvPr/>
        </p:nvSpPr>
        <p:spPr>
          <a:xfrm>
            <a:off x="5943600" y="4526280"/>
            <a:ext cx="7773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5" name="Google Shape;615;p18"/>
          <p:cNvSpPr/>
          <p:nvPr/>
        </p:nvSpPr>
        <p:spPr>
          <a:xfrm>
            <a:off x="5989320" y="4526280"/>
            <a:ext cx="7041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refinance</a:t>
            </a:r>
            <a:endParaRPr sz="950">
              <a:solidFill>
                <a:schemeClr val="dk1"/>
              </a:solidFill>
              <a:latin typeface="Calibri"/>
              <a:ea typeface="Calibri"/>
              <a:cs typeface="Calibri"/>
              <a:sym typeface="Calibri"/>
            </a:endParaRPr>
          </a:p>
        </p:txBody>
      </p:sp>
      <p:sp>
        <p:nvSpPr>
          <p:cNvPr id="616" name="Google Shape;616;p18"/>
          <p:cNvSpPr/>
          <p:nvPr/>
        </p:nvSpPr>
        <p:spPr>
          <a:xfrm>
            <a:off x="6720840" y="4526280"/>
            <a:ext cx="10974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7" name="Google Shape;617;p18"/>
          <p:cNvSpPr/>
          <p:nvPr/>
        </p:nvSpPr>
        <p:spPr>
          <a:xfrm>
            <a:off x="6766560" y="4526280"/>
            <a:ext cx="10242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950"/>
              <a:buFont typeface="Calibri"/>
              <a:buNone/>
            </a:pPr>
            <a:r>
              <a:rPr lang="en-US" sz="950" b="1">
                <a:solidFill>
                  <a:srgbClr val="E05C3A"/>
                </a:solidFill>
                <a:latin typeface="Calibri"/>
                <a:ea typeface="Calibri"/>
                <a:cs typeface="Calibri"/>
                <a:sym typeface="Calibri"/>
              </a:rPr>
              <a:t>home_improv.</a:t>
            </a:r>
            <a:endParaRPr sz="950">
              <a:solidFill>
                <a:schemeClr val="dk1"/>
              </a:solidFill>
              <a:latin typeface="Calibri"/>
              <a:ea typeface="Calibri"/>
              <a:cs typeface="Calibri"/>
              <a:sym typeface="Calibri"/>
            </a:endParaRPr>
          </a:p>
        </p:txBody>
      </p:sp>
      <p:sp>
        <p:nvSpPr>
          <p:cNvPr id="618" name="Google Shape;618;p18"/>
          <p:cNvSpPr/>
          <p:nvPr/>
        </p:nvSpPr>
        <p:spPr>
          <a:xfrm>
            <a:off x="7818120" y="4526280"/>
            <a:ext cx="1079100" cy="310800"/>
          </a:xfrm>
          <a:prstGeom prst="rect">
            <a:avLst/>
          </a:prstGeom>
          <a:solidFill>
            <a:srgbClr val="FFFFFF"/>
          </a:solidFill>
          <a:ln w="9525" cap="flat" cmpd="sng">
            <a:solidFill>
              <a:srgbClr val="E8E6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9" name="Google Shape;619;p18"/>
          <p:cNvSpPr/>
          <p:nvPr/>
        </p:nvSpPr>
        <p:spPr>
          <a:xfrm>
            <a:off x="7863840" y="4526280"/>
            <a:ext cx="1005900" cy="310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950"/>
              <a:buFont typeface="Calibri"/>
              <a:buNone/>
            </a:pPr>
            <a:r>
              <a:rPr lang="en-US" sz="950" b="1">
                <a:solidFill>
                  <a:srgbClr val="4A90A4"/>
                </a:solidFill>
                <a:latin typeface="Calibri"/>
                <a:ea typeface="Calibri"/>
                <a:cs typeface="Calibri"/>
                <a:sym typeface="Calibri"/>
              </a:rPr>
              <a:t>~  Maybe</a:t>
            </a:r>
            <a:endParaRPr sz="950">
              <a:solidFill>
                <a:schemeClr val="dk1"/>
              </a:solidFill>
              <a:latin typeface="Calibri"/>
              <a:ea typeface="Calibri"/>
              <a:cs typeface="Calibri"/>
              <a:sym typeface="Calibri"/>
            </a:endParaRPr>
          </a:p>
        </p:txBody>
      </p:sp>
      <p:sp>
        <p:nvSpPr>
          <p:cNvPr id="620" name="Google Shape;620;p18"/>
          <p:cNvSpPr/>
          <p:nvPr/>
        </p:nvSpPr>
        <p:spPr>
          <a:xfrm>
            <a:off x="7315200" y="0"/>
            <a:ext cx="1828800" cy="3474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1" name="Google Shape;621;p18"/>
          <p:cNvSpPr/>
          <p:nvPr/>
        </p:nvSpPr>
        <p:spPr>
          <a:xfrm>
            <a:off x="7315200" y="0"/>
            <a:ext cx="18288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SEVERITY: MED–HIGH</a:t>
            </a:r>
            <a:endParaRPr sz="9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Shape 626"/>
        <p:cNvGrpSpPr/>
        <p:nvPr/>
      </p:nvGrpSpPr>
      <p:grpSpPr>
        <a:xfrm>
          <a:off x="0" y="0"/>
          <a:ext cx="0" cy="0"/>
          <a:chOff x="0" y="0"/>
          <a:chExt cx="0" cy="0"/>
        </a:xfrm>
      </p:grpSpPr>
      <p:sp>
        <p:nvSpPr>
          <p:cNvPr id="627" name="Google Shape;627;p19"/>
          <p:cNvSpPr/>
          <p:nvPr/>
        </p:nvSpPr>
        <p:spPr>
          <a:xfrm>
            <a:off x="0" y="0"/>
            <a:ext cx="9144000" cy="1234500"/>
          </a:xfrm>
          <a:prstGeom prst="rect">
            <a:avLst/>
          </a:prstGeom>
          <a:solidFill>
            <a:srgbClr val="1C2B3A"/>
          </a:solidFill>
          <a:ln w="12700" cap="flat" cmpd="sng">
            <a:solidFill>
              <a:srgbClr val="1C2B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8" name="Google Shape;628;p19"/>
          <p:cNvSpPr/>
          <p:nvPr/>
        </p:nvSpPr>
        <p:spPr>
          <a:xfrm>
            <a:off x="320040" y="301527"/>
            <a:ext cx="7772400" cy="621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800"/>
              <a:buFont typeface="Georgia"/>
              <a:buNone/>
            </a:pPr>
            <a:r>
              <a:rPr lang="en-US" sz="2900" b="1">
                <a:solidFill>
                  <a:srgbClr val="FFFFFF"/>
                </a:solidFill>
                <a:latin typeface="Georgia"/>
                <a:ea typeface="Georgia"/>
                <a:cs typeface="Georgia"/>
                <a:sym typeface="Georgia"/>
              </a:rPr>
              <a:t>Q5: Is Deployment Defensible?</a:t>
            </a:r>
            <a:endParaRPr sz="2900">
              <a:solidFill>
                <a:schemeClr val="dk1"/>
              </a:solidFill>
              <a:latin typeface="Georgia"/>
              <a:ea typeface="Georgia"/>
              <a:cs typeface="Georgia"/>
              <a:sym typeface="Georgia"/>
            </a:endParaRPr>
          </a:p>
        </p:txBody>
      </p:sp>
      <p:sp>
        <p:nvSpPr>
          <p:cNvPr id="629" name="Google Shape;629;p19"/>
          <p:cNvSpPr/>
          <p:nvPr/>
        </p:nvSpPr>
        <p:spPr>
          <a:xfrm>
            <a:off x="0" y="1188720"/>
            <a:ext cx="9144000" cy="456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0" name="Google Shape;630;p19"/>
          <p:cNvSpPr/>
          <p:nvPr/>
        </p:nvSpPr>
        <p:spPr>
          <a:xfrm>
            <a:off x="320040" y="1325880"/>
            <a:ext cx="3108900" cy="3291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1" name="Google Shape;631;p19"/>
          <p:cNvSpPr/>
          <p:nvPr/>
        </p:nvSpPr>
        <p:spPr>
          <a:xfrm>
            <a:off x="320040" y="1325880"/>
            <a:ext cx="31089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NIST AI RMF  ·  EU AI Act  ·  Three Lines</a:t>
            </a:r>
            <a:endParaRPr sz="1000">
              <a:solidFill>
                <a:schemeClr val="dk1"/>
              </a:solidFill>
              <a:latin typeface="Calibri"/>
              <a:ea typeface="Calibri"/>
              <a:cs typeface="Calibri"/>
              <a:sym typeface="Calibri"/>
            </a:endParaRPr>
          </a:p>
        </p:txBody>
      </p:sp>
      <p:sp>
        <p:nvSpPr>
          <p:cNvPr id="632" name="Google Shape;632;p19"/>
          <p:cNvSpPr/>
          <p:nvPr/>
        </p:nvSpPr>
        <p:spPr>
          <a:xfrm>
            <a:off x="320040" y="1783080"/>
            <a:ext cx="54900" cy="822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3" name="Google Shape;633;p19"/>
          <p:cNvSpPr/>
          <p:nvPr/>
        </p:nvSpPr>
        <p:spPr>
          <a:xfrm>
            <a:off x="457200" y="1783080"/>
            <a:ext cx="37032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00"/>
              <a:buFont typeface="Calibri"/>
              <a:buNone/>
            </a:pPr>
            <a:r>
              <a:rPr lang="en-US" sz="1000" b="1">
                <a:solidFill>
                  <a:srgbClr val="2A7A4A"/>
                </a:solidFill>
                <a:latin typeface="Calibri"/>
                <a:ea typeface="Calibri"/>
                <a:cs typeface="Calibri"/>
                <a:sym typeface="Calibri"/>
              </a:rPr>
              <a:t>WHAT PASSES</a:t>
            </a:r>
            <a:endParaRPr sz="1000">
              <a:solidFill>
                <a:schemeClr val="dk1"/>
              </a:solidFill>
              <a:latin typeface="Calibri"/>
              <a:ea typeface="Calibri"/>
              <a:cs typeface="Calibri"/>
              <a:sym typeface="Calibri"/>
            </a:endParaRPr>
          </a:p>
        </p:txBody>
      </p:sp>
      <p:sp>
        <p:nvSpPr>
          <p:cNvPr id="634" name="Google Shape;634;p19"/>
          <p:cNvSpPr/>
          <p:nvPr/>
        </p:nvSpPr>
        <p:spPr>
          <a:xfrm>
            <a:off x="457200" y="2039112"/>
            <a:ext cx="37032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All intersectional subgroup audits (Race × Gender) cleared the 4/5ths AIR threshold. HopSkipJump and Boundary adversarial attacks both failed to penetrate the model — confirming evasion resistance.</a:t>
            </a:r>
            <a:endParaRPr sz="1050">
              <a:solidFill>
                <a:schemeClr val="dk1"/>
              </a:solidFill>
              <a:latin typeface="Calibri"/>
              <a:ea typeface="Calibri"/>
              <a:cs typeface="Calibri"/>
              <a:sym typeface="Calibri"/>
            </a:endParaRPr>
          </a:p>
        </p:txBody>
      </p:sp>
      <p:sp>
        <p:nvSpPr>
          <p:cNvPr id="635" name="Google Shape;635;p19"/>
          <p:cNvSpPr/>
          <p:nvPr/>
        </p:nvSpPr>
        <p:spPr>
          <a:xfrm>
            <a:off x="320040" y="2752344"/>
            <a:ext cx="54900" cy="822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6" name="Google Shape;636;p19"/>
          <p:cNvSpPr/>
          <p:nvPr/>
        </p:nvSpPr>
        <p:spPr>
          <a:xfrm>
            <a:off x="457200" y="2752344"/>
            <a:ext cx="37032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00"/>
              <a:buFont typeface="Calibri"/>
              <a:buNone/>
            </a:pPr>
            <a:r>
              <a:rPr lang="en-US" sz="1000" b="1">
                <a:solidFill>
                  <a:srgbClr val="2A7A4A"/>
                </a:solidFill>
                <a:latin typeface="Calibri"/>
                <a:ea typeface="Calibri"/>
                <a:cs typeface="Calibri"/>
                <a:sym typeface="Calibri"/>
              </a:rPr>
              <a:t>GOVERNANCE MET</a:t>
            </a:r>
            <a:endParaRPr sz="1000">
              <a:solidFill>
                <a:schemeClr val="dk1"/>
              </a:solidFill>
              <a:latin typeface="Calibri"/>
              <a:ea typeface="Calibri"/>
              <a:cs typeface="Calibri"/>
              <a:sym typeface="Calibri"/>
            </a:endParaRPr>
          </a:p>
        </p:txBody>
      </p:sp>
      <p:sp>
        <p:nvSpPr>
          <p:cNvPr id="637" name="Google Shape;637;p19"/>
          <p:cNvSpPr/>
          <p:nvPr/>
        </p:nvSpPr>
        <p:spPr>
          <a:xfrm>
            <a:off x="457200" y="3008376"/>
            <a:ext cx="37032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Architecture satisfies EU AI Act High-Risk requirements: risk management, data governance, transparency, human oversight. NIST AI RMF GOVERN, MAP, MEASURE, and MANAGE pillars are all addressed.</a:t>
            </a:r>
            <a:endParaRPr sz="1050">
              <a:solidFill>
                <a:schemeClr val="dk1"/>
              </a:solidFill>
              <a:latin typeface="Calibri"/>
              <a:ea typeface="Calibri"/>
              <a:cs typeface="Calibri"/>
              <a:sym typeface="Calibri"/>
            </a:endParaRPr>
          </a:p>
        </p:txBody>
      </p:sp>
      <p:sp>
        <p:nvSpPr>
          <p:cNvPr id="638" name="Google Shape;638;p19"/>
          <p:cNvSpPr/>
          <p:nvPr/>
        </p:nvSpPr>
        <p:spPr>
          <a:xfrm>
            <a:off x="320040" y="3721608"/>
            <a:ext cx="54900" cy="8229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9" name="Google Shape;639;p19"/>
          <p:cNvSpPr/>
          <p:nvPr/>
        </p:nvSpPr>
        <p:spPr>
          <a:xfrm>
            <a:off x="457200" y="3721608"/>
            <a:ext cx="37032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00"/>
              <a:buFont typeface="Calibri"/>
              <a:buNone/>
            </a:pPr>
            <a:r>
              <a:rPr lang="en-US" sz="1000" b="1">
                <a:solidFill>
                  <a:srgbClr val="2A7A4A"/>
                </a:solidFill>
                <a:latin typeface="Calibri"/>
                <a:ea typeface="Calibri"/>
                <a:cs typeface="Calibri"/>
                <a:sym typeface="Calibri"/>
              </a:rPr>
              <a:t>HITL SAFEGUARD</a:t>
            </a:r>
            <a:endParaRPr sz="1000">
              <a:solidFill>
                <a:schemeClr val="dk1"/>
              </a:solidFill>
              <a:latin typeface="Calibri"/>
              <a:ea typeface="Calibri"/>
              <a:cs typeface="Calibri"/>
              <a:sym typeface="Calibri"/>
            </a:endParaRPr>
          </a:p>
        </p:txBody>
      </p:sp>
      <p:sp>
        <p:nvSpPr>
          <p:cNvPr id="640" name="Google Shape;640;p19"/>
          <p:cNvSpPr/>
          <p:nvPr/>
        </p:nvSpPr>
        <p:spPr>
          <a:xfrm>
            <a:off x="457200" y="3977640"/>
            <a:ext cx="37032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Marginal applicants (p ≈ 0.51) are automatically flagged for human review. Autonomous harm is structurally bounded — no fully autonomous high-stakes decisions.</a:t>
            </a:r>
            <a:endParaRPr sz="1050">
              <a:solidFill>
                <a:schemeClr val="dk1"/>
              </a:solidFill>
              <a:latin typeface="Calibri"/>
              <a:ea typeface="Calibri"/>
              <a:cs typeface="Calibri"/>
              <a:sym typeface="Calibri"/>
            </a:endParaRPr>
          </a:p>
        </p:txBody>
      </p:sp>
      <p:sp>
        <p:nvSpPr>
          <p:cNvPr id="641" name="Google Shape;641;p19"/>
          <p:cNvSpPr/>
          <p:nvPr/>
        </p:nvSpPr>
        <p:spPr>
          <a:xfrm>
            <a:off x="4553712" y="1298448"/>
            <a:ext cx="4434900" cy="3246000"/>
          </a:xfrm>
          <a:prstGeom prst="rect">
            <a:avLst/>
          </a:prstGeom>
          <a:solidFill>
            <a:srgbClr val="FFFFFF"/>
          </a:solidFill>
          <a:ln w="12700" cap="flat" cmpd="sng">
            <a:solidFill>
              <a:srgbClr val="E8E6E0"/>
            </a:solidFill>
            <a:prstDash val="solid"/>
            <a:round/>
            <a:headEnd type="none" w="sm" len="sm"/>
            <a:tailEnd type="none" w="sm" len="sm"/>
          </a:ln>
          <a:effectLst>
            <a:outerShdw blurRad="76200" dist="25400" dir="8100000" algn="bl" rotWithShape="0">
              <a:srgbClr val="000000">
                <a:alpha val="1804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2" name="Google Shape;642;p19"/>
          <p:cNvSpPr/>
          <p:nvPr/>
        </p:nvSpPr>
        <p:spPr>
          <a:xfrm>
            <a:off x="4553712" y="1298448"/>
            <a:ext cx="44349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3" name="Google Shape;643;p19"/>
          <p:cNvSpPr/>
          <p:nvPr/>
        </p:nvSpPr>
        <p:spPr>
          <a:xfrm>
            <a:off x="4617720" y="1298448"/>
            <a:ext cx="43161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PRE-CONDITIONS FOR GO-LIVE</a:t>
            </a:r>
            <a:endParaRPr sz="1100">
              <a:solidFill>
                <a:schemeClr val="dk1"/>
              </a:solidFill>
              <a:latin typeface="Calibri"/>
              <a:ea typeface="Calibri"/>
              <a:cs typeface="Calibri"/>
              <a:sym typeface="Calibri"/>
            </a:endParaRPr>
          </a:p>
        </p:txBody>
      </p:sp>
      <p:sp>
        <p:nvSpPr>
          <p:cNvPr id="644" name="Google Shape;644;p19"/>
          <p:cNvSpPr/>
          <p:nvPr/>
        </p:nvSpPr>
        <p:spPr>
          <a:xfrm>
            <a:off x="4645152" y="1901952"/>
            <a:ext cx="255900" cy="255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5" name="Google Shape;645;p19"/>
          <p:cNvSpPr/>
          <p:nvPr/>
        </p:nvSpPr>
        <p:spPr>
          <a:xfrm>
            <a:off x="4645152" y="1901952"/>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646" name="Google Shape;646;p19"/>
          <p:cNvSpPr/>
          <p:nvPr/>
        </p:nvSpPr>
        <p:spPr>
          <a:xfrm>
            <a:off x="4974336" y="1810512"/>
            <a:ext cx="39135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Deploy per-group FPR/FNR dashboards with automated alerts before first live inference — replace AIR-only monitoring.</a:t>
            </a:r>
            <a:endParaRPr sz="1050">
              <a:solidFill>
                <a:schemeClr val="dk1"/>
              </a:solidFill>
              <a:latin typeface="Calibri"/>
              <a:ea typeface="Calibri"/>
              <a:cs typeface="Calibri"/>
              <a:sym typeface="Calibri"/>
            </a:endParaRPr>
          </a:p>
        </p:txBody>
      </p:sp>
      <p:sp>
        <p:nvSpPr>
          <p:cNvPr id="647" name="Google Shape;647;p19"/>
          <p:cNvSpPr/>
          <p:nvPr/>
        </p:nvSpPr>
        <p:spPr>
          <a:xfrm>
            <a:off x="4645152" y="2414016"/>
            <a:ext cx="255900" cy="255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8" name="Google Shape;648;p19"/>
          <p:cNvSpPr/>
          <p:nvPr/>
        </p:nvSpPr>
        <p:spPr>
          <a:xfrm>
            <a:off x="4645152" y="2414016"/>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649" name="Google Shape;649;p19"/>
          <p:cNvSpPr/>
          <p:nvPr/>
        </p:nvSpPr>
        <p:spPr>
          <a:xfrm>
            <a:off x="4974336" y="2322576"/>
            <a:ext cx="39135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Implement cryptographic batch hashing and anomaly detection on label distributions in the training pipeline.</a:t>
            </a:r>
            <a:endParaRPr sz="1050">
              <a:solidFill>
                <a:schemeClr val="dk1"/>
              </a:solidFill>
              <a:latin typeface="Calibri"/>
              <a:ea typeface="Calibri"/>
              <a:cs typeface="Calibri"/>
              <a:sym typeface="Calibri"/>
            </a:endParaRPr>
          </a:p>
        </p:txBody>
      </p:sp>
      <p:sp>
        <p:nvSpPr>
          <p:cNvPr id="650" name="Google Shape;650;p19"/>
          <p:cNvSpPr/>
          <p:nvPr/>
        </p:nvSpPr>
        <p:spPr>
          <a:xfrm>
            <a:off x="4645152" y="2926080"/>
            <a:ext cx="255900" cy="255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1" name="Google Shape;651;p19"/>
          <p:cNvSpPr/>
          <p:nvPr/>
        </p:nvSpPr>
        <p:spPr>
          <a:xfrm>
            <a:off x="4645152" y="2926080"/>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652" name="Google Shape;652;p19"/>
          <p:cNvSpPr/>
          <p:nvPr/>
        </p:nvSpPr>
        <p:spPr>
          <a:xfrm>
            <a:off x="4974336" y="2834640"/>
            <a:ext cx="39135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Complete Leave-One-Out influence analysis on high-leverage applicants before external API access is granted.</a:t>
            </a:r>
            <a:endParaRPr sz="1050">
              <a:solidFill>
                <a:schemeClr val="dk1"/>
              </a:solidFill>
              <a:latin typeface="Calibri"/>
              <a:ea typeface="Calibri"/>
              <a:cs typeface="Calibri"/>
              <a:sym typeface="Calibri"/>
            </a:endParaRPr>
          </a:p>
        </p:txBody>
      </p:sp>
      <p:sp>
        <p:nvSpPr>
          <p:cNvPr id="653" name="Google Shape;653;p19"/>
          <p:cNvSpPr/>
          <p:nvPr/>
        </p:nvSpPr>
        <p:spPr>
          <a:xfrm>
            <a:off x="4645152" y="3438144"/>
            <a:ext cx="255900" cy="255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19"/>
          <p:cNvSpPr/>
          <p:nvPr/>
        </p:nvSpPr>
        <p:spPr>
          <a:xfrm>
            <a:off x="4645152" y="3438144"/>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655" name="Google Shape;655;p19"/>
          <p:cNvSpPr/>
          <p:nvPr/>
        </p:nvSpPr>
        <p:spPr>
          <a:xfrm>
            <a:off x="4974336" y="3346704"/>
            <a:ext cx="39135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Run Differentially Private XGBoost experiment; document ε budget and accept/reject based on AUC–fairness tradeoff.</a:t>
            </a:r>
            <a:endParaRPr sz="1050">
              <a:solidFill>
                <a:schemeClr val="dk1"/>
              </a:solidFill>
              <a:latin typeface="Calibri"/>
              <a:ea typeface="Calibri"/>
              <a:cs typeface="Calibri"/>
              <a:sym typeface="Calibri"/>
            </a:endParaRPr>
          </a:p>
        </p:txBody>
      </p:sp>
      <p:sp>
        <p:nvSpPr>
          <p:cNvPr id="656" name="Google Shape;656;p19"/>
          <p:cNvSpPr/>
          <p:nvPr/>
        </p:nvSpPr>
        <p:spPr>
          <a:xfrm>
            <a:off x="4645152" y="3950208"/>
            <a:ext cx="255900" cy="2559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7" name="Google Shape;657;p19"/>
          <p:cNvSpPr/>
          <p:nvPr/>
        </p:nvSpPr>
        <p:spPr>
          <a:xfrm>
            <a:off x="4645152" y="395020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
        <p:nvSpPr>
          <p:cNvPr id="658" name="Google Shape;658;p19"/>
          <p:cNvSpPr/>
          <p:nvPr/>
        </p:nvSpPr>
        <p:spPr>
          <a:xfrm>
            <a:off x="4974336" y="3858768"/>
            <a:ext cx="39135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Retrain with income/DTI monotone constraints so marginal applicants receive actionable recourse paths.</a:t>
            </a:r>
            <a:endParaRPr sz="105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C2B3A"/>
        </a:solidFill>
        <a:effectLst/>
      </p:bgPr>
    </p:bg>
    <p:spTree>
      <p:nvGrpSpPr>
        <p:cNvPr id="1" name="Shape 663"/>
        <p:cNvGrpSpPr/>
        <p:nvPr/>
      </p:nvGrpSpPr>
      <p:grpSpPr>
        <a:xfrm>
          <a:off x="0" y="0"/>
          <a:ext cx="0" cy="0"/>
          <a:chOff x="0" y="0"/>
          <a:chExt cx="0" cy="0"/>
        </a:xfrm>
      </p:grpSpPr>
      <p:sp>
        <p:nvSpPr>
          <p:cNvPr id="664" name="Google Shape;664;p20"/>
          <p:cNvSpPr/>
          <p:nvPr/>
        </p:nvSpPr>
        <p:spPr>
          <a:xfrm>
            <a:off x="320040" y="145382"/>
            <a:ext cx="8503800" cy="658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Georgia"/>
              <a:buNone/>
            </a:pPr>
            <a:r>
              <a:rPr lang="en-US" sz="2700" b="1">
                <a:solidFill>
                  <a:srgbClr val="FFFFFF"/>
                </a:solidFill>
                <a:latin typeface="Georgia"/>
                <a:ea typeface="Georgia"/>
                <a:cs typeface="Georgia"/>
                <a:sym typeface="Georgia"/>
              </a:rPr>
              <a:t>Q4 &amp; Q5 Summary  ·  Risk &amp; Deployment Table</a:t>
            </a:r>
            <a:endParaRPr sz="2700">
              <a:solidFill>
                <a:schemeClr val="dk1"/>
              </a:solidFill>
              <a:latin typeface="Georgia"/>
              <a:ea typeface="Georgia"/>
              <a:cs typeface="Georgia"/>
              <a:sym typeface="Georgia"/>
            </a:endParaRPr>
          </a:p>
        </p:txBody>
      </p:sp>
      <p:sp>
        <p:nvSpPr>
          <p:cNvPr id="665" name="Google Shape;665;p20"/>
          <p:cNvSpPr/>
          <p:nvPr/>
        </p:nvSpPr>
        <p:spPr>
          <a:xfrm>
            <a:off x="320040" y="840326"/>
            <a:ext cx="8503800" cy="36600"/>
          </a:xfrm>
          <a:prstGeom prst="rect">
            <a:avLst/>
          </a:prstGeom>
          <a:solidFill>
            <a:srgbClr val="C8A84B"/>
          </a:solidFill>
          <a:ln w="12700" cap="flat" cmpd="sng">
            <a:solidFill>
              <a:srgbClr val="C8A8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6" name="Google Shape;666;p20"/>
          <p:cNvSpPr/>
          <p:nvPr/>
        </p:nvSpPr>
        <p:spPr>
          <a:xfrm>
            <a:off x="320040" y="950054"/>
            <a:ext cx="17373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7" name="Google Shape;667;p20"/>
          <p:cNvSpPr/>
          <p:nvPr/>
        </p:nvSpPr>
        <p:spPr>
          <a:xfrm>
            <a:off x="411480" y="950054"/>
            <a:ext cx="16275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Risk / Check</a:t>
            </a:r>
            <a:endParaRPr sz="1100">
              <a:solidFill>
                <a:schemeClr val="dk1"/>
              </a:solidFill>
              <a:latin typeface="Calibri"/>
              <a:ea typeface="Calibri"/>
              <a:cs typeface="Calibri"/>
              <a:sym typeface="Calibri"/>
            </a:endParaRPr>
          </a:p>
        </p:txBody>
      </p:sp>
      <p:sp>
        <p:nvSpPr>
          <p:cNvPr id="668" name="Google Shape;668;p20"/>
          <p:cNvSpPr/>
          <p:nvPr/>
        </p:nvSpPr>
        <p:spPr>
          <a:xfrm>
            <a:off x="2057400" y="950054"/>
            <a:ext cx="19203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9" name="Google Shape;669;p20"/>
          <p:cNvSpPr/>
          <p:nvPr/>
        </p:nvSpPr>
        <p:spPr>
          <a:xfrm>
            <a:off x="2148840" y="950054"/>
            <a:ext cx="18105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Trigger Condition</a:t>
            </a:r>
            <a:endParaRPr sz="1100">
              <a:solidFill>
                <a:schemeClr val="dk1"/>
              </a:solidFill>
              <a:latin typeface="Calibri"/>
              <a:ea typeface="Calibri"/>
              <a:cs typeface="Calibri"/>
              <a:sym typeface="Calibri"/>
            </a:endParaRPr>
          </a:p>
        </p:txBody>
      </p:sp>
      <p:sp>
        <p:nvSpPr>
          <p:cNvPr id="670" name="Google Shape;670;p20"/>
          <p:cNvSpPr/>
          <p:nvPr/>
        </p:nvSpPr>
        <p:spPr>
          <a:xfrm>
            <a:off x="3977640" y="950054"/>
            <a:ext cx="16917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1" name="Google Shape;671;p20"/>
          <p:cNvSpPr/>
          <p:nvPr/>
        </p:nvSpPr>
        <p:spPr>
          <a:xfrm>
            <a:off x="4069080" y="950054"/>
            <a:ext cx="15819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Harmed Group</a:t>
            </a:r>
            <a:endParaRPr sz="1100">
              <a:solidFill>
                <a:schemeClr val="dk1"/>
              </a:solidFill>
              <a:latin typeface="Calibri"/>
              <a:ea typeface="Calibri"/>
              <a:cs typeface="Calibri"/>
              <a:sym typeface="Calibri"/>
            </a:endParaRPr>
          </a:p>
        </p:txBody>
      </p:sp>
      <p:sp>
        <p:nvSpPr>
          <p:cNvPr id="672" name="Google Shape;672;p20"/>
          <p:cNvSpPr/>
          <p:nvPr/>
        </p:nvSpPr>
        <p:spPr>
          <a:xfrm>
            <a:off x="5669280" y="950054"/>
            <a:ext cx="13716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3" name="Google Shape;673;p20"/>
          <p:cNvSpPr/>
          <p:nvPr/>
        </p:nvSpPr>
        <p:spPr>
          <a:xfrm>
            <a:off x="5760720" y="950054"/>
            <a:ext cx="12618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Method</a:t>
            </a:r>
            <a:endParaRPr sz="1100">
              <a:solidFill>
                <a:schemeClr val="dk1"/>
              </a:solidFill>
              <a:latin typeface="Calibri"/>
              <a:ea typeface="Calibri"/>
              <a:cs typeface="Calibri"/>
              <a:sym typeface="Calibri"/>
            </a:endParaRPr>
          </a:p>
        </p:txBody>
      </p:sp>
      <p:sp>
        <p:nvSpPr>
          <p:cNvPr id="674" name="Google Shape;674;p20"/>
          <p:cNvSpPr/>
          <p:nvPr/>
        </p:nvSpPr>
        <p:spPr>
          <a:xfrm>
            <a:off x="7040880" y="950054"/>
            <a:ext cx="1371600" cy="402300"/>
          </a:xfrm>
          <a:prstGeom prst="rect">
            <a:avLst/>
          </a:prstGeom>
          <a:solidFill>
            <a:srgbClr val="162330"/>
          </a:solidFill>
          <a:ln w="12700" cap="flat" cmpd="sng">
            <a:solidFill>
              <a:srgbClr val="16233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5" name="Google Shape;675;p20"/>
          <p:cNvSpPr/>
          <p:nvPr/>
        </p:nvSpPr>
        <p:spPr>
          <a:xfrm>
            <a:off x="7132320" y="950054"/>
            <a:ext cx="1261800" cy="402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A84B"/>
              </a:buClr>
              <a:buSzPts val="1100"/>
              <a:buFont typeface="Calibri"/>
              <a:buNone/>
            </a:pPr>
            <a:r>
              <a:rPr lang="en-US" sz="1100" b="1">
                <a:solidFill>
                  <a:srgbClr val="C8A84B"/>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676" name="Google Shape;676;p20"/>
          <p:cNvSpPr/>
          <p:nvPr/>
        </p:nvSpPr>
        <p:spPr>
          <a:xfrm>
            <a:off x="320040" y="1352390"/>
            <a:ext cx="1737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7" name="Google Shape;677;p20"/>
          <p:cNvSpPr/>
          <p:nvPr/>
        </p:nvSpPr>
        <p:spPr>
          <a:xfrm>
            <a:off x="411480" y="1388966"/>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AIR Metric Blindness</a:t>
            </a:r>
            <a:endParaRPr sz="1000">
              <a:solidFill>
                <a:schemeClr val="dk1"/>
              </a:solidFill>
              <a:latin typeface="Calibri"/>
              <a:ea typeface="Calibri"/>
              <a:cs typeface="Calibri"/>
              <a:sym typeface="Calibri"/>
            </a:endParaRPr>
          </a:p>
        </p:txBody>
      </p:sp>
      <p:sp>
        <p:nvSpPr>
          <p:cNvPr id="678" name="Google Shape;678;p20"/>
          <p:cNvSpPr/>
          <p:nvPr/>
        </p:nvSpPr>
        <p:spPr>
          <a:xfrm>
            <a:off x="2057400" y="1352390"/>
            <a:ext cx="1920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9" name="Google Shape;679;p20"/>
          <p:cNvSpPr/>
          <p:nvPr/>
        </p:nvSpPr>
        <p:spPr>
          <a:xfrm>
            <a:off x="2148840" y="1388966"/>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25% label-flip attack — AIR stays &gt;0.80 masking minority cohort collapse</a:t>
            </a:r>
            <a:endParaRPr sz="1000">
              <a:solidFill>
                <a:schemeClr val="dk1"/>
              </a:solidFill>
              <a:latin typeface="Calibri"/>
              <a:ea typeface="Calibri"/>
              <a:cs typeface="Calibri"/>
              <a:sym typeface="Calibri"/>
            </a:endParaRPr>
          </a:p>
        </p:txBody>
      </p:sp>
      <p:sp>
        <p:nvSpPr>
          <p:cNvPr id="680" name="Google Shape;680;p20"/>
          <p:cNvSpPr/>
          <p:nvPr/>
        </p:nvSpPr>
        <p:spPr>
          <a:xfrm>
            <a:off x="3977640" y="1352390"/>
            <a:ext cx="16917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1" name="Google Shape;681;p20"/>
          <p:cNvSpPr/>
          <p:nvPr/>
        </p:nvSpPr>
        <p:spPr>
          <a:xfrm>
            <a:off x="4069080" y="1388966"/>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African-American applicants</a:t>
            </a:r>
            <a:endParaRPr sz="1000">
              <a:solidFill>
                <a:schemeClr val="dk1"/>
              </a:solidFill>
              <a:latin typeface="Calibri"/>
              <a:ea typeface="Calibri"/>
              <a:cs typeface="Calibri"/>
              <a:sym typeface="Calibri"/>
            </a:endParaRPr>
          </a:p>
        </p:txBody>
      </p:sp>
      <p:sp>
        <p:nvSpPr>
          <p:cNvPr id="682" name="Google Shape;682;p20"/>
          <p:cNvSpPr/>
          <p:nvPr/>
        </p:nvSpPr>
        <p:spPr>
          <a:xfrm>
            <a:off x="5669280" y="1352390"/>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3" name="Google Shape;683;p20"/>
          <p:cNvSpPr/>
          <p:nvPr/>
        </p:nvSpPr>
        <p:spPr>
          <a:xfrm>
            <a:off x="5760720" y="1388966"/>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Poisoning Audit</a:t>
            </a:r>
            <a:endParaRPr sz="1000">
              <a:solidFill>
                <a:schemeClr val="dk1"/>
              </a:solidFill>
              <a:latin typeface="Calibri"/>
              <a:ea typeface="Calibri"/>
              <a:cs typeface="Calibri"/>
              <a:sym typeface="Calibri"/>
            </a:endParaRPr>
          </a:p>
        </p:txBody>
      </p:sp>
      <p:sp>
        <p:nvSpPr>
          <p:cNvPr id="684" name="Google Shape;684;p20"/>
          <p:cNvSpPr/>
          <p:nvPr/>
        </p:nvSpPr>
        <p:spPr>
          <a:xfrm>
            <a:off x="7040880" y="1352390"/>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5" name="Google Shape;685;p20"/>
          <p:cNvSpPr/>
          <p:nvPr/>
        </p:nvSpPr>
        <p:spPr>
          <a:xfrm>
            <a:off x="7132320" y="1388966"/>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00"/>
              <a:buFont typeface="Calibri"/>
              <a:buNone/>
            </a:pPr>
            <a:r>
              <a:rPr lang="en-US" sz="1000" b="1">
                <a:solidFill>
                  <a:srgbClr val="E05C3A"/>
                </a:solidFill>
                <a:latin typeface="Calibri"/>
                <a:ea typeface="Calibri"/>
                <a:cs typeface="Calibri"/>
                <a:sym typeface="Calibri"/>
              </a:rPr>
              <a:t>HIGH</a:t>
            </a:r>
            <a:endParaRPr sz="1000">
              <a:solidFill>
                <a:schemeClr val="dk1"/>
              </a:solidFill>
              <a:latin typeface="Calibri"/>
              <a:ea typeface="Calibri"/>
              <a:cs typeface="Calibri"/>
              <a:sym typeface="Calibri"/>
            </a:endParaRPr>
          </a:p>
        </p:txBody>
      </p:sp>
      <p:sp>
        <p:nvSpPr>
          <p:cNvPr id="686" name="Google Shape;686;p20"/>
          <p:cNvSpPr/>
          <p:nvPr/>
        </p:nvSpPr>
        <p:spPr>
          <a:xfrm>
            <a:off x="320040" y="1352390"/>
            <a:ext cx="45600" cy="5853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7" name="Google Shape;687;p20"/>
          <p:cNvSpPr/>
          <p:nvPr/>
        </p:nvSpPr>
        <p:spPr>
          <a:xfrm>
            <a:off x="320040" y="1955894"/>
            <a:ext cx="1737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8" name="Google Shape;688;p20"/>
          <p:cNvSpPr/>
          <p:nvPr/>
        </p:nvSpPr>
        <p:spPr>
          <a:xfrm>
            <a:off x="411480" y="1992470"/>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Historical Bias Amplif.</a:t>
            </a:r>
            <a:endParaRPr sz="1000">
              <a:solidFill>
                <a:schemeClr val="dk1"/>
              </a:solidFill>
              <a:latin typeface="Calibri"/>
              <a:ea typeface="Calibri"/>
              <a:cs typeface="Calibri"/>
              <a:sym typeface="Calibri"/>
            </a:endParaRPr>
          </a:p>
        </p:txBody>
      </p:sp>
      <p:sp>
        <p:nvSpPr>
          <p:cNvPr id="689" name="Google Shape;689;p20"/>
          <p:cNvSpPr/>
          <p:nvPr/>
        </p:nvSpPr>
        <p:spPr>
          <a:xfrm>
            <a:off x="2057400" y="1955894"/>
            <a:ext cx="1920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0" name="Google Shape;690;p20"/>
          <p:cNvSpPr/>
          <p:nvPr/>
        </p:nvSpPr>
        <p:spPr>
          <a:xfrm>
            <a:off x="2148840" y="1992470"/>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FFIEC census-tract income encodes redlining into feature space</a:t>
            </a:r>
            <a:endParaRPr sz="1000">
              <a:solidFill>
                <a:schemeClr val="dk1"/>
              </a:solidFill>
              <a:latin typeface="Calibri"/>
              <a:ea typeface="Calibri"/>
              <a:cs typeface="Calibri"/>
              <a:sym typeface="Calibri"/>
            </a:endParaRPr>
          </a:p>
        </p:txBody>
      </p:sp>
      <p:sp>
        <p:nvSpPr>
          <p:cNvPr id="691" name="Google Shape;691;p20"/>
          <p:cNvSpPr/>
          <p:nvPr/>
        </p:nvSpPr>
        <p:spPr>
          <a:xfrm>
            <a:off x="3977640" y="1955894"/>
            <a:ext cx="16917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2" name="Google Shape;692;p20"/>
          <p:cNvSpPr/>
          <p:nvPr/>
        </p:nvSpPr>
        <p:spPr>
          <a:xfrm>
            <a:off x="4069080" y="1992470"/>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Minority / MSA applicants</a:t>
            </a:r>
            <a:endParaRPr sz="1000">
              <a:solidFill>
                <a:schemeClr val="dk1"/>
              </a:solidFill>
              <a:latin typeface="Calibri"/>
              <a:ea typeface="Calibri"/>
              <a:cs typeface="Calibri"/>
              <a:sym typeface="Calibri"/>
            </a:endParaRPr>
          </a:p>
        </p:txBody>
      </p:sp>
      <p:sp>
        <p:nvSpPr>
          <p:cNvPr id="693" name="Google Shape;693;p20"/>
          <p:cNvSpPr/>
          <p:nvPr/>
        </p:nvSpPr>
        <p:spPr>
          <a:xfrm>
            <a:off x="5669280" y="1955894"/>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4" name="Google Shape;694;p20"/>
          <p:cNvSpPr/>
          <p:nvPr/>
        </p:nvSpPr>
        <p:spPr>
          <a:xfrm>
            <a:off x="5760720" y="1992470"/>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SHAP + AIR</a:t>
            </a:r>
            <a:endParaRPr sz="1000">
              <a:solidFill>
                <a:schemeClr val="dk1"/>
              </a:solidFill>
              <a:latin typeface="Calibri"/>
              <a:ea typeface="Calibri"/>
              <a:cs typeface="Calibri"/>
              <a:sym typeface="Calibri"/>
            </a:endParaRPr>
          </a:p>
        </p:txBody>
      </p:sp>
      <p:sp>
        <p:nvSpPr>
          <p:cNvPr id="695" name="Google Shape;695;p20"/>
          <p:cNvSpPr/>
          <p:nvPr/>
        </p:nvSpPr>
        <p:spPr>
          <a:xfrm>
            <a:off x="7040880" y="1955894"/>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6" name="Google Shape;696;p20"/>
          <p:cNvSpPr/>
          <p:nvPr/>
        </p:nvSpPr>
        <p:spPr>
          <a:xfrm>
            <a:off x="7132320" y="1992470"/>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05C3A"/>
              </a:buClr>
              <a:buSzPts val="1000"/>
              <a:buFont typeface="Calibri"/>
              <a:buNone/>
            </a:pPr>
            <a:r>
              <a:rPr lang="en-US" sz="1000" b="1">
                <a:solidFill>
                  <a:srgbClr val="E05C3A"/>
                </a:solidFill>
                <a:latin typeface="Calibri"/>
                <a:ea typeface="Calibri"/>
                <a:cs typeface="Calibri"/>
                <a:sym typeface="Calibri"/>
              </a:rPr>
              <a:t>HIGH</a:t>
            </a:r>
            <a:endParaRPr sz="1000">
              <a:solidFill>
                <a:schemeClr val="dk1"/>
              </a:solidFill>
              <a:latin typeface="Calibri"/>
              <a:ea typeface="Calibri"/>
              <a:cs typeface="Calibri"/>
              <a:sym typeface="Calibri"/>
            </a:endParaRPr>
          </a:p>
        </p:txBody>
      </p:sp>
      <p:sp>
        <p:nvSpPr>
          <p:cNvPr id="697" name="Google Shape;697;p20"/>
          <p:cNvSpPr/>
          <p:nvPr/>
        </p:nvSpPr>
        <p:spPr>
          <a:xfrm>
            <a:off x="320040" y="1955894"/>
            <a:ext cx="45600" cy="585300"/>
          </a:xfrm>
          <a:prstGeom prst="rect">
            <a:avLst/>
          </a:prstGeom>
          <a:solidFill>
            <a:srgbClr val="E05C3A"/>
          </a:solidFill>
          <a:ln w="12700" cap="flat" cmpd="sng">
            <a:solidFill>
              <a:srgbClr val="E05C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8" name="Google Shape;698;p20"/>
          <p:cNvSpPr/>
          <p:nvPr/>
        </p:nvSpPr>
        <p:spPr>
          <a:xfrm>
            <a:off x="320040" y="2559398"/>
            <a:ext cx="1737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9" name="Google Shape;699;p20"/>
          <p:cNvSpPr/>
          <p:nvPr/>
        </p:nvSpPr>
        <p:spPr>
          <a:xfrm>
            <a:off x="411480" y="2595974"/>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Non-Recourse Rigidity</a:t>
            </a:r>
            <a:endParaRPr sz="1000">
              <a:solidFill>
                <a:schemeClr val="dk1"/>
              </a:solidFill>
              <a:latin typeface="Calibri"/>
              <a:ea typeface="Calibri"/>
              <a:cs typeface="Calibri"/>
              <a:sym typeface="Calibri"/>
            </a:endParaRPr>
          </a:p>
        </p:txBody>
      </p:sp>
      <p:sp>
        <p:nvSpPr>
          <p:cNvPr id="700" name="Google Shape;700;p20"/>
          <p:cNvSpPr/>
          <p:nvPr/>
        </p:nvSpPr>
        <p:spPr>
          <a:xfrm>
            <a:off x="2057400" y="2559398"/>
            <a:ext cx="1920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1" name="Google Shape;701;p20"/>
          <p:cNvSpPr/>
          <p:nvPr/>
        </p:nvSpPr>
        <p:spPr>
          <a:xfrm>
            <a:off x="2148840" y="2595974"/>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DiCE needs score &gt;1,000 &amp; income 40–60× — no feasible recourse path</a:t>
            </a:r>
            <a:endParaRPr sz="1000">
              <a:solidFill>
                <a:schemeClr val="dk1"/>
              </a:solidFill>
              <a:latin typeface="Calibri"/>
              <a:ea typeface="Calibri"/>
              <a:cs typeface="Calibri"/>
              <a:sym typeface="Calibri"/>
            </a:endParaRPr>
          </a:p>
        </p:txBody>
      </p:sp>
      <p:sp>
        <p:nvSpPr>
          <p:cNvPr id="702" name="Google Shape;702;p20"/>
          <p:cNvSpPr/>
          <p:nvPr/>
        </p:nvSpPr>
        <p:spPr>
          <a:xfrm>
            <a:off x="3977640" y="2559398"/>
            <a:ext cx="16917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3" name="Google Shape;703;p20"/>
          <p:cNvSpPr/>
          <p:nvPr/>
        </p:nvSpPr>
        <p:spPr>
          <a:xfrm>
            <a:off x="4069080" y="2595974"/>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Rejected applicants</a:t>
            </a:r>
            <a:endParaRPr sz="1000">
              <a:solidFill>
                <a:schemeClr val="dk1"/>
              </a:solidFill>
              <a:latin typeface="Calibri"/>
              <a:ea typeface="Calibri"/>
              <a:cs typeface="Calibri"/>
              <a:sym typeface="Calibri"/>
            </a:endParaRPr>
          </a:p>
        </p:txBody>
      </p:sp>
      <p:sp>
        <p:nvSpPr>
          <p:cNvPr id="704" name="Google Shape;704;p20"/>
          <p:cNvSpPr/>
          <p:nvPr/>
        </p:nvSpPr>
        <p:spPr>
          <a:xfrm>
            <a:off x="5669280" y="2559398"/>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5" name="Google Shape;705;p20"/>
          <p:cNvSpPr/>
          <p:nvPr/>
        </p:nvSpPr>
        <p:spPr>
          <a:xfrm>
            <a:off x="5760720" y="2595974"/>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DiCE + HopSkipJump</a:t>
            </a:r>
            <a:endParaRPr sz="1000">
              <a:solidFill>
                <a:schemeClr val="dk1"/>
              </a:solidFill>
              <a:latin typeface="Calibri"/>
              <a:ea typeface="Calibri"/>
              <a:cs typeface="Calibri"/>
              <a:sym typeface="Calibri"/>
            </a:endParaRPr>
          </a:p>
        </p:txBody>
      </p:sp>
      <p:sp>
        <p:nvSpPr>
          <p:cNvPr id="706" name="Google Shape;706;p20"/>
          <p:cNvSpPr/>
          <p:nvPr/>
        </p:nvSpPr>
        <p:spPr>
          <a:xfrm>
            <a:off x="7040880" y="2559398"/>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7" name="Google Shape;707;p20"/>
          <p:cNvSpPr/>
          <p:nvPr/>
        </p:nvSpPr>
        <p:spPr>
          <a:xfrm>
            <a:off x="7132320" y="2595974"/>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853A"/>
              </a:buClr>
              <a:buSzPts val="1000"/>
              <a:buFont typeface="Calibri"/>
              <a:buNone/>
            </a:pPr>
            <a:r>
              <a:rPr lang="en-US" sz="1000" b="1">
                <a:solidFill>
                  <a:srgbClr val="C8853A"/>
                </a:solidFill>
                <a:latin typeface="Calibri"/>
                <a:ea typeface="Calibri"/>
                <a:cs typeface="Calibri"/>
                <a:sym typeface="Calibri"/>
              </a:rPr>
              <a:t>MED–HIGH</a:t>
            </a:r>
            <a:endParaRPr sz="1000">
              <a:solidFill>
                <a:schemeClr val="dk1"/>
              </a:solidFill>
              <a:latin typeface="Calibri"/>
              <a:ea typeface="Calibri"/>
              <a:cs typeface="Calibri"/>
              <a:sym typeface="Calibri"/>
            </a:endParaRPr>
          </a:p>
        </p:txBody>
      </p:sp>
      <p:sp>
        <p:nvSpPr>
          <p:cNvPr id="708" name="Google Shape;708;p20"/>
          <p:cNvSpPr/>
          <p:nvPr/>
        </p:nvSpPr>
        <p:spPr>
          <a:xfrm>
            <a:off x="320040" y="2559398"/>
            <a:ext cx="45600" cy="585300"/>
          </a:xfrm>
          <a:prstGeom prst="rect">
            <a:avLst/>
          </a:prstGeom>
          <a:solidFill>
            <a:srgbClr val="C8853A"/>
          </a:solidFill>
          <a:ln w="12700" cap="flat" cmpd="sng">
            <a:solidFill>
              <a:srgbClr val="C885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9" name="Google Shape;709;p20"/>
          <p:cNvSpPr/>
          <p:nvPr/>
        </p:nvSpPr>
        <p:spPr>
          <a:xfrm>
            <a:off x="320040" y="3162902"/>
            <a:ext cx="1737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0" name="Google Shape;710;p20"/>
          <p:cNvSpPr/>
          <p:nvPr/>
        </p:nvSpPr>
        <p:spPr>
          <a:xfrm>
            <a:off x="411480" y="3199478"/>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Outlier Privacy Gap</a:t>
            </a:r>
            <a:endParaRPr sz="1000">
              <a:solidFill>
                <a:schemeClr val="dk1"/>
              </a:solidFill>
              <a:latin typeface="Calibri"/>
              <a:ea typeface="Calibri"/>
              <a:cs typeface="Calibri"/>
              <a:sym typeface="Calibri"/>
            </a:endParaRPr>
          </a:p>
        </p:txBody>
      </p:sp>
      <p:sp>
        <p:nvSpPr>
          <p:cNvPr id="711" name="Google Shape;711;p20"/>
          <p:cNvSpPr/>
          <p:nvPr/>
        </p:nvSpPr>
        <p:spPr>
          <a:xfrm>
            <a:off x="2057400" y="3162902"/>
            <a:ext cx="1920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2" name="Google Shape;712;p20"/>
          <p:cNvSpPr/>
          <p:nvPr/>
        </p:nvSpPr>
        <p:spPr>
          <a:xfrm>
            <a:off x="2148840" y="3199478"/>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Attribute inference not audited; Leave-One-Out analysis pending</a:t>
            </a:r>
            <a:endParaRPr sz="1000">
              <a:solidFill>
                <a:schemeClr val="dk1"/>
              </a:solidFill>
              <a:latin typeface="Calibri"/>
              <a:ea typeface="Calibri"/>
              <a:cs typeface="Calibri"/>
              <a:sym typeface="Calibri"/>
            </a:endParaRPr>
          </a:p>
        </p:txBody>
      </p:sp>
      <p:sp>
        <p:nvSpPr>
          <p:cNvPr id="713" name="Google Shape;713;p20"/>
          <p:cNvSpPr/>
          <p:nvPr/>
        </p:nvSpPr>
        <p:spPr>
          <a:xfrm>
            <a:off x="3977640" y="3162902"/>
            <a:ext cx="16917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4" name="Google Shape;714;p20"/>
          <p:cNvSpPr/>
          <p:nvPr/>
        </p:nvSpPr>
        <p:spPr>
          <a:xfrm>
            <a:off x="4069080" y="3199478"/>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Outlier applicants</a:t>
            </a:r>
            <a:endParaRPr sz="1000">
              <a:solidFill>
                <a:schemeClr val="dk1"/>
              </a:solidFill>
              <a:latin typeface="Calibri"/>
              <a:ea typeface="Calibri"/>
              <a:cs typeface="Calibri"/>
              <a:sym typeface="Calibri"/>
            </a:endParaRPr>
          </a:p>
        </p:txBody>
      </p:sp>
      <p:sp>
        <p:nvSpPr>
          <p:cNvPr id="715" name="Google Shape;715;p20"/>
          <p:cNvSpPr/>
          <p:nvPr/>
        </p:nvSpPr>
        <p:spPr>
          <a:xfrm>
            <a:off x="5669280" y="3162902"/>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6" name="Google Shape;716;p20"/>
          <p:cNvSpPr/>
          <p:nvPr/>
        </p:nvSpPr>
        <p:spPr>
          <a:xfrm>
            <a:off x="5760720" y="3199478"/>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MIA (rule-based)</a:t>
            </a:r>
            <a:endParaRPr sz="1000">
              <a:solidFill>
                <a:schemeClr val="dk1"/>
              </a:solidFill>
              <a:latin typeface="Calibri"/>
              <a:ea typeface="Calibri"/>
              <a:cs typeface="Calibri"/>
              <a:sym typeface="Calibri"/>
            </a:endParaRPr>
          </a:p>
        </p:txBody>
      </p:sp>
      <p:sp>
        <p:nvSpPr>
          <p:cNvPr id="717" name="Google Shape;717;p20"/>
          <p:cNvSpPr/>
          <p:nvPr/>
        </p:nvSpPr>
        <p:spPr>
          <a:xfrm>
            <a:off x="7040880" y="3162902"/>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8" name="Google Shape;718;p20"/>
          <p:cNvSpPr/>
          <p:nvPr/>
        </p:nvSpPr>
        <p:spPr>
          <a:xfrm>
            <a:off x="7132320" y="3199478"/>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853A"/>
              </a:buClr>
              <a:buSzPts val="1000"/>
              <a:buFont typeface="Calibri"/>
              <a:buNone/>
            </a:pPr>
            <a:r>
              <a:rPr lang="en-US" sz="1000" b="1">
                <a:solidFill>
                  <a:srgbClr val="C8853A"/>
                </a:solidFill>
                <a:latin typeface="Calibri"/>
                <a:ea typeface="Calibri"/>
                <a:cs typeface="Calibri"/>
                <a:sym typeface="Calibri"/>
              </a:rPr>
              <a:t>MED–HIGH</a:t>
            </a:r>
            <a:endParaRPr sz="1000">
              <a:solidFill>
                <a:schemeClr val="dk1"/>
              </a:solidFill>
              <a:latin typeface="Calibri"/>
              <a:ea typeface="Calibri"/>
              <a:cs typeface="Calibri"/>
              <a:sym typeface="Calibri"/>
            </a:endParaRPr>
          </a:p>
        </p:txBody>
      </p:sp>
      <p:sp>
        <p:nvSpPr>
          <p:cNvPr id="719" name="Google Shape;719;p20"/>
          <p:cNvSpPr/>
          <p:nvPr/>
        </p:nvSpPr>
        <p:spPr>
          <a:xfrm>
            <a:off x="320040" y="3162902"/>
            <a:ext cx="45600" cy="585300"/>
          </a:xfrm>
          <a:prstGeom prst="rect">
            <a:avLst/>
          </a:prstGeom>
          <a:solidFill>
            <a:srgbClr val="C8853A"/>
          </a:solidFill>
          <a:ln w="12700" cap="flat" cmpd="sng">
            <a:solidFill>
              <a:srgbClr val="C8853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0" name="Google Shape;720;p20"/>
          <p:cNvSpPr/>
          <p:nvPr/>
        </p:nvSpPr>
        <p:spPr>
          <a:xfrm>
            <a:off x="320040" y="3766406"/>
            <a:ext cx="1737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20"/>
          <p:cNvSpPr/>
          <p:nvPr/>
        </p:nvSpPr>
        <p:spPr>
          <a:xfrm>
            <a:off x="411480" y="3802982"/>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EU AI Act Conformity</a:t>
            </a:r>
            <a:endParaRPr sz="1000">
              <a:solidFill>
                <a:schemeClr val="dk1"/>
              </a:solidFill>
              <a:latin typeface="Calibri"/>
              <a:ea typeface="Calibri"/>
              <a:cs typeface="Calibri"/>
              <a:sym typeface="Calibri"/>
            </a:endParaRPr>
          </a:p>
        </p:txBody>
      </p:sp>
      <p:sp>
        <p:nvSpPr>
          <p:cNvPr id="722" name="Google Shape;722;p20"/>
          <p:cNvSpPr/>
          <p:nvPr/>
        </p:nvSpPr>
        <p:spPr>
          <a:xfrm>
            <a:off x="2057400" y="3766406"/>
            <a:ext cx="19203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3" name="Google Shape;723;p20"/>
          <p:cNvSpPr/>
          <p:nvPr/>
        </p:nvSpPr>
        <p:spPr>
          <a:xfrm>
            <a:off x="2148840" y="3802982"/>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High-Risk classification met; HITL, transparency &amp; oversight satisfied</a:t>
            </a:r>
            <a:endParaRPr sz="1000">
              <a:solidFill>
                <a:schemeClr val="dk1"/>
              </a:solidFill>
              <a:latin typeface="Calibri"/>
              <a:ea typeface="Calibri"/>
              <a:cs typeface="Calibri"/>
              <a:sym typeface="Calibri"/>
            </a:endParaRPr>
          </a:p>
        </p:txBody>
      </p:sp>
      <p:sp>
        <p:nvSpPr>
          <p:cNvPr id="724" name="Google Shape;724;p20"/>
          <p:cNvSpPr/>
          <p:nvPr/>
        </p:nvSpPr>
        <p:spPr>
          <a:xfrm>
            <a:off x="3977640" y="3766406"/>
            <a:ext cx="16917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5" name="Google Shape;725;p20"/>
          <p:cNvSpPr/>
          <p:nvPr/>
        </p:nvSpPr>
        <p:spPr>
          <a:xfrm>
            <a:off x="4069080" y="3802982"/>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Regulatory compliance</a:t>
            </a:r>
            <a:endParaRPr sz="1000">
              <a:solidFill>
                <a:schemeClr val="dk1"/>
              </a:solidFill>
              <a:latin typeface="Calibri"/>
              <a:ea typeface="Calibri"/>
              <a:cs typeface="Calibri"/>
              <a:sym typeface="Calibri"/>
            </a:endParaRPr>
          </a:p>
        </p:txBody>
      </p:sp>
      <p:sp>
        <p:nvSpPr>
          <p:cNvPr id="726" name="Google Shape;726;p20"/>
          <p:cNvSpPr/>
          <p:nvPr/>
        </p:nvSpPr>
        <p:spPr>
          <a:xfrm>
            <a:off x="5669280" y="3766406"/>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20"/>
          <p:cNvSpPr/>
          <p:nvPr/>
        </p:nvSpPr>
        <p:spPr>
          <a:xfrm>
            <a:off x="5760720" y="3802982"/>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Framework audit</a:t>
            </a:r>
            <a:endParaRPr sz="1000">
              <a:solidFill>
                <a:schemeClr val="dk1"/>
              </a:solidFill>
              <a:latin typeface="Calibri"/>
              <a:ea typeface="Calibri"/>
              <a:cs typeface="Calibri"/>
              <a:sym typeface="Calibri"/>
            </a:endParaRPr>
          </a:p>
        </p:txBody>
      </p:sp>
      <p:sp>
        <p:nvSpPr>
          <p:cNvPr id="728" name="Google Shape;728;p20"/>
          <p:cNvSpPr/>
          <p:nvPr/>
        </p:nvSpPr>
        <p:spPr>
          <a:xfrm>
            <a:off x="7040880" y="3766406"/>
            <a:ext cx="1371600" cy="585300"/>
          </a:xfrm>
          <a:prstGeom prst="rect">
            <a:avLst/>
          </a:prstGeom>
          <a:solidFill>
            <a:srgbClr val="162330"/>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9" name="Google Shape;729;p20"/>
          <p:cNvSpPr/>
          <p:nvPr/>
        </p:nvSpPr>
        <p:spPr>
          <a:xfrm>
            <a:off x="7132320" y="3802982"/>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A7A4A"/>
              </a:buClr>
              <a:buSzPts val="1000"/>
              <a:buFont typeface="Calibri"/>
              <a:buNone/>
            </a:pPr>
            <a:r>
              <a:rPr lang="en-US" sz="1000" b="1">
                <a:solidFill>
                  <a:srgbClr val="2A7A4A"/>
                </a:solidFill>
                <a:latin typeface="Calibri"/>
                <a:ea typeface="Calibri"/>
                <a:cs typeface="Calibri"/>
                <a:sym typeface="Calibri"/>
              </a:rPr>
              <a:t>PASS</a:t>
            </a:r>
            <a:endParaRPr sz="1000">
              <a:solidFill>
                <a:schemeClr val="dk1"/>
              </a:solidFill>
              <a:latin typeface="Calibri"/>
              <a:ea typeface="Calibri"/>
              <a:cs typeface="Calibri"/>
              <a:sym typeface="Calibri"/>
            </a:endParaRPr>
          </a:p>
        </p:txBody>
      </p:sp>
      <p:sp>
        <p:nvSpPr>
          <p:cNvPr id="730" name="Google Shape;730;p20"/>
          <p:cNvSpPr/>
          <p:nvPr/>
        </p:nvSpPr>
        <p:spPr>
          <a:xfrm>
            <a:off x="320040" y="3766406"/>
            <a:ext cx="45600" cy="585300"/>
          </a:xfrm>
          <a:prstGeom prst="rect">
            <a:avLst/>
          </a:prstGeom>
          <a:solidFill>
            <a:srgbClr val="2A7A4A"/>
          </a:solidFill>
          <a:ln w="12700" cap="flat" cmpd="sng">
            <a:solidFill>
              <a:srgbClr val="2A7A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1" name="Google Shape;731;p20"/>
          <p:cNvSpPr/>
          <p:nvPr/>
        </p:nvSpPr>
        <p:spPr>
          <a:xfrm>
            <a:off x="320040" y="4369910"/>
            <a:ext cx="1737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2" name="Google Shape;732;p20"/>
          <p:cNvSpPr/>
          <p:nvPr/>
        </p:nvSpPr>
        <p:spPr>
          <a:xfrm>
            <a:off x="411480" y="4406486"/>
            <a:ext cx="1609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Deployment Defensible?</a:t>
            </a:r>
            <a:endParaRPr sz="1000">
              <a:solidFill>
                <a:schemeClr val="dk1"/>
              </a:solidFill>
              <a:latin typeface="Calibri"/>
              <a:ea typeface="Calibri"/>
              <a:cs typeface="Calibri"/>
              <a:sym typeface="Calibri"/>
            </a:endParaRPr>
          </a:p>
        </p:txBody>
      </p:sp>
      <p:sp>
        <p:nvSpPr>
          <p:cNvPr id="733" name="Google Shape;733;p20"/>
          <p:cNvSpPr/>
          <p:nvPr/>
        </p:nvSpPr>
        <p:spPr>
          <a:xfrm>
            <a:off x="2057400" y="4369910"/>
            <a:ext cx="19203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4" name="Google Shape;734;p20"/>
          <p:cNvSpPr/>
          <p:nvPr/>
        </p:nvSpPr>
        <p:spPr>
          <a:xfrm>
            <a:off x="2148840" y="4406486"/>
            <a:ext cx="17922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4 pre-conditions must close before production go-live</a:t>
            </a:r>
            <a:endParaRPr sz="1000">
              <a:solidFill>
                <a:schemeClr val="dk1"/>
              </a:solidFill>
              <a:latin typeface="Calibri"/>
              <a:ea typeface="Calibri"/>
              <a:cs typeface="Calibri"/>
              <a:sym typeface="Calibri"/>
            </a:endParaRPr>
          </a:p>
        </p:txBody>
      </p:sp>
      <p:sp>
        <p:nvSpPr>
          <p:cNvPr id="735" name="Google Shape;735;p20"/>
          <p:cNvSpPr/>
          <p:nvPr/>
        </p:nvSpPr>
        <p:spPr>
          <a:xfrm>
            <a:off x="3977640" y="4369910"/>
            <a:ext cx="16917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6" name="Google Shape;736;p20"/>
          <p:cNvSpPr/>
          <p:nvPr/>
        </p:nvSpPr>
        <p:spPr>
          <a:xfrm>
            <a:off x="4069080" y="4406486"/>
            <a:ext cx="15636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All applicants</a:t>
            </a:r>
            <a:endParaRPr sz="1000">
              <a:solidFill>
                <a:schemeClr val="dk1"/>
              </a:solidFill>
              <a:latin typeface="Calibri"/>
              <a:ea typeface="Calibri"/>
              <a:cs typeface="Calibri"/>
              <a:sym typeface="Calibri"/>
            </a:endParaRPr>
          </a:p>
        </p:txBody>
      </p:sp>
      <p:sp>
        <p:nvSpPr>
          <p:cNvPr id="737" name="Google Shape;737;p20"/>
          <p:cNvSpPr/>
          <p:nvPr/>
        </p:nvSpPr>
        <p:spPr>
          <a:xfrm>
            <a:off x="5669280" y="4369910"/>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8" name="Google Shape;738;p20"/>
          <p:cNvSpPr/>
          <p:nvPr/>
        </p:nvSpPr>
        <p:spPr>
          <a:xfrm>
            <a:off x="5760720" y="4406486"/>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NIST AI RMF</a:t>
            </a:r>
            <a:endParaRPr sz="1000">
              <a:solidFill>
                <a:schemeClr val="dk1"/>
              </a:solidFill>
              <a:latin typeface="Calibri"/>
              <a:ea typeface="Calibri"/>
              <a:cs typeface="Calibri"/>
              <a:sym typeface="Calibri"/>
            </a:endParaRPr>
          </a:p>
        </p:txBody>
      </p:sp>
      <p:sp>
        <p:nvSpPr>
          <p:cNvPr id="739" name="Google Shape;739;p20"/>
          <p:cNvSpPr/>
          <p:nvPr/>
        </p:nvSpPr>
        <p:spPr>
          <a:xfrm>
            <a:off x="7040880" y="4369910"/>
            <a:ext cx="1371600" cy="585300"/>
          </a:xfrm>
          <a:prstGeom prst="rect">
            <a:avLst/>
          </a:prstGeom>
          <a:solidFill>
            <a:srgbClr val="1C2B3A"/>
          </a:solidFill>
          <a:ln w="9525" cap="flat" cmpd="sng">
            <a:solidFill>
              <a:srgbClr val="2A3F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0" name="Google Shape;740;p20"/>
          <p:cNvSpPr/>
          <p:nvPr/>
        </p:nvSpPr>
        <p:spPr>
          <a:xfrm>
            <a:off x="7132320" y="4406486"/>
            <a:ext cx="1243500" cy="512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0A4"/>
              </a:buClr>
              <a:buSzPts val="1000"/>
              <a:buFont typeface="Calibri"/>
              <a:buNone/>
            </a:pPr>
            <a:r>
              <a:rPr lang="en-US" sz="1000" b="1">
                <a:solidFill>
                  <a:srgbClr val="4A90A4"/>
                </a:solidFill>
                <a:latin typeface="Calibri"/>
                <a:ea typeface="Calibri"/>
                <a:cs typeface="Calibri"/>
                <a:sym typeface="Calibri"/>
              </a:rPr>
              <a:t>CONDITIONAL</a:t>
            </a:r>
            <a:endParaRPr sz="1000">
              <a:solidFill>
                <a:schemeClr val="dk1"/>
              </a:solidFill>
              <a:latin typeface="Calibri"/>
              <a:ea typeface="Calibri"/>
              <a:cs typeface="Calibri"/>
              <a:sym typeface="Calibri"/>
            </a:endParaRPr>
          </a:p>
        </p:txBody>
      </p:sp>
      <p:sp>
        <p:nvSpPr>
          <p:cNvPr id="741" name="Google Shape;741;p20"/>
          <p:cNvSpPr/>
          <p:nvPr/>
        </p:nvSpPr>
        <p:spPr>
          <a:xfrm>
            <a:off x="320040" y="4369910"/>
            <a:ext cx="45600" cy="585300"/>
          </a:xfrm>
          <a:prstGeom prst="rect">
            <a:avLst/>
          </a:prstGeom>
          <a:solidFill>
            <a:srgbClr val="4A90A4"/>
          </a:solidFill>
          <a:ln w="12700" cap="flat" cmpd="sng">
            <a:solidFill>
              <a:srgbClr val="4A90A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Shape 746"/>
        <p:cNvGrpSpPr/>
        <p:nvPr/>
      </p:nvGrpSpPr>
      <p:grpSpPr>
        <a:xfrm>
          <a:off x="0" y="0"/>
          <a:ext cx="0" cy="0"/>
          <a:chOff x="0" y="0"/>
          <a:chExt cx="0" cy="0"/>
        </a:xfrm>
      </p:grpSpPr>
      <p:sp>
        <p:nvSpPr>
          <p:cNvPr id="747" name="Google Shape;747;p21"/>
          <p:cNvSpPr/>
          <p:nvPr/>
        </p:nvSpPr>
        <p:spPr>
          <a:xfrm>
            <a:off x="-1097280" y="-1097280"/>
            <a:ext cx="4114800" cy="4114800"/>
          </a:xfrm>
          <a:prstGeom prst="ellipse">
            <a:avLst/>
          </a:prstGeom>
          <a:solidFill>
            <a:srgbClr val="1C2B4A">
              <a:alpha val="30199"/>
            </a:srgbClr>
          </a:solidFill>
          <a:ln w="12700" cap="flat" cmpd="sng">
            <a:solidFill>
              <a:srgbClr val="1C2B4A">
                <a:alpha val="3019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1"/>
          <p:cNvSpPr/>
          <p:nvPr/>
        </p:nvSpPr>
        <p:spPr>
          <a:xfrm>
            <a:off x="6858000" y="2926080"/>
            <a:ext cx="3657600" cy="3657600"/>
          </a:xfrm>
          <a:prstGeom prst="ellipse">
            <a:avLst/>
          </a:prstGeom>
          <a:solidFill>
            <a:srgbClr val="1C2B4A">
              <a:alpha val="30199"/>
            </a:srgbClr>
          </a:solidFill>
          <a:ln w="12700" cap="flat" cmpd="sng">
            <a:solidFill>
              <a:srgbClr val="1C2B4A">
                <a:alpha val="3019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1"/>
          <p:cNvSpPr/>
          <p:nvPr/>
        </p:nvSpPr>
        <p:spPr>
          <a:xfrm>
            <a:off x="0" y="0"/>
            <a:ext cx="201300" cy="5143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1"/>
          <p:cNvSpPr/>
          <p:nvPr/>
        </p:nvSpPr>
        <p:spPr>
          <a:xfrm>
            <a:off x="502925" y="2907805"/>
            <a:ext cx="8282400" cy="18300"/>
          </a:xfrm>
          <a:prstGeom prst="rect">
            <a:avLst/>
          </a:prstGeom>
          <a:solidFill>
            <a:srgbClr val="C49A22"/>
          </a:solidFill>
          <a:ln w="12700" cap="flat" cmpd="sng">
            <a:solidFill>
              <a:srgbClr val="C49A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1"/>
          <p:cNvSpPr/>
          <p:nvPr/>
        </p:nvSpPr>
        <p:spPr>
          <a:xfrm>
            <a:off x="502920" y="347472"/>
            <a:ext cx="8229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A92"/>
              </a:buClr>
              <a:buSzPts val="1000"/>
              <a:buFont typeface="Calibri"/>
              <a:buNone/>
            </a:pPr>
            <a:r>
              <a:rPr lang="en-US" sz="1000" b="0" i="0" u="none" strike="noStrike" cap="none">
                <a:solidFill>
                  <a:srgbClr val="6B7A92"/>
                </a:solidFill>
                <a:latin typeface="Calibri"/>
                <a:ea typeface="Calibri"/>
                <a:cs typeface="Calibri"/>
                <a:sym typeface="Calibri"/>
              </a:rPr>
              <a:t>DNSC 6330  ·  Responsible Machine Learning  ·  George Washington University</a:t>
            </a:r>
            <a:endParaRPr sz="1000" b="0" i="0" u="none" strike="noStrike" cap="none">
              <a:solidFill>
                <a:schemeClr val="dk1"/>
              </a:solidFill>
              <a:latin typeface="Calibri"/>
              <a:ea typeface="Calibri"/>
              <a:cs typeface="Calibri"/>
              <a:sym typeface="Calibri"/>
            </a:endParaRPr>
          </a:p>
        </p:txBody>
      </p:sp>
      <p:sp>
        <p:nvSpPr>
          <p:cNvPr id="752" name="Google Shape;752;p21"/>
          <p:cNvSpPr/>
          <p:nvPr/>
        </p:nvSpPr>
        <p:spPr>
          <a:xfrm>
            <a:off x="502920" y="1467624"/>
            <a:ext cx="7863900" cy="141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4800"/>
              <a:buFont typeface="Georgia"/>
              <a:buNone/>
            </a:pPr>
            <a:r>
              <a:rPr lang="en-US" sz="4800" b="1">
                <a:solidFill>
                  <a:srgbClr val="FFFFFF"/>
                </a:solidFill>
                <a:latin typeface="Georgia"/>
                <a:ea typeface="Georgia"/>
                <a:cs typeface="Georgia"/>
                <a:sym typeface="Georgia"/>
              </a:rPr>
              <a:t>THANK YOU</a:t>
            </a:r>
            <a:endParaRPr sz="4800" b="0" i="0" u="none" strike="noStrike" cap="none">
              <a:solidFill>
                <a:schemeClr val="dk1"/>
              </a:solidFill>
              <a:latin typeface="Calibri"/>
              <a:ea typeface="Calibri"/>
              <a:cs typeface="Calibri"/>
              <a:sym typeface="Calibri"/>
            </a:endParaRPr>
          </a:p>
        </p:txBody>
      </p:sp>
      <p:sp>
        <p:nvSpPr>
          <p:cNvPr id="753" name="Google Shape;753;p21"/>
          <p:cNvSpPr/>
          <p:nvPr/>
        </p:nvSpPr>
        <p:spPr>
          <a:xfrm>
            <a:off x="502920" y="3090672"/>
            <a:ext cx="27432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49A22"/>
              </a:buClr>
              <a:buSzPts val="900"/>
              <a:buFont typeface="Calibri"/>
              <a:buNone/>
            </a:pPr>
            <a:r>
              <a:rPr lang="en-US" sz="900" b="1" i="0" u="none" strike="noStrike" cap="none">
                <a:solidFill>
                  <a:srgbClr val="C49A22"/>
                </a:solidFill>
                <a:latin typeface="Calibri"/>
                <a:ea typeface="Calibri"/>
                <a:cs typeface="Calibri"/>
                <a:sym typeface="Calibri"/>
              </a:rPr>
              <a:t>PRESENTED BY</a:t>
            </a:r>
            <a:endParaRPr sz="900" b="0" i="0" u="none" strike="noStrike" cap="none">
              <a:solidFill>
                <a:schemeClr val="dk1"/>
              </a:solidFill>
              <a:latin typeface="Calibri"/>
              <a:ea typeface="Calibri"/>
              <a:cs typeface="Calibri"/>
              <a:sym typeface="Calibri"/>
            </a:endParaRPr>
          </a:p>
        </p:txBody>
      </p:sp>
      <p:sp>
        <p:nvSpPr>
          <p:cNvPr id="754" name="Google Shape;754;p21"/>
          <p:cNvSpPr/>
          <p:nvPr/>
        </p:nvSpPr>
        <p:spPr>
          <a:xfrm>
            <a:off x="502920" y="3429000"/>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Natchapa Aunkay (Gift)</a:t>
            </a:r>
            <a:endParaRPr sz="1300" b="0" i="0" u="none" strike="noStrike" cap="none">
              <a:solidFill>
                <a:schemeClr val="dk1"/>
              </a:solidFill>
              <a:latin typeface="Calibri"/>
              <a:ea typeface="Calibri"/>
              <a:cs typeface="Calibri"/>
              <a:sym typeface="Calibri"/>
            </a:endParaRPr>
          </a:p>
        </p:txBody>
      </p:sp>
      <p:sp>
        <p:nvSpPr>
          <p:cNvPr id="755" name="Google Shape;755;p21"/>
          <p:cNvSpPr/>
          <p:nvPr/>
        </p:nvSpPr>
        <p:spPr>
          <a:xfrm>
            <a:off x="502920" y="3730752"/>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Hazel Mugadza</a:t>
            </a:r>
            <a:endParaRPr sz="1300" b="0" i="0" u="none" strike="noStrike" cap="none">
              <a:solidFill>
                <a:schemeClr val="dk1"/>
              </a:solidFill>
              <a:latin typeface="Calibri"/>
              <a:ea typeface="Calibri"/>
              <a:cs typeface="Calibri"/>
              <a:sym typeface="Calibri"/>
            </a:endParaRPr>
          </a:p>
        </p:txBody>
      </p:sp>
      <p:sp>
        <p:nvSpPr>
          <p:cNvPr id="756" name="Google Shape;756;p21"/>
          <p:cNvSpPr/>
          <p:nvPr/>
        </p:nvSpPr>
        <p:spPr>
          <a:xfrm>
            <a:off x="502920" y="4032504"/>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Shreyas Kuradagi</a:t>
            </a:r>
            <a:endParaRPr sz="1300" b="0" i="0" u="none" strike="noStrike" cap="none">
              <a:solidFill>
                <a:schemeClr val="dk1"/>
              </a:solidFill>
              <a:latin typeface="Calibri"/>
              <a:ea typeface="Calibri"/>
              <a:cs typeface="Calibri"/>
              <a:sym typeface="Calibri"/>
            </a:endParaRPr>
          </a:p>
        </p:txBody>
      </p:sp>
      <p:sp>
        <p:nvSpPr>
          <p:cNvPr id="757" name="Google Shape;757;p21"/>
          <p:cNvSpPr/>
          <p:nvPr/>
        </p:nvSpPr>
        <p:spPr>
          <a:xfrm>
            <a:off x="3429000" y="3429000"/>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Tatenda Kagande</a:t>
            </a:r>
            <a:endParaRPr sz="1300" b="0" i="0" u="none" strike="noStrike" cap="none">
              <a:solidFill>
                <a:schemeClr val="dk1"/>
              </a:solidFill>
              <a:latin typeface="Calibri"/>
              <a:ea typeface="Calibri"/>
              <a:cs typeface="Calibri"/>
              <a:sym typeface="Calibri"/>
            </a:endParaRPr>
          </a:p>
        </p:txBody>
      </p:sp>
      <p:sp>
        <p:nvSpPr>
          <p:cNvPr id="758" name="Google Shape;758;p21"/>
          <p:cNvSpPr/>
          <p:nvPr/>
        </p:nvSpPr>
        <p:spPr>
          <a:xfrm>
            <a:off x="3429000" y="3730752"/>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Oliastic Ngoshi</a:t>
            </a:r>
            <a:endParaRPr sz="1300" b="0" i="0" u="none" strike="noStrike" cap="none">
              <a:solidFill>
                <a:schemeClr val="dk1"/>
              </a:solidFill>
              <a:latin typeface="Calibri"/>
              <a:ea typeface="Calibri"/>
              <a:cs typeface="Calibri"/>
              <a:sym typeface="Calibri"/>
            </a:endParaRPr>
          </a:p>
        </p:txBody>
      </p:sp>
      <p:sp>
        <p:nvSpPr>
          <p:cNvPr id="759" name="Google Shape;759;p21"/>
          <p:cNvSpPr/>
          <p:nvPr/>
        </p:nvSpPr>
        <p:spPr>
          <a:xfrm>
            <a:off x="3429000" y="4032504"/>
            <a:ext cx="274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Steven Chu</a:t>
            </a:r>
            <a:endParaRPr sz="1300" b="0" i="0" u="none" strike="noStrike" cap="none">
              <a:solidFill>
                <a:schemeClr val="dk1"/>
              </a:solidFill>
              <a:latin typeface="Calibri"/>
              <a:ea typeface="Calibri"/>
              <a:cs typeface="Calibri"/>
              <a:sym typeface="Calibri"/>
            </a:endParaRPr>
          </a:p>
        </p:txBody>
      </p:sp>
      <p:sp>
        <p:nvSpPr>
          <p:cNvPr id="760" name="Google Shape;760;p21"/>
          <p:cNvSpPr/>
          <p:nvPr/>
        </p:nvSpPr>
        <p:spPr>
          <a:xfrm>
            <a:off x="0" y="4960620"/>
            <a:ext cx="9144000" cy="183000"/>
          </a:xfrm>
          <a:prstGeom prst="rect">
            <a:avLst/>
          </a:prstGeom>
          <a:solidFill>
            <a:srgbClr val="C0392B">
              <a:alpha val="40000"/>
            </a:srgbClr>
          </a:solidFill>
          <a:ln w="12700" cap="flat" cmpd="sng">
            <a:solidFill>
              <a:srgbClr val="C0392B">
                <a:alpha val="4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4217</Words>
  <Application>Microsoft Macintosh PowerPoint</Application>
  <PresentationFormat>On-screen Show (16:9)</PresentationFormat>
  <Paragraphs>535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Natchapa Aunkay</cp:lastModifiedBy>
  <cp:revision>2</cp:revision>
  <dcterms:modified xsi:type="dcterms:W3CDTF">2026-05-07T03:44:37Z</dcterms:modified>
</cp:coreProperties>
</file>